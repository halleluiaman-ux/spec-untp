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 id="2147483692" r:id="rId2"/>
  </p:sldMasterIdLst>
  <p:notesMasterIdLst>
    <p:notesMasterId r:id="rId20"/>
  </p:notesMasterIdLst>
  <p:sldIdLst>
    <p:sldId id="408" r:id="rId3"/>
    <p:sldId id="382" r:id="rId4"/>
    <p:sldId id="424" r:id="rId5"/>
    <p:sldId id="263" r:id="rId6"/>
    <p:sldId id="417" r:id="rId7"/>
    <p:sldId id="418" r:id="rId8"/>
    <p:sldId id="419" r:id="rId9"/>
    <p:sldId id="423" r:id="rId10"/>
    <p:sldId id="433" r:id="rId11"/>
    <p:sldId id="434" r:id="rId12"/>
    <p:sldId id="432" r:id="rId13"/>
    <p:sldId id="427" r:id="rId14"/>
    <p:sldId id="435" r:id="rId15"/>
    <p:sldId id="439" r:id="rId16"/>
    <p:sldId id="436" r:id="rId17"/>
    <p:sldId id="437" r:id="rId18"/>
    <p:sldId id="43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7B986D2-E8C1-4D0A-990C-749DED7ABA5E}">
          <p14:sldIdLst>
            <p14:sldId id="408"/>
            <p14:sldId id="382"/>
            <p14:sldId id="424"/>
            <p14:sldId id="263"/>
            <p14:sldId id="417"/>
            <p14:sldId id="418"/>
            <p14:sldId id="419"/>
            <p14:sldId id="423"/>
            <p14:sldId id="433"/>
            <p14:sldId id="434"/>
            <p14:sldId id="432"/>
            <p14:sldId id="427"/>
            <p14:sldId id="435"/>
            <p14:sldId id="439"/>
            <p14:sldId id="436"/>
            <p14:sldId id="437"/>
            <p14:sldId id="438"/>
          </p14:sldIdLst>
        </p14:section>
      </p14:sectionLst>
    </p:ext>
    <p:ext uri="{EFAFB233-063F-42B5-8137-9DF3F51BA10A}">
      <p15:sldGuideLst xmlns:p15="http://schemas.microsoft.com/office/powerpoint/2012/main">
        <p15:guide id="2" pos="3840" userDrawn="1">
          <p15:clr>
            <a:srgbClr val="A4A3A4"/>
          </p15:clr>
        </p15:guide>
        <p15:guide id="3"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834EB0B-E988-8150-0281-4755A9995831}" name="Cunha, Ester EMLI:EX" initials="EC" userId="S::Ester.Cunha@gov.bc.ca::43210c9d-d226-4927-97d5-4cc5fd043397" providerId="AD"/>
  <p188:author id="{879A7216-BEF8-9AA7-2DAF-F33553B25571}" name="Patel, Radha" initials="RP" userId="S::Radha.Patel@aecom.com::ceaa0764-2662-4ab6-a9aa-6a0e6cc4efe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5C0"/>
    <a:srgbClr val="FFFFFF"/>
    <a:srgbClr val="C1B3E8"/>
    <a:srgbClr val="3392E7"/>
    <a:srgbClr val="318DDE"/>
    <a:srgbClr val="5EBA47"/>
    <a:srgbClr val="17486A"/>
    <a:srgbClr val="3E8EDE"/>
    <a:srgbClr val="0369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88324" autoAdjust="0"/>
  </p:normalViewPr>
  <p:slideViewPr>
    <p:cSldViewPr snapToGrid="0">
      <p:cViewPr>
        <p:scale>
          <a:sx n="120" d="100"/>
          <a:sy n="120" d="100"/>
        </p:scale>
        <p:origin x="608" y="96"/>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45" d="100"/>
        <a:sy n="4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147FDE8E-C9EA-4A43-8789-DFF19C510078}" type="datetimeFigureOut">
              <a:rPr lang="en-US" smtClean="0"/>
              <a:t>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856F99-1514-4F4B-89CD-D1870C008194}" type="slidenum">
              <a:rPr lang="en-US" smtClean="0"/>
              <a:t>‹#›</a:t>
            </a:fld>
            <a:endParaRPr lang="en-US"/>
          </a:p>
        </p:txBody>
      </p:sp>
    </p:spTree>
    <p:extLst>
      <p:ext uri="{BB962C8B-B14F-4D97-AF65-F5344CB8AC3E}">
        <p14:creationId xmlns:p14="http://schemas.microsoft.com/office/powerpoint/2010/main" val="5713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F5108-A04B-D54A-6BB4-DFFDDC2BB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1A6C52-FFFA-31D7-49F3-2A4E953B4FF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12DB654-0AE3-D836-8AFD-274564DA9C48}"/>
              </a:ext>
            </a:extLst>
          </p:cNvPr>
          <p:cNvSpPr>
            <a:spLocks noGrp="1"/>
          </p:cNvSpPr>
          <p:nvPr>
            <p:ph type="body" idx="1"/>
          </p:nvPr>
        </p:nvSpPr>
        <p:spPr/>
        <p:txBody>
          <a:bodyPr/>
          <a:lstStyle/>
          <a:p>
            <a:pPr marL="171450" indent="-171450">
              <a:buFont typeface="Arial" panose="020B0604020202020204" pitchFamily="34" charset="0"/>
              <a:buChar char="•"/>
            </a:pPr>
            <a:r>
              <a:rPr lang="en-AU" sz="1000" dirty="0"/>
              <a:t>Climate change, biodiversity, water consumption, modern slavery</a:t>
            </a:r>
          </a:p>
          <a:p>
            <a:pPr marL="171450" indent="-171450">
              <a:buFont typeface="Arial" panose="020B0604020202020204" pitchFamily="34" charset="0"/>
              <a:buChar char="•"/>
            </a:pPr>
            <a:r>
              <a:rPr lang="en-AU" sz="1000" dirty="0"/>
              <a:t>Carbon tariffs, due diligence directive, etc – 16 regs just in EU plus US IRA</a:t>
            </a:r>
          </a:p>
          <a:p>
            <a:pPr marL="171450" indent="-171450">
              <a:buFont typeface="Arial" panose="020B0604020202020204" pitchFamily="34" charset="0"/>
              <a:buChar char="•"/>
            </a:pPr>
            <a:r>
              <a:rPr lang="en-AU" sz="1000" dirty="0"/>
              <a:t>80 Euro/ton tariff , market access, access to capital, consumer price uplift</a:t>
            </a:r>
          </a:p>
          <a:p>
            <a:pPr marL="171450" indent="-171450">
              <a:buFont typeface="Arial" panose="020B0604020202020204" pitchFamily="34" charset="0"/>
              <a:buChar char="•"/>
            </a:pPr>
            <a:r>
              <a:rPr lang="en-AU" sz="1000" dirty="0"/>
              <a:t>60% of claims have no evidence and 40% are false or misleading – will get worse.</a:t>
            </a:r>
          </a:p>
          <a:p>
            <a:pPr marL="171450" indent="-171450">
              <a:buFont typeface="Arial" panose="020B0604020202020204" pitchFamily="34" charset="0"/>
              <a:buChar char="•"/>
            </a:pPr>
            <a:r>
              <a:rPr lang="en-AU" sz="1000" dirty="0"/>
              <a:t>Sunlight is the best auditor – transparency – fair for legitimate traders, un-sustainable behaviour nowhere to hide</a:t>
            </a:r>
          </a:p>
          <a:p>
            <a:endParaRPr lang="en-AU" dirty="0"/>
          </a:p>
        </p:txBody>
      </p:sp>
      <p:sp>
        <p:nvSpPr>
          <p:cNvPr id="4" name="Slide Number Placeholder 3">
            <a:extLst>
              <a:ext uri="{FF2B5EF4-FFF2-40B4-BE49-F238E27FC236}">
                <a16:creationId xmlns:a16="http://schemas.microsoft.com/office/drawing/2014/main" id="{9B9364A2-EE02-CEF5-A80D-7297FC199996}"/>
              </a:ext>
            </a:extLst>
          </p:cNvPr>
          <p:cNvSpPr>
            <a:spLocks noGrp="1"/>
          </p:cNvSpPr>
          <p:nvPr>
            <p:ph type="sldNum" sz="quarter" idx="5"/>
          </p:nvPr>
        </p:nvSpPr>
        <p:spPr/>
        <p:txBody>
          <a:bodyPr/>
          <a:lstStyle/>
          <a:p>
            <a:fld id="{89734552-1ECE-3F4E-885C-0196F83BD32B}" type="slidenum">
              <a:rPr lang="en-AU" smtClean="0"/>
              <a:t>1</a:t>
            </a:fld>
            <a:endParaRPr lang="en-AU"/>
          </a:p>
        </p:txBody>
      </p:sp>
    </p:spTree>
    <p:extLst>
      <p:ext uri="{BB962C8B-B14F-4D97-AF65-F5344CB8AC3E}">
        <p14:creationId xmlns:p14="http://schemas.microsoft.com/office/powerpoint/2010/main" val="3764847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068C3-8F6A-812F-CBF5-7E618964D6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EAB25-49DF-4D60-7177-5EC2594EB4C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EE3EEA7-B6DC-99AC-D5E3-DBBE9B2A1C1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4B016E-DD92-7E55-69FB-C177D1BD9265}"/>
              </a:ext>
            </a:extLst>
          </p:cNvPr>
          <p:cNvSpPr>
            <a:spLocks noGrp="1"/>
          </p:cNvSpPr>
          <p:nvPr>
            <p:ph type="sldNum" sz="quarter" idx="5"/>
          </p:nvPr>
        </p:nvSpPr>
        <p:spPr/>
        <p:txBody>
          <a:bodyPr/>
          <a:lstStyle/>
          <a:p>
            <a:fld id="{89734552-1ECE-3F4E-885C-0196F83BD32B}" type="slidenum">
              <a:rPr lang="en-AU" smtClean="0"/>
              <a:t>2</a:t>
            </a:fld>
            <a:endParaRPr lang="en-AU"/>
          </a:p>
        </p:txBody>
      </p:sp>
    </p:spTree>
    <p:extLst>
      <p:ext uri="{BB962C8B-B14F-4D97-AF65-F5344CB8AC3E}">
        <p14:creationId xmlns:p14="http://schemas.microsoft.com/office/powerpoint/2010/main" val="1855470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451C-FD71-79BD-C628-2E16FAD62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D399D-AA9D-B6B9-9B3B-C10CD43B1BC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2E18FE3-6035-3707-DFB0-D2D76746DB9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FB7BCA6-27F2-70C4-C3FC-D761E1B8ABB4}"/>
              </a:ext>
            </a:extLst>
          </p:cNvPr>
          <p:cNvSpPr>
            <a:spLocks noGrp="1"/>
          </p:cNvSpPr>
          <p:nvPr>
            <p:ph type="sldNum" sz="quarter" idx="5"/>
          </p:nvPr>
        </p:nvSpPr>
        <p:spPr/>
        <p:txBody>
          <a:bodyPr/>
          <a:lstStyle/>
          <a:p>
            <a:fld id="{89734552-1ECE-3F4E-885C-0196F83BD32B}" type="slidenum">
              <a:rPr lang="en-AU" smtClean="0"/>
              <a:t>3</a:t>
            </a:fld>
            <a:endParaRPr lang="en-AU"/>
          </a:p>
        </p:txBody>
      </p:sp>
    </p:spTree>
    <p:extLst>
      <p:ext uri="{BB962C8B-B14F-4D97-AF65-F5344CB8AC3E}">
        <p14:creationId xmlns:p14="http://schemas.microsoft.com/office/powerpoint/2010/main" val="1842400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1C7B9-C6FB-C04E-BE95-D90F4CF36E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262884-83FE-F37E-648D-0B6BCE376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F24FF-A524-3DC0-737E-629EF5D897C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DFB6377-1D78-A9CF-B1CB-89E53A1E386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07561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CB5F5-8F4B-0961-02A0-7FB9FD4D0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E5451-8E24-B0EA-478A-EDF5EA4869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B17C4-22B5-4240-B8CB-97D80A91F8CE}"/>
              </a:ext>
            </a:extLst>
          </p:cNvPr>
          <p:cNvSpPr>
            <a:spLocks noGrp="1"/>
          </p:cNvSpPr>
          <p:nvPr>
            <p:ph type="body" idx="1"/>
          </p:nvPr>
        </p:nvSpPr>
        <p:spPr/>
        <p:txBody>
          <a:bodyPr/>
          <a:lstStyle/>
          <a:p>
            <a:r>
              <a:rPr lang="en-AU" sz="1200" b="1" dirty="0"/>
              <a:t>Publishing Discoverable Facility Records</a:t>
            </a:r>
          </a:p>
          <a:p>
            <a:r>
              <a:rPr lang="en-AU" sz="1200" dirty="0"/>
              <a:t>When each facility publishes a basic facility record then basic information such as operator, location, and ESG performance is discoverable so long as the facility ID is known.</a:t>
            </a:r>
          </a:p>
          <a:p>
            <a:endParaRPr lang="en-AU" dirty="0"/>
          </a:p>
        </p:txBody>
      </p:sp>
      <p:sp>
        <p:nvSpPr>
          <p:cNvPr id="4" name="Slide Number Placeholder 3">
            <a:extLst>
              <a:ext uri="{FF2B5EF4-FFF2-40B4-BE49-F238E27FC236}">
                <a16:creationId xmlns:a16="http://schemas.microsoft.com/office/drawing/2014/main" id="{690AB179-7E0F-1B35-C8CE-2B093235B46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50915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01443-2F21-F9A5-485B-B296D983C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AD2FD-23D2-FD9E-4615-209C3B4CD1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FC6D2A-5928-DE65-D51F-B7F1C6241CBF}"/>
              </a:ext>
            </a:extLst>
          </p:cNvPr>
          <p:cNvSpPr>
            <a:spLocks noGrp="1"/>
          </p:cNvSpPr>
          <p:nvPr>
            <p:ph type="body" idx="1"/>
          </p:nvPr>
        </p:nvSpPr>
        <p:spPr/>
        <p:txBody>
          <a:bodyPr/>
          <a:lstStyle/>
          <a:p>
            <a:r>
              <a:rPr lang="en-AU" sz="1200" b="1" dirty="0"/>
              <a:t>Linked Conformity Certificates</a:t>
            </a:r>
          </a:p>
          <a:p>
            <a:r>
              <a:rPr lang="en-AU" sz="1200" dirty="0"/>
              <a:t>When each facility also publishes third party conformity assessments (perhaps selectively redacted) to support their ESG claims, then confidence in the transparency data increases.</a:t>
            </a:r>
          </a:p>
          <a:p>
            <a:endParaRPr lang="en-AU" dirty="0"/>
          </a:p>
        </p:txBody>
      </p:sp>
      <p:sp>
        <p:nvSpPr>
          <p:cNvPr id="4" name="Slide Number Placeholder 3">
            <a:extLst>
              <a:ext uri="{FF2B5EF4-FFF2-40B4-BE49-F238E27FC236}">
                <a16:creationId xmlns:a16="http://schemas.microsoft.com/office/drawing/2014/main" id="{2BA3163E-AEF1-8F78-CCA8-4C1AB0AFC8B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38885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04FF1-B601-A346-7018-C1376DDD4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0C229-171C-6FB6-1C87-7FF4E24C59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31671-6C70-ABCA-7C37-6BADAD8723B5}"/>
              </a:ext>
            </a:extLst>
          </p:cNvPr>
          <p:cNvSpPr>
            <a:spLocks noGrp="1"/>
          </p:cNvSpPr>
          <p:nvPr>
            <p:ph type="body" idx="1"/>
          </p:nvPr>
        </p:nvSpPr>
        <p:spPr/>
        <p:txBody>
          <a:bodyPr/>
          <a:lstStyle/>
          <a:p>
            <a:r>
              <a:rPr lang="en-AU" sz="1200" b="1" dirty="0"/>
              <a:t>Adding product level Performance data</a:t>
            </a:r>
          </a:p>
          <a:p>
            <a:r>
              <a:rPr lang="en-AU" sz="1200" dirty="0"/>
              <a:t>Producing facilities can also publish product passports for every consignment, batch, or serialised item.  Discoverable in the same way from product identifiers and providing more relevant data for selective supply decisions and export market compliance / social license</a:t>
            </a:r>
            <a:endParaRPr lang="en-AU" dirty="0"/>
          </a:p>
        </p:txBody>
      </p:sp>
      <p:sp>
        <p:nvSpPr>
          <p:cNvPr id="4" name="Slide Number Placeholder 3">
            <a:extLst>
              <a:ext uri="{FF2B5EF4-FFF2-40B4-BE49-F238E27FC236}">
                <a16:creationId xmlns:a16="http://schemas.microsoft.com/office/drawing/2014/main" id="{E90C9B4B-7F6C-DBF2-1CF4-D923DCE1BE8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9554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CB15-C6D7-93C1-E929-D72600FA8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6DE1B-426B-686D-AB1C-3E674C063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77B156-65FB-4EF1-D401-42F644E8B7DA}"/>
              </a:ext>
            </a:extLst>
          </p:cNvPr>
          <p:cNvSpPr>
            <a:spLocks noGrp="1"/>
          </p:cNvSpPr>
          <p:nvPr>
            <p:ph type="body" idx="1"/>
          </p:nvPr>
        </p:nvSpPr>
        <p:spPr/>
        <p:txBody>
          <a:bodyPr/>
          <a:lstStyle/>
          <a:p>
            <a:r>
              <a:rPr lang="en-AU" sz="1200" b="1" dirty="0"/>
              <a:t>Traceability events reach back to n-tier supply</a:t>
            </a:r>
          </a:p>
          <a:p>
            <a:r>
              <a:rPr lang="en-AU" sz="1200" dirty="0"/>
              <a:t>A </a:t>
            </a:r>
            <a:r>
              <a:rPr lang="en-AU" sz="1200" u="sng" dirty="0"/>
              <a:t>transaction DTE </a:t>
            </a:r>
            <a:r>
              <a:rPr lang="en-AU" sz="1200" dirty="0"/>
              <a:t>records the transfer of products or materials from a source facility to a destination facility.  A </a:t>
            </a:r>
            <a:r>
              <a:rPr lang="en-AU" sz="1200" u="sng" dirty="0"/>
              <a:t>transformation DTE </a:t>
            </a:r>
            <a:r>
              <a:rPr lang="en-AU" sz="1200" dirty="0"/>
              <a:t>records the consumption of input materials to create output products. In both cases, if a tier-1  supplier provides the DTE to their customer then they are sharing their supply information, the customer’s tier-2. The chain can be followed to n-tier suppliers.</a:t>
            </a:r>
          </a:p>
          <a:p>
            <a:endParaRPr lang="en-AU" dirty="0"/>
          </a:p>
        </p:txBody>
      </p:sp>
      <p:sp>
        <p:nvSpPr>
          <p:cNvPr id="4" name="Slide Number Placeholder 3">
            <a:extLst>
              <a:ext uri="{FF2B5EF4-FFF2-40B4-BE49-F238E27FC236}">
                <a16:creationId xmlns:a16="http://schemas.microsoft.com/office/drawing/2014/main" id="{17159D6F-6510-F7CD-DA21-8EE95BE9C96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44083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E20F4-3CF6-0B50-90E5-74917D780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FC415-2F2A-DC05-C4FD-2F80AB957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65D26-EEF7-6F1E-A58B-87E86E6BFAF0}"/>
              </a:ext>
            </a:extLst>
          </p:cNvPr>
          <p:cNvSpPr>
            <a:spLocks noGrp="1"/>
          </p:cNvSpPr>
          <p:nvPr>
            <p:ph type="body" idx="1"/>
          </p:nvPr>
        </p:nvSpPr>
        <p:spPr/>
        <p:txBody>
          <a:bodyPr/>
          <a:lstStyle/>
          <a:p>
            <a:r>
              <a:rPr lang="en-AU" sz="1200" b="1" dirty="0"/>
              <a:t>Traceability events reach back to n-tier supply</a:t>
            </a:r>
          </a:p>
          <a:p>
            <a:r>
              <a:rPr lang="en-AU" sz="1200" dirty="0"/>
              <a:t>A </a:t>
            </a:r>
            <a:r>
              <a:rPr lang="en-AU" sz="1200" u="sng" dirty="0"/>
              <a:t>transaction DTE </a:t>
            </a:r>
            <a:r>
              <a:rPr lang="en-AU" sz="1200" dirty="0"/>
              <a:t>records the transfer of products or materials from a source facility to a destination facility.  A </a:t>
            </a:r>
            <a:r>
              <a:rPr lang="en-AU" sz="1200" u="sng" dirty="0"/>
              <a:t>transformation DTE </a:t>
            </a:r>
            <a:r>
              <a:rPr lang="en-AU" sz="1200" dirty="0"/>
              <a:t>records the consumption of input materials to create output products. In both cases, if a tier-1  supplier provides the DTE to their customer then they are sharing their supply information, the customer’s tier-2. The chain can be followed to n-tier suppliers.</a:t>
            </a:r>
          </a:p>
          <a:p>
            <a:endParaRPr lang="en-AU" dirty="0"/>
          </a:p>
        </p:txBody>
      </p:sp>
      <p:sp>
        <p:nvSpPr>
          <p:cNvPr id="4" name="Slide Number Placeholder 3">
            <a:extLst>
              <a:ext uri="{FF2B5EF4-FFF2-40B4-BE49-F238E27FC236}">
                <a16:creationId xmlns:a16="http://schemas.microsoft.com/office/drawing/2014/main" id="{579798A6-78D8-6F65-F549-053DE194B5A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3429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6868C-9EFA-2C66-BAD2-5702C52B6F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F53B0F-9C70-CDA4-6DB8-7603D366C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4D954-D1E2-152F-4F15-17F6B033D1B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6D743A2-D49A-B6E4-1BF6-CD47FFB4D4C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9363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9B3B8-9B66-65F2-3EB5-E67A7CA524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A7561-0DEB-870E-5460-7ED9669ED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DBE62-E707-CCCC-0924-B1A637EEEC96}"/>
              </a:ext>
            </a:extLst>
          </p:cNvPr>
          <p:cNvSpPr>
            <a:spLocks noGrp="1"/>
          </p:cNvSpPr>
          <p:nvPr>
            <p:ph type="body" idx="1"/>
          </p:nvPr>
        </p:nvSpPr>
        <p:spPr/>
        <p:txBody>
          <a:bodyPr/>
          <a:lstStyle/>
          <a:p>
            <a:r>
              <a:rPr lang="en-AU" sz="1200" b="1" dirty="0"/>
              <a:t>Managing the pathway from PDF to verifiable data</a:t>
            </a:r>
          </a:p>
          <a:p>
            <a:r>
              <a:rPr lang="en-AU" sz="1200" dirty="0"/>
              <a:t>Early in UNTP adoption, most supply-chain data will remain unstructured rather than credential-based. Pilots show that LLMs can reliably map PDF documents to UNTP standards, and these documents can be discovered using the same product and facility identifiers. The difference is that the mapping is less reliable, and the data is not verifiable. </a:t>
            </a:r>
          </a:p>
          <a:p>
            <a:endParaRPr lang="en-AU" dirty="0"/>
          </a:p>
        </p:txBody>
      </p:sp>
      <p:sp>
        <p:nvSpPr>
          <p:cNvPr id="4" name="Slide Number Placeholder 3">
            <a:extLst>
              <a:ext uri="{FF2B5EF4-FFF2-40B4-BE49-F238E27FC236}">
                <a16:creationId xmlns:a16="http://schemas.microsoft.com/office/drawing/2014/main" id="{899A5E8C-1199-8B88-68DD-201C6434F23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84567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B7A19-67A9-21D5-F1BD-94BA1E230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BBE69-2091-020C-1EFD-C42595326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F7CB9F-4DFF-3137-1FC3-9EE8CE7DF998}"/>
              </a:ext>
            </a:extLst>
          </p:cNvPr>
          <p:cNvSpPr>
            <a:spLocks noGrp="1"/>
          </p:cNvSpPr>
          <p:nvPr>
            <p:ph type="body" idx="1"/>
          </p:nvPr>
        </p:nvSpPr>
        <p:spPr/>
        <p:txBody>
          <a:bodyPr/>
          <a:lstStyle/>
          <a:p>
            <a:r>
              <a:rPr lang="en-AU" sz="1200" b="1" dirty="0"/>
              <a:t>Balancing transparency with confidentiality</a:t>
            </a:r>
          </a:p>
          <a:p>
            <a:r>
              <a:rPr lang="en-AU" sz="1200" dirty="0"/>
              <a:t>While traceability events enable full n-tier transparency, commercial considerations may prevent direct supplier disclosure. Instead, upstream visibility can be provided to an accredited audit service, which validates the supply chain and issues trusted attestations without disclosing supplier identities. The diagram shows the fabricator and smelter taking this approach.</a:t>
            </a:r>
          </a:p>
          <a:p>
            <a:endParaRPr lang="en-AU" dirty="0"/>
          </a:p>
        </p:txBody>
      </p:sp>
      <p:sp>
        <p:nvSpPr>
          <p:cNvPr id="4" name="Slide Number Placeholder 3">
            <a:extLst>
              <a:ext uri="{FF2B5EF4-FFF2-40B4-BE49-F238E27FC236}">
                <a16:creationId xmlns:a16="http://schemas.microsoft.com/office/drawing/2014/main" id="{C0053A06-967C-75F7-2FD0-ADD502C1C57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99941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9FEAC-6E28-A186-DD79-0401A4A93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F9703-DBCE-02C6-00B8-D3E14CFBEB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498D4-813A-354A-CBE9-20A58CB14979}"/>
              </a:ext>
            </a:extLst>
          </p:cNvPr>
          <p:cNvSpPr>
            <a:spLocks noGrp="1"/>
          </p:cNvSpPr>
          <p:nvPr>
            <p:ph type="body" idx="1"/>
          </p:nvPr>
        </p:nvSpPr>
        <p:spPr/>
        <p:txBody>
          <a:bodyPr/>
          <a:lstStyle/>
          <a:p>
            <a:r>
              <a:rPr lang="en-AU" sz="1200" b="1" dirty="0"/>
              <a:t>Adding product level Performance data</a:t>
            </a:r>
          </a:p>
          <a:p>
            <a:r>
              <a:rPr lang="en-AU" sz="1200" dirty="0"/>
              <a:t>Producing facilities can also publish product passports for every consignment, batch, or serialised item.  Discoverable in the same way from product identifiers and providing more relevant data for selective supply decisions and export market compliance / social license</a:t>
            </a:r>
            <a:endParaRPr lang="en-AU" dirty="0"/>
          </a:p>
        </p:txBody>
      </p:sp>
      <p:sp>
        <p:nvSpPr>
          <p:cNvPr id="4" name="Slide Number Placeholder 3">
            <a:extLst>
              <a:ext uri="{FF2B5EF4-FFF2-40B4-BE49-F238E27FC236}">
                <a16:creationId xmlns:a16="http://schemas.microsoft.com/office/drawing/2014/main" id="{F7ABC6FE-36F7-FE98-9DCA-E2A8B34A8FD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0567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5900E-AF30-A029-A191-349F91C38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4B8B1-FC0C-D3C8-43B4-409DEEFD09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B0CC2D-C2CD-9629-5B61-E4966C2ABA92}"/>
              </a:ext>
            </a:extLst>
          </p:cNvPr>
          <p:cNvSpPr>
            <a:spLocks noGrp="1"/>
          </p:cNvSpPr>
          <p:nvPr>
            <p:ph type="body" idx="1"/>
          </p:nvPr>
        </p:nvSpPr>
        <p:spPr/>
        <p:txBody>
          <a:bodyPr/>
          <a:lstStyle/>
          <a:p>
            <a:r>
              <a:rPr lang="en-AU" sz="1200" b="1" dirty="0"/>
              <a:t>Adding product level Performance data</a:t>
            </a:r>
          </a:p>
          <a:p>
            <a:r>
              <a:rPr lang="en-AU" sz="1200" dirty="0"/>
              <a:t>Producing facilities can also publish product passports for every consignment, batch, or serialised item.  Discoverable in the same way from product identifiers and providing more relevant data for selective supply decisions and export market compliance / social license</a:t>
            </a:r>
            <a:endParaRPr lang="en-AU" dirty="0"/>
          </a:p>
        </p:txBody>
      </p:sp>
      <p:sp>
        <p:nvSpPr>
          <p:cNvPr id="4" name="Slide Number Placeholder 3">
            <a:extLst>
              <a:ext uri="{FF2B5EF4-FFF2-40B4-BE49-F238E27FC236}">
                <a16:creationId xmlns:a16="http://schemas.microsoft.com/office/drawing/2014/main" id="{F0D56603-5458-4186-179D-25522CE9433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67003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48A45-97B1-25E4-66D2-98BFE7B1D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8D40C-3B5F-1F0B-F766-1ECB0A119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680D7-941B-14E1-5BB9-918FADACD2E9}"/>
              </a:ext>
            </a:extLst>
          </p:cNvPr>
          <p:cNvSpPr>
            <a:spLocks noGrp="1"/>
          </p:cNvSpPr>
          <p:nvPr>
            <p:ph type="body" idx="1"/>
          </p:nvPr>
        </p:nvSpPr>
        <p:spPr/>
        <p:txBody>
          <a:bodyPr/>
          <a:lstStyle/>
          <a:p>
            <a:r>
              <a:rPr lang="en-AU" sz="1200" b="1" dirty="0"/>
              <a:t>Adding facility level Chain of Custody data</a:t>
            </a:r>
          </a:p>
          <a:p>
            <a:r>
              <a:rPr lang="en-AU" sz="1200" dirty="0"/>
              <a:t>When each facility (possibly with selective access) adds raw material sourcing data – aggregated from their upstream suppliers, each can reveal material origin data without revealing immediate supplier data.</a:t>
            </a:r>
          </a:p>
        </p:txBody>
      </p:sp>
      <p:sp>
        <p:nvSpPr>
          <p:cNvPr id="4" name="Slide Number Placeholder 3">
            <a:extLst>
              <a:ext uri="{FF2B5EF4-FFF2-40B4-BE49-F238E27FC236}">
                <a16:creationId xmlns:a16="http://schemas.microsoft.com/office/drawing/2014/main" id="{ABE3C049-7AB7-DBD7-7672-88B7928C764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257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3CC74-6382-DAAD-3F16-D78C9CE6E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D0EE5-5256-EC92-D5BB-F032DCCBF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B6050-C901-7B8D-B4FF-083F55791714}"/>
              </a:ext>
            </a:extLst>
          </p:cNvPr>
          <p:cNvSpPr>
            <a:spLocks noGrp="1"/>
          </p:cNvSpPr>
          <p:nvPr>
            <p:ph type="body" idx="1"/>
          </p:nvPr>
        </p:nvSpPr>
        <p:spPr/>
        <p:txBody>
          <a:bodyPr/>
          <a:lstStyle/>
          <a:p>
            <a:r>
              <a:rPr lang="en-AU" sz="1200" b="1" dirty="0"/>
              <a:t>Adding verifiable mass balance </a:t>
            </a:r>
          </a:p>
          <a:p>
            <a:r>
              <a:rPr lang="en-AU" sz="1200" dirty="0"/>
              <a:t>When output products are made from mixed bulk inputs (pretty much all upstream processes) then there is a risk of double spend &amp; fraud in the allocation of sustainability performance from inputs to outputs. Trusted quota systems can record stocks and flows and issue consumable guarantee of origin tokens that are acquitted by buyers.</a:t>
            </a:r>
          </a:p>
        </p:txBody>
      </p:sp>
      <p:sp>
        <p:nvSpPr>
          <p:cNvPr id="4" name="Slide Number Placeholder 3">
            <a:extLst>
              <a:ext uri="{FF2B5EF4-FFF2-40B4-BE49-F238E27FC236}">
                <a16:creationId xmlns:a16="http://schemas.microsoft.com/office/drawing/2014/main" id="{DA41FFA1-FDED-156A-F938-96C9B4F2837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76159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48DF5-52E0-FF66-6B9A-621E75B48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F258A-C71C-1619-8C7F-0C1FF4DE1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98582-F9CF-0979-E16D-66B3F5EAEC15}"/>
              </a:ext>
            </a:extLst>
          </p:cNvPr>
          <p:cNvSpPr>
            <a:spLocks noGrp="1"/>
          </p:cNvSpPr>
          <p:nvPr>
            <p:ph type="body" idx="1"/>
          </p:nvPr>
        </p:nvSpPr>
        <p:spPr/>
        <p:txBody>
          <a:bodyPr/>
          <a:lstStyle/>
          <a:p>
            <a:r>
              <a:rPr lang="en-AU" sz="1200" b="1" dirty="0"/>
              <a:t>Adding book and claim incentives</a:t>
            </a:r>
          </a:p>
          <a:p>
            <a:r>
              <a:rPr lang="en-AU" sz="1200" dirty="0"/>
              <a:t>There is an emerging “supply shed” practice where incentives for sustainable behaviour bypass the entire traceability chain with a fairly simple book &amp; claim model. This complements and does not compete with mass-balance / traceability</a:t>
            </a:r>
          </a:p>
        </p:txBody>
      </p:sp>
      <p:sp>
        <p:nvSpPr>
          <p:cNvPr id="4" name="Slide Number Placeholder 3">
            <a:extLst>
              <a:ext uri="{FF2B5EF4-FFF2-40B4-BE49-F238E27FC236}">
                <a16:creationId xmlns:a16="http://schemas.microsoft.com/office/drawing/2014/main" id="{81F9E479-B3ED-00FC-F660-2E9893E22D0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C7A552B-6A50-9E42-A11A-CDDB958DC79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72128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DBF160B-3A44-4C3B-BCEA-BD19AB6803E9}" type="datetime1">
              <a:rPr lang="en-US" smtClean="0"/>
              <a:t>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B09506-28EA-4C19-A061-02E7C9DE017B}" type="slidenum">
              <a:rPr lang="en-US" smtClean="0"/>
              <a:t>‹#›</a:t>
            </a:fld>
            <a:endParaRPr lang="en-US"/>
          </a:p>
        </p:txBody>
      </p:sp>
      <p:grpSp>
        <p:nvGrpSpPr>
          <p:cNvPr id="7" name="Group 6">
            <a:extLst>
              <a:ext uri="{FF2B5EF4-FFF2-40B4-BE49-F238E27FC236}">
                <a16:creationId xmlns:a16="http://schemas.microsoft.com/office/drawing/2014/main" id="{5BA4A9B5-7A37-EB74-653F-000671432CFE}"/>
              </a:ext>
            </a:extLst>
          </p:cNvPr>
          <p:cNvGrpSpPr/>
          <p:nvPr userDrawn="1"/>
        </p:nvGrpSpPr>
        <p:grpSpPr>
          <a:xfrm>
            <a:off x="7841743" y="193893"/>
            <a:ext cx="4110378" cy="6665283"/>
            <a:chOff x="6371416" y="193892"/>
            <a:chExt cx="3339682" cy="6665283"/>
          </a:xfrm>
        </p:grpSpPr>
        <p:pic>
          <p:nvPicPr>
            <p:cNvPr id="8" name="Picture 7">
              <a:extLst>
                <a:ext uri="{FF2B5EF4-FFF2-40B4-BE49-F238E27FC236}">
                  <a16:creationId xmlns:a16="http://schemas.microsoft.com/office/drawing/2014/main" id="{47468F0F-755F-76A9-F7CF-B730EAC5DC61}"/>
                </a:ext>
              </a:extLst>
            </p:cNvPr>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7259247" y="193892"/>
              <a:ext cx="1564020" cy="36953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B16796D-9429-3C0B-65EB-AA13A0EE84A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371416" y="636953"/>
              <a:ext cx="3339682" cy="6222222"/>
            </a:xfrm>
            <a:prstGeom prst="rect">
              <a:avLst/>
            </a:prstGeom>
          </p:spPr>
        </p:pic>
      </p:grpSp>
      <p:sp>
        <p:nvSpPr>
          <p:cNvPr id="10" name="Rectangle 9">
            <a:extLst>
              <a:ext uri="{FF2B5EF4-FFF2-40B4-BE49-F238E27FC236}">
                <a16:creationId xmlns:a16="http://schemas.microsoft.com/office/drawing/2014/main" id="{19A46A2A-D903-03FB-8396-8121CD2210D0}"/>
              </a:ext>
            </a:extLst>
          </p:cNvPr>
          <p:cNvSpPr/>
          <p:nvPr userDrawn="1"/>
        </p:nvSpPr>
        <p:spPr>
          <a:xfrm>
            <a:off x="0" y="0"/>
            <a:ext cx="38264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431484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A8505E0-37E7-4BCD-BA8D-3C81CE89C100}" type="datetime1">
              <a:rPr lang="en-US" smtClean="0"/>
              <a:t>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B09506-28EA-4C19-A061-02E7C9DE017B}" type="slidenum">
              <a:rPr lang="en-US" smtClean="0"/>
              <a:pPr/>
              <a:t>‹#›</a:t>
            </a:fld>
            <a:endParaRPr lang="en-US"/>
          </a:p>
        </p:txBody>
      </p:sp>
    </p:spTree>
    <p:extLst>
      <p:ext uri="{BB962C8B-B14F-4D97-AF65-F5344CB8AC3E}">
        <p14:creationId xmlns:p14="http://schemas.microsoft.com/office/powerpoint/2010/main" val="3638121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4623402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A38245A-2362-40A2-9432-11E173A2FE35}" type="datetime1">
              <a:rPr lang="en-US" smtClean="0"/>
              <a:t>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B09506-28EA-4C19-A061-02E7C9DE017B}" type="slidenum">
              <a:rPr lang="en-US" smtClean="0"/>
              <a:t>‹#›</a:t>
            </a:fld>
            <a:endParaRPr lang="en-US"/>
          </a:p>
        </p:txBody>
      </p:sp>
    </p:spTree>
    <p:extLst>
      <p:ext uri="{BB962C8B-B14F-4D97-AF65-F5344CB8AC3E}">
        <p14:creationId xmlns:p14="http://schemas.microsoft.com/office/powerpoint/2010/main" val="146702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4986519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1A389D0-0F06-4052-931B-BC5D7EEFC8E9}" type="datetime1">
              <a:rPr lang="en-US" smtClean="0"/>
              <a:t>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B09506-28EA-4C19-A061-02E7C9DE017B}" type="slidenum">
              <a:rPr lang="en-US" smtClean="0"/>
              <a:t>‹#›</a:t>
            </a:fld>
            <a:endParaRPr lang="en-US"/>
          </a:p>
        </p:txBody>
      </p:sp>
    </p:spTree>
    <p:extLst>
      <p:ext uri="{BB962C8B-B14F-4D97-AF65-F5344CB8AC3E}">
        <p14:creationId xmlns:p14="http://schemas.microsoft.com/office/powerpoint/2010/main" val="249332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CBC4FA-4788-483E-AD3A-36A4714E3E4D}" type="datetime1">
              <a:rPr lang="en-US" smtClean="0"/>
              <a:t>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B09506-28EA-4C19-A061-02E7C9DE017B}" type="slidenum">
              <a:rPr lang="en-US" smtClean="0"/>
              <a:t>‹#›</a:t>
            </a:fld>
            <a:endParaRPr lang="en-US"/>
          </a:p>
        </p:txBody>
      </p:sp>
    </p:spTree>
    <p:extLst>
      <p:ext uri="{BB962C8B-B14F-4D97-AF65-F5344CB8AC3E}">
        <p14:creationId xmlns:p14="http://schemas.microsoft.com/office/powerpoint/2010/main" val="1139037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2658153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4386578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4410292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5088213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461989" y="1223889"/>
            <a:ext cx="4781737" cy="4953074"/>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72064" y="1223889"/>
            <a:ext cx="4781737" cy="4953074"/>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38201" y="6356353"/>
            <a:ext cx="2743200" cy="365125"/>
          </a:xfrm>
          <a:prstGeom prst="rect">
            <a:avLst/>
          </a:prstGeom>
        </p:spPr>
        <p:txBody>
          <a:bodyPr/>
          <a:lstStyle/>
          <a:p>
            <a:fld id="{9A38245A-2362-40A2-9432-11E173A2FE35}" type="datetime1">
              <a:rPr lang="en-US" smtClean="0"/>
              <a:t>1/6/26</a:t>
            </a:fld>
            <a:endParaRPr lang="en-US"/>
          </a:p>
        </p:txBody>
      </p:sp>
      <p:sp>
        <p:nvSpPr>
          <p:cNvPr id="6" name="Footer Placeholder 5"/>
          <p:cNvSpPr>
            <a:spLocks noGrp="1"/>
          </p:cNvSpPr>
          <p:nvPr>
            <p:ph type="ftr" sz="quarter" idx="11"/>
          </p:nvPr>
        </p:nvSpPr>
        <p:spPr>
          <a:xfrm>
            <a:off x="4038601" y="6356353"/>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1" y="6356353"/>
            <a:ext cx="2743200" cy="365125"/>
          </a:xfrm>
          <a:prstGeom prst="rect">
            <a:avLst/>
          </a:prstGeom>
        </p:spPr>
        <p:txBody>
          <a:bodyPr/>
          <a:lstStyle/>
          <a:p>
            <a:fld id="{FEB09506-28EA-4C19-A061-02E7C9DE017B}" type="slidenum">
              <a:rPr lang="en-US" smtClean="0"/>
              <a:t>‹#›</a:t>
            </a:fld>
            <a:endParaRPr lang="en-US"/>
          </a:p>
        </p:txBody>
      </p:sp>
      <p:sp>
        <p:nvSpPr>
          <p:cNvPr id="8" name="Title 1"/>
          <p:cNvSpPr>
            <a:spLocks noGrp="1"/>
          </p:cNvSpPr>
          <p:nvPr>
            <p:ph type="title"/>
          </p:nvPr>
        </p:nvSpPr>
        <p:spPr>
          <a:xfrm>
            <a:off x="1461989" y="365128"/>
            <a:ext cx="9891812" cy="704018"/>
          </a:xfrm>
          <a:prstGeom prst="rect">
            <a:avLst/>
          </a:prstGeom>
        </p:spPr>
        <p:txBody>
          <a:bodyPr>
            <a:normAutofit/>
          </a:bodyPr>
          <a:lstStyle>
            <a:lvl1pPr algn="r">
              <a:defRPr sz="3200">
                <a:latin typeface="Arial Black" panose="020B0A04020102020204" pitchFamily="34" charset="0"/>
              </a:defRPr>
            </a:lvl1pPr>
          </a:lstStyle>
          <a:p>
            <a:r>
              <a:rPr lang="en-US" dirty="0"/>
              <a:t>Click to edit Master title style</a:t>
            </a:r>
          </a:p>
        </p:txBody>
      </p:sp>
    </p:spTree>
    <p:extLst>
      <p:ext uri="{BB962C8B-B14F-4D97-AF65-F5344CB8AC3E}">
        <p14:creationId xmlns:p14="http://schemas.microsoft.com/office/powerpoint/2010/main" val="521429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1989" y="1248536"/>
            <a:ext cx="4781737" cy="411956"/>
          </a:xfrm>
          <a:prstGeom prst="rect">
            <a:avLst/>
          </a:prstGeom>
        </p:spPr>
        <p:txBody>
          <a:bodyPr anchor="b">
            <a:normAutofit/>
          </a:bodyPr>
          <a:lstStyle>
            <a:lvl1pPr marL="0" indent="0">
              <a:buNone/>
              <a:defRPr sz="2000" b="1">
                <a:solidFill>
                  <a:srgbClr val="3392E7"/>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5" name="Text Placeholder 4"/>
          <p:cNvSpPr>
            <a:spLocks noGrp="1"/>
          </p:cNvSpPr>
          <p:nvPr>
            <p:ph type="body" sz="quarter" idx="3"/>
          </p:nvPr>
        </p:nvSpPr>
        <p:spPr>
          <a:xfrm>
            <a:off x="6572064" y="1251521"/>
            <a:ext cx="4783326" cy="411956"/>
          </a:xfrm>
          <a:prstGeom prst="rect">
            <a:avLst/>
          </a:prstGeom>
        </p:spPr>
        <p:txBody>
          <a:bodyPr anchor="b">
            <a:normAutofit/>
          </a:bodyPr>
          <a:lstStyle>
            <a:lvl1pPr marL="0" indent="0">
              <a:buNone/>
              <a:defRPr sz="2000" b="1">
                <a:solidFill>
                  <a:srgbClr val="3392E7"/>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a:xfrm>
            <a:off x="838201" y="6356353"/>
            <a:ext cx="2743200" cy="365125"/>
          </a:xfrm>
          <a:prstGeom prst="rect">
            <a:avLst/>
          </a:prstGeom>
        </p:spPr>
        <p:txBody>
          <a:bodyPr/>
          <a:lstStyle/>
          <a:p>
            <a:fld id="{6FB96879-471E-46C8-A813-F70B84DA637C}" type="datetime1">
              <a:rPr lang="en-US" smtClean="0"/>
              <a:t>1/6/26</a:t>
            </a:fld>
            <a:endParaRPr lang="en-US"/>
          </a:p>
        </p:txBody>
      </p:sp>
      <p:sp>
        <p:nvSpPr>
          <p:cNvPr id="8" name="Footer Placeholder 7"/>
          <p:cNvSpPr>
            <a:spLocks noGrp="1"/>
          </p:cNvSpPr>
          <p:nvPr>
            <p:ph type="ftr" sz="quarter" idx="11"/>
          </p:nvPr>
        </p:nvSpPr>
        <p:spPr>
          <a:xfrm>
            <a:off x="4038601" y="6356353"/>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1" y="6356353"/>
            <a:ext cx="2743200" cy="365125"/>
          </a:xfrm>
          <a:prstGeom prst="rect">
            <a:avLst/>
          </a:prstGeom>
        </p:spPr>
        <p:txBody>
          <a:bodyPr/>
          <a:lstStyle/>
          <a:p>
            <a:fld id="{FEB09506-28EA-4C19-A061-02E7C9DE017B}" type="slidenum">
              <a:rPr lang="en-US" smtClean="0"/>
              <a:t>‹#›</a:t>
            </a:fld>
            <a:endParaRPr lang="en-US"/>
          </a:p>
        </p:txBody>
      </p:sp>
      <p:sp>
        <p:nvSpPr>
          <p:cNvPr id="10" name="Title 1"/>
          <p:cNvSpPr>
            <a:spLocks noGrp="1"/>
          </p:cNvSpPr>
          <p:nvPr>
            <p:ph type="title"/>
          </p:nvPr>
        </p:nvSpPr>
        <p:spPr>
          <a:xfrm>
            <a:off x="1461989" y="365128"/>
            <a:ext cx="9891812" cy="704018"/>
          </a:xfrm>
          <a:prstGeom prst="rect">
            <a:avLst/>
          </a:prstGeom>
        </p:spPr>
        <p:txBody>
          <a:bodyPr>
            <a:normAutofit/>
          </a:bodyPr>
          <a:lstStyle>
            <a:lvl1pPr algn="r">
              <a:defRPr sz="3200">
                <a:latin typeface="Arial Black" panose="020B0A04020102020204" pitchFamily="34" charset="0"/>
              </a:defRPr>
            </a:lvl1pPr>
          </a:lstStyle>
          <a:p>
            <a:r>
              <a:rPr lang="en-US" dirty="0"/>
              <a:t>Click to edit Master title style</a:t>
            </a:r>
          </a:p>
        </p:txBody>
      </p:sp>
      <p:sp>
        <p:nvSpPr>
          <p:cNvPr id="11" name="Content Placeholder 2"/>
          <p:cNvSpPr>
            <a:spLocks noGrp="1"/>
          </p:cNvSpPr>
          <p:nvPr>
            <p:ph sz="half" idx="13"/>
          </p:nvPr>
        </p:nvSpPr>
        <p:spPr>
          <a:xfrm>
            <a:off x="1461989" y="1842868"/>
            <a:ext cx="4781737" cy="4334095"/>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p:cNvSpPr>
            <a:spLocks noGrp="1"/>
          </p:cNvSpPr>
          <p:nvPr>
            <p:ph sz="half" idx="2"/>
          </p:nvPr>
        </p:nvSpPr>
        <p:spPr>
          <a:xfrm>
            <a:off x="6572064" y="1842868"/>
            <a:ext cx="4781738" cy="4334095"/>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943580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1" y="6356353"/>
            <a:ext cx="2743200" cy="365125"/>
          </a:xfrm>
          <a:prstGeom prst="rect">
            <a:avLst/>
          </a:prstGeom>
        </p:spPr>
        <p:txBody>
          <a:bodyPr/>
          <a:lstStyle/>
          <a:p>
            <a:fld id="{81A389D0-0F06-4052-931B-BC5D7EEFC8E9}" type="datetime1">
              <a:rPr lang="en-US" smtClean="0"/>
              <a:t>1/6/26</a:t>
            </a:fld>
            <a:endParaRPr lang="en-US"/>
          </a:p>
        </p:txBody>
      </p:sp>
      <p:sp>
        <p:nvSpPr>
          <p:cNvPr id="4" name="Footer Placeholder 3"/>
          <p:cNvSpPr>
            <a:spLocks noGrp="1"/>
          </p:cNvSpPr>
          <p:nvPr>
            <p:ph type="ftr" sz="quarter" idx="11"/>
          </p:nvPr>
        </p:nvSpPr>
        <p:spPr>
          <a:xfrm>
            <a:off x="4038601" y="6356353"/>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1" y="6356353"/>
            <a:ext cx="2743200" cy="365125"/>
          </a:xfrm>
          <a:prstGeom prst="rect">
            <a:avLst/>
          </a:prstGeom>
        </p:spPr>
        <p:txBody>
          <a:bodyPr/>
          <a:lstStyle/>
          <a:p>
            <a:fld id="{FEB09506-28EA-4C19-A061-02E7C9DE017B}" type="slidenum">
              <a:rPr lang="en-US" smtClean="0"/>
              <a:t>‹#›</a:t>
            </a:fld>
            <a:endParaRPr lang="en-US"/>
          </a:p>
        </p:txBody>
      </p:sp>
      <p:sp>
        <p:nvSpPr>
          <p:cNvPr id="6" name="Title 1"/>
          <p:cNvSpPr>
            <a:spLocks noGrp="1"/>
          </p:cNvSpPr>
          <p:nvPr>
            <p:ph type="title"/>
          </p:nvPr>
        </p:nvSpPr>
        <p:spPr>
          <a:xfrm>
            <a:off x="1461989" y="365128"/>
            <a:ext cx="9891812" cy="704018"/>
          </a:xfrm>
          <a:prstGeom prst="rect">
            <a:avLst/>
          </a:prstGeom>
        </p:spPr>
        <p:txBody>
          <a:bodyPr>
            <a:normAutofit/>
          </a:bodyPr>
          <a:lstStyle>
            <a:lvl1pPr algn="r">
              <a:defRPr sz="3200">
                <a:latin typeface="Arial Black" panose="020B0A04020102020204" pitchFamily="34" charset="0"/>
              </a:defRPr>
            </a:lvl1pPr>
          </a:lstStyle>
          <a:p>
            <a:r>
              <a:rPr lang="en-US" dirty="0"/>
              <a:t>Click to edit Master title style</a:t>
            </a:r>
          </a:p>
        </p:txBody>
      </p:sp>
    </p:spTree>
    <p:extLst>
      <p:ext uri="{BB962C8B-B14F-4D97-AF65-F5344CB8AC3E}">
        <p14:creationId xmlns:p14="http://schemas.microsoft.com/office/powerpoint/2010/main" val="205941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9" indent="0" algn="ctr">
              <a:buNone/>
              <a:defRPr sz="2000"/>
            </a:lvl2pPr>
            <a:lvl3pPr marL="914418" indent="0" algn="ctr">
              <a:buNone/>
              <a:defRPr sz="1800"/>
            </a:lvl3pPr>
            <a:lvl4pPr marL="1371627" indent="0" algn="ctr">
              <a:buNone/>
              <a:defRPr sz="1600"/>
            </a:lvl4pPr>
            <a:lvl5pPr marL="1828837" indent="0" algn="ctr">
              <a:buNone/>
              <a:defRPr sz="1600"/>
            </a:lvl5pPr>
            <a:lvl6pPr marL="2286046" indent="0" algn="ctr">
              <a:buNone/>
              <a:defRPr sz="1600"/>
            </a:lvl6pPr>
            <a:lvl7pPr marL="2743255" indent="0" algn="ctr">
              <a:buNone/>
              <a:defRPr sz="1600"/>
            </a:lvl7pPr>
            <a:lvl8pPr marL="3200464" indent="0" algn="ctr">
              <a:buNone/>
              <a:defRPr sz="1600"/>
            </a:lvl8pPr>
            <a:lvl9pPr marL="3657673"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7E57B0F8-5D2D-CC4F-86C0-479A81AB0558}" type="datetimeFigureOut">
              <a:rPr lang="en-AU" smtClean="0"/>
              <a:t>6/1/2026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3336038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E57B0F8-5D2D-CC4F-86C0-479A81AB0558}" type="datetimeFigureOut">
              <a:rPr lang="en-AU" smtClean="0"/>
              <a:t>6/1/2026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3755055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82000"/>
                  </a:schemeClr>
                </a:solidFill>
              </a:defRPr>
            </a:lvl1pPr>
            <a:lvl2pPr marL="457209" indent="0">
              <a:buNone/>
              <a:defRPr sz="2000">
                <a:solidFill>
                  <a:schemeClr val="tx1">
                    <a:tint val="82000"/>
                  </a:schemeClr>
                </a:solidFill>
              </a:defRPr>
            </a:lvl2pPr>
            <a:lvl3pPr marL="914418" indent="0">
              <a:buNone/>
              <a:defRPr sz="1800">
                <a:solidFill>
                  <a:schemeClr val="tx1">
                    <a:tint val="82000"/>
                  </a:schemeClr>
                </a:solidFill>
              </a:defRPr>
            </a:lvl3pPr>
            <a:lvl4pPr marL="1371627" indent="0">
              <a:buNone/>
              <a:defRPr sz="1600">
                <a:solidFill>
                  <a:schemeClr val="tx1">
                    <a:tint val="82000"/>
                  </a:schemeClr>
                </a:solidFill>
              </a:defRPr>
            </a:lvl4pPr>
            <a:lvl5pPr marL="1828837" indent="0">
              <a:buNone/>
              <a:defRPr sz="1600">
                <a:solidFill>
                  <a:schemeClr val="tx1">
                    <a:tint val="82000"/>
                  </a:schemeClr>
                </a:solidFill>
              </a:defRPr>
            </a:lvl5pPr>
            <a:lvl6pPr marL="2286046" indent="0">
              <a:buNone/>
              <a:defRPr sz="1600">
                <a:solidFill>
                  <a:schemeClr val="tx1">
                    <a:tint val="82000"/>
                  </a:schemeClr>
                </a:solidFill>
              </a:defRPr>
            </a:lvl6pPr>
            <a:lvl7pPr marL="2743255" indent="0">
              <a:buNone/>
              <a:defRPr sz="1600">
                <a:solidFill>
                  <a:schemeClr val="tx1">
                    <a:tint val="82000"/>
                  </a:schemeClr>
                </a:solidFill>
              </a:defRPr>
            </a:lvl7pPr>
            <a:lvl8pPr marL="3200464" indent="0">
              <a:buNone/>
              <a:defRPr sz="1600">
                <a:solidFill>
                  <a:schemeClr val="tx1">
                    <a:tint val="82000"/>
                  </a:schemeClr>
                </a:solidFill>
              </a:defRPr>
            </a:lvl8pPr>
            <a:lvl9pPr marL="3657673"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E57B0F8-5D2D-CC4F-86C0-479A81AB0558}" type="datetimeFigureOut">
              <a:rPr lang="en-AU" smtClean="0"/>
              <a:t>6/1/2026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15732892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E57B0F8-5D2D-CC4F-86C0-479A81AB0558}" type="datetimeFigureOut">
              <a:rPr lang="en-AU" smtClean="0"/>
              <a:t>6/1/2026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24040196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9" indent="0">
              <a:buNone/>
              <a:defRPr sz="2000" b="1"/>
            </a:lvl2pPr>
            <a:lvl3pPr marL="914418" indent="0">
              <a:buNone/>
              <a:defRPr sz="1800" b="1"/>
            </a:lvl3pPr>
            <a:lvl4pPr marL="1371627" indent="0">
              <a:buNone/>
              <a:defRPr sz="1600" b="1"/>
            </a:lvl4pPr>
            <a:lvl5pPr marL="1828837" indent="0">
              <a:buNone/>
              <a:defRPr sz="1600" b="1"/>
            </a:lvl5pPr>
            <a:lvl6pPr marL="2286046" indent="0">
              <a:buNone/>
              <a:defRPr sz="1600" b="1"/>
            </a:lvl6pPr>
            <a:lvl7pPr marL="2743255" indent="0">
              <a:buNone/>
              <a:defRPr sz="1600" b="1"/>
            </a:lvl7pPr>
            <a:lvl8pPr marL="3200464" indent="0">
              <a:buNone/>
              <a:defRPr sz="1600" b="1"/>
            </a:lvl8pPr>
            <a:lvl9pPr marL="3657673"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9" indent="0">
              <a:buNone/>
              <a:defRPr sz="2000" b="1"/>
            </a:lvl2pPr>
            <a:lvl3pPr marL="914418" indent="0">
              <a:buNone/>
              <a:defRPr sz="1800" b="1"/>
            </a:lvl3pPr>
            <a:lvl4pPr marL="1371627" indent="0">
              <a:buNone/>
              <a:defRPr sz="1600" b="1"/>
            </a:lvl4pPr>
            <a:lvl5pPr marL="1828837" indent="0">
              <a:buNone/>
              <a:defRPr sz="1600" b="1"/>
            </a:lvl5pPr>
            <a:lvl6pPr marL="2286046" indent="0">
              <a:buNone/>
              <a:defRPr sz="1600" b="1"/>
            </a:lvl6pPr>
            <a:lvl7pPr marL="2743255" indent="0">
              <a:buNone/>
              <a:defRPr sz="1600" b="1"/>
            </a:lvl7pPr>
            <a:lvl8pPr marL="3200464" indent="0">
              <a:buNone/>
              <a:defRPr sz="1600" b="1"/>
            </a:lvl8pPr>
            <a:lvl9pPr marL="3657673"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E57B0F8-5D2D-CC4F-86C0-479A81AB0558}" type="datetimeFigureOut">
              <a:rPr lang="en-AU" smtClean="0"/>
              <a:t>6/1/2026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12613170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E57B0F8-5D2D-CC4F-86C0-479A81AB0558}" type="datetimeFigureOut">
              <a:rPr lang="en-AU" smtClean="0"/>
              <a:t>6/1/2026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18099375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57B0F8-5D2D-CC4F-86C0-479A81AB0558}" type="datetimeFigureOut">
              <a:rPr lang="en-AU" smtClean="0"/>
              <a:t>6/1/2026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3554299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09" indent="0">
              <a:buNone/>
              <a:defRPr sz="1400"/>
            </a:lvl2pPr>
            <a:lvl3pPr marL="914418" indent="0">
              <a:buNone/>
              <a:defRPr sz="1200"/>
            </a:lvl3pPr>
            <a:lvl4pPr marL="1371627" indent="0">
              <a:buNone/>
              <a:defRPr sz="1000"/>
            </a:lvl4pPr>
            <a:lvl5pPr marL="1828837" indent="0">
              <a:buNone/>
              <a:defRPr sz="1000"/>
            </a:lvl5pPr>
            <a:lvl6pPr marL="2286046" indent="0">
              <a:buNone/>
              <a:defRPr sz="1000"/>
            </a:lvl6pPr>
            <a:lvl7pPr marL="2743255" indent="0">
              <a:buNone/>
              <a:defRPr sz="1000"/>
            </a:lvl7pPr>
            <a:lvl8pPr marL="3200464" indent="0">
              <a:buNone/>
              <a:defRPr sz="1000"/>
            </a:lvl8pPr>
            <a:lvl9pPr marL="365767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E57B0F8-5D2D-CC4F-86C0-479A81AB0558}" type="datetimeFigureOut">
              <a:rPr lang="en-AU" smtClean="0"/>
              <a:t>6/1/2026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11365826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9" indent="0">
              <a:buNone/>
              <a:defRPr sz="2800"/>
            </a:lvl2pPr>
            <a:lvl3pPr marL="914418" indent="0">
              <a:buNone/>
              <a:defRPr sz="2400"/>
            </a:lvl3pPr>
            <a:lvl4pPr marL="1371627" indent="0">
              <a:buNone/>
              <a:defRPr sz="2000"/>
            </a:lvl4pPr>
            <a:lvl5pPr marL="1828837" indent="0">
              <a:buNone/>
              <a:defRPr sz="2000"/>
            </a:lvl5pPr>
            <a:lvl6pPr marL="2286046" indent="0">
              <a:buNone/>
              <a:defRPr sz="2000"/>
            </a:lvl6pPr>
            <a:lvl7pPr marL="2743255" indent="0">
              <a:buNone/>
              <a:defRPr sz="2000"/>
            </a:lvl7pPr>
            <a:lvl8pPr marL="3200464" indent="0">
              <a:buNone/>
              <a:defRPr sz="2000"/>
            </a:lvl8pPr>
            <a:lvl9pPr marL="3657673"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209" indent="0">
              <a:buNone/>
              <a:defRPr sz="1400"/>
            </a:lvl2pPr>
            <a:lvl3pPr marL="914418" indent="0">
              <a:buNone/>
              <a:defRPr sz="1200"/>
            </a:lvl3pPr>
            <a:lvl4pPr marL="1371627" indent="0">
              <a:buNone/>
              <a:defRPr sz="1000"/>
            </a:lvl4pPr>
            <a:lvl5pPr marL="1828837" indent="0">
              <a:buNone/>
              <a:defRPr sz="1000"/>
            </a:lvl5pPr>
            <a:lvl6pPr marL="2286046" indent="0">
              <a:buNone/>
              <a:defRPr sz="1000"/>
            </a:lvl6pPr>
            <a:lvl7pPr marL="2743255" indent="0">
              <a:buNone/>
              <a:defRPr sz="1000"/>
            </a:lvl7pPr>
            <a:lvl8pPr marL="3200464" indent="0">
              <a:buNone/>
              <a:defRPr sz="1000"/>
            </a:lvl8pPr>
            <a:lvl9pPr marL="365767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E57B0F8-5D2D-CC4F-86C0-479A81AB0558}" type="datetimeFigureOut">
              <a:rPr lang="en-AU" smtClean="0"/>
              <a:t>6/1/2026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2837706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E57B0F8-5D2D-CC4F-86C0-479A81AB0558}" type="datetimeFigureOut">
              <a:rPr lang="en-AU" smtClean="0"/>
              <a:t>6/1/2026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2655301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E57B0F8-5D2D-CC4F-86C0-479A81AB0558}" type="datetimeFigureOut">
              <a:rPr lang="en-AU" smtClean="0"/>
              <a:t>6/1/2026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E3DE3C-D6AA-C547-9D71-D163B7D9BD56}" type="slidenum">
              <a:rPr lang="en-AU" smtClean="0"/>
              <a:t>‹#›</a:t>
            </a:fld>
            <a:endParaRPr lang="en-AU"/>
          </a:p>
        </p:txBody>
      </p:sp>
    </p:spTree>
    <p:extLst>
      <p:ext uri="{BB962C8B-B14F-4D97-AF65-F5344CB8AC3E}">
        <p14:creationId xmlns:p14="http://schemas.microsoft.com/office/powerpoint/2010/main" val="2641070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1/6/26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83920664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76" r:id="rId12"/>
    <p:sldLayoutId id="2147483677" r:id="rId13"/>
    <p:sldLayoutId id="2147483678"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57B0F8-5D2D-CC4F-86C0-479A81AB0558}" type="datetimeFigureOut">
              <a:rPr lang="en-AU" smtClean="0"/>
              <a:t>6/1/2026</a:t>
            </a:fld>
            <a:endParaRPr lang="en-AU"/>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E3DE3C-D6AA-C547-9D71-D163B7D9BD56}" type="slidenum">
              <a:rPr lang="en-AU" smtClean="0"/>
              <a:t>‹#›</a:t>
            </a:fld>
            <a:endParaRPr lang="en-AU"/>
          </a:p>
        </p:txBody>
      </p:sp>
    </p:spTree>
    <p:extLst>
      <p:ext uri="{BB962C8B-B14F-4D97-AF65-F5344CB8AC3E}">
        <p14:creationId xmlns:p14="http://schemas.microsoft.com/office/powerpoint/2010/main" val="2871367910"/>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txStyles>
    <p:titleStyle>
      <a:lvl1pPr algn="l" defTabSz="91441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1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4" indent="-228605" algn="l" defTabSz="91441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3" indent="-228605" algn="l" defTabSz="91441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32"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41"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50"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59"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69"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78" indent="-228605" algn="l" defTabSz="91441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8" rtl="0" eaLnBrk="1" latinLnBrk="0" hangingPunct="1">
        <a:defRPr sz="1800" kern="1200">
          <a:solidFill>
            <a:schemeClr val="tx1"/>
          </a:solidFill>
          <a:latin typeface="+mn-lt"/>
          <a:ea typeface="+mn-ea"/>
          <a:cs typeface="+mn-cs"/>
        </a:defRPr>
      </a:lvl1pPr>
      <a:lvl2pPr marL="457209" algn="l" defTabSz="914418" rtl="0" eaLnBrk="1" latinLnBrk="0" hangingPunct="1">
        <a:defRPr sz="1800" kern="1200">
          <a:solidFill>
            <a:schemeClr val="tx1"/>
          </a:solidFill>
          <a:latin typeface="+mn-lt"/>
          <a:ea typeface="+mn-ea"/>
          <a:cs typeface="+mn-cs"/>
        </a:defRPr>
      </a:lvl2pPr>
      <a:lvl3pPr marL="914418" algn="l" defTabSz="914418" rtl="0" eaLnBrk="1" latinLnBrk="0" hangingPunct="1">
        <a:defRPr sz="1800" kern="1200">
          <a:solidFill>
            <a:schemeClr val="tx1"/>
          </a:solidFill>
          <a:latin typeface="+mn-lt"/>
          <a:ea typeface="+mn-ea"/>
          <a:cs typeface="+mn-cs"/>
        </a:defRPr>
      </a:lvl3pPr>
      <a:lvl4pPr marL="1371627" algn="l" defTabSz="914418" rtl="0" eaLnBrk="1" latinLnBrk="0" hangingPunct="1">
        <a:defRPr sz="1800" kern="1200">
          <a:solidFill>
            <a:schemeClr val="tx1"/>
          </a:solidFill>
          <a:latin typeface="+mn-lt"/>
          <a:ea typeface="+mn-ea"/>
          <a:cs typeface="+mn-cs"/>
        </a:defRPr>
      </a:lvl4pPr>
      <a:lvl5pPr marL="1828837" algn="l" defTabSz="914418" rtl="0" eaLnBrk="1" latinLnBrk="0" hangingPunct="1">
        <a:defRPr sz="1800" kern="1200">
          <a:solidFill>
            <a:schemeClr val="tx1"/>
          </a:solidFill>
          <a:latin typeface="+mn-lt"/>
          <a:ea typeface="+mn-ea"/>
          <a:cs typeface="+mn-cs"/>
        </a:defRPr>
      </a:lvl5pPr>
      <a:lvl6pPr marL="2286046" algn="l" defTabSz="914418" rtl="0" eaLnBrk="1" latinLnBrk="0" hangingPunct="1">
        <a:defRPr sz="1800" kern="1200">
          <a:solidFill>
            <a:schemeClr val="tx1"/>
          </a:solidFill>
          <a:latin typeface="+mn-lt"/>
          <a:ea typeface="+mn-ea"/>
          <a:cs typeface="+mn-cs"/>
        </a:defRPr>
      </a:lvl6pPr>
      <a:lvl7pPr marL="2743255" algn="l" defTabSz="914418" rtl="0" eaLnBrk="1" latinLnBrk="0" hangingPunct="1">
        <a:defRPr sz="1800" kern="1200">
          <a:solidFill>
            <a:schemeClr val="tx1"/>
          </a:solidFill>
          <a:latin typeface="+mn-lt"/>
          <a:ea typeface="+mn-ea"/>
          <a:cs typeface="+mn-cs"/>
        </a:defRPr>
      </a:lvl7pPr>
      <a:lvl8pPr marL="3200464" algn="l" defTabSz="914418" rtl="0" eaLnBrk="1" latinLnBrk="0" hangingPunct="1">
        <a:defRPr sz="1800" kern="1200">
          <a:solidFill>
            <a:schemeClr val="tx1"/>
          </a:solidFill>
          <a:latin typeface="+mn-lt"/>
          <a:ea typeface="+mn-ea"/>
          <a:cs typeface="+mn-cs"/>
        </a:defRPr>
      </a:lvl8pPr>
      <a:lvl9pPr marL="3657673" algn="l" defTabSz="91441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8.png"/><Relationship Id="rId11" Type="http://schemas.openxmlformats.org/officeDocument/2006/relationships/image" Target="../media/image13.jpe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8.png"/><Relationship Id="rId11" Type="http://schemas.openxmlformats.org/officeDocument/2006/relationships/image" Target="../media/image13.jpe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8.png"/><Relationship Id="rId11" Type="http://schemas.openxmlformats.org/officeDocument/2006/relationships/image" Target="../media/image13.jpe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8.png"/><Relationship Id="rId11" Type="http://schemas.openxmlformats.org/officeDocument/2006/relationships/image" Target="../media/image13.jpe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notesSlide" Target="../notesSlides/notesSlide11.xml"/><Relationship Id="rId16" Type="http://schemas.openxmlformats.org/officeDocument/2006/relationships/image" Target="../media/image20.png"/><Relationship Id="rId1" Type="http://schemas.openxmlformats.org/officeDocument/2006/relationships/slideLayout" Target="../slideLayouts/slideLayout15.xml"/><Relationship Id="rId6" Type="http://schemas.openxmlformats.org/officeDocument/2006/relationships/image" Target="../media/image8.png"/><Relationship Id="rId11" Type="http://schemas.openxmlformats.org/officeDocument/2006/relationships/image" Target="../media/image13.jpeg"/><Relationship Id="rId5" Type="http://schemas.openxmlformats.org/officeDocument/2006/relationships/image" Target="../media/image7.png"/><Relationship Id="rId15" Type="http://schemas.openxmlformats.org/officeDocument/2006/relationships/image" Target="../media/image19.jpe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8.png"/><Relationship Id="rId11" Type="http://schemas.openxmlformats.org/officeDocument/2006/relationships/image" Target="../media/image13.jpeg"/><Relationship Id="rId5" Type="http://schemas.openxmlformats.org/officeDocument/2006/relationships/image" Target="../media/image7.png"/><Relationship Id="rId15" Type="http://schemas.openxmlformats.org/officeDocument/2006/relationships/image" Target="../media/image21.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18" Type="http://schemas.openxmlformats.org/officeDocument/2006/relationships/image" Target="../media/image24.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jpeg"/><Relationship Id="rId17" Type="http://schemas.openxmlformats.org/officeDocument/2006/relationships/image" Target="../media/image23.png"/><Relationship Id="rId2" Type="http://schemas.openxmlformats.org/officeDocument/2006/relationships/notesSlide" Target="../notesSlides/notesSlide13.xml"/><Relationship Id="rId16" Type="http://schemas.openxmlformats.org/officeDocument/2006/relationships/image" Target="../media/image22.png"/><Relationship Id="rId1" Type="http://schemas.openxmlformats.org/officeDocument/2006/relationships/slideLayout" Target="../slideLayouts/slideLayout15.xml"/><Relationship Id="rId6" Type="http://schemas.openxmlformats.org/officeDocument/2006/relationships/image" Target="../media/image8.png"/><Relationship Id="rId11" Type="http://schemas.openxmlformats.org/officeDocument/2006/relationships/image" Target="../media/image13.jpeg"/><Relationship Id="rId5" Type="http://schemas.openxmlformats.org/officeDocument/2006/relationships/image" Target="../media/image7.png"/><Relationship Id="rId15" Type="http://schemas.openxmlformats.org/officeDocument/2006/relationships/image" Target="../media/image21.png"/><Relationship Id="rId10" Type="http://schemas.openxmlformats.org/officeDocument/2006/relationships/image" Target="../media/image12.png"/><Relationship Id="rId19" Type="http://schemas.openxmlformats.org/officeDocument/2006/relationships/image" Target="../media/image25.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1.pn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10.jpeg"/><Relationship Id="rId5" Type="http://schemas.openxmlformats.org/officeDocument/2006/relationships/image" Target="../media/image5.png"/><Relationship Id="rId4" Type="http://schemas.openxmlformats.org/officeDocument/2006/relationships/image" Target="../media/image26.pn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jpeg"/><Relationship Id="rId3" Type="http://schemas.openxmlformats.org/officeDocument/2006/relationships/image" Target="../media/image18.jpeg"/><Relationship Id="rId7" Type="http://schemas.openxmlformats.org/officeDocument/2006/relationships/image" Target="../media/image8.png"/><Relationship Id="rId12"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jpeg"/><Relationship Id="rId14"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notesSlide" Target="../notesSlides/notesSlide16.xml"/><Relationship Id="rId16" Type="http://schemas.openxmlformats.org/officeDocument/2006/relationships/image" Target="../media/image26.png"/><Relationship Id="rId1" Type="http://schemas.openxmlformats.org/officeDocument/2006/relationships/slideLayout" Target="../slideLayouts/slideLayout15.xml"/><Relationship Id="rId6" Type="http://schemas.openxmlformats.org/officeDocument/2006/relationships/image" Target="../media/image8.png"/><Relationship Id="rId11" Type="http://schemas.openxmlformats.org/officeDocument/2006/relationships/image" Target="../media/image13.jpeg"/><Relationship Id="rId5" Type="http://schemas.openxmlformats.org/officeDocument/2006/relationships/image" Target="../media/image7.png"/><Relationship Id="rId15" Type="http://schemas.openxmlformats.org/officeDocument/2006/relationships/image" Target="../media/image21.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notesSlide" Target="../notesSlides/notesSlide17.xml"/><Relationship Id="rId16" Type="http://schemas.openxmlformats.org/officeDocument/2006/relationships/image" Target="../media/image26.png"/><Relationship Id="rId1" Type="http://schemas.openxmlformats.org/officeDocument/2006/relationships/slideLayout" Target="../slideLayouts/slideLayout15.xml"/><Relationship Id="rId6" Type="http://schemas.openxmlformats.org/officeDocument/2006/relationships/image" Target="../media/image8.png"/><Relationship Id="rId11" Type="http://schemas.openxmlformats.org/officeDocument/2006/relationships/image" Target="../media/image13.jpeg"/><Relationship Id="rId5" Type="http://schemas.openxmlformats.org/officeDocument/2006/relationships/image" Target="../media/image7.png"/><Relationship Id="rId15" Type="http://schemas.openxmlformats.org/officeDocument/2006/relationships/image" Target="../media/image21.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212DCD56-D87D-738D-0430-9F114C7AAF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7F5BD1-3FB7-9A35-E4AD-AFF770449472}"/>
              </a:ext>
            </a:extLst>
          </p:cNvPr>
          <p:cNvSpPr txBox="1"/>
          <p:nvPr/>
        </p:nvSpPr>
        <p:spPr>
          <a:xfrm>
            <a:off x="4185590" y="2783741"/>
            <a:ext cx="3699987" cy="1446550"/>
          </a:xfrm>
          <a:prstGeom prst="rect">
            <a:avLst/>
          </a:prstGeom>
          <a:noFill/>
        </p:spPr>
        <p:txBody>
          <a:bodyPr wrap="none" rtlCol="0">
            <a:spAutoFit/>
          </a:bodyPr>
          <a:lstStyle/>
          <a:p>
            <a:pPr algn="ctr"/>
            <a:r>
              <a:rPr lang="en-AU" sz="4800" dirty="0">
                <a:solidFill>
                  <a:schemeClr val="bg1"/>
                </a:solidFill>
              </a:rPr>
              <a:t>Best Practices</a:t>
            </a:r>
          </a:p>
          <a:p>
            <a:pPr algn="ctr"/>
            <a:r>
              <a:rPr lang="en-AU" sz="4000" i="1" dirty="0">
                <a:solidFill>
                  <a:schemeClr val="bg1"/>
                </a:solidFill>
              </a:rPr>
              <a:t>Source Diagrams</a:t>
            </a:r>
          </a:p>
        </p:txBody>
      </p:sp>
    </p:spTree>
    <p:extLst>
      <p:ext uri="{BB962C8B-B14F-4D97-AF65-F5344CB8AC3E}">
        <p14:creationId xmlns:p14="http://schemas.microsoft.com/office/powerpoint/2010/main" val="3831268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5335F3-86F4-B651-5149-257F8CC4A13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6D01C2-F55A-83D1-F640-3F12FB5E78CD}"/>
              </a:ext>
            </a:extLst>
          </p:cNvPr>
          <p:cNvSpPr txBox="1"/>
          <p:nvPr/>
        </p:nvSpPr>
        <p:spPr>
          <a:xfrm>
            <a:off x="641157" y="378092"/>
            <a:ext cx="8243154" cy="642484"/>
          </a:xfrm>
          <a:prstGeom prst="rect">
            <a:avLst/>
          </a:prstGeom>
          <a:noFill/>
        </p:spPr>
        <p:txBody>
          <a:bodyPr wrap="none" rtlCol="0">
            <a:spAutoFit/>
          </a:bodyPr>
          <a:lstStyle/>
          <a:p>
            <a:r>
              <a:rPr lang="en-AU" sz="3575" b="1" dirty="0">
                <a:solidFill>
                  <a:schemeClr val="accent1">
                    <a:lumMod val="50000"/>
                  </a:schemeClr>
                </a:solidFill>
              </a:rPr>
              <a:t>Conceptual model of a transparency graph</a:t>
            </a:r>
          </a:p>
        </p:txBody>
      </p:sp>
      <p:cxnSp>
        <p:nvCxnSpPr>
          <p:cNvPr id="15" name="Curved Connector 14">
            <a:extLst>
              <a:ext uri="{FF2B5EF4-FFF2-40B4-BE49-F238E27FC236}">
                <a16:creationId xmlns:a16="http://schemas.microsoft.com/office/drawing/2014/main" id="{8B03B5D5-61D0-5A3A-3B1C-F3AFB6708634}"/>
              </a:ext>
            </a:extLst>
          </p:cNvPr>
          <p:cNvCxnSpPr>
            <a:cxnSpLocks/>
            <a:stCxn id="26" idx="7"/>
            <a:endCxn id="28" idx="2"/>
          </p:cNvCxnSpPr>
          <p:nvPr/>
        </p:nvCxnSpPr>
        <p:spPr>
          <a:xfrm rot="5400000" flipH="1" flipV="1">
            <a:off x="6782396" y="1102110"/>
            <a:ext cx="337409" cy="1409495"/>
          </a:xfrm>
          <a:prstGeom prst="curvedConnector2">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11164B31-4A5F-84D4-0402-7E32487FC9D0}"/>
              </a:ext>
            </a:extLst>
          </p:cNvPr>
          <p:cNvSpPr/>
          <p:nvPr/>
        </p:nvSpPr>
        <p:spPr>
          <a:xfrm>
            <a:off x="7609127" y="5251810"/>
            <a:ext cx="1306286" cy="547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Facility</a:t>
            </a:r>
          </a:p>
        </p:txBody>
      </p:sp>
      <p:sp>
        <p:nvSpPr>
          <p:cNvPr id="19" name="Oval 18">
            <a:extLst>
              <a:ext uri="{FF2B5EF4-FFF2-40B4-BE49-F238E27FC236}">
                <a16:creationId xmlns:a16="http://schemas.microsoft.com/office/drawing/2014/main" id="{D1798CEB-4ADB-D613-7185-5A3DBBD0AAD8}"/>
              </a:ext>
            </a:extLst>
          </p:cNvPr>
          <p:cNvSpPr/>
          <p:nvPr/>
        </p:nvSpPr>
        <p:spPr>
          <a:xfrm>
            <a:off x="8182717" y="3419982"/>
            <a:ext cx="1306286" cy="547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Attestation</a:t>
            </a:r>
          </a:p>
        </p:txBody>
      </p:sp>
      <p:sp>
        <p:nvSpPr>
          <p:cNvPr id="20" name="Oval 19">
            <a:extLst>
              <a:ext uri="{FF2B5EF4-FFF2-40B4-BE49-F238E27FC236}">
                <a16:creationId xmlns:a16="http://schemas.microsoft.com/office/drawing/2014/main" id="{9EF2C0E9-2C21-443A-8A68-8A9D1C4C554A}"/>
              </a:ext>
            </a:extLst>
          </p:cNvPr>
          <p:cNvSpPr/>
          <p:nvPr/>
        </p:nvSpPr>
        <p:spPr>
          <a:xfrm>
            <a:off x="10239273" y="3077501"/>
            <a:ext cx="1306286" cy="5478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Party</a:t>
            </a:r>
          </a:p>
        </p:txBody>
      </p:sp>
      <p:sp>
        <p:nvSpPr>
          <p:cNvPr id="21" name="Oval 20">
            <a:extLst>
              <a:ext uri="{FF2B5EF4-FFF2-40B4-BE49-F238E27FC236}">
                <a16:creationId xmlns:a16="http://schemas.microsoft.com/office/drawing/2014/main" id="{3F39011D-B0B8-91AF-0F3F-AF26CBDAC2CA}"/>
              </a:ext>
            </a:extLst>
          </p:cNvPr>
          <p:cNvSpPr/>
          <p:nvPr/>
        </p:nvSpPr>
        <p:spPr>
          <a:xfrm>
            <a:off x="4637742" y="4640321"/>
            <a:ext cx="1306286" cy="547848"/>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Product</a:t>
            </a:r>
          </a:p>
        </p:txBody>
      </p:sp>
      <p:sp>
        <p:nvSpPr>
          <p:cNvPr id="22" name="Oval 21">
            <a:extLst>
              <a:ext uri="{FF2B5EF4-FFF2-40B4-BE49-F238E27FC236}">
                <a16:creationId xmlns:a16="http://schemas.microsoft.com/office/drawing/2014/main" id="{015F6846-9953-F8D7-3EBB-DE0A50C217DC}"/>
              </a:ext>
            </a:extLst>
          </p:cNvPr>
          <p:cNvSpPr/>
          <p:nvPr/>
        </p:nvSpPr>
        <p:spPr>
          <a:xfrm>
            <a:off x="3237838" y="3861402"/>
            <a:ext cx="1306286" cy="547848"/>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Item</a:t>
            </a:r>
          </a:p>
        </p:txBody>
      </p:sp>
      <p:sp>
        <p:nvSpPr>
          <p:cNvPr id="23" name="Oval 22">
            <a:extLst>
              <a:ext uri="{FF2B5EF4-FFF2-40B4-BE49-F238E27FC236}">
                <a16:creationId xmlns:a16="http://schemas.microsoft.com/office/drawing/2014/main" id="{0CFAF5E6-BDA3-8D5C-118E-71A04F823250}"/>
              </a:ext>
            </a:extLst>
          </p:cNvPr>
          <p:cNvSpPr/>
          <p:nvPr/>
        </p:nvSpPr>
        <p:spPr>
          <a:xfrm>
            <a:off x="2122853" y="5001194"/>
            <a:ext cx="1306286" cy="547848"/>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Batch</a:t>
            </a:r>
          </a:p>
        </p:txBody>
      </p:sp>
      <p:sp>
        <p:nvSpPr>
          <p:cNvPr id="24" name="Oval 23">
            <a:extLst>
              <a:ext uri="{FF2B5EF4-FFF2-40B4-BE49-F238E27FC236}">
                <a16:creationId xmlns:a16="http://schemas.microsoft.com/office/drawing/2014/main" id="{FD7DCE79-2263-4EAD-8ADE-003F16AF7A64}"/>
              </a:ext>
            </a:extLst>
          </p:cNvPr>
          <p:cNvSpPr/>
          <p:nvPr/>
        </p:nvSpPr>
        <p:spPr>
          <a:xfrm>
            <a:off x="4201633" y="2803577"/>
            <a:ext cx="1306286" cy="547848"/>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Claim</a:t>
            </a:r>
          </a:p>
        </p:txBody>
      </p:sp>
      <p:sp>
        <p:nvSpPr>
          <p:cNvPr id="25" name="Oval 24">
            <a:extLst>
              <a:ext uri="{FF2B5EF4-FFF2-40B4-BE49-F238E27FC236}">
                <a16:creationId xmlns:a16="http://schemas.microsoft.com/office/drawing/2014/main" id="{53E3CA8B-938C-BC66-8E91-ADD1B7486E98}"/>
              </a:ext>
            </a:extLst>
          </p:cNvPr>
          <p:cNvSpPr/>
          <p:nvPr/>
        </p:nvSpPr>
        <p:spPr>
          <a:xfrm>
            <a:off x="6126161" y="3419982"/>
            <a:ext cx="1306286" cy="547848"/>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Assessment</a:t>
            </a:r>
          </a:p>
        </p:txBody>
      </p:sp>
      <p:sp>
        <p:nvSpPr>
          <p:cNvPr id="26" name="Oval 25">
            <a:extLst>
              <a:ext uri="{FF2B5EF4-FFF2-40B4-BE49-F238E27FC236}">
                <a16:creationId xmlns:a16="http://schemas.microsoft.com/office/drawing/2014/main" id="{6C9E81C5-2850-78D3-C0CC-AF7C06B49C05}"/>
              </a:ext>
            </a:extLst>
          </p:cNvPr>
          <p:cNvSpPr/>
          <p:nvPr/>
        </p:nvSpPr>
        <p:spPr>
          <a:xfrm>
            <a:off x="5131368" y="1895331"/>
            <a:ext cx="1306286" cy="547848"/>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Criteria</a:t>
            </a:r>
          </a:p>
        </p:txBody>
      </p:sp>
      <p:sp>
        <p:nvSpPr>
          <p:cNvPr id="28" name="Oval 27">
            <a:extLst>
              <a:ext uri="{FF2B5EF4-FFF2-40B4-BE49-F238E27FC236}">
                <a16:creationId xmlns:a16="http://schemas.microsoft.com/office/drawing/2014/main" id="{9EBD74D6-923E-F96F-70ED-48E062DCD074}"/>
              </a:ext>
            </a:extLst>
          </p:cNvPr>
          <p:cNvSpPr/>
          <p:nvPr/>
        </p:nvSpPr>
        <p:spPr>
          <a:xfrm>
            <a:off x="7655848" y="1364228"/>
            <a:ext cx="1306286" cy="547848"/>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Regulation</a:t>
            </a:r>
          </a:p>
        </p:txBody>
      </p:sp>
      <p:sp>
        <p:nvSpPr>
          <p:cNvPr id="29" name="Oval 28">
            <a:extLst>
              <a:ext uri="{FF2B5EF4-FFF2-40B4-BE49-F238E27FC236}">
                <a16:creationId xmlns:a16="http://schemas.microsoft.com/office/drawing/2014/main" id="{C0DB197D-52E8-8481-7F4C-1832809E25FC}"/>
              </a:ext>
            </a:extLst>
          </p:cNvPr>
          <p:cNvSpPr/>
          <p:nvPr/>
        </p:nvSpPr>
        <p:spPr>
          <a:xfrm>
            <a:off x="7637924" y="2367448"/>
            <a:ext cx="1306286" cy="547848"/>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dirty="0"/>
              <a:t>Standard</a:t>
            </a:r>
          </a:p>
        </p:txBody>
      </p:sp>
      <p:cxnSp>
        <p:nvCxnSpPr>
          <p:cNvPr id="36" name="Curved Connector 35">
            <a:extLst>
              <a:ext uri="{FF2B5EF4-FFF2-40B4-BE49-F238E27FC236}">
                <a16:creationId xmlns:a16="http://schemas.microsoft.com/office/drawing/2014/main" id="{2635A85A-27A9-9CDC-2029-E332AB9D35AB}"/>
              </a:ext>
            </a:extLst>
          </p:cNvPr>
          <p:cNvCxnSpPr>
            <a:cxnSpLocks/>
            <a:stCxn id="24" idx="0"/>
            <a:endCxn id="26" idx="2"/>
          </p:cNvCxnSpPr>
          <p:nvPr/>
        </p:nvCxnSpPr>
        <p:spPr>
          <a:xfrm rot="5400000" flipH="1" flipV="1">
            <a:off x="4675911" y="2348120"/>
            <a:ext cx="634322" cy="276592"/>
          </a:xfrm>
          <a:prstGeom prst="curvedConnector2">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Curved Connector 44">
            <a:extLst>
              <a:ext uri="{FF2B5EF4-FFF2-40B4-BE49-F238E27FC236}">
                <a16:creationId xmlns:a16="http://schemas.microsoft.com/office/drawing/2014/main" id="{2DC4710D-E40C-9E0F-AB26-703F11DBC775}"/>
              </a:ext>
            </a:extLst>
          </p:cNvPr>
          <p:cNvCxnSpPr>
            <a:cxnSpLocks/>
            <a:stCxn id="21" idx="0"/>
            <a:endCxn id="24" idx="4"/>
          </p:cNvCxnSpPr>
          <p:nvPr/>
        </p:nvCxnSpPr>
        <p:spPr>
          <a:xfrm rot="16200000" flipV="1">
            <a:off x="4428383" y="3777818"/>
            <a:ext cx="1288896" cy="436109"/>
          </a:xfrm>
          <a:prstGeom prst="curvedConnector3">
            <a:avLst>
              <a:gd name="adj1" fmla="val 50000"/>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Curved Connector 52">
            <a:extLst>
              <a:ext uri="{FF2B5EF4-FFF2-40B4-BE49-F238E27FC236}">
                <a16:creationId xmlns:a16="http://schemas.microsoft.com/office/drawing/2014/main" id="{7394A45B-558B-FB22-7238-20646C70B973}"/>
              </a:ext>
            </a:extLst>
          </p:cNvPr>
          <p:cNvCxnSpPr>
            <a:cxnSpLocks/>
            <a:stCxn id="25" idx="4"/>
            <a:endCxn id="21" idx="7"/>
          </p:cNvCxnSpPr>
          <p:nvPr/>
        </p:nvCxnSpPr>
        <p:spPr>
          <a:xfrm rot="5400000">
            <a:off x="5889656" y="3830902"/>
            <a:ext cx="752721" cy="1026577"/>
          </a:xfrm>
          <a:prstGeom prst="curvedConnector3">
            <a:avLst>
              <a:gd name="adj1" fmla="val 50000"/>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8" name="Curved Connector 57">
            <a:extLst>
              <a:ext uri="{FF2B5EF4-FFF2-40B4-BE49-F238E27FC236}">
                <a16:creationId xmlns:a16="http://schemas.microsoft.com/office/drawing/2014/main" id="{86C334FF-7FF6-01FF-65E8-F1120FAB16F3}"/>
              </a:ext>
            </a:extLst>
          </p:cNvPr>
          <p:cNvCxnSpPr>
            <a:cxnSpLocks/>
            <a:stCxn id="25" idx="0"/>
            <a:endCxn id="26" idx="5"/>
          </p:cNvCxnSpPr>
          <p:nvPr/>
        </p:nvCxnSpPr>
        <p:spPr>
          <a:xfrm rot="16200000" flipV="1">
            <a:off x="5984313" y="2624990"/>
            <a:ext cx="1057033" cy="532951"/>
          </a:xfrm>
          <a:prstGeom prst="curvedConnector3">
            <a:avLst>
              <a:gd name="adj1" fmla="val 50000"/>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98" name="Curved Connector 4097">
            <a:extLst>
              <a:ext uri="{FF2B5EF4-FFF2-40B4-BE49-F238E27FC236}">
                <a16:creationId xmlns:a16="http://schemas.microsoft.com/office/drawing/2014/main" id="{05755B25-9A0F-FD5E-B69C-AE5CAC75FEA3}"/>
              </a:ext>
            </a:extLst>
          </p:cNvPr>
          <p:cNvCxnSpPr>
            <a:cxnSpLocks/>
            <a:stCxn id="26" idx="6"/>
            <a:endCxn id="29" idx="2"/>
          </p:cNvCxnSpPr>
          <p:nvPr/>
        </p:nvCxnSpPr>
        <p:spPr>
          <a:xfrm>
            <a:off x="6437654" y="2169255"/>
            <a:ext cx="1200270" cy="472117"/>
          </a:xfrm>
          <a:prstGeom prst="curvedConnector3">
            <a:avLst>
              <a:gd name="adj1" fmla="val 50000"/>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25" name="Curved Connector 4124">
            <a:extLst>
              <a:ext uri="{FF2B5EF4-FFF2-40B4-BE49-F238E27FC236}">
                <a16:creationId xmlns:a16="http://schemas.microsoft.com/office/drawing/2014/main" id="{65EC239F-4C74-EA23-E518-513D2EBE25F3}"/>
              </a:ext>
            </a:extLst>
          </p:cNvPr>
          <p:cNvCxnSpPr>
            <a:cxnSpLocks/>
            <a:stCxn id="25" idx="6"/>
            <a:endCxn id="19" idx="2"/>
          </p:cNvCxnSpPr>
          <p:nvPr/>
        </p:nvCxnSpPr>
        <p:spPr>
          <a:xfrm>
            <a:off x="7432447" y="3693906"/>
            <a:ext cx="750270" cy="12700"/>
          </a:xfrm>
          <a:prstGeom prst="curvedConnector3">
            <a:avLst>
              <a:gd name="adj1" fmla="val 50000"/>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35" name="Curved Connector 4134">
            <a:extLst>
              <a:ext uri="{FF2B5EF4-FFF2-40B4-BE49-F238E27FC236}">
                <a16:creationId xmlns:a16="http://schemas.microsoft.com/office/drawing/2014/main" id="{B2EB960F-BC83-1756-4948-4BD76AFEA5E3}"/>
              </a:ext>
            </a:extLst>
          </p:cNvPr>
          <p:cNvCxnSpPr>
            <a:cxnSpLocks/>
            <a:stCxn id="19" idx="7"/>
            <a:endCxn id="20" idx="2"/>
          </p:cNvCxnSpPr>
          <p:nvPr/>
        </p:nvCxnSpPr>
        <p:spPr>
          <a:xfrm rot="5400000" flipH="1" flipV="1">
            <a:off x="9694094" y="2955034"/>
            <a:ext cx="148787" cy="941571"/>
          </a:xfrm>
          <a:prstGeom prst="curvedConnector2">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40" name="Curved Connector 4139">
            <a:extLst>
              <a:ext uri="{FF2B5EF4-FFF2-40B4-BE49-F238E27FC236}">
                <a16:creationId xmlns:a16="http://schemas.microsoft.com/office/drawing/2014/main" id="{2EED4E68-C65C-5579-0890-339E67E2D724}"/>
              </a:ext>
            </a:extLst>
          </p:cNvPr>
          <p:cNvCxnSpPr>
            <a:cxnSpLocks/>
            <a:stCxn id="28" idx="6"/>
            <a:endCxn id="20" idx="0"/>
          </p:cNvCxnSpPr>
          <p:nvPr/>
        </p:nvCxnSpPr>
        <p:spPr>
          <a:xfrm>
            <a:off x="8962134" y="1638152"/>
            <a:ext cx="1930282" cy="1439349"/>
          </a:xfrm>
          <a:prstGeom prst="curvedConnector2">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44" name="Curved Connector 4143">
            <a:extLst>
              <a:ext uri="{FF2B5EF4-FFF2-40B4-BE49-F238E27FC236}">
                <a16:creationId xmlns:a16="http://schemas.microsoft.com/office/drawing/2014/main" id="{A335DE5C-E7EC-D121-AB73-301B13E879F5}"/>
              </a:ext>
            </a:extLst>
          </p:cNvPr>
          <p:cNvCxnSpPr>
            <a:cxnSpLocks/>
            <a:stCxn id="29" idx="6"/>
            <a:endCxn id="20" idx="1"/>
          </p:cNvCxnSpPr>
          <p:nvPr/>
        </p:nvCxnSpPr>
        <p:spPr>
          <a:xfrm>
            <a:off x="8944210" y="2641372"/>
            <a:ext cx="1486364" cy="516359"/>
          </a:xfrm>
          <a:prstGeom prst="curvedConnector2">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49" name="Curved Connector 4148">
            <a:extLst>
              <a:ext uri="{FF2B5EF4-FFF2-40B4-BE49-F238E27FC236}">
                <a16:creationId xmlns:a16="http://schemas.microsoft.com/office/drawing/2014/main" id="{60FECD6B-5688-E494-3788-D3F9394ED40D}"/>
              </a:ext>
            </a:extLst>
          </p:cNvPr>
          <p:cNvCxnSpPr>
            <a:cxnSpLocks/>
            <a:stCxn id="22" idx="0"/>
            <a:endCxn id="24" idx="3"/>
          </p:cNvCxnSpPr>
          <p:nvPr/>
        </p:nvCxnSpPr>
        <p:spPr>
          <a:xfrm rot="5400000" flipH="1" flipV="1">
            <a:off x="3846854" y="3315323"/>
            <a:ext cx="590207" cy="501953"/>
          </a:xfrm>
          <a:prstGeom prst="curvedConnector3">
            <a:avLst>
              <a:gd name="adj1" fmla="val 50000"/>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54" name="Curved Connector 4153">
            <a:extLst>
              <a:ext uri="{FF2B5EF4-FFF2-40B4-BE49-F238E27FC236}">
                <a16:creationId xmlns:a16="http://schemas.microsoft.com/office/drawing/2014/main" id="{F3E66F7F-DFF2-6DB9-698E-130CB093ABE8}"/>
              </a:ext>
            </a:extLst>
          </p:cNvPr>
          <p:cNvCxnSpPr>
            <a:cxnSpLocks/>
            <a:stCxn id="22" idx="6"/>
            <a:endCxn id="21" idx="1"/>
          </p:cNvCxnSpPr>
          <p:nvPr/>
        </p:nvCxnSpPr>
        <p:spPr>
          <a:xfrm>
            <a:off x="4544124" y="4135326"/>
            <a:ext cx="284919" cy="585225"/>
          </a:xfrm>
          <a:prstGeom prst="curvedConnector2">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57" name="Curved Connector 4156">
            <a:extLst>
              <a:ext uri="{FF2B5EF4-FFF2-40B4-BE49-F238E27FC236}">
                <a16:creationId xmlns:a16="http://schemas.microsoft.com/office/drawing/2014/main" id="{B89B47C2-0BE5-8974-B287-214AB481556F}"/>
              </a:ext>
            </a:extLst>
          </p:cNvPr>
          <p:cNvCxnSpPr>
            <a:cxnSpLocks/>
            <a:stCxn id="23" idx="5"/>
            <a:endCxn id="21" idx="3"/>
          </p:cNvCxnSpPr>
          <p:nvPr/>
        </p:nvCxnSpPr>
        <p:spPr>
          <a:xfrm rot="5400000" flipH="1" flipV="1">
            <a:off x="3853003" y="4492773"/>
            <a:ext cx="360873" cy="1591205"/>
          </a:xfrm>
          <a:prstGeom prst="curvedConnector3">
            <a:avLst>
              <a:gd name="adj1" fmla="val -85579"/>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60" name="Curved Connector 4159">
            <a:extLst>
              <a:ext uri="{FF2B5EF4-FFF2-40B4-BE49-F238E27FC236}">
                <a16:creationId xmlns:a16="http://schemas.microsoft.com/office/drawing/2014/main" id="{E52899BA-A5F9-D1B9-BD3D-DFFC9A24F8B5}"/>
              </a:ext>
            </a:extLst>
          </p:cNvPr>
          <p:cNvCxnSpPr>
            <a:cxnSpLocks/>
            <a:stCxn id="23" idx="6"/>
            <a:endCxn id="21" idx="2"/>
          </p:cNvCxnSpPr>
          <p:nvPr/>
        </p:nvCxnSpPr>
        <p:spPr>
          <a:xfrm flipV="1">
            <a:off x="3429139" y="4914245"/>
            <a:ext cx="1208603" cy="360873"/>
          </a:xfrm>
          <a:prstGeom prst="curvedConnector3">
            <a:avLst>
              <a:gd name="adj1" fmla="val 50000"/>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10" name="Curved Connector 4209">
            <a:extLst>
              <a:ext uri="{FF2B5EF4-FFF2-40B4-BE49-F238E27FC236}">
                <a16:creationId xmlns:a16="http://schemas.microsoft.com/office/drawing/2014/main" id="{6C2DFA60-2A29-7AF7-9591-CEE7EB3E059F}"/>
              </a:ext>
            </a:extLst>
          </p:cNvPr>
          <p:cNvCxnSpPr>
            <a:cxnSpLocks/>
            <a:stCxn id="23" idx="2"/>
            <a:endCxn id="22" idx="2"/>
          </p:cNvCxnSpPr>
          <p:nvPr/>
        </p:nvCxnSpPr>
        <p:spPr>
          <a:xfrm rot="10800000" flipH="1">
            <a:off x="2122852" y="4135326"/>
            <a:ext cx="1114985" cy="1139792"/>
          </a:xfrm>
          <a:prstGeom prst="curvedConnector3">
            <a:avLst>
              <a:gd name="adj1" fmla="val -20503"/>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19" name="Curved Connector 4218">
            <a:extLst>
              <a:ext uri="{FF2B5EF4-FFF2-40B4-BE49-F238E27FC236}">
                <a16:creationId xmlns:a16="http://schemas.microsoft.com/office/drawing/2014/main" id="{5DD65C6D-DC01-C5E4-E6A1-21347C90875F}"/>
              </a:ext>
            </a:extLst>
          </p:cNvPr>
          <p:cNvCxnSpPr>
            <a:cxnSpLocks/>
            <a:stCxn id="23" idx="1"/>
            <a:endCxn id="22" idx="3"/>
          </p:cNvCxnSpPr>
          <p:nvPr/>
        </p:nvCxnSpPr>
        <p:spPr>
          <a:xfrm rot="5400000" flipH="1" flipV="1">
            <a:off x="2495444" y="4147730"/>
            <a:ext cx="752404" cy="1114985"/>
          </a:xfrm>
          <a:prstGeom prst="curvedConnector3">
            <a:avLst>
              <a:gd name="adj1" fmla="val 50000"/>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30" name="Curved Connector 4229">
            <a:extLst>
              <a:ext uri="{FF2B5EF4-FFF2-40B4-BE49-F238E27FC236}">
                <a16:creationId xmlns:a16="http://schemas.microsoft.com/office/drawing/2014/main" id="{E2B0AFC1-B06D-558F-EAE5-360796FB0107}"/>
              </a:ext>
            </a:extLst>
          </p:cNvPr>
          <p:cNvCxnSpPr>
            <a:cxnSpLocks/>
            <a:stCxn id="23" idx="4"/>
            <a:endCxn id="16" idx="3"/>
          </p:cNvCxnSpPr>
          <p:nvPr/>
        </p:nvCxnSpPr>
        <p:spPr>
          <a:xfrm rot="16200000" flipH="1">
            <a:off x="5203019" y="3122019"/>
            <a:ext cx="170386" cy="5024432"/>
          </a:xfrm>
          <a:prstGeom prst="curvedConnector3">
            <a:avLst>
              <a:gd name="adj1" fmla="val 281253"/>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40" name="Curved Connector 4239">
            <a:extLst>
              <a:ext uri="{FF2B5EF4-FFF2-40B4-BE49-F238E27FC236}">
                <a16:creationId xmlns:a16="http://schemas.microsoft.com/office/drawing/2014/main" id="{6CA3DF81-798F-18D1-546A-8ECDD27EC7C1}"/>
              </a:ext>
            </a:extLst>
          </p:cNvPr>
          <p:cNvCxnSpPr>
            <a:cxnSpLocks/>
            <a:stCxn id="16" idx="6"/>
            <a:endCxn id="20" idx="4"/>
          </p:cNvCxnSpPr>
          <p:nvPr/>
        </p:nvCxnSpPr>
        <p:spPr>
          <a:xfrm flipV="1">
            <a:off x="8915413" y="3625349"/>
            <a:ext cx="1977003" cy="1900385"/>
          </a:xfrm>
          <a:prstGeom prst="curvedConnector2">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45" name="Curved Connector 4244">
            <a:extLst>
              <a:ext uri="{FF2B5EF4-FFF2-40B4-BE49-F238E27FC236}">
                <a16:creationId xmlns:a16="http://schemas.microsoft.com/office/drawing/2014/main" id="{71B653F0-AA64-303C-39D8-D1D14782BCFC}"/>
              </a:ext>
            </a:extLst>
          </p:cNvPr>
          <p:cNvCxnSpPr>
            <a:cxnSpLocks/>
            <a:stCxn id="25" idx="5"/>
            <a:endCxn id="16" idx="0"/>
          </p:cNvCxnSpPr>
          <p:nvPr/>
        </p:nvCxnSpPr>
        <p:spPr>
          <a:xfrm rot="16200000" flipH="1">
            <a:off x="7069603" y="4059143"/>
            <a:ext cx="1364210" cy="1021124"/>
          </a:xfrm>
          <a:prstGeom prst="curvedConnector3">
            <a:avLst>
              <a:gd name="adj1" fmla="val 50000"/>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73" name="Curved Connector 4272">
            <a:extLst>
              <a:ext uri="{FF2B5EF4-FFF2-40B4-BE49-F238E27FC236}">
                <a16:creationId xmlns:a16="http://schemas.microsoft.com/office/drawing/2014/main" id="{14B57212-2949-2CC6-34E1-C07F6608FCE5}"/>
              </a:ext>
            </a:extLst>
          </p:cNvPr>
          <p:cNvCxnSpPr>
            <a:cxnSpLocks/>
            <a:stCxn id="21" idx="6"/>
            <a:endCxn id="20" idx="3"/>
          </p:cNvCxnSpPr>
          <p:nvPr/>
        </p:nvCxnSpPr>
        <p:spPr>
          <a:xfrm flipV="1">
            <a:off x="5944028" y="3545119"/>
            <a:ext cx="4486546" cy="1369126"/>
          </a:xfrm>
          <a:prstGeom prst="curvedConnector2">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378" name="TextBox 4377">
            <a:extLst>
              <a:ext uri="{FF2B5EF4-FFF2-40B4-BE49-F238E27FC236}">
                <a16:creationId xmlns:a16="http://schemas.microsoft.com/office/drawing/2014/main" id="{2E102156-6226-535F-6D6B-E6796953FEA7}"/>
              </a:ext>
            </a:extLst>
          </p:cNvPr>
          <p:cNvSpPr txBox="1"/>
          <p:nvPr/>
        </p:nvSpPr>
        <p:spPr>
          <a:xfrm>
            <a:off x="9927275" y="1950412"/>
            <a:ext cx="926857" cy="276999"/>
          </a:xfrm>
          <a:prstGeom prst="rect">
            <a:avLst/>
          </a:prstGeom>
          <a:noFill/>
        </p:spPr>
        <p:txBody>
          <a:bodyPr wrap="none" rtlCol="0">
            <a:spAutoFit/>
          </a:bodyPr>
          <a:lstStyle/>
          <a:p>
            <a:r>
              <a:rPr lang="en-AU" sz="1200" dirty="0" err="1"/>
              <a:t>IssuingBody</a:t>
            </a:r>
            <a:endParaRPr lang="en-AU" sz="1200" dirty="0"/>
          </a:p>
        </p:txBody>
      </p:sp>
      <p:sp>
        <p:nvSpPr>
          <p:cNvPr id="4379" name="TextBox 4378">
            <a:extLst>
              <a:ext uri="{FF2B5EF4-FFF2-40B4-BE49-F238E27FC236}">
                <a16:creationId xmlns:a16="http://schemas.microsoft.com/office/drawing/2014/main" id="{7E0CFE31-7429-48FA-7461-60B3D664DC01}"/>
              </a:ext>
            </a:extLst>
          </p:cNvPr>
          <p:cNvSpPr txBox="1"/>
          <p:nvPr/>
        </p:nvSpPr>
        <p:spPr>
          <a:xfrm>
            <a:off x="9160585" y="3116079"/>
            <a:ext cx="1019318" cy="276999"/>
          </a:xfrm>
          <a:prstGeom prst="rect">
            <a:avLst/>
          </a:prstGeom>
          <a:noFill/>
        </p:spPr>
        <p:txBody>
          <a:bodyPr wrap="none" rtlCol="0">
            <a:spAutoFit/>
          </a:bodyPr>
          <a:lstStyle/>
          <a:p>
            <a:r>
              <a:rPr lang="en-AU" sz="1200" dirty="0"/>
              <a:t>Accreditation</a:t>
            </a:r>
          </a:p>
        </p:txBody>
      </p:sp>
      <p:sp>
        <p:nvSpPr>
          <p:cNvPr id="4380" name="TextBox 4379">
            <a:extLst>
              <a:ext uri="{FF2B5EF4-FFF2-40B4-BE49-F238E27FC236}">
                <a16:creationId xmlns:a16="http://schemas.microsoft.com/office/drawing/2014/main" id="{A34F06E7-F5A4-CC96-9548-4073F474D8A6}"/>
              </a:ext>
            </a:extLst>
          </p:cNvPr>
          <p:cNvSpPr txBox="1"/>
          <p:nvPr/>
        </p:nvSpPr>
        <p:spPr>
          <a:xfrm>
            <a:off x="9325252" y="2484054"/>
            <a:ext cx="865943" cy="276999"/>
          </a:xfrm>
          <a:prstGeom prst="rect">
            <a:avLst/>
          </a:prstGeom>
          <a:noFill/>
        </p:spPr>
        <p:txBody>
          <a:bodyPr wrap="none" rtlCol="0">
            <a:spAutoFit/>
          </a:bodyPr>
          <a:lstStyle/>
          <a:p>
            <a:r>
              <a:rPr lang="en-AU" sz="1200" dirty="0" err="1"/>
              <a:t>IsuingBody</a:t>
            </a:r>
            <a:endParaRPr lang="en-AU" sz="1200" dirty="0"/>
          </a:p>
        </p:txBody>
      </p:sp>
      <p:sp>
        <p:nvSpPr>
          <p:cNvPr id="4381" name="TextBox 4380">
            <a:extLst>
              <a:ext uri="{FF2B5EF4-FFF2-40B4-BE49-F238E27FC236}">
                <a16:creationId xmlns:a16="http://schemas.microsoft.com/office/drawing/2014/main" id="{F98BA541-5785-EF9A-7749-96FD408379C5}"/>
              </a:ext>
            </a:extLst>
          </p:cNvPr>
          <p:cNvSpPr txBox="1"/>
          <p:nvPr/>
        </p:nvSpPr>
        <p:spPr>
          <a:xfrm>
            <a:off x="8202290" y="4266451"/>
            <a:ext cx="1045223" cy="276999"/>
          </a:xfrm>
          <a:prstGeom prst="rect">
            <a:avLst/>
          </a:prstGeom>
          <a:noFill/>
        </p:spPr>
        <p:txBody>
          <a:bodyPr wrap="none" rtlCol="0">
            <a:spAutoFit/>
          </a:bodyPr>
          <a:lstStyle/>
          <a:p>
            <a:r>
              <a:rPr lang="en-AU" sz="1200" dirty="0"/>
              <a:t>Manufacturer</a:t>
            </a:r>
          </a:p>
        </p:txBody>
      </p:sp>
      <p:sp>
        <p:nvSpPr>
          <p:cNvPr id="4382" name="TextBox 4381">
            <a:extLst>
              <a:ext uri="{FF2B5EF4-FFF2-40B4-BE49-F238E27FC236}">
                <a16:creationId xmlns:a16="http://schemas.microsoft.com/office/drawing/2014/main" id="{3F1872A8-CA86-8D14-7547-E3A161D519E7}"/>
              </a:ext>
            </a:extLst>
          </p:cNvPr>
          <p:cNvSpPr txBox="1"/>
          <p:nvPr/>
        </p:nvSpPr>
        <p:spPr>
          <a:xfrm>
            <a:off x="8964097" y="5081348"/>
            <a:ext cx="750911" cy="276999"/>
          </a:xfrm>
          <a:prstGeom prst="rect">
            <a:avLst/>
          </a:prstGeom>
          <a:noFill/>
        </p:spPr>
        <p:txBody>
          <a:bodyPr wrap="none" rtlCol="0">
            <a:spAutoFit/>
          </a:bodyPr>
          <a:lstStyle/>
          <a:p>
            <a:r>
              <a:rPr lang="en-AU" sz="1200" dirty="0"/>
              <a:t>Operator</a:t>
            </a:r>
          </a:p>
        </p:txBody>
      </p:sp>
      <p:sp>
        <p:nvSpPr>
          <p:cNvPr id="4383" name="TextBox 4382">
            <a:extLst>
              <a:ext uri="{FF2B5EF4-FFF2-40B4-BE49-F238E27FC236}">
                <a16:creationId xmlns:a16="http://schemas.microsoft.com/office/drawing/2014/main" id="{10242B92-378A-38ED-87CA-9A16397E84C2}"/>
              </a:ext>
            </a:extLst>
          </p:cNvPr>
          <p:cNvSpPr txBox="1"/>
          <p:nvPr/>
        </p:nvSpPr>
        <p:spPr>
          <a:xfrm>
            <a:off x="7876325" y="4815861"/>
            <a:ext cx="1184042" cy="276999"/>
          </a:xfrm>
          <a:prstGeom prst="rect">
            <a:avLst/>
          </a:prstGeom>
          <a:noFill/>
        </p:spPr>
        <p:txBody>
          <a:bodyPr wrap="none" rtlCol="0">
            <a:spAutoFit/>
          </a:bodyPr>
          <a:lstStyle/>
          <a:p>
            <a:r>
              <a:rPr lang="en-AU" sz="1200" dirty="0" err="1"/>
              <a:t>AssessedFacility</a:t>
            </a:r>
            <a:endParaRPr lang="en-AU" sz="1200" dirty="0"/>
          </a:p>
        </p:txBody>
      </p:sp>
      <p:sp>
        <p:nvSpPr>
          <p:cNvPr id="4384" name="TextBox 4383">
            <a:extLst>
              <a:ext uri="{FF2B5EF4-FFF2-40B4-BE49-F238E27FC236}">
                <a16:creationId xmlns:a16="http://schemas.microsoft.com/office/drawing/2014/main" id="{28DA9728-68E4-3C9E-0F13-B4F286D9A7C9}"/>
              </a:ext>
            </a:extLst>
          </p:cNvPr>
          <p:cNvSpPr txBox="1"/>
          <p:nvPr/>
        </p:nvSpPr>
        <p:spPr>
          <a:xfrm>
            <a:off x="5543568" y="4413553"/>
            <a:ext cx="1241750" cy="276999"/>
          </a:xfrm>
          <a:prstGeom prst="rect">
            <a:avLst/>
          </a:prstGeom>
          <a:noFill/>
        </p:spPr>
        <p:txBody>
          <a:bodyPr wrap="none" rtlCol="0">
            <a:spAutoFit/>
          </a:bodyPr>
          <a:lstStyle/>
          <a:p>
            <a:r>
              <a:rPr lang="en-AU" sz="1200" dirty="0" err="1"/>
              <a:t>AssessedProduct</a:t>
            </a:r>
            <a:endParaRPr lang="en-AU" sz="1200" dirty="0"/>
          </a:p>
        </p:txBody>
      </p:sp>
      <p:sp>
        <p:nvSpPr>
          <p:cNvPr id="4385" name="TextBox 4384">
            <a:extLst>
              <a:ext uri="{FF2B5EF4-FFF2-40B4-BE49-F238E27FC236}">
                <a16:creationId xmlns:a16="http://schemas.microsoft.com/office/drawing/2014/main" id="{9702FAC6-CB83-945B-61FD-22980AF9E9E3}"/>
              </a:ext>
            </a:extLst>
          </p:cNvPr>
          <p:cNvSpPr txBox="1"/>
          <p:nvPr/>
        </p:nvSpPr>
        <p:spPr>
          <a:xfrm>
            <a:off x="6073759" y="1403854"/>
            <a:ext cx="1477071" cy="276999"/>
          </a:xfrm>
          <a:prstGeom prst="rect">
            <a:avLst/>
          </a:prstGeom>
          <a:noFill/>
        </p:spPr>
        <p:txBody>
          <a:bodyPr wrap="none" rtlCol="0">
            <a:spAutoFit/>
          </a:bodyPr>
          <a:lstStyle/>
          <a:p>
            <a:r>
              <a:rPr lang="en-AU" sz="1200" dirty="0" err="1"/>
              <a:t>ReferenceRegulation</a:t>
            </a:r>
            <a:endParaRPr lang="en-AU" sz="1200" dirty="0"/>
          </a:p>
        </p:txBody>
      </p:sp>
      <p:sp>
        <p:nvSpPr>
          <p:cNvPr id="4386" name="TextBox 4385">
            <a:extLst>
              <a:ext uri="{FF2B5EF4-FFF2-40B4-BE49-F238E27FC236}">
                <a16:creationId xmlns:a16="http://schemas.microsoft.com/office/drawing/2014/main" id="{8E0E77BD-0428-D23F-B681-E25C02C52641}"/>
              </a:ext>
            </a:extLst>
          </p:cNvPr>
          <p:cNvSpPr txBox="1"/>
          <p:nvPr/>
        </p:nvSpPr>
        <p:spPr>
          <a:xfrm>
            <a:off x="6588609" y="2087488"/>
            <a:ext cx="1369799" cy="276999"/>
          </a:xfrm>
          <a:prstGeom prst="rect">
            <a:avLst/>
          </a:prstGeom>
          <a:noFill/>
        </p:spPr>
        <p:txBody>
          <a:bodyPr wrap="none" rtlCol="0">
            <a:spAutoFit/>
          </a:bodyPr>
          <a:lstStyle/>
          <a:p>
            <a:r>
              <a:rPr lang="en-AU" sz="1200" dirty="0" err="1"/>
              <a:t>ReferenceStandard</a:t>
            </a:r>
            <a:endParaRPr lang="en-AU" sz="1200" dirty="0"/>
          </a:p>
        </p:txBody>
      </p:sp>
      <p:sp>
        <p:nvSpPr>
          <p:cNvPr id="4387" name="TextBox 4386">
            <a:extLst>
              <a:ext uri="{FF2B5EF4-FFF2-40B4-BE49-F238E27FC236}">
                <a16:creationId xmlns:a16="http://schemas.microsoft.com/office/drawing/2014/main" id="{A77D69C6-4F9F-3167-02D4-B14918908F5F}"/>
              </a:ext>
            </a:extLst>
          </p:cNvPr>
          <p:cNvSpPr txBox="1"/>
          <p:nvPr/>
        </p:nvSpPr>
        <p:spPr>
          <a:xfrm>
            <a:off x="4081449" y="2345554"/>
            <a:ext cx="1269515" cy="276999"/>
          </a:xfrm>
          <a:prstGeom prst="rect">
            <a:avLst/>
          </a:prstGeom>
          <a:noFill/>
        </p:spPr>
        <p:txBody>
          <a:bodyPr wrap="none" rtlCol="0">
            <a:spAutoFit/>
          </a:bodyPr>
          <a:lstStyle/>
          <a:p>
            <a:r>
              <a:rPr lang="en-AU" sz="1200" dirty="0" err="1"/>
              <a:t>ReferenceCriteria</a:t>
            </a:r>
            <a:endParaRPr lang="en-AU" sz="1200" dirty="0"/>
          </a:p>
        </p:txBody>
      </p:sp>
      <p:sp>
        <p:nvSpPr>
          <p:cNvPr id="4388" name="TextBox 4387">
            <a:extLst>
              <a:ext uri="{FF2B5EF4-FFF2-40B4-BE49-F238E27FC236}">
                <a16:creationId xmlns:a16="http://schemas.microsoft.com/office/drawing/2014/main" id="{A532F25F-DB91-2215-3911-73231807F2D4}"/>
              </a:ext>
            </a:extLst>
          </p:cNvPr>
          <p:cNvSpPr txBox="1"/>
          <p:nvPr/>
        </p:nvSpPr>
        <p:spPr>
          <a:xfrm>
            <a:off x="5944028" y="2894744"/>
            <a:ext cx="1269515" cy="276999"/>
          </a:xfrm>
          <a:prstGeom prst="rect">
            <a:avLst/>
          </a:prstGeom>
          <a:noFill/>
        </p:spPr>
        <p:txBody>
          <a:bodyPr wrap="none" rtlCol="0">
            <a:spAutoFit/>
          </a:bodyPr>
          <a:lstStyle/>
          <a:p>
            <a:r>
              <a:rPr lang="en-AU" sz="1200" dirty="0" err="1"/>
              <a:t>ReferenceCriteria</a:t>
            </a:r>
            <a:endParaRPr lang="en-AU" sz="1200" dirty="0"/>
          </a:p>
        </p:txBody>
      </p:sp>
      <p:sp>
        <p:nvSpPr>
          <p:cNvPr id="4389" name="TextBox 4388">
            <a:extLst>
              <a:ext uri="{FF2B5EF4-FFF2-40B4-BE49-F238E27FC236}">
                <a16:creationId xmlns:a16="http://schemas.microsoft.com/office/drawing/2014/main" id="{63D2BB5A-C228-2AA0-C918-F51A9968B9BD}"/>
              </a:ext>
            </a:extLst>
          </p:cNvPr>
          <p:cNvSpPr txBox="1"/>
          <p:nvPr/>
        </p:nvSpPr>
        <p:spPr>
          <a:xfrm>
            <a:off x="3655089" y="3414632"/>
            <a:ext cx="884281" cy="276999"/>
          </a:xfrm>
          <a:prstGeom prst="rect">
            <a:avLst/>
          </a:prstGeom>
          <a:noFill/>
        </p:spPr>
        <p:txBody>
          <a:bodyPr wrap="none" rtlCol="0">
            <a:spAutoFit/>
          </a:bodyPr>
          <a:lstStyle/>
          <a:p>
            <a:r>
              <a:rPr lang="en-AU" sz="1200" dirty="0"/>
              <a:t>Conformity</a:t>
            </a:r>
          </a:p>
        </p:txBody>
      </p:sp>
      <p:sp>
        <p:nvSpPr>
          <p:cNvPr id="4390" name="TextBox 4389">
            <a:extLst>
              <a:ext uri="{FF2B5EF4-FFF2-40B4-BE49-F238E27FC236}">
                <a16:creationId xmlns:a16="http://schemas.microsoft.com/office/drawing/2014/main" id="{EED81FB6-B9EB-460E-7488-8109C44322AC}"/>
              </a:ext>
            </a:extLst>
          </p:cNvPr>
          <p:cNvSpPr txBox="1"/>
          <p:nvPr/>
        </p:nvSpPr>
        <p:spPr>
          <a:xfrm>
            <a:off x="2053246" y="3996826"/>
            <a:ext cx="803361" cy="276999"/>
          </a:xfrm>
          <a:prstGeom prst="rect">
            <a:avLst/>
          </a:prstGeom>
          <a:noFill/>
        </p:spPr>
        <p:txBody>
          <a:bodyPr wrap="none" rtlCol="0">
            <a:spAutoFit/>
          </a:bodyPr>
          <a:lstStyle/>
          <a:p>
            <a:r>
              <a:rPr lang="en-AU" sz="1200" dirty="0" err="1"/>
              <a:t>InputItem</a:t>
            </a:r>
            <a:endParaRPr lang="en-AU" sz="1200" dirty="0"/>
          </a:p>
        </p:txBody>
      </p:sp>
      <p:sp>
        <p:nvSpPr>
          <p:cNvPr id="4391" name="TextBox 4390">
            <a:extLst>
              <a:ext uri="{FF2B5EF4-FFF2-40B4-BE49-F238E27FC236}">
                <a16:creationId xmlns:a16="http://schemas.microsoft.com/office/drawing/2014/main" id="{8FB67C6E-595A-3D2E-A939-FB1EA1543FDA}"/>
              </a:ext>
            </a:extLst>
          </p:cNvPr>
          <p:cNvSpPr txBox="1"/>
          <p:nvPr/>
        </p:nvSpPr>
        <p:spPr>
          <a:xfrm>
            <a:off x="3431994" y="4767046"/>
            <a:ext cx="1058495" cy="276999"/>
          </a:xfrm>
          <a:prstGeom prst="rect">
            <a:avLst/>
          </a:prstGeom>
          <a:noFill/>
        </p:spPr>
        <p:txBody>
          <a:bodyPr wrap="none" rtlCol="0">
            <a:spAutoFit/>
          </a:bodyPr>
          <a:lstStyle/>
          <a:p>
            <a:r>
              <a:rPr lang="en-AU" sz="1200" dirty="0" err="1"/>
              <a:t>InputQuantity</a:t>
            </a:r>
            <a:endParaRPr lang="en-AU" sz="1200" dirty="0"/>
          </a:p>
        </p:txBody>
      </p:sp>
      <p:sp>
        <p:nvSpPr>
          <p:cNvPr id="4392" name="TextBox 4391">
            <a:extLst>
              <a:ext uri="{FF2B5EF4-FFF2-40B4-BE49-F238E27FC236}">
                <a16:creationId xmlns:a16="http://schemas.microsoft.com/office/drawing/2014/main" id="{FDF9A95C-D3F3-1BF3-C3E0-8F270C1C6B21}"/>
              </a:ext>
            </a:extLst>
          </p:cNvPr>
          <p:cNvSpPr txBox="1"/>
          <p:nvPr/>
        </p:nvSpPr>
        <p:spPr>
          <a:xfrm>
            <a:off x="2382423" y="4428222"/>
            <a:ext cx="897938" cy="276999"/>
          </a:xfrm>
          <a:prstGeom prst="rect">
            <a:avLst/>
          </a:prstGeom>
          <a:noFill/>
        </p:spPr>
        <p:txBody>
          <a:bodyPr wrap="none" rtlCol="0">
            <a:spAutoFit/>
          </a:bodyPr>
          <a:lstStyle/>
          <a:p>
            <a:r>
              <a:rPr lang="en-AU" sz="1200" dirty="0" err="1"/>
              <a:t>outputItem</a:t>
            </a:r>
            <a:endParaRPr lang="en-AU" sz="1200" dirty="0"/>
          </a:p>
        </p:txBody>
      </p:sp>
      <p:sp>
        <p:nvSpPr>
          <p:cNvPr id="4393" name="TextBox 4392">
            <a:extLst>
              <a:ext uri="{FF2B5EF4-FFF2-40B4-BE49-F238E27FC236}">
                <a16:creationId xmlns:a16="http://schemas.microsoft.com/office/drawing/2014/main" id="{6F487632-20BE-F0CD-8551-162CF0743F0C}"/>
              </a:ext>
            </a:extLst>
          </p:cNvPr>
          <p:cNvSpPr txBox="1"/>
          <p:nvPr/>
        </p:nvSpPr>
        <p:spPr>
          <a:xfrm>
            <a:off x="3702152" y="5438424"/>
            <a:ext cx="1173911" cy="276999"/>
          </a:xfrm>
          <a:prstGeom prst="rect">
            <a:avLst/>
          </a:prstGeom>
          <a:noFill/>
        </p:spPr>
        <p:txBody>
          <a:bodyPr wrap="none" rtlCol="0">
            <a:spAutoFit/>
          </a:bodyPr>
          <a:lstStyle/>
          <a:p>
            <a:r>
              <a:rPr lang="en-AU" sz="1200" dirty="0" err="1"/>
              <a:t>OutputQuantity</a:t>
            </a:r>
            <a:endParaRPr lang="en-AU" sz="1200" dirty="0"/>
          </a:p>
        </p:txBody>
      </p:sp>
      <p:sp>
        <p:nvSpPr>
          <p:cNvPr id="4394" name="TextBox 4393">
            <a:extLst>
              <a:ext uri="{FF2B5EF4-FFF2-40B4-BE49-F238E27FC236}">
                <a16:creationId xmlns:a16="http://schemas.microsoft.com/office/drawing/2014/main" id="{F522522E-6E20-DFE2-C997-1D4F63429F11}"/>
              </a:ext>
            </a:extLst>
          </p:cNvPr>
          <p:cNvSpPr txBox="1"/>
          <p:nvPr/>
        </p:nvSpPr>
        <p:spPr>
          <a:xfrm>
            <a:off x="4899848" y="5751734"/>
            <a:ext cx="1209627" cy="276999"/>
          </a:xfrm>
          <a:prstGeom prst="rect">
            <a:avLst/>
          </a:prstGeom>
          <a:noFill/>
        </p:spPr>
        <p:txBody>
          <a:bodyPr wrap="none" rtlCol="0">
            <a:spAutoFit/>
          </a:bodyPr>
          <a:lstStyle/>
          <a:p>
            <a:r>
              <a:rPr lang="en-AU" sz="1200" dirty="0" err="1"/>
              <a:t>ManufacturedAt</a:t>
            </a:r>
            <a:endParaRPr lang="en-AU" sz="1200" dirty="0"/>
          </a:p>
        </p:txBody>
      </p:sp>
      <p:sp>
        <p:nvSpPr>
          <p:cNvPr id="4395" name="TextBox 4394">
            <a:extLst>
              <a:ext uri="{FF2B5EF4-FFF2-40B4-BE49-F238E27FC236}">
                <a16:creationId xmlns:a16="http://schemas.microsoft.com/office/drawing/2014/main" id="{5EB73C58-A4D5-D601-97B7-5E46287F377E}"/>
              </a:ext>
            </a:extLst>
          </p:cNvPr>
          <p:cNvSpPr txBox="1"/>
          <p:nvPr/>
        </p:nvSpPr>
        <p:spPr>
          <a:xfrm>
            <a:off x="4368431" y="3557489"/>
            <a:ext cx="884281" cy="276999"/>
          </a:xfrm>
          <a:prstGeom prst="rect">
            <a:avLst/>
          </a:prstGeom>
          <a:noFill/>
        </p:spPr>
        <p:txBody>
          <a:bodyPr wrap="none" rtlCol="0">
            <a:spAutoFit/>
          </a:bodyPr>
          <a:lstStyle/>
          <a:p>
            <a:r>
              <a:rPr lang="en-AU" sz="1200" dirty="0"/>
              <a:t>Conformity</a:t>
            </a:r>
          </a:p>
        </p:txBody>
      </p:sp>
      <p:cxnSp>
        <p:nvCxnSpPr>
          <p:cNvPr id="4405" name="Curved Connector 4404">
            <a:extLst>
              <a:ext uri="{FF2B5EF4-FFF2-40B4-BE49-F238E27FC236}">
                <a16:creationId xmlns:a16="http://schemas.microsoft.com/office/drawing/2014/main" id="{4D70F7FA-1F5E-1B1D-2789-F4FEB2D60E85}"/>
              </a:ext>
            </a:extLst>
          </p:cNvPr>
          <p:cNvCxnSpPr>
            <a:cxnSpLocks/>
            <a:stCxn id="16" idx="1"/>
            <a:endCxn id="24" idx="5"/>
          </p:cNvCxnSpPr>
          <p:nvPr/>
        </p:nvCxnSpPr>
        <p:spPr>
          <a:xfrm rot="16200000" flipV="1">
            <a:off x="5528101" y="3059713"/>
            <a:ext cx="2060845" cy="2483810"/>
          </a:xfrm>
          <a:prstGeom prst="curvedConnector3">
            <a:avLst>
              <a:gd name="adj1" fmla="val 53169"/>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410" name="TextBox 4409">
            <a:extLst>
              <a:ext uri="{FF2B5EF4-FFF2-40B4-BE49-F238E27FC236}">
                <a16:creationId xmlns:a16="http://schemas.microsoft.com/office/drawing/2014/main" id="{419905F4-79C8-03A4-30B5-D10E0057B55F}"/>
              </a:ext>
            </a:extLst>
          </p:cNvPr>
          <p:cNvSpPr txBox="1"/>
          <p:nvPr/>
        </p:nvSpPr>
        <p:spPr>
          <a:xfrm>
            <a:off x="5021616" y="3340489"/>
            <a:ext cx="884281" cy="276999"/>
          </a:xfrm>
          <a:prstGeom prst="rect">
            <a:avLst/>
          </a:prstGeom>
          <a:noFill/>
        </p:spPr>
        <p:txBody>
          <a:bodyPr wrap="none" rtlCol="0">
            <a:spAutoFit/>
          </a:bodyPr>
          <a:lstStyle/>
          <a:p>
            <a:r>
              <a:rPr lang="en-AU" sz="1200" dirty="0"/>
              <a:t>Conformity</a:t>
            </a:r>
          </a:p>
        </p:txBody>
      </p:sp>
      <p:sp>
        <p:nvSpPr>
          <p:cNvPr id="4414" name="TextBox 4413">
            <a:extLst>
              <a:ext uri="{FF2B5EF4-FFF2-40B4-BE49-F238E27FC236}">
                <a16:creationId xmlns:a16="http://schemas.microsoft.com/office/drawing/2014/main" id="{2226ACC5-098A-526E-722A-E12432D45D8A}"/>
              </a:ext>
            </a:extLst>
          </p:cNvPr>
          <p:cNvSpPr txBox="1"/>
          <p:nvPr/>
        </p:nvSpPr>
        <p:spPr>
          <a:xfrm>
            <a:off x="7462495" y="3432215"/>
            <a:ext cx="678391" cy="276999"/>
          </a:xfrm>
          <a:prstGeom prst="rect">
            <a:avLst/>
          </a:prstGeom>
          <a:noFill/>
        </p:spPr>
        <p:txBody>
          <a:bodyPr wrap="none" rtlCol="0">
            <a:spAutoFit/>
          </a:bodyPr>
          <a:lstStyle/>
          <a:p>
            <a:r>
              <a:rPr lang="en-AU" sz="1200" dirty="0"/>
              <a:t>Scheme</a:t>
            </a:r>
          </a:p>
        </p:txBody>
      </p:sp>
    </p:spTree>
    <p:extLst>
      <p:ext uri="{BB962C8B-B14F-4D97-AF65-F5344CB8AC3E}">
        <p14:creationId xmlns:p14="http://schemas.microsoft.com/office/powerpoint/2010/main" val="3842909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BA6BA-48F5-A2C7-7EB1-304B385C457F}"/>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99936FF3-AD4E-EE86-BAAC-9CD4C5151BAA}"/>
              </a:ext>
            </a:extLst>
          </p:cNvPr>
          <p:cNvSpPr/>
          <p:nvPr/>
        </p:nvSpPr>
        <p:spPr>
          <a:xfrm>
            <a:off x="2756496" y="1127270"/>
            <a:ext cx="5865161" cy="5049484"/>
          </a:xfrm>
          <a:prstGeom prst="roundRect">
            <a:avLst>
              <a:gd name="adj" fmla="val 2109"/>
            </a:avLst>
          </a:prstGeom>
          <a:noFill/>
          <a:ln w="190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69333" tIns="69333" rIns="69333" bIns="69333" rtlCol="0" anchor="ctr"/>
          <a:lstStyle/>
          <a:p>
            <a:pPr algn="ctr"/>
            <a:endParaRPr lang="en-AU" sz="1400" b="1" dirty="0">
              <a:solidFill>
                <a:schemeClr val="tx1"/>
              </a:solidFill>
            </a:endParaRPr>
          </a:p>
        </p:txBody>
      </p:sp>
      <p:cxnSp>
        <p:nvCxnSpPr>
          <p:cNvPr id="4" name="Straight Connector 122">
            <a:extLst>
              <a:ext uri="{FF2B5EF4-FFF2-40B4-BE49-F238E27FC236}">
                <a16:creationId xmlns:a16="http://schemas.microsoft.com/office/drawing/2014/main" id="{476218EA-E60A-4152-4AE7-A16ADE21894E}"/>
              </a:ext>
            </a:extLst>
          </p:cNvPr>
          <p:cNvCxnSpPr>
            <a:cxnSpLocks/>
          </p:cNvCxnSpPr>
          <p:nvPr/>
        </p:nvCxnSpPr>
        <p:spPr>
          <a:xfrm>
            <a:off x="6885817" y="5802562"/>
            <a:ext cx="1274618"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74EA8B96-17CD-6899-7430-50A13D33A44F}"/>
              </a:ext>
            </a:extLst>
          </p:cNvPr>
          <p:cNvSpPr txBox="1"/>
          <p:nvPr/>
        </p:nvSpPr>
        <p:spPr>
          <a:xfrm>
            <a:off x="6738344" y="5536592"/>
            <a:ext cx="1319464" cy="276999"/>
          </a:xfrm>
          <a:prstGeom prst="rect">
            <a:avLst/>
          </a:prstGeom>
          <a:noFill/>
        </p:spPr>
        <p:txBody>
          <a:bodyPr wrap="none" rtlCol="0" anchor="ctr">
            <a:spAutoFit/>
          </a:bodyPr>
          <a:lstStyle/>
          <a:p>
            <a:r>
              <a:rPr lang="en-AU" sz="1200" dirty="0"/>
              <a:t>1 to 1 relationship</a:t>
            </a:r>
          </a:p>
        </p:txBody>
      </p:sp>
      <p:sp>
        <p:nvSpPr>
          <p:cNvPr id="6" name="Rounded Rectangle 5">
            <a:extLst>
              <a:ext uri="{FF2B5EF4-FFF2-40B4-BE49-F238E27FC236}">
                <a16:creationId xmlns:a16="http://schemas.microsoft.com/office/drawing/2014/main" id="{D9995B54-2225-D4AA-2510-2D8EEA5F4544}"/>
              </a:ext>
            </a:extLst>
          </p:cNvPr>
          <p:cNvSpPr/>
          <p:nvPr/>
        </p:nvSpPr>
        <p:spPr>
          <a:xfrm>
            <a:off x="5975027" y="1845243"/>
            <a:ext cx="2384428" cy="1189245"/>
          </a:xfrm>
          <a:prstGeom prst="roundRect">
            <a:avLst>
              <a:gd name="adj" fmla="val 6972"/>
            </a:avLst>
          </a:prstGeom>
          <a:solidFill>
            <a:schemeClr val="accent6">
              <a:lumMod val="20000"/>
              <a:lumOff val="80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69333" tIns="69333" rIns="69333" bIns="69333" rtlCol="0" anchor="t"/>
          <a:lstStyle/>
          <a:p>
            <a:r>
              <a:rPr lang="en-AU" sz="1400" b="1" dirty="0">
                <a:solidFill>
                  <a:schemeClr val="tx1"/>
                </a:solidFill>
              </a:rPr>
              <a:t>DFR</a:t>
            </a:r>
          </a:p>
        </p:txBody>
      </p:sp>
      <p:sp>
        <p:nvSpPr>
          <p:cNvPr id="7" name="Rounded Rectangle 6">
            <a:extLst>
              <a:ext uri="{FF2B5EF4-FFF2-40B4-BE49-F238E27FC236}">
                <a16:creationId xmlns:a16="http://schemas.microsoft.com/office/drawing/2014/main" id="{F8F1BCC5-44FB-B793-9D9B-7558F4496EC2}"/>
              </a:ext>
            </a:extLst>
          </p:cNvPr>
          <p:cNvSpPr/>
          <p:nvPr/>
        </p:nvSpPr>
        <p:spPr>
          <a:xfrm>
            <a:off x="3051210" y="2291681"/>
            <a:ext cx="2738980" cy="974994"/>
          </a:xfrm>
          <a:prstGeom prst="roundRect">
            <a:avLst>
              <a:gd name="adj" fmla="val 6506"/>
            </a:avLst>
          </a:prstGeom>
          <a:solidFill>
            <a:schemeClr val="accent6">
              <a:lumMod val="20000"/>
              <a:lumOff val="80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69333" tIns="69333" rIns="69333" bIns="69333" rtlCol="0" anchor="b"/>
          <a:lstStyle/>
          <a:p>
            <a:pPr algn="ctr"/>
            <a:r>
              <a:rPr lang="en-AU" sz="1400" b="1" dirty="0">
                <a:solidFill>
                  <a:schemeClr val="tx1"/>
                </a:solidFill>
              </a:rPr>
              <a:t>DPP</a:t>
            </a:r>
          </a:p>
        </p:txBody>
      </p:sp>
      <p:sp>
        <p:nvSpPr>
          <p:cNvPr id="8" name="Rounded Rectangle 7">
            <a:extLst>
              <a:ext uri="{FF2B5EF4-FFF2-40B4-BE49-F238E27FC236}">
                <a16:creationId xmlns:a16="http://schemas.microsoft.com/office/drawing/2014/main" id="{5CB83FA4-3759-5BC9-21B0-C54040851FB3}"/>
              </a:ext>
            </a:extLst>
          </p:cNvPr>
          <p:cNvSpPr/>
          <p:nvPr/>
        </p:nvSpPr>
        <p:spPr>
          <a:xfrm>
            <a:off x="3088329" y="1306099"/>
            <a:ext cx="2087215" cy="798505"/>
          </a:xfrm>
          <a:prstGeom prst="roundRect">
            <a:avLst>
              <a:gd name="adj" fmla="val 10720"/>
            </a:avLst>
          </a:prstGeom>
          <a:solidFill>
            <a:schemeClr val="accent1">
              <a:lumMod val="20000"/>
              <a:lumOff val="80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69333" tIns="69333" rIns="69333" bIns="69333" rtlCol="0" anchor="t"/>
          <a:lstStyle/>
          <a:p>
            <a:r>
              <a:rPr lang="en-AU" sz="1400" b="1" dirty="0">
                <a:solidFill>
                  <a:schemeClr val="tx1"/>
                </a:solidFill>
              </a:rPr>
              <a:t>DTE</a:t>
            </a:r>
          </a:p>
        </p:txBody>
      </p:sp>
      <p:sp>
        <p:nvSpPr>
          <p:cNvPr id="9" name="Rounded Rectangle 8">
            <a:extLst>
              <a:ext uri="{FF2B5EF4-FFF2-40B4-BE49-F238E27FC236}">
                <a16:creationId xmlns:a16="http://schemas.microsoft.com/office/drawing/2014/main" id="{FFC87983-5EBA-A3F2-7E96-3156845C8947}"/>
              </a:ext>
            </a:extLst>
          </p:cNvPr>
          <p:cNvSpPr/>
          <p:nvPr/>
        </p:nvSpPr>
        <p:spPr>
          <a:xfrm>
            <a:off x="4234743" y="3332611"/>
            <a:ext cx="3192329" cy="805457"/>
          </a:xfrm>
          <a:prstGeom prst="roundRect">
            <a:avLst>
              <a:gd name="adj" fmla="val 10720"/>
            </a:avLst>
          </a:prstGeom>
          <a:solidFill>
            <a:srgbClr val="F2F2C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69333" tIns="69333" rIns="69333" bIns="69333" rtlCol="0" anchor="t"/>
          <a:lstStyle/>
          <a:p>
            <a:r>
              <a:rPr lang="en-AU" sz="1400" b="1" dirty="0">
                <a:solidFill>
                  <a:schemeClr val="tx1"/>
                </a:solidFill>
              </a:rPr>
              <a:t>SVC</a:t>
            </a:r>
          </a:p>
        </p:txBody>
      </p:sp>
      <p:sp>
        <p:nvSpPr>
          <p:cNvPr id="10" name="Rounded Rectangle 9">
            <a:extLst>
              <a:ext uri="{FF2B5EF4-FFF2-40B4-BE49-F238E27FC236}">
                <a16:creationId xmlns:a16="http://schemas.microsoft.com/office/drawing/2014/main" id="{B1A7D2CD-B64B-2CDD-DE44-C6E4B9D2E085}"/>
              </a:ext>
            </a:extLst>
          </p:cNvPr>
          <p:cNvSpPr/>
          <p:nvPr/>
        </p:nvSpPr>
        <p:spPr>
          <a:xfrm>
            <a:off x="3815879" y="4829847"/>
            <a:ext cx="1758095" cy="1208867"/>
          </a:xfrm>
          <a:prstGeom prst="roundRect">
            <a:avLst>
              <a:gd name="adj" fmla="val 10720"/>
            </a:avLst>
          </a:prstGeom>
          <a:solidFill>
            <a:srgbClr val="F7BDB7"/>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69333" tIns="69333" rIns="69333" bIns="69333" rtlCol="0" anchor="t"/>
          <a:lstStyle/>
          <a:p>
            <a:r>
              <a:rPr lang="en-AU" sz="1400" b="1" dirty="0">
                <a:solidFill>
                  <a:schemeClr val="tx1"/>
                </a:solidFill>
              </a:rPr>
              <a:t>DIA</a:t>
            </a:r>
          </a:p>
        </p:txBody>
      </p:sp>
      <p:sp>
        <p:nvSpPr>
          <p:cNvPr id="11" name="Rounded Rectangle 10">
            <a:extLst>
              <a:ext uri="{FF2B5EF4-FFF2-40B4-BE49-F238E27FC236}">
                <a16:creationId xmlns:a16="http://schemas.microsoft.com/office/drawing/2014/main" id="{8B0AC636-C65D-F704-D105-F3EC555342AD}"/>
              </a:ext>
            </a:extLst>
          </p:cNvPr>
          <p:cNvSpPr/>
          <p:nvPr/>
        </p:nvSpPr>
        <p:spPr>
          <a:xfrm>
            <a:off x="5689077" y="4220341"/>
            <a:ext cx="1737998" cy="1143608"/>
          </a:xfrm>
          <a:prstGeom prst="roundRect">
            <a:avLst>
              <a:gd name="adj" fmla="val 7043"/>
            </a:avLst>
          </a:prstGeom>
          <a:solidFill>
            <a:srgbClr val="F6D86A"/>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69333" tIns="69333" rIns="69333" bIns="69333" rtlCol="0" anchor="t"/>
          <a:lstStyle/>
          <a:p>
            <a:r>
              <a:rPr lang="en-AU" sz="1400" b="1" dirty="0">
                <a:solidFill>
                  <a:schemeClr val="tx1"/>
                </a:solidFill>
              </a:rPr>
              <a:t>DCC</a:t>
            </a:r>
          </a:p>
        </p:txBody>
      </p:sp>
      <p:sp>
        <p:nvSpPr>
          <p:cNvPr id="12" name="Oval 11">
            <a:extLst>
              <a:ext uri="{FF2B5EF4-FFF2-40B4-BE49-F238E27FC236}">
                <a16:creationId xmlns:a16="http://schemas.microsoft.com/office/drawing/2014/main" id="{2C4992D8-5F7F-4E23-6288-AF323AED51E4}"/>
              </a:ext>
            </a:extLst>
          </p:cNvPr>
          <p:cNvSpPr/>
          <p:nvPr/>
        </p:nvSpPr>
        <p:spPr>
          <a:xfrm>
            <a:off x="6100280" y="3742875"/>
            <a:ext cx="1182892"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Criterion</a:t>
            </a:r>
          </a:p>
        </p:txBody>
      </p:sp>
      <p:sp>
        <p:nvSpPr>
          <p:cNvPr id="13" name="Oval 12">
            <a:extLst>
              <a:ext uri="{FF2B5EF4-FFF2-40B4-BE49-F238E27FC236}">
                <a16:creationId xmlns:a16="http://schemas.microsoft.com/office/drawing/2014/main" id="{E69F6C31-5184-03EF-4B74-E47548B7E59F}"/>
              </a:ext>
            </a:extLst>
          </p:cNvPr>
          <p:cNvSpPr/>
          <p:nvPr/>
        </p:nvSpPr>
        <p:spPr>
          <a:xfrm>
            <a:off x="6117364" y="4405616"/>
            <a:ext cx="1134840"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Assessment</a:t>
            </a:r>
          </a:p>
        </p:txBody>
      </p:sp>
      <p:sp>
        <p:nvSpPr>
          <p:cNvPr id="14" name="Oval 13">
            <a:extLst>
              <a:ext uri="{FF2B5EF4-FFF2-40B4-BE49-F238E27FC236}">
                <a16:creationId xmlns:a16="http://schemas.microsoft.com/office/drawing/2014/main" id="{4481A3FC-9139-C56D-F30A-7ADD0CA24DE2}"/>
              </a:ext>
            </a:extLst>
          </p:cNvPr>
          <p:cNvSpPr/>
          <p:nvPr/>
        </p:nvSpPr>
        <p:spPr>
          <a:xfrm>
            <a:off x="3553881" y="2621866"/>
            <a:ext cx="1134840"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Product</a:t>
            </a:r>
          </a:p>
        </p:txBody>
      </p:sp>
      <p:sp>
        <p:nvSpPr>
          <p:cNvPr id="17" name="Oval 16">
            <a:extLst>
              <a:ext uri="{FF2B5EF4-FFF2-40B4-BE49-F238E27FC236}">
                <a16:creationId xmlns:a16="http://schemas.microsoft.com/office/drawing/2014/main" id="{9AA1676D-91DF-AF44-5BB0-E03D2B7AF0C6}"/>
              </a:ext>
            </a:extLst>
          </p:cNvPr>
          <p:cNvSpPr/>
          <p:nvPr/>
        </p:nvSpPr>
        <p:spPr>
          <a:xfrm>
            <a:off x="6986133" y="2621347"/>
            <a:ext cx="1134840"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Facility</a:t>
            </a:r>
          </a:p>
        </p:txBody>
      </p:sp>
      <p:sp>
        <p:nvSpPr>
          <p:cNvPr id="18" name="Oval 17">
            <a:extLst>
              <a:ext uri="{FF2B5EF4-FFF2-40B4-BE49-F238E27FC236}">
                <a16:creationId xmlns:a16="http://schemas.microsoft.com/office/drawing/2014/main" id="{F23616DE-BD98-6FA3-F18A-48BB42395FD8}"/>
              </a:ext>
            </a:extLst>
          </p:cNvPr>
          <p:cNvSpPr/>
          <p:nvPr/>
        </p:nvSpPr>
        <p:spPr>
          <a:xfrm>
            <a:off x="4167468" y="5799820"/>
            <a:ext cx="1134840"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Identity</a:t>
            </a:r>
          </a:p>
        </p:txBody>
      </p:sp>
      <p:sp>
        <p:nvSpPr>
          <p:cNvPr id="27" name="Oval 26">
            <a:extLst>
              <a:ext uri="{FF2B5EF4-FFF2-40B4-BE49-F238E27FC236}">
                <a16:creationId xmlns:a16="http://schemas.microsoft.com/office/drawing/2014/main" id="{C95A2592-A9ED-5A27-EBA5-6B1665121CAC}"/>
              </a:ext>
            </a:extLst>
          </p:cNvPr>
          <p:cNvSpPr/>
          <p:nvPr/>
        </p:nvSpPr>
        <p:spPr>
          <a:xfrm>
            <a:off x="5314063" y="2623900"/>
            <a:ext cx="1134840"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Claim</a:t>
            </a:r>
          </a:p>
        </p:txBody>
      </p:sp>
      <p:sp>
        <p:nvSpPr>
          <p:cNvPr id="30" name="Oval 29">
            <a:extLst>
              <a:ext uri="{FF2B5EF4-FFF2-40B4-BE49-F238E27FC236}">
                <a16:creationId xmlns:a16="http://schemas.microsoft.com/office/drawing/2014/main" id="{6A839887-2366-D5A9-F9B6-0FB41389CDCE}"/>
              </a:ext>
            </a:extLst>
          </p:cNvPr>
          <p:cNvSpPr/>
          <p:nvPr/>
        </p:nvSpPr>
        <p:spPr>
          <a:xfrm>
            <a:off x="4710859" y="3410716"/>
            <a:ext cx="1182892"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Scheme</a:t>
            </a:r>
          </a:p>
        </p:txBody>
      </p:sp>
      <p:cxnSp>
        <p:nvCxnSpPr>
          <p:cNvPr id="31" name="Straight Connector 42">
            <a:extLst>
              <a:ext uri="{FF2B5EF4-FFF2-40B4-BE49-F238E27FC236}">
                <a16:creationId xmlns:a16="http://schemas.microsoft.com/office/drawing/2014/main" id="{82E7EFDC-66B2-3337-2C75-EEA7FA409287}"/>
              </a:ext>
            </a:extLst>
          </p:cNvPr>
          <p:cNvCxnSpPr>
            <a:cxnSpLocks/>
            <a:stCxn id="30" idx="6"/>
            <a:endCxn id="12" idx="1"/>
          </p:cNvCxnSpPr>
          <p:nvPr/>
        </p:nvCxnSpPr>
        <p:spPr>
          <a:xfrm>
            <a:off x="5893750" y="3527070"/>
            <a:ext cx="379759" cy="249884"/>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2" name="Straight Connector 68">
            <a:extLst>
              <a:ext uri="{FF2B5EF4-FFF2-40B4-BE49-F238E27FC236}">
                <a16:creationId xmlns:a16="http://schemas.microsoft.com/office/drawing/2014/main" id="{1BDF0A04-6487-8CA2-C8F4-C9502A63BC42}"/>
              </a:ext>
            </a:extLst>
          </p:cNvPr>
          <p:cNvCxnSpPr>
            <a:cxnSpLocks/>
            <a:stCxn id="46" idx="2"/>
            <a:endCxn id="35" idx="7"/>
          </p:cNvCxnSpPr>
          <p:nvPr/>
        </p:nvCxnSpPr>
        <p:spPr>
          <a:xfrm rot="10800000" flipV="1">
            <a:off x="5136111" y="5033515"/>
            <a:ext cx="965917" cy="304074"/>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3" name="Straight Connector 83">
            <a:extLst>
              <a:ext uri="{FF2B5EF4-FFF2-40B4-BE49-F238E27FC236}">
                <a16:creationId xmlns:a16="http://schemas.microsoft.com/office/drawing/2014/main" id="{E2787147-4087-6EE1-53BF-67BAFD5DD833}"/>
              </a:ext>
            </a:extLst>
          </p:cNvPr>
          <p:cNvCxnSpPr>
            <a:cxnSpLocks/>
            <a:stCxn id="17" idx="2"/>
            <a:endCxn id="27" idx="6"/>
          </p:cNvCxnSpPr>
          <p:nvPr/>
        </p:nvCxnSpPr>
        <p:spPr>
          <a:xfrm flipH="1">
            <a:off x="6448903" y="2737702"/>
            <a:ext cx="537231" cy="2553"/>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4" name="Straight Connector 122">
            <a:extLst>
              <a:ext uri="{FF2B5EF4-FFF2-40B4-BE49-F238E27FC236}">
                <a16:creationId xmlns:a16="http://schemas.microsoft.com/office/drawing/2014/main" id="{24C61A9A-A59F-F971-7CF0-EAC2C8377EE1}"/>
              </a:ext>
            </a:extLst>
          </p:cNvPr>
          <p:cNvCxnSpPr>
            <a:cxnSpLocks/>
            <a:stCxn id="14" idx="6"/>
            <a:endCxn id="27" idx="2"/>
          </p:cNvCxnSpPr>
          <p:nvPr/>
        </p:nvCxnSpPr>
        <p:spPr>
          <a:xfrm>
            <a:off x="4688719" y="2738221"/>
            <a:ext cx="625343" cy="2034"/>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66082A4E-C17E-3B4C-9609-214B84F72F61}"/>
              </a:ext>
            </a:extLst>
          </p:cNvPr>
          <p:cNvSpPr/>
          <p:nvPr/>
        </p:nvSpPr>
        <p:spPr>
          <a:xfrm>
            <a:off x="4167468" y="5303510"/>
            <a:ext cx="1134840"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Party</a:t>
            </a:r>
          </a:p>
        </p:txBody>
      </p:sp>
      <p:cxnSp>
        <p:nvCxnSpPr>
          <p:cNvPr id="37" name="Straight Connector 191">
            <a:extLst>
              <a:ext uri="{FF2B5EF4-FFF2-40B4-BE49-F238E27FC236}">
                <a16:creationId xmlns:a16="http://schemas.microsoft.com/office/drawing/2014/main" id="{BE5A829B-BD87-9EF8-A661-B458F1622088}"/>
              </a:ext>
            </a:extLst>
          </p:cNvPr>
          <p:cNvCxnSpPr>
            <a:cxnSpLocks/>
            <a:stCxn id="13" idx="2"/>
            <a:endCxn id="14" idx="4"/>
          </p:cNvCxnSpPr>
          <p:nvPr/>
        </p:nvCxnSpPr>
        <p:spPr>
          <a:xfrm rot="10800000">
            <a:off x="4121301" y="2854573"/>
            <a:ext cx="1996062" cy="1667397"/>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8" name="Straight Connector 198">
            <a:extLst>
              <a:ext uri="{FF2B5EF4-FFF2-40B4-BE49-F238E27FC236}">
                <a16:creationId xmlns:a16="http://schemas.microsoft.com/office/drawing/2014/main" id="{A144F106-57B3-6C14-3AF0-D2D98FFB6DD6}"/>
              </a:ext>
            </a:extLst>
          </p:cNvPr>
          <p:cNvCxnSpPr>
            <a:cxnSpLocks/>
            <a:stCxn id="13" idx="6"/>
            <a:endCxn id="17" idx="4"/>
          </p:cNvCxnSpPr>
          <p:nvPr/>
        </p:nvCxnSpPr>
        <p:spPr>
          <a:xfrm flipV="1">
            <a:off x="7252201" y="2854054"/>
            <a:ext cx="301350" cy="1667916"/>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9" name="Straight Connector 202">
            <a:extLst>
              <a:ext uri="{FF2B5EF4-FFF2-40B4-BE49-F238E27FC236}">
                <a16:creationId xmlns:a16="http://schemas.microsoft.com/office/drawing/2014/main" id="{E6367706-0B88-1A8C-276A-96ADFB7276E0}"/>
              </a:ext>
            </a:extLst>
          </p:cNvPr>
          <p:cNvCxnSpPr>
            <a:cxnSpLocks/>
            <a:stCxn id="27" idx="4"/>
            <a:endCxn id="12" idx="0"/>
          </p:cNvCxnSpPr>
          <p:nvPr/>
        </p:nvCxnSpPr>
        <p:spPr>
          <a:xfrm rot="16200000" flipH="1">
            <a:off x="5843472" y="2894619"/>
            <a:ext cx="886267" cy="810245"/>
          </a:xfrm>
          <a:prstGeom prst="bentConnector3">
            <a:avLst>
              <a:gd name="adj1" fmla="val 46317"/>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0" name="Straight Connector 207">
            <a:extLst>
              <a:ext uri="{FF2B5EF4-FFF2-40B4-BE49-F238E27FC236}">
                <a16:creationId xmlns:a16="http://schemas.microsoft.com/office/drawing/2014/main" id="{41FF7A47-E0F1-175B-184A-4FF6855838C3}"/>
              </a:ext>
            </a:extLst>
          </p:cNvPr>
          <p:cNvCxnSpPr>
            <a:cxnSpLocks/>
            <a:stCxn id="14" idx="7"/>
            <a:endCxn id="17" idx="1"/>
          </p:cNvCxnSpPr>
          <p:nvPr/>
        </p:nvCxnSpPr>
        <p:spPr>
          <a:xfrm rot="5400000" flipH="1" flipV="1">
            <a:off x="5837166" y="1340786"/>
            <a:ext cx="519" cy="2629802"/>
          </a:xfrm>
          <a:prstGeom prst="bentConnector3">
            <a:avLst>
              <a:gd name="adj1" fmla="val 42271028"/>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1" name="Straight Connector 295">
            <a:extLst>
              <a:ext uri="{FF2B5EF4-FFF2-40B4-BE49-F238E27FC236}">
                <a16:creationId xmlns:a16="http://schemas.microsoft.com/office/drawing/2014/main" id="{A3382774-63C4-B080-8E02-E3EB16CD13AA}"/>
              </a:ext>
            </a:extLst>
          </p:cNvPr>
          <p:cNvCxnSpPr>
            <a:cxnSpLocks/>
            <a:stCxn id="17" idx="5"/>
            <a:endCxn id="35" idx="6"/>
          </p:cNvCxnSpPr>
          <p:nvPr/>
        </p:nvCxnSpPr>
        <p:spPr>
          <a:xfrm rot="5400000">
            <a:off x="5328599" y="2793685"/>
            <a:ext cx="2599889" cy="2652470"/>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2" name="Straight Connector 298">
            <a:extLst>
              <a:ext uri="{FF2B5EF4-FFF2-40B4-BE49-F238E27FC236}">
                <a16:creationId xmlns:a16="http://schemas.microsoft.com/office/drawing/2014/main" id="{3579B189-9B87-89B9-43ED-C23D1D9728B7}"/>
              </a:ext>
            </a:extLst>
          </p:cNvPr>
          <p:cNvCxnSpPr>
            <a:cxnSpLocks/>
            <a:stCxn id="14" idx="3"/>
            <a:endCxn id="35" idx="2"/>
          </p:cNvCxnSpPr>
          <p:nvPr/>
        </p:nvCxnSpPr>
        <p:spPr>
          <a:xfrm rot="16200000" flipH="1">
            <a:off x="2644087" y="3896482"/>
            <a:ext cx="2599370" cy="447393"/>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3" name="Straight Connector 68">
            <a:extLst>
              <a:ext uri="{FF2B5EF4-FFF2-40B4-BE49-F238E27FC236}">
                <a16:creationId xmlns:a16="http://schemas.microsoft.com/office/drawing/2014/main" id="{131FD023-4566-00BD-A310-4B2EFB40D9C2}"/>
              </a:ext>
            </a:extLst>
          </p:cNvPr>
          <p:cNvCxnSpPr>
            <a:cxnSpLocks/>
            <a:stCxn id="35" idx="4"/>
            <a:endCxn id="18" idx="0"/>
          </p:cNvCxnSpPr>
          <p:nvPr/>
        </p:nvCxnSpPr>
        <p:spPr>
          <a:xfrm>
            <a:off x="4734888" y="5536218"/>
            <a:ext cx="0" cy="26360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4" name="Straight Connector 198">
            <a:extLst>
              <a:ext uri="{FF2B5EF4-FFF2-40B4-BE49-F238E27FC236}">
                <a16:creationId xmlns:a16="http://schemas.microsoft.com/office/drawing/2014/main" id="{7207ECB2-1233-B38E-6556-98D5721D4435}"/>
              </a:ext>
            </a:extLst>
          </p:cNvPr>
          <p:cNvCxnSpPr>
            <a:cxnSpLocks/>
            <a:stCxn id="13" idx="0"/>
            <a:endCxn id="12" idx="4"/>
          </p:cNvCxnSpPr>
          <p:nvPr/>
        </p:nvCxnSpPr>
        <p:spPr>
          <a:xfrm flipV="1">
            <a:off x="6684783" y="3975582"/>
            <a:ext cx="6945" cy="430034"/>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6" name="Oval 45">
            <a:extLst>
              <a:ext uri="{FF2B5EF4-FFF2-40B4-BE49-F238E27FC236}">
                <a16:creationId xmlns:a16="http://schemas.microsoft.com/office/drawing/2014/main" id="{40FB84AF-B58E-0443-1611-1187D50FB1E2}"/>
              </a:ext>
            </a:extLst>
          </p:cNvPr>
          <p:cNvSpPr/>
          <p:nvPr/>
        </p:nvSpPr>
        <p:spPr>
          <a:xfrm>
            <a:off x="6102031" y="4917162"/>
            <a:ext cx="1134840"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Attestation</a:t>
            </a:r>
          </a:p>
        </p:txBody>
      </p:sp>
      <p:cxnSp>
        <p:nvCxnSpPr>
          <p:cNvPr id="47" name="Straight Connector 68">
            <a:extLst>
              <a:ext uri="{FF2B5EF4-FFF2-40B4-BE49-F238E27FC236}">
                <a16:creationId xmlns:a16="http://schemas.microsoft.com/office/drawing/2014/main" id="{4788EF33-01D3-08A3-6524-B6FACBBA2C41}"/>
              </a:ext>
            </a:extLst>
          </p:cNvPr>
          <p:cNvCxnSpPr>
            <a:cxnSpLocks/>
            <a:stCxn id="46" idx="0"/>
            <a:endCxn id="13" idx="4"/>
          </p:cNvCxnSpPr>
          <p:nvPr/>
        </p:nvCxnSpPr>
        <p:spPr>
          <a:xfrm flipV="1">
            <a:off x="6669450" y="4638325"/>
            <a:ext cx="15332" cy="27883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8" name="Straight Connector 207">
            <a:extLst>
              <a:ext uri="{FF2B5EF4-FFF2-40B4-BE49-F238E27FC236}">
                <a16:creationId xmlns:a16="http://schemas.microsoft.com/office/drawing/2014/main" id="{272353D6-CBE3-F965-0102-8C05CCFDF885}"/>
              </a:ext>
            </a:extLst>
          </p:cNvPr>
          <p:cNvCxnSpPr>
            <a:cxnSpLocks/>
            <a:stCxn id="49" idx="2"/>
            <a:endCxn id="14" idx="2"/>
          </p:cNvCxnSpPr>
          <p:nvPr/>
        </p:nvCxnSpPr>
        <p:spPr>
          <a:xfrm rot="10800000" flipV="1">
            <a:off x="3553882" y="1679009"/>
            <a:ext cx="5982" cy="1059211"/>
          </a:xfrm>
          <a:prstGeom prst="bentConnector3">
            <a:avLst>
              <a:gd name="adj1" fmla="val 5500425"/>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9" name="Oval 48">
            <a:extLst>
              <a:ext uri="{FF2B5EF4-FFF2-40B4-BE49-F238E27FC236}">
                <a16:creationId xmlns:a16="http://schemas.microsoft.com/office/drawing/2014/main" id="{E0B4B54B-FDA1-630B-1A0A-088F3B051C60}"/>
              </a:ext>
            </a:extLst>
          </p:cNvPr>
          <p:cNvSpPr/>
          <p:nvPr/>
        </p:nvSpPr>
        <p:spPr>
          <a:xfrm>
            <a:off x="3559863" y="1562656"/>
            <a:ext cx="1134840"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Process</a:t>
            </a:r>
          </a:p>
        </p:txBody>
      </p:sp>
      <p:cxnSp>
        <p:nvCxnSpPr>
          <p:cNvPr id="50" name="Straight Connector 49">
            <a:extLst>
              <a:ext uri="{FF2B5EF4-FFF2-40B4-BE49-F238E27FC236}">
                <a16:creationId xmlns:a16="http://schemas.microsoft.com/office/drawing/2014/main" id="{1DB865D1-327A-DA63-CCA3-A93C6D40EA9C}"/>
              </a:ext>
            </a:extLst>
          </p:cNvPr>
          <p:cNvCxnSpPr>
            <a:cxnSpLocks/>
            <a:stCxn id="49" idx="4"/>
            <a:endCxn id="14" idx="0"/>
          </p:cNvCxnSpPr>
          <p:nvPr/>
        </p:nvCxnSpPr>
        <p:spPr>
          <a:xfrm flipH="1">
            <a:off x="4121301" y="1795363"/>
            <a:ext cx="5982" cy="826502"/>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1" name="Oval 50">
            <a:extLst>
              <a:ext uri="{FF2B5EF4-FFF2-40B4-BE49-F238E27FC236}">
                <a16:creationId xmlns:a16="http://schemas.microsoft.com/office/drawing/2014/main" id="{53719F59-A486-5661-B929-F7B5A071506D}"/>
              </a:ext>
            </a:extLst>
          </p:cNvPr>
          <p:cNvSpPr/>
          <p:nvPr/>
        </p:nvSpPr>
        <p:spPr>
          <a:xfrm>
            <a:off x="6986133" y="1998939"/>
            <a:ext cx="1134840"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Location</a:t>
            </a:r>
          </a:p>
        </p:txBody>
      </p:sp>
      <p:cxnSp>
        <p:nvCxnSpPr>
          <p:cNvPr id="52" name="Straight Connector 51">
            <a:extLst>
              <a:ext uri="{FF2B5EF4-FFF2-40B4-BE49-F238E27FC236}">
                <a16:creationId xmlns:a16="http://schemas.microsoft.com/office/drawing/2014/main" id="{3A832ED1-1787-33AF-208E-F02E17393A4D}"/>
              </a:ext>
            </a:extLst>
          </p:cNvPr>
          <p:cNvCxnSpPr>
            <a:cxnSpLocks/>
            <a:stCxn id="17" idx="0"/>
            <a:endCxn id="51" idx="4"/>
          </p:cNvCxnSpPr>
          <p:nvPr/>
        </p:nvCxnSpPr>
        <p:spPr>
          <a:xfrm flipV="1">
            <a:off x="7553551" y="2231648"/>
            <a:ext cx="0" cy="389701"/>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16B4C8F5-9A99-7DA5-671D-FEDE590D6F95}"/>
              </a:ext>
            </a:extLst>
          </p:cNvPr>
          <p:cNvSpPr txBox="1"/>
          <p:nvPr/>
        </p:nvSpPr>
        <p:spPr>
          <a:xfrm>
            <a:off x="5172056" y="2174655"/>
            <a:ext cx="829266" cy="276999"/>
          </a:xfrm>
          <a:prstGeom prst="rect">
            <a:avLst/>
          </a:prstGeom>
          <a:noFill/>
        </p:spPr>
        <p:txBody>
          <a:bodyPr wrap="none" rtlCol="0" anchor="ctr">
            <a:spAutoFit/>
          </a:bodyPr>
          <a:lstStyle/>
          <a:p>
            <a:r>
              <a:rPr lang="en-AU" sz="1200" dirty="0"/>
              <a:t>is made at</a:t>
            </a:r>
          </a:p>
        </p:txBody>
      </p:sp>
      <p:sp>
        <p:nvSpPr>
          <p:cNvPr id="55" name="TextBox 54">
            <a:extLst>
              <a:ext uri="{FF2B5EF4-FFF2-40B4-BE49-F238E27FC236}">
                <a16:creationId xmlns:a16="http://schemas.microsoft.com/office/drawing/2014/main" id="{0EBD4F31-55D5-A1DE-A92B-3AC48A11648D}"/>
              </a:ext>
            </a:extLst>
          </p:cNvPr>
          <p:cNvSpPr txBox="1"/>
          <p:nvPr/>
        </p:nvSpPr>
        <p:spPr>
          <a:xfrm>
            <a:off x="4631865" y="2460706"/>
            <a:ext cx="622286" cy="276999"/>
          </a:xfrm>
          <a:prstGeom prst="rect">
            <a:avLst/>
          </a:prstGeom>
          <a:noFill/>
        </p:spPr>
        <p:txBody>
          <a:bodyPr wrap="none" rtlCol="0" anchor="ctr">
            <a:spAutoFit/>
          </a:bodyPr>
          <a:lstStyle/>
          <a:p>
            <a:r>
              <a:rPr lang="en-AU" sz="1200" dirty="0"/>
              <a:t>asserts</a:t>
            </a:r>
          </a:p>
        </p:txBody>
      </p:sp>
      <p:sp>
        <p:nvSpPr>
          <p:cNvPr id="56" name="TextBox 55">
            <a:extLst>
              <a:ext uri="{FF2B5EF4-FFF2-40B4-BE49-F238E27FC236}">
                <a16:creationId xmlns:a16="http://schemas.microsoft.com/office/drawing/2014/main" id="{912CDEE4-878A-0BE8-EC05-99E81E6C65BF}"/>
              </a:ext>
            </a:extLst>
          </p:cNvPr>
          <p:cNvSpPr txBox="1"/>
          <p:nvPr/>
        </p:nvSpPr>
        <p:spPr>
          <a:xfrm>
            <a:off x="6355921" y="2422659"/>
            <a:ext cx="622286" cy="276999"/>
          </a:xfrm>
          <a:prstGeom prst="rect">
            <a:avLst/>
          </a:prstGeom>
          <a:noFill/>
        </p:spPr>
        <p:txBody>
          <a:bodyPr wrap="none" rtlCol="0" anchor="ctr">
            <a:spAutoFit/>
          </a:bodyPr>
          <a:lstStyle/>
          <a:p>
            <a:r>
              <a:rPr lang="en-AU" sz="1200" dirty="0"/>
              <a:t>asserts</a:t>
            </a:r>
          </a:p>
        </p:txBody>
      </p:sp>
      <p:sp>
        <p:nvSpPr>
          <p:cNvPr id="57" name="TextBox 56">
            <a:extLst>
              <a:ext uri="{FF2B5EF4-FFF2-40B4-BE49-F238E27FC236}">
                <a16:creationId xmlns:a16="http://schemas.microsoft.com/office/drawing/2014/main" id="{06E9DEAA-4711-7B23-C760-E8311C7318C5}"/>
              </a:ext>
            </a:extLst>
          </p:cNvPr>
          <p:cNvSpPr txBox="1"/>
          <p:nvPr/>
        </p:nvSpPr>
        <p:spPr>
          <a:xfrm>
            <a:off x="4105873" y="1714238"/>
            <a:ext cx="761814" cy="461665"/>
          </a:xfrm>
          <a:prstGeom prst="rect">
            <a:avLst/>
          </a:prstGeom>
          <a:noFill/>
        </p:spPr>
        <p:txBody>
          <a:bodyPr wrap="square" rtlCol="0" anchor="ctr">
            <a:spAutoFit/>
          </a:bodyPr>
          <a:lstStyle/>
          <a:p>
            <a:r>
              <a:rPr lang="en-AU" sz="1200" dirty="0"/>
              <a:t>creates output</a:t>
            </a:r>
          </a:p>
        </p:txBody>
      </p:sp>
      <p:sp>
        <p:nvSpPr>
          <p:cNvPr id="59" name="TextBox 58">
            <a:extLst>
              <a:ext uri="{FF2B5EF4-FFF2-40B4-BE49-F238E27FC236}">
                <a16:creationId xmlns:a16="http://schemas.microsoft.com/office/drawing/2014/main" id="{2E50A0CF-4129-8655-E6AF-0C40D72D836B}"/>
              </a:ext>
            </a:extLst>
          </p:cNvPr>
          <p:cNvSpPr txBox="1"/>
          <p:nvPr/>
        </p:nvSpPr>
        <p:spPr>
          <a:xfrm>
            <a:off x="3216154" y="1650519"/>
            <a:ext cx="745252" cy="461665"/>
          </a:xfrm>
          <a:prstGeom prst="rect">
            <a:avLst/>
          </a:prstGeom>
          <a:noFill/>
        </p:spPr>
        <p:txBody>
          <a:bodyPr wrap="square" rtlCol="0" anchor="ctr">
            <a:spAutoFit/>
          </a:bodyPr>
          <a:lstStyle/>
          <a:p>
            <a:r>
              <a:rPr lang="en-AU" sz="1200" dirty="0"/>
              <a:t>uses input</a:t>
            </a:r>
          </a:p>
        </p:txBody>
      </p:sp>
      <p:sp>
        <p:nvSpPr>
          <p:cNvPr id="60" name="TextBox 59">
            <a:extLst>
              <a:ext uri="{FF2B5EF4-FFF2-40B4-BE49-F238E27FC236}">
                <a16:creationId xmlns:a16="http://schemas.microsoft.com/office/drawing/2014/main" id="{7979EA19-780F-1B9C-6AD3-E1918D250713}"/>
              </a:ext>
            </a:extLst>
          </p:cNvPr>
          <p:cNvSpPr txBox="1"/>
          <p:nvPr/>
        </p:nvSpPr>
        <p:spPr>
          <a:xfrm>
            <a:off x="7518679" y="2261481"/>
            <a:ext cx="973279" cy="276999"/>
          </a:xfrm>
          <a:prstGeom prst="rect">
            <a:avLst/>
          </a:prstGeom>
          <a:noFill/>
        </p:spPr>
        <p:txBody>
          <a:bodyPr wrap="square" rtlCol="0" anchor="ctr">
            <a:spAutoFit/>
          </a:bodyPr>
          <a:lstStyle/>
          <a:p>
            <a:r>
              <a:rPr lang="en-AU" sz="1200" dirty="0"/>
              <a:t>located at</a:t>
            </a:r>
          </a:p>
        </p:txBody>
      </p:sp>
      <p:sp>
        <p:nvSpPr>
          <p:cNvPr id="61" name="TextBox 60">
            <a:extLst>
              <a:ext uri="{FF2B5EF4-FFF2-40B4-BE49-F238E27FC236}">
                <a16:creationId xmlns:a16="http://schemas.microsoft.com/office/drawing/2014/main" id="{EC49A001-44AB-79E3-AC8D-C3A59EEF0034}"/>
              </a:ext>
            </a:extLst>
          </p:cNvPr>
          <p:cNvSpPr txBox="1"/>
          <p:nvPr/>
        </p:nvSpPr>
        <p:spPr>
          <a:xfrm>
            <a:off x="3799909" y="2338023"/>
            <a:ext cx="300082" cy="369332"/>
          </a:xfrm>
          <a:prstGeom prst="rect">
            <a:avLst/>
          </a:prstGeom>
          <a:noFill/>
        </p:spPr>
        <p:txBody>
          <a:bodyPr wrap="none" rtlCol="0" anchor="ctr">
            <a:spAutoFit/>
          </a:bodyPr>
          <a:lstStyle/>
          <a:p>
            <a:r>
              <a:rPr lang="en-AU" b="1" dirty="0"/>
              <a:t>*</a:t>
            </a:r>
          </a:p>
        </p:txBody>
      </p:sp>
      <p:sp>
        <p:nvSpPr>
          <p:cNvPr id="62" name="TextBox 61">
            <a:extLst>
              <a:ext uri="{FF2B5EF4-FFF2-40B4-BE49-F238E27FC236}">
                <a16:creationId xmlns:a16="http://schemas.microsoft.com/office/drawing/2014/main" id="{357305EC-5F3E-469B-B13B-84AEDA262E64}"/>
              </a:ext>
            </a:extLst>
          </p:cNvPr>
          <p:cNvSpPr txBox="1"/>
          <p:nvPr/>
        </p:nvSpPr>
        <p:spPr>
          <a:xfrm>
            <a:off x="3293635" y="2466705"/>
            <a:ext cx="300082" cy="369332"/>
          </a:xfrm>
          <a:prstGeom prst="rect">
            <a:avLst/>
          </a:prstGeom>
          <a:noFill/>
        </p:spPr>
        <p:txBody>
          <a:bodyPr wrap="none" rtlCol="0" anchor="ctr">
            <a:spAutoFit/>
          </a:bodyPr>
          <a:lstStyle/>
          <a:p>
            <a:r>
              <a:rPr lang="en-AU" dirty="0"/>
              <a:t>*</a:t>
            </a:r>
          </a:p>
        </p:txBody>
      </p:sp>
      <p:sp>
        <p:nvSpPr>
          <p:cNvPr id="63" name="TextBox 62">
            <a:extLst>
              <a:ext uri="{FF2B5EF4-FFF2-40B4-BE49-F238E27FC236}">
                <a16:creationId xmlns:a16="http://schemas.microsoft.com/office/drawing/2014/main" id="{1A7A5476-7755-87FB-E868-0C7338747864}"/>
              </a:ext>
            </a:extLst>
          </p:cNvPr>
          <p:cNvSpPr txBox="1"/>
          <p:nvPr/>
        </p:nvSpPr>
        <p:spPr>
          <a:xfrm>
            <a:off x="5941186" y="3556171"/>
            <a:ext cx="380480" cy="369332"/>
          </a:xfrm>
          <a:prstGeom prst="rect">
            <a:avLst/>
          </a:prstGeom>
          <a:noFill/>
        </p:spPr>
        <p:txBody>
          <a:bodyPr wrap="square" rtlCol="0" anchor="ctr">
            <a:spAutoFit/>
          </a:bodyPr>
          <a:lstStyle/>
          <a:p>
            <a:r>
              <a:rPr lang="en-AU" dirty="0"/>
              <a:t>*</a:t>
            </a:r>
          </a:p>
        </p:txBody>
      </p:sp>
      <p:sp>
        <p:nvSpPr>
          <p:cNvPr id="4096" name="TextBox 4095">
            <a:extLst>
              <a:ext uri="{FF2B5EF4-FFF2-40B4-BE49-F238E27FC236}">
                <a16:creationId xmlns:a16="http://schemas.microsoft.com/office/drawing/2014/main" id="{C0CDA513-237B-8E09-2B0F-08E60FE7CC0F}"/>
              </a:ext>
            </a:extLst>
          </p:cNvPr>
          <p:cNvSpPr txBox="1"/>
          <p:nvPr/>
        </p:nvSpPr>
        <p:spPr>
          <a:xfrm>
            <a:off x="6354600" y="2686445"/>
            <a:ext cx="300082" cy="369332"/>
          </a:xfrm>
          <a:prstGeom prst="rect">
            <a:avLst/>
          </a:prstGeom>
          <a:noFill/>
        </p:spPr>
        <p:txBody>
          <a:bodyPr wrap="none" rtlCol="0" anchor="ctr">
            <a:spAutoFit/>
          </a:bodyPr>
          <a:lstStyle/>
          <a:p>
            <a:r>
              <a:rPr lang="en-AU" dirty="0"/>
              <a:t>*</a:t>
            </a:r>
          </a:p>
        </p:txBody>
      </p:sp>
      <p:sp>
        <p:nvSpPr>
          <p:cNvPr id="4097" name="TextBox 4096">
            <a:extLst>
              <a:ext uri="{FF2B5EF4-FFF2-40B4-BE49-F238E27FC236}">
                <a16:creationId xmlns:a16="http://schemas.microsoft.com/office/drawing/2014/main" id="{38BD7E42-6880-A850-62B0-1893859D6B8E}"/>
              </a:ext>
            </a:extLst>
          </p:cNvPr>
          <p:cNvSpPr txBox="1"/>
          <p:nvPr/>
        </p:nvSpPr>
        <p:spPr>
          <a:xfrm>
            <a:off x="5096886" y="2678181"/>
            <a:ext cx="300082" cy="369332"/>
          </a:xfrm>
          <a:prstGeom prst="rect">
            <a:avLst/>
          </a:prstGeom>
          <a:noFill/>
        </p:spPr>
        <p:txBody>
          <a:bodyPr wrap="none" rtlCol="0" anchor="t">
            <a:spAutoFit/>
          </a:bodyPr>
          <a:lstStyle/>
          <a:p>
            <a:r>
              <a:rPr lang="en-AU" dirty="0"/>
              <a:t>*</a:t>
            </a:r>
          </a:p>
        </p:txBody>
      </p:sp>
      <p:sp>
        <p:nvSpPr>
          <p:cNvPr id="4099" name="TextBox 4098">
            <a:extLst>
              <a:ext uri="{FF2B5EF4-FFF2-40B4-BE49-F238E27FC236}">
                <a16:creationId xmlns:a16="http://schemas.microsoft.com/office/drawing/2014/main" id="{3D73A601-ACFC-9FF4-948E-71E359572535}"/>
              </a:ext>
            </a:extLst>
          </p:cNvPr>
          <p:cNvSpPr txBox="1"/>
          <p:nvPr/>
        </p:nvSpPr>
        <p:spPr>
          <a:xfrm>
            <a:off x="6673777" y="4538134"/>
            <a:ext cx="300082" cy="369332"/>
          </a:xfrm>
          <a:prstGeom prst="rect">
            <a:avLst/>
          </a:prstGeom>
          <a:noFill/>
        </p:spPr>
        <p:txBody>
          <a:bodyPr wrap="none" rtlCol="0" anchor="ctr">
            <a:spAutoFit/>
          </a:bodyPr>
          <a:lstStyle/>
          <a:p>
            <a:r>
              <a:rPr lang="en-AU" dirty="0"/>
              <a:t>*</a:t>
            </a:r>
          </a:p>
        </p:txBody>
      </p:sp>
      <p:sp>
        <p:nvSpPr>
          <p:cNvPr id="4100" name="TextBox 4099">
            <a:extLst>
              <a:ext uri="{FF2B5EF4-FFF2-40B4-BE49-F238E27FC236}">
                <a16:creationId xmlns:a16="http://schemas.microsoft.com/office/drawing/2014/main" id="{2362F3B5-EE33-C8D6-5EB9-E01F1FDAFBB7}"/>
              </a:ext>
            </a:extLst>
          </p:cNvPr>
          <p:cNvSpPr txBox="1"/>
          <p:nvPr/>
        </p:nvSpPr>
        <p:spPr>
          <a:xfrm>
            <a:off x="4817142" y="5094146"/>
            <a:ext cx="263214" cy="276999"/>
          </a:xfrm>
          <a:prstGeom prst="rect">
            <a:avLst/>
          </a:prstGeom>
          <a:noFill/>
        </p:spPr>
        <p:txBody>
          <a:bodyPr wrap="none" rtlCol="0" anchor="ctr">
            <a:spAutoFit/>
          </a:bodyPr>
          <a:lstStyle/>
          <a:p>
            <a:r>
              <a:rPr lang="en-AU" sz="1200" dirty="0"/>
              <a:t>1</a:t>
            </a:r>
          </a:p>
        </p:txBody>
      </p:sp>
      <p:sp>
        <p:nvSpPr>
          <p:cNvPr id="4101" name="TextBox 4100">
            <a:extLst>
              <a:ext uri="{FF2B5EF4-FFF2-40B4-BE49-F238E27FC236}">
                <a16:creationId xmlns:a16="http://schemas.microsoft.com/office/drawing/2014/main" id="{1ACF663D-DFFA-D79D-72FB-144B1AAE775A}"/>
              </a:ext>
            </a:extLst>
          </p:cNvPr>
          <p:cNvSpPr txBox="1"/>
          <p:nvPr/>
        </p:nvSpPr>
        <p:spPr>
          <a:xfrm>
            <a:off x="4702360" y="5567802"/>
            <a:ext cx="263214" cy="276999"/>
          </a:xfrm>
          <a:prstGeom prst="rect">
            <a:avLst/>
          </a:prstGeom>
          <a:noFill/>
        </p:spPr>
        <p:txBody>
          <a:bodyPr wrap="none" rtlCol="0" anchor="ctr">
            <a:spAutoFit/>
          </a:bodyPr>
          <a:lstStyle/>
          <a:p>
            <a:r>
              <a:rPr lang="en-AU" sz="1200" dirty="0"/>
              <a:t>*</a:t>
            </a:r>
          </a:p>
        </p:txBody>
      </p:sp>
      <p:sp>
        <p:nvSpPr>
          <p:cNvPr id="4102" name="TextBox 4101">
            <a:extLst>
              <a:ext uri="{FF2B5EF4-FFF2-40B4-BE49-F238E27FC236}">
                <a16:creationId xmlns:a16="http://schemas.microsoft.com/office/drawing/2014/main" id="{DD87D18E-9AF6-9F7D-5583-588E12574C7B}"/>
              </a:ext>
            </a:extLst>
          </p:cNvPr>
          <p:cNvSpPr txBox="1"/>
          <p:nvPr/>
        </p:nvSpPr>
        <p:spPr>
          <a:xfrm>
            <a:off x="3822089" y="5187547"/>
            <a:ext cx="263214" cy="276999"/>
          </a:xfrm>
          <a:prstGeom prst="rect">
            <a:avLst/>
          </a:prstGeom>
          <a:noFill/>
        </p:spPr>
        <p:txBody>
          <a:bodyPr wrap="none" rtlCol="0" anchor="ctr">
            <a:spAutoFit/>
          </a:bodyPr>
          <a:lstStyle/>
          <a:p>
            <a:r>
              <a:rPr lang="en-AU" sz="1200" dirty="0"/>
              <a:t>1</a:t>
            </a:r>
          </a:p>
        </p:txBody>
      </p:sp>
      <p:sp>
        <p:nvSpPr>
          <p:cNvPr id="4103" name="TextBox 4102">
            <a:extLst>
              <a:ext uri="{FF2B5EF4-FFF2-40B4-BE49-F238E27FC236}">
                <a16:creationId xmlns:a16="http://schemas.microsoft.com/office/drawing/2014/main" id="{4E67889F-A06B-1ECB-E1E0-BBBB4EF58149}"/>
              </a:ext>
            </a:extLst>
          </p:cNvPr>
          <p:cNvSpPr txBox="1"/>
          <p:nvPr/>
        </p:nvSpPr>
        <p:spPr>
          <a:xfrm>
            <a:off x="5320388" y="5178728"/>
            <a:ext cx="263214" cy="276999"/>
          </a:xfrm>
          <a:prstGeom prst="rect">
            <a:avLst/>
          </a:prstGeom>
          <a:noFill/>
        </p:spPr>
        <p:txBody>
          <a:bodyPr wrap="none" rtlCol="0" anchor="ctr">
            <a:spAutoFit/>
          </a:bodyPr>
          <a:lstStyle/>
          <a:p>
            <a:r>
              <a:rPr lang="en-AU" sz="1200" dirty="0"/>
              <a:t>1</a:t>
            </a:r>
          </a:p>
        </p:txBody>
      </p:sp>
      <p:sp>
        <p:nvSpPr>
          <p:cNvPr id="4104" name="TextBox 4103">
            <a:extLst>
              <a:ext uri="{FF2B5EF4-FFF2-40B4-BE49-F238E27FC236}">
                <a16:creationId xmlns:a16="http://schemas.microsoft.com/office/drawing/2014/main" id="{B15A3326-C0D4-4503-537F-8CBC9A4FDF44}"/>
              </a:ext>
            </a:extLst>
          </p:cNvPr>
          <p:cNvSpPr txBox="1"/>
          <p:nvPr/>
        </p:nvSpPr>
        <p:spPr>
          <a:xfrm>
            <a:off x="6656147" y="3899249"/>
            <a:ext cx="298480" cy="276999"/>
          </a:xfrm>
          <a:prstGeom prst="rect">
            <a:avLst/>
          </a:prstGeom>
          <a:noFill/>
        </p:spPr>
        <p:txBody>
          <a:bodyPr wrap="none" rtlCol="0" anchor="ctr">
            <a:spAutoFit/>
          </a:bodyPr>
          <a:lstStyle/>
          <a:p>
            <a:r>
              <a:rPr lang="en-AU" sz="1200"/>
              <a:t>1 </a:t>
            </a:r>
            <a:endParaRPr lang="en-AU" sz="1200" dirty="0"/>
          </a:p>
        </p:txBody>
      </p:sp>
      <p:sp>
        <p:nvSpPr>
          <p:cNvPr id="4105" name="TextBox 4104">
            <a:extLst>
              <a:ext uri="{FF2B5EF4-FFF2-40B4-BE49-F238E27FC236}">
                <a16:creationId xmlns:a16="http://schemas.microsoft.com/office/drawing/2014/main" id="{B3D0BA66-47E7-C83D-EFE8-522802FA9DB0}"/>
              </a:ext>
            </a:extLst>
          </p:cNvPr>
          <p:cNvSpPr txBox="1"/>
          <p:nvPr/>
        </p:nvSpPr>
        <p:spPr>
          <a:xfrm>
            <a:off x="6656147" y="3524720"/>
            <a:ext cx="263214" cy="276999"/>
          </a:xfrm>
          <a:prstGeom prst="rect">
            <a:avLst/>
          </a:prstGeom>
          <a:noFill/>
        </p:spPr>
        <p:txBody>
          <a:bodyPr wrap="none" rtlCol="0" anchor="ctr">
            <a:spAutoFit/>
          </a:bodyPr>
          <a:lstStyle/>
          <a:p>
            <a:r>
              <a:rPr lang="en-AU" sz="1200" b="1" dirty="0"/>
              <a:t>1</a:t>
            </a:r>
          </a:p>
        </p:txBody>
      </p:sp>
      <p:sp>
        <p:nvSpPr>
          <p:cNvPr id="4106" name="TextBox 4105">
            <a:extLst>
              <a:ext uri="{FF2B5EF4-FFF2-40B4-BE49-F238E27FC236}">
                <a16:creationId xmlns:a16="http://schemas.microsoft.com/office/drawing/2014/main" id="{4E69D6A6-78EF-C619-D0AC-7857841287A0}"/>
              </a:ext>
            </a:extLst>
          </p:cNvPr>
          <p:cNvSpPr txBox="1"/>
          <p:nvPr/>
        </p:nvSpPr>
        <p:spPr>
          <a:xfrm>
            <a:off x="3807105" y="2777975"/>
            <a:ext cx="300082" cy="369332"/>
          </a:xfrm>
          <a:prstGeom prst="rect">
            <a:avLst/>
          </a:prstGeom>
          <a:noFill/>
        </p:spPr>
        <p:txBody>
          <a:bodyPr wrap="none" rtlCol="0" anchor="ctr">
            <a:spAutoFit/>
          </a:bodyPr>
          <a:lstStyle/>
          <a:p>
            <a:r>
              <a:rPr lang="en-AU" dirty="0"/>
              <a:t>*</a:t>
            </a:r>
          </a:p>
        </p:txBody>
      </p:sp>
      <p:sp>
        <p:nvSpPr>
          <p:cNvPr id="4107" name="TextBox 4106">
            <a:extLst>
              <a:ext uri="{FF2B5EF4-FFF2-40B4-BE49-F238E27FC236}">
                <a16:creationId xmlns:a16="http://schemas.microsoft.com/office/drawing/2014/main" id="{CD6AE572-429B-6512-B824-741737760F66}"/>
              </a:ext>
            </a:extLst>
          </p:cNvPr>
          <p:cNvSpPr txBox="1"/>
          <p:nvPr/>
        </p:nvSpPr>
        <p:spPr>
          <a:xfrm>
            <a:off x="7184927" y="2773515"/>
            <a:ext cx="300082" cy="369332"/>
          </a:xfrm>
          <a:prstGeom prst="rect">
            <a:avLst/>
          </a:prstGeom>
          <a:noFill/>
        </p:spPr>
        <p:txBody>
          <a:bodyPr wrap="none" rtlCol="0" anchor="ctr">
            <a:spAutoFit/>
          </a:bodyPr>
          <a:lstStyle/>
          <a:p>
            <a:r>
              <a:rPr lang="en-AU" dirty="0"/>
              <a:t>*</a:t>
            </a:r>
          </a:p>
        </p:txBody>
      </p:sp>
      <p:sp>
        <p:nvSpPr>
          <p:cNvPr id="4108" name="TextBox 4107">
            <a:extLst>
              <a:ext uri="{FF2B5EF4-FFF2-40B4-BE49-F238E27FC236}">
                <a16:creationId xmlns:a16="http://schemas.microsoft.com/office/drawing/2014/main" id="{AF884750-8D42-D5DA-350D-8B7AB54523D0}"/>
              </a:ext>
            </a:extLst>
          </p:cNvPr>
          <p:cNvSpPr txBox="1"/>
          <p:nvPr/>
        </p:nvSpPr>
        <p:spPr>
          <a:xfrm>
            <a:off x="7084268" y="2426802"/>
            <a:ext cx="263214" cy="276999"/>
          </a:xfrm>
          <a:prstGeom prst="rect">
            <a:avLst/>
          </a:prstGeom>
          <a:noFill/>
        </p:spPr>
        <p:txBody>
          <a:bodyPr wrap="none" rtlCol="0" anchor="ctr">
            <a:spAutoFit/>
          </a:bodyPr>
          <a:lstStyle/>
          <a:p>
            <a:r>
              <a:rPr lang="en-AU" sz="1200" dirty="0"/>
              <a:t>1</a:t>
            </a:r>
          </a:p>
        </p:txBody>
      </p:sp>
      <p:sp>
        <p:nvSpPr>
          <p:cNvPr id="4109" name="TextBox 4108">
            <a:extLst>
              <a:ext uri="{FF2B5EF4-FFF2-40B4-BE49-F238E27FC236}">
                <a16:creationId xmlns:a16="http://schemas.microsoft.com/office/drawing/2014/main" id="{F7B71E45-5A4E-FA51-2F73-66703403D5C7}"/>
              </a:ext>
            </a:extLst>
          </p:cNvPr>
          <p:cNvSpPr txBox="1"/>
          <p:nvPr/>
        </p:nvSpPr>
        <p:spPr>
          <a:xfrm>
            <a:off x="7236867" y="2158576"/>
            <a:ext cx="263214" cy="276999"/>
          </a:xfrm>
          <a:prstGeom prst="rect">
            <a:avLst/>
          </a:prstGeom>
          <a:noFill/>
        </p:spPr>
        <p:txBody>
          <a:bodyPr wrap="none" rtlCol="0" anchor="ctr">
            <a:spAutoFit/>
          </a:bodyPr>
          <a:lstStyle/>
          <a:p>
            <a:r>
              <a:rPr lang="en-AU" sz="1200" dirty="0"/>
              <a:t>1</a:t>
            </a:r>
          </a:p>
        </p:txBody>
      </p:sp>
      <p:sp>
        <p:nvSpPr>
          <p:cNvPr id="4110" name="TextBox 4109">
            <a:extLst>
              <a:ext uri="{FF2B5EF4-FFF2-40B4-BE49-F238E27FC236}">
                <a16:creationId xmlns:a16="http://schemas.microsoft.com/office/drawing/2014/main" id="{F163540B-3E8A-37F6-E5CF-696502378B99}"/>
              </a:ext>
            </a:extLst>
          </p:cNvPr>
          <p:cNvSpPr txBox="1"/>
          <p:nvPr/>
        </p:nvSpPr>
        <p:spPr>
          <a:xfrm>
            <a:off x="5799386" y="3281513"/>
            <a:ext cx="640175" cy="276999"/>
          </a:xfrm>
          <a:prstGeom prst="rect">
            <a:avLst/>
          </a:prstGeom>
          <a:noFill/>
        </p:spPr>
        <p:txBody>
          <a:bodyPr wrap="none" rtlCol="0" anchor="ctr">
            <a:spAutoFit/>
          </a:bodyPr>
          <a:lstStyle/>
          <a:p>
            <a:r>
              <a:rPr lang="en-AU" sz="1200" dirty="0"/>
              <a:t>defines</a:t>
            </a:r>
          </a:p>
        </p:txBody>
      </p:sp>
      <p:sp>
        <p:nvSpPr>
          <p:cNvPr id="4111" name="TextBox 4110">
            <a:extLst>
              <a:ext uri="{FF2B5EF4-FFF2-40B4-BE49-F238E27FC236}">
                <a16:creationId xmlns:a16="http://schemas.microsoft.com/office/drawing/2014/main" id="{05A32435-469F-30BA-CC87-F5F4CB05EFC9}"/>
              </a:ext>
            </a:extLst>
          </p:cNvPr>
          <p:cNvSpPr txBox="1"/>
          <p:nvPr/>
        </p:nvSpPr>
        <p:spPr>
          <a:xfrm>
            <a:off x="5927955" y="2973983"/>
            <a:ext cx="573362" cy="276999"/>
          </a:xfrm>
          <a:prstGeom prst="rect">
            <a:avLst/>
          </a:prstGeom>
          <a:noFill/>
        </p:spPr>
        <p:txBody>
          <a:bodyPr wrap="none" rtlCol="0" anchor="ctr">
            <a:spAutoFit/>
          </a:bodyPr>
          <a:lstStyle/>
          <a:p>
            <a:r>
              <a:rPr lang="en-AU" sz="1200" dirty="0"/>
              <a:t>meets</a:t>
            </a:r>
          </a:p>
        </p:txBody>
      </p:sp>
      <p:sp>
        <p:nvSpPr>
          <p:cNvPr id="4112" name="TextBox 4111">
            <a:extLst>
              <a:ext uri="{FF2B5EF4-FFF2-40B4-BE49-F238E27FC236}">
                <a16:creationId xmlns:a16="http://schemas.microsoft.com/office/drawing/2014/main" id="{C9A1EB52-7A5E-17D3-8CB1-3785845ED580}"/>
              </a:ext>
            </a:extLst>
          </p:cNvPr>
          <p:cNvSpPr txBox="1"/>
          <p:nvPr/>
        </p:nvSpPr>
        <p:spPr>
          <a:xfrm>
            <a:off x="6649730" y="4094456"/>
            <a:ext cx="956544" cy="276999"/>
          </a:xfrm>
          <a:prstGeom prst="rect">
            <a:avLst/>
          </a:prstGeom>
          <a:noFill/>
        </p:spPr>
        <p:txBody>
          <a:bodyPr wrap="none" rtlCol="0" anchor="ctr">
            <a:spAutoFit/>
          </a:bodyPr>
          <a:lstStyle/>
          <a:p>
            <a:r>
              <a:rPr lang="en-AU" sz="1200" dirty="0"/>
              <a:t>Conforms to</a:t>
            </a:r>
          </a:p>
        </p:txBody>
      </p:sp>
      <p:sp>
        <p:nvSpPr>
          <p:cNvPr id="4113" name="TextBox 4112">
            <a:extLst>
              <a:ext uri="{FF2B5EF4-FFF2-40B4-BE49-F238E27FC236}">
                <a16:creationId xmlns:a16="http://schemas.microsoft.com/office/drawing/2014/main" id="{04FB9652-3D6F-4F0E-FD75-B4003E26FE36}"/>
              </a:ext>
            </a:extLst>
          </p:cNvPr>
          <p:cNvSpPr txBox="1"/>
          <p:nvPr/>
        </p:nvSpPr>
        <p:spPr>
          <a:xfrm>
            <a:off x="6725745" y="4653398"/>
            <a:ext cx="699230" cy="276999"/>
          </a:xfrm>
          <a:prstGeom prst="rect">
            <a:avLst/>
          </a:prstGeom>
          <a:noFill/>
        </p:spPr>
        <p:txBody>
          <a:bodyPr wrap="none" rtlCol="0" anchor="ctr">
            <a:spAutoFit/>
          </a:bodyPr>
          <a:lstStyle/>
          <a:p>
            <a:r>
              <a:rPr lang="en-AU" sz="1200" dirty="0"/>
              <a:t>includes</a:t>
            </a:r>
          </a:p>
        </p:txBody>
      </p:sp>
      <p:sp>
        <p:nvSpPr>
          <p:cNvPr id="4114" name="TextBox 4113">
            <a:extLst>
              <a:ext uri="{FF2B5EF4-FFF2-40B4-BE49-F238E27FC236}">
                <a16:creationId xmlns:a16="http://schemas.microsoft.com/office/drawing/2014/main" id="{F22ED99E-0BD6-A60D-B446-C60BA14D03C8}"/>
              </a:ext>
            </a:extLst>
          </p:cNvPr>
          <p:cNvSpPr txBox="1"/>
          <p:nvPr/>
        </p:nvSpPr>
        <p:spPr>
          <a:xfrm>
            <a:off x="4108447" y="4267646"/>
            <a:ext cx="587020" cy="276999"/>
          </a:xfrm>
          <a:prstGeom prst="rect">
            <a:avLst/>
          </a:prstGeom>
          <a:noFill/>
        </p:spPr>
        <p:txBody>
          <a:bodyPr wrap="none" rtlCol="0" anchor="ctr">
            <a:spAutoFit/>
          </a:bodyPr>
          <a:lstStyle/>
          <a:p>
            <a:r>
              <a:rPr lang="en-AU" sz="1200" dirty="0"/>
              <a:t> about</a:t>
            </a:r>
          </a:p>
        </p:txBody>
      </p:sp>
      <p:sp>
        <p:nvSpPr>
          <p:cNvPr id="4115" name="TextBox 4114">
            <a:extLst>
              <a:ext uri="{FF2B5EF4-FFF2-40B4-BE49-F238E27FC236}">
                <a16:creationId xmlns:a16="http://schemas.microsoft.com/office/drawing/2014/main" id="{AD173BBF-B276-B6A4-59BD-109568028862}"/>
              </a:ext>
            </a:extLst>
          </p:cNvPr>
          <p:cNvSpPr txBox="1"/>
          <p:nvPr/>
        </p:nvSpPr>
        <p:spPr>
          <a:xfrm>
            <a:off x="7228890" y="3378732"/>
            <a:ext cx="860543" cy="276999"/>
          </a:xfrm>
          <a:prstGeom prst="rect">
            <a:avLst/>
          </a:prstGeom>
          <a:noFill/>
        </p:spPr>
        <p:txBody>
          <a:bodyPr wrap="square" rtlCol="0" anchor="ctr">
            <a:spAutoFit/>
          </a:bodyPr>
          <a:lstStyle/>
          <a:p>
            <a:r>
              <a:rPr lang="en-AU" sz="1200" dirty="0"/>
              <a:t> about</a:t>
            </a:r>
          </a:p>
        </p:txBody>
      </p:sp>
      <p:sp>
        <p:nvSpPr>
          <p:cNvPr id="4116" name="TextBox 4115">
            <a:extLst>
              <a:ext uri="{FF2B5EF4-FFF2-40B4-BE49-F238E27FC236}">
                <a16:creationId xmlns:a16="http://schemas.microsoft.com/office/drawing/2014/main" id="{A71D5009-2E25-A710-C185-D29B4C616388}"/>
              </a:ext>
            </a:extLst>
          </p:cNvPr>
          <p:cNvSpPr txBox="1"/>
          <p:nvPr/>
        </p:nvSpPr>
        <p:spPr>
          <a:xfrm>
            <a:off x="5550792" y="5354566"/>
            <a:ext cx="935897" cy="276999"/>
          </a:xfrm>
          <a:prstGeom prst="rect">
            <a:avLst/>
          </a:prstGeom>
          <a:noFill/>
        </p:spPr>
        <p:txBody>
          <a:bodyPr wrap="none" rtlCol="0" anchor="ctr">
            <a:spAutoFit/>
          </a:bodyPr>
          <a:lstStyle/>
          <a:p>
            <a:r>
              <a:rPr lang="en-AU" sz="1200" dirty="0"/>
              <a:t>operated by</a:t>
            </a:r>
          </a:p>
        </p:txBody>
      </p:sp>
      <p:sp>
        <p:nvSpPr>
          <p:cNvPr id="4117" name="TextBox 4116">
            <a:extLst>
              <a:ext uri="{FF2B5EF4-FFF2-40B4-BE49-F238E27FC236}">
                <a16:creationId xmlns:a16="http://schemas.microsoft.com/office/drawing/2014/main" id="{0949D428-A8E6-D489-FC44-ECD0821E0764}"/>
              </a:ext>
            </a:extLst>
          </p:cNvPr>
          <p:cNvSpPr txBox="1"/>
          <p:nvPr/>
        </p:nvSpPr>
        <p:spPr>
          <a:xfrm>
            <a:off x="2949817" y="3440140"/>
            <a:ext cx="806045" cy="276999"/>
          </a:xfrm>
          <a:prstGeom prst="rect">
            <a:avLst/>
          </a:prstGeom>
          <a:noFill/>
        </p:spPr>
        <p:txBody>
          <a:bodyPr wrap="square" rtlCol="0" anchor="ctr">
            <a:spAutoFit/>
          </a:bodyPr>
          <a:lstStyle/>
          <a:p>
            <a:pPr algn="r"/>
            <a:r>
              <a:rPr lang="en-AU" sz="1200" dirty="0"/>
              <a:t>made by</a:t>
            </a:r>
          </a:p>
        </p:txBody>
      </p:sp>
      <p:sp>
        <p:nvSpPr>
          <p:cNvPr id="4118" name="TextBox 4117">
            <a:extLst>
              <a:ext uri="{FF2B5EF4-FFF2-40B4-BE49-F238E27FC236}">
                <a16:creationId xmlns:a16="http://schemas.microsoft.com/office/drawing/2014/main" id="{A640C9D0-CA67-5F6A-7536-B6FD009446BA}"/>
              </a:ext>
            </a:extLst>
          </p:cNvPr>
          <p:cNvSpPr txBox="1"/>
          <p:nvPr/>
        </p:nvSpPr>
        <p:spPr>
          <a:xfrm>
            <a:off x="5207739" y="4986969"/>
            <a:ext cx="765787" cy="276999"/>
          </a:xfrm>
          <a:prstGeom prst="rect">
            <a:avLst/>
          </a:prstGeom>
          <a:noFill/>
        </p:spPr>
        <p:txBody>
          <a:bodyPr wrap="none" rtlCol="0" anchor="ctr">
            <a:spAutoFit/>
          </a:bodyPr>
          <a:lstStyle/>
          <a:p>
            <a:r>
              <a:rPr lang="en-AU" sz="1200" dirty="0"/>
              <a:t>Issued by</a:t>
            </a:r>
          </a:p>
        </p:txBody>
      </p:sp>
      <p:sp>
        <p:nvSpPr>
          <p:cNvPr id="4119" name="TextBox 4118">
            <a:extLst>
              <a:ext uri="{FF2B5EF4-FFF2-40B4-BE49-F238E27FC236}">
                <a16:creationId xmlns:a16="http://schemas.microsoft.com/office/drawing/2014/main" id="{5F5FA923-4D14-BBDC-CD89-5461D84ACB22}"/>
              </a:ext>
            </a:extLst>
          </p:cNvPr>
          <p:cNvSpPr txBox="1"/>
          <p:nvPr/>
        </p:nvSpPr>
        <p:spPr>
          <a:xfrm>
            <a:off x="3774107" y="5529519"/>
            <a:ext cx="983474" cy="276999"/>
          </a:xfrm>
          <a:prstGeom prst="rect">
            <a:avLst/>
          </a:prstGeom>
          <a:noFill/>
        </p:spPr>
        <p:txBody>
          <a:bodyPr wrap="none" rtlCol="0" anchor="ctr">
            <a:spAutoFit/>
          </a:bodyPr>
          <a:lstStyle/>
          <a:p>
            <a:r>
              <a:rPr lang="en-AU" sz="1200" dirty="0"/>
              <a:t>registered as</a:t>
            </a:r>
          </a:p>
        </p:txBody>
      </p:sp>
      <p:cxnSp>
        <p:nvCxnSpPr>
          <p:cNvPr id="4120" name="Straight Connector 298">
            <a:extLst>
              <a:ext uri="{FF2B5EF4-FFF2-40B4-BE49-F238E27FC236}">
                <a16:creationId xmlns:a16="http://schemas.microsoft.com/office/drawing/2014/main" id="{B703BD04-C0D0-F5DE-8B8A-F3E4423706ED}"/>
              </a:ext>
            </a:extLst>
          </p:cNvPr>
          <p:cNvCxnSpPr>
            <a:cxnSpLocks/>
            <a:stCxn id="13" idx="3"/>
            <a:endCxn id="35" idx="0"/>
          </p:cNvCxnSpPr>
          <p:nvPr/>
        </p:nvCxnSpPr>
        <p:spPr>
          <a:xfrm rot="5400000">
            <a:off x="5159591" y="4179543"/>
            <a:ext cx="699265" cy="1548670"/>
          </a:xfrm>
          <a:prstGeom prst="bentConnector3">
            <a:avLst>
              <a:gd name="adj1" fmla="val 23947"/>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121" name="TextBox 4120">
            <a:extLst>
              <a:ext uri="{FF2B5EF4-FFF2-40B4-BE49-F238E27FC236}">
                <a16:creationId xmlns:a16="http://schemas.microsoft.com/office/drawing/2014/main" id="{86414C03-9681-0075-8C6C-6FAF990E5BD1}"/>
              </a:ext>
            </a:extLst>
          </p:cNvPr>
          <p:cNvSpPr txBox="1"/>
          <p:nvPr/>
        </p:nvSpPr>
        <p:spPr>
          <a:xfrm>
            <a:off x="4940444" y="4522327"/>
            <a:ext cx="551754" cy="276999"/>
          </a:xfrm>
          <a:prstGeom prst="rect">
            <a:avLst/>
          </a:prstGeom>
          <a:noFill/>
        </p:spPr>
        <p:txBody>
          <a:bodyPr wrap="none" rtlCol="0" anchor="ctr">
            <a:spAutoFit/>
          </a:bodyPr>
          <a:lstStyle/>
          <a:p>
            <a:r>
              <a:rPr lang="en-AU" sz="1200" dirty="0"/>
              <a:t>about</a:t>
            </a:r>
          </a:p>
        </p:txBody>
      </p:sp>
      <p:cxnSp>
        <p:nvCxnSpPr>
          <p:cNvPr id="4122" name="Straight Connector 207">
            <a:extLst>
              <a:ext uri="{FF2B5EF4-FFF2-40B4-BE49-F238E27FC236}">
                <a16:creationId xmlns:a16="http://schemas.microsoft.com/office/drawing/2014/main" id="{935F934D-1574-D6F1-6F88-1EEC743CC34D}"/>
              </a:ext>
            </a:extLst>
          </p:cNvPr>
          <p:cNvCxnSpPr>
            <a:cxnSpLocks/>
            <a:stCxn id="49" idx="6"/>
            <a:endCxn id="17" idx="6"/>
          </p:cNvCxnSpPr>
          <p:nvPr/>
        </p:nvCxnSpPr>
        <p:spPr>
          <a:xfrm>
            <a:off x="4694703" y="1679010"/>
            <a:ext cx="3426270" cy="1058691"/>
          </a:xfrm>
          <a:prstGeom prst="bentConnector3">
            <a:avLst>
              <a:gd name="adj1" fmla="val 109974"/>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123" name="TextBox 4122">
            <a:extLst>
              <a:ext uri="{FF2B5EF4-FFF2-40B4-BE49-F238E27FC236}">
                <a16:creationId xmlns:a16="http://schemas.microsoft.com/office/drawing/2014/main" id="{52C61569-53B1-A1C7-184D-6C365E8B4B5E}"/>
              </a:ext>
            </a:extLst>
          </p:cNvPr>
          <p:cNvSpPr txBox="1"/>
          <p:nvPr/>
        </p:nvSpPr>
        <p:spPr>
          <a:xfrm>
            <a:off x="5519254" y="1413436"/>
            <a:ext cx="1346648" cy="276999"/>
          </a:xfrm>
          <a:prstGeom prst="rect">
            <a:avLst/>
          </a:prstGeom>
          <a:noFill/>
        </p:spPr>
        <p:txBody>
          <a:bodyPr wrap="square" rtlCol="0" anchor="ctr">
            <a:spAutoFit/>
          </a:bodyPr>
          <a:lstStyle/>
          <a:p>
            <a:r>
              <a:rPr lang="en-AU" sz="1200" dirty="0"/>
              <a:t>occurred at</a:t>
            </a:r>
          </a:p>
        </p:txBody>
      </p:sp>
      <p:cxnSp>
        <p:nvCxnSpPr>
          <p:cNvPr id="4124" name="Straight Connector 122">
            <a:extLst>
              <a:ext uri="{FF2B5EF4-FFF2-40B4-BE49-F238E27FC236}">
                <a16:creationId xmlns:a16="http://schemas.microsoft.com/office/drawing/2014/main" id="{B08B4ED4-17B4-96C5-57C2-440D7F3C5210}"/>
              </a:ext>
            </a:extLst>
          </p:cNvPr>
          <p:cNvCxnSpPr>
            <a:cxnSpLocks/>
          </p:cNvCxnSpPr>
          <p:nvPr/>
        </p:nvCxnSpPr>
        <p:spPr>
          <a:xfrm>
            <a:off x="6903397" y="6120665"/>
            <a:ext cx="1489394"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126" name="TextBox 4125">
            <a:extLst>
              <a:ext uri="{FF2B5EF4-FFF2-40B4-BE49-F238E27FC236}">
                <a16:creationId xmlns:a16="http://schemas.microsoft.com/office/drawing/2014/main" id="{9FC42B97-C8B7-3090-EFB8-A899F0275E36}"/>
              </a:ext>
            </a:extLst>
          </p:cNvPr>
          <p:cNvSpPr txBox="1"/>
          <p:nvPr/>
        </p:nvSpPr>
        <p:spPr>
          <a:xfrm>
            <a:off x="6734296" y="5839479"/>
            <a:ext cx="1584280" cy="276999"/>
          </a:xfrm>
          <a:prstGeom prst="rect">
            <a:avLst/>
          </a:prstGeom>
          <a:noFill/>
        </p:spPr>
        <p:txBody>
          <a:bodyPr wrap="none" rtlCol="0" anchor="ctr">
            <a:spAutoFit/>
          </a:bodyPr>
          <a:lstStyle/>
          <a:p>
            <a:r>
              <a:rPr lang="en-AU" sz="1200" dirty="0"/>
              <a:t>1 to many relationship</a:t>
            </a:r>
          </a:p>
        </p:txBody>
      </p:sp>
      <p:sp>
        <p:nvSpPr>
          <p:cNvPr id="4127" name="TextBox 4126">
            <a:extLst>
              <a:ext uri="{FF2B5EF4-FFF2-40B4-BE49-F238E27FC236}">
                <a16:creationId xmlns:a16="http://schemas.microsoft.com/office/drawing/2014/main" id="{B9633F88-A014-15BA-90D6-66022FAE8A95}"/>
              </a:ext>
            </a:extLst>
          </p:cNvPr>
          <p:cNvSpPr txBox="1"/>
          <p:nvPr/>
        </p:nvSpPr>
        <p:spPr>
          <a:xfrm>
            <a:off x="8368044" y="5941184"/>
            <a:ext cx="300082" cy="369332"/>
          </a:xfrm>
          <a:prstGeom prst="rect">
            <a:avLst/>
          </a:prstGeom>
          <a:noFill/>
        </p:spPr>
        <p:txBody>
          <a:bodyPr wrap="none" rtlCol="0" anchor="ctr">
            <a:spAutoFit/>
          </a:bodyPr>
          <a:lstStyle/>
          <a:p>
            <a:r>
              <a:rPr lang="en-AU" b="1" dirty="0"/>
              <a:t>*</a:t>
            </a:r>
          </a:p>
        </p:txBody>
      </p:sp>
      <p:sp>
        <p:nvSpPr>
          <p:cNvPr id="4128" name="TextBox 4127">
            <a:extLst>
              <a:ext uri="{FF2B5EF4-FFF2-40B4-BE49-F238E27FC236}">
                <a16:creationId xmlns:a16="http://schemas.microsoft.com/office/drawing/2014/main" id="{A740A244-483F-B766-F7F9-D2991E53931D}"/>
              </a:ext>
            </a:extLst>
          </p:cNvPr>
          <p:cNvSpPr txBox="1"/>
          <p:nvPr/>
        </p:nvSpPr>
        <p:spPr>
          <a:xfrm>
            <a:off x="8177025" y="5623170"/>
            <a:ext cx="263214" cy="276999"/>
          </a:xfrm>
          <a:prstGeom prst="rect">
            <a:avLst/>
          </a:prstGeom>
          <a:noFill/>
        </p:spPr>
        <p:txBody>
          <a:bodyPr wrap="none" rtlCol="0" anchor="ctr">
            <a:spAutoFit/>
          </a:bodyPr>
          <a:lstStyle/>
          <a:p>
            <a:r>
              <a:rPr lang="en-AU" sz="1200" b="1" dirty="0"/>
              <a:t>1</a:t>
            </a:r>
          </a:p>
        </p:txBody>
      </p:sp>
      <p:sp>
        <p:nvSpPr>
          <p:cNvPr id="4129" name="Oval 4128">
            <a:extLst>
              <a:ext uri="{FF2B5EF4-FFF2-40B4-BE49-F238E27FC236}">
                <a16:creationId xmlns:a16="http://schemas.microsoft.com/office/drawing/2014/main" id="{8C736B12-8A07-E3D8-0778-95FCB62F6110}"/>
              </a:ext>
            </a:extLst>
          </p:cNvPr>
          <p:cNvSpPr/>
          <p:nvPr/>
        </p:nvSpPr>
        <p:spPr>
          <a:xfrm>
            <a:off x="4726069" y="3683777"/>
            <a:ext cx="1182892" cy="2327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69333" tIns="69333" rIns="69333" bIns="69333" rtlCol="0" anchor="ctr"/>
          <a:lstStyle/>
          <a:p>
            <a:pPr algn="ctr"/>
            <a:r>
              <a:rPr lang="en-AU" sz="1200" dirty="0"/>
              <a:t>Standard</a:t>
            </a:r>
          </a:p>
        </p:txBody>
      </p:sp>
      <p:cxnSp>
        <p:nvCxnSpPr>
          <p:cNvPr id="4130" name="Straight Connector 42">
            <a:extLst>
              <a:ext uri="{FF2B5EF4-FFF2-40B4-BE49-F238E27FC236}">
                <a16:creationId xmlns:a16="http://schemas.microsoft.com/office/drawing/2014/main" id="{D92CF563-0E62-0351-DABC-C34D97D0ECE5}"/>
              </a:ext>
            </a:extLst>
          </p:cNvPr>
          <p:cNvCxnSpPr>
            <a:cxnSpLocks/>
            <a:stCxn id="12" idx="3"/>
            <a:endCxn id="4129" idx="4"/>
          </p:cNvCxnSpPr>
          <p:nvPr/>
        </p:nvCxnSpPr>
        <p:spPr>
          <a:xfrm rot="5400000" flipH="1">
            <a:off x="5783003" y="3450997"/>
            <a:ext cx="25019" cy="955995"/>
          </a:xfrm>
          <a:prstGeom prst="bentConnector3">
            <a:avLst>
              <a:gd name="adj1" fmla="val -673204"/>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131" name="TextBox 4130">
            <a:extLst>
              <a:ext uri="{FF2B5EF4-FFF2-40B4-BE49-F238E27FC236}">
                <a16:creationId xmlns:a16="http://schemas.microsoft.com/office/drawing/2014/main" id="{ED1A39C2-DA0B-6319-E9EC-95E9D8D30460}"/>
              </a:ext>
            </a:extLst>
          </p:cNvPr>
          <p:cNvSpPr txBox="1"/>
          <p:nvPr/>
        </p:nvSpPr>
        <p:spPr>
          <a:xfrm>
            <a:off x="4977217" y="3822311"/>
            <a:ext cx="380480" cy="369332"/>
          </a:xfrm>
          <a:prstGeom prst="rect">
            <a:avLst/>
          </a:prstGeom>
          <a:noFill/>
        </p:spPr>
        <p:txBody>
          <a:bodyPr wrap="square" rtlCol="0" anchor="ctr">
            <a:spAutoFit/>
          </a:bodyPr>
          <a:lstStyle/>
          <a:p>
            <a:r>
              <a:rPr lang="en-AU" b="1" dirty="0"/>
              <a:t>*</a:t>
            </a:r>
          </a:p>
        </p:txBody>
      </p:sp>
      <p:sp>
        <p:nvSpPr>
          <p:cNvPr id="4139" name="TextBox 4138">
            <a:extLst>
              <a:ext uri="{FF2B5EF4-FFF2-40B4-BE49-F238E27FC236}">
                <a16:creationId xmlns:a16="http://schemas.microsoft.com/office/drawing/2014/main" id="{F90C4CFF-2AE5-0488-4351-9D81C278F9E7}"/>
              </a:ext>
            </a:extLst>
          </p:cNvPr>
          <p:cNvSpPr txBox="1"/>
          <p:nvPr/>
        </p:nvSpPr>
        <p:spPr>
          <a:xfrm>
            <a:off x="5316372" y="3880334"/>
            <a:ext cx="917239" cy="276999"/>
          </a:xfrm>
          <a:prstGeom prst="rect">
            <a:avLst/>
          </a:prstGeom>
          <a:noFill/>
        </p:spPr>
        <p:txBody>
          <a:bodyPr wrap="none" rtlCol="0" anchor="ctr">
            <a:spAutoFit/>
          </a:bodyPr>
          <a:lstStyle/>
          <a:p>
            <a:r>
              <a:rPr lang="en-AU" sz="1200" dirty="0"/>
              <a:t>depends on</a:t>
            </a:r>
          </a:p>
        </p:txBody>
      </p:sp>
    </p:spTree>
    <p:extLst>
      <p:ext uri="{BB962C8B-B14F-4D97-AF65-F5344CB8AC3E}">
        <p14:creationId xmlns:p14="http://schemas.microsoft.com/office/powerpoint/2010/main" val="594894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94259-00AE-1F38-CB61-F70D7423788D}"/>
            </a:ext>
          </a:extLst>
        </p:cNvPr>
        <p:cNvGrpSpPr/>
        <p:nvPr/>
      </p:nvGrpSpPr>
      <p:grpSpPr>
        <a:xfrm>
          <a:off x="0" y="0"/>
          <a:ext cx="0" cy="0"/>
          <a:chOff x="0" y="0"/>
          <a:chExt cx="0" cy="0"/>
        </a:xfrm>
      </p:grpSpPr>
      <p:sp>
        <p:nvSpPr>
          <p:cNvPr id="1697" name="TextBox 1696">
            <a:extLst>
              <a:ext uri="{FF2B5EF4-FFF2-40B4-BE49-F238E27FC236}">
                <a16:creationId xmlns:a16="http://schemas.microsoft.com/office/drawing/2014/main" id="{B8BCCC3E-4C3A-0AA4-1183-0C4509ADFD12}"/>
              </a:ext>
            </a:extLst>
          </p:cNvPr>
          <p:cNvSpPr txBox="1"/>
          <p:nvPr/>
        </p:nvSpPr>
        <p:spPr>
          <a:xfrm>
            <a:off x="8339406" y="6184583"/>
            <a:ext cx="582211" cy="180178"/>
          </a:xfrm>
          <a:prstGeom prst="rect">
            <a:avLst/>
          </a:prstGeom>
          <a:noFill/>
        </p:spPr>
        <p:txBody>
          <a:bodyPr wrap="none" rtlCol="0">
            <a:spAutoFit/>
          </a:bodyPr>
          <a:lstStyle/>
          <a:p>
            <a:pPr defTabSz="244938"/>
            <a:r>
              <a:rPr lang="en-AU" sz="571" dirty="0">
                <a:solidFill>
                  <a:prstClr val="black"/>
                </a:solidFill>
                <a:latin typeface="Aptos" panose="02110004020202020204"/>
              </a:rPr>
              <a:t>Produced by</a:t>
            </a:r>
          </a:p>
        </p:txBody>
      </p:sp>
      <p:sp>
        <p:nvSpPr>
          <p:cNvPr id="783" name="Rounded Rectangle 782">
            <a:extLst>
              <a:ext uri="{FF2B5EF4-FFF2-40B4-BE49-F238E27FC236}">
                <a16:creationId xmlns:a16="http://schemas.microsoft.com/office/drawing/2014/main" id="{A2D70FA1-71A6-7154-B53A-A30ADAC2D9EB}"/>
              </a:ext>
            </a:extLst>
          </p:cNvPr>
          <p:cNvSpPr/>
          <p:nvPr/>
        </p:nvSpPr>
        <p:spPr>
          <a:xfrm>
            <a:off x="7625692" y="574762"/>
            <a:ext cx="1492063" cy="2119481"/>
          </a:xfrm>
          <a:prstGeom prst="roundRect">
            <a:avLst>
              <a:gd name="adj" fmla="val 7444"/>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prstClr val="white"/>
              </a:solidFill>
              <a:latin typeface="Aptos" panose="02110004020202020204"/>
            </a:endParaRPr>
          </a:p>
        </p:txBody>
      </p:sp>
      <p:sp>
        <p:nvSpPr>
          <p:cNvPr id="721" name="Rounded Rectangle 720">
            <a:extLst>
              <a:ext uri="{FF2B5EF4-FFF2-40B4-BE49-F238E27FC236}">
                <a16:creationId xmlns:a16="http://schemas.microsoft.com/office/drawing/2014/main" id="{CA92015D-B197-CB1F-0AD9-761477E77C39}"/>
              </a:ext>
            </a:extLst>
          </p:cNvPr>
          <p:cNvSpPr/>
          <p:nvPr/>
        </p:nvSpPr>
        <p:spPr>
          <a:xfrm>
            <a:off x="7708015" y="747037"/>
            <a:ext cx="520027" cy="188731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27" name="Rounded Rectangle 726">
            <a:extLst>
              <a:ext uri="{FF2B5EF4-FFF2-40B4-BE49-F238E27FC236}">
                <a16:creationId xmlns:a16="http://schemas.microsoft.com/office/drawing/2014/main" id="{62E5122E-4146-FDA0-E108-0ECD68C09B25}"/>
              </a:ext>
            </a:extLst>
          </p:cNvPr>
          <p:cNvSpPr/>
          <p:nvPr/>
        </p:nvSpPr>
        <p:spPr>
          <a:xfrm>
            <a:off x="8293338" y="745827"/>
            <a:ext cx="769223" cy="1055150"/>
          </a:xfrm>
          <a:prstGeom prst="roundRect">
            <a:avLst>
              <a:gd name="adj" fmla="val 14145"/>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32" name="Rounded Rectangle 731">
            <a:extLst>
              <a:ext uri="{FF2B5EF4-FFF2-40B4-BE49-F238E27FC236}">
                <a16:creationId xmlns:a16="http://schemas.microsoft.com/office/drawing/2014/main" id="{E3E6BDD0-6E8E-52CB-8E1F-04277097F411}"/>
              </a:ext>
            </a:extLst>
          </p:cNvPr>
          <p:cNvSpPr/>
          <p:nvPr/>
        </p:nvSpPr>
        <p:spPr>
          <a:xfrm>
            <a:off x="8298436" y="1861572"/>
            <a:ext cx="759025" cy="772783"/>
          </a:xfrm>
          <a:prstGeom prst="roundRect">
            <a:avLst>
              <a:gd name="adj" fmla="val 1414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48" name="Rounded Rectangle 747">
            <a:extLst>
              <a:ext uri="{FF2B5EF4-FFF2-40B4-BE49-F238E27FC236}">
                <a16:creationId xmlns:a16="http://schemas.microsoft.com/office/drawing/2014/main" id="{2A62C04B-4242-154A-7EB7-AE246A4A4072}"/>
              </a:ext>
            </a:extLst>
          </p:cNvPr>
          <p:cNvSpPr/>
          <p:nvPr/>
        </p:nvSpPr>
        <p:spPr>
          <a:xfrm>
            <a:off x="6391613" y="3362507"/>
            <a:ext cx="1161184" cy="1805084"/>
          </a:xfrm>
          <a:prstGeom prst="roundRect">
            <a:avLst>
              <a:gd name="adj" fmla="val 7444"/>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prstClr val="white"/>
              </a:solidFill>
              <a:latin typeface="Aptos" panose="02110004020202020204"/>
            </a:endParaRPr>
          </a:p>
        </p:txBody>
      </p:sp>
      <p:sp>
        <p:nvSpPr>
          <p:cNvPr id="751" name="Rounded Rectangle 750">
            <a:extLst>
              <a:ext uri="{FF2B5EF4-FFF2-40B4-BE49-F238E27FC236}">
                <a16:creationId xmlns:a16="http://schemas.microsoft.com/office/drawing/2014/main" id="{C03119D8-D9E9-754D-8A98-2341979EACEF}"/>
              </a:ext>
            </a:extLst>
          </p:cNvPr>
          <p:cNvSpPr/>
          <p:nvPr/>
        </p:nvSpPr>
        <p:spPr>
          <a:xfrm>
            <a:off x="6386373" y="1646568"/>
            <a:ext cx="1161184" cy="1651869"/>
          </a:xfrm>
          <a:prstGeom prst="roundRect">
            <a:avLst>
              <a:gd name="adj" fmla="val 7444"/>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prstClr val="white"/>
              </a:solidFill>
              <a:latin typeface="Aptos" panose="02110004020202020204"/>
            </a:endParaRPr>
          </a:p>
        </p:txBody>
      </p:sp>
      <p:sp>
        <p:nvSpPr>
          <p:cNvPr id="459" name="Rounded Rectangle 458">
            <a:extLst>
              <a:ext uri="{FF2B5EF4-FFF2-40B4-BE49-F238E27FC236}">
                <a16:creationId xmlns:a16="http://schemas.microsoft.com/office/drawing/2014/main" id="{F179680D-A42B-48F9-4A97-2BB9ACEF90AF}"/>
              </a:ext>
            </a:extLst>
          </p:cNvPr>
          <p:cNvSpPr/>
          <p:nvPr/>
        </p:nvSpPr>
        <p:spPr>
          <a:xfrm>
            <a:off x="6444273" y="1797176"/>
            <a:ext cx="520027" cy="144836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469" name="Rounded Rectangle 468">
            <a:extLst>
              <a:ext uri="{FF2B5EF4-FFF2-40B4-BE49-F238E27FC236}">
                <a16:creationId xmlns:a16="http://schemas.microsoft.com/office/drawing/2014/main" id="{B93BCC46-53DA-AD20-996D-91B3F5E26EAC}"/>
              </a:ext>
            </a:extLst>
          </p:cNvPr>
          <p:cNvSpPr/>
          <p:nvPr/>
        </p:nvSpPr>
        <p:spPr>
          <a:xfrm>
            <a:off x="7016153" y="1790268"/>
            <a:ext cx="454908" cy="1448367"/>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14" name="Rounded Rectangle 713">
            <a:extLst>
              <a:ext uri="{FF2B5EF4-FFF2-40B4-BE49-F238E27FC236}">
                <a16:creationId xmlns:a16="http://schemas.microsoft.com/office/drawing/2014/main" id="{2851226E-A1BC-F5FB-5552-78E3CC7249F8}"/>
              </a:ext>
            </a:extLst>
          </p:cNvPr>
          <p:cNvSpPr/>
          <p:nvPr/>
        </p:nvSpPr>
        <p:spPr>
          <a:xfrm>
            <a:off x="6466170" y="4369610"/>
            <a:ext cx="487378" cy="73391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15" name="Rounded Rectangle 714">
            <a:extLst>
              <a:ext uri="{FF2B5EF4-FFF2-40B4-BE49-F238E27FC236}">
                <a16:creationId xmlns:a16="http://schemas.microsoft.com/office/drawing/2014/main" id="{06B469DC-3D90-5F93-F772-8E73F6841889}"/>
              </a:ext>
            </a:extLst>
          </p:cNvPr>
          <p:cNvSpPr/>
          <p:nvPr/>
        </p:nvSpPr>
        <p:spPr>
          <a:xfrm>
            <a:off x="6997159" y="4369611"/>
            <a:ext cx="487378" cy="73496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79" name="Rounded Rectangle 778">
            <a:extLst>
              <a:ext uri="{FF2B5EF4-FFF2-40B4-BE49-F238E27FC236}">
                <a16:creationId xmlns:a16="http://schemas.microsoft.com/office/drawing/2014/main" id="{6E8ADAE9-7596-384A-6599-9ADFAF54BB93}"/>
              </a:ext>
            </a:extLst>
          </p:cNvPr>
          <p:cNvSpPr/>
          <p:nvPr/>
        </p:nvSpPr>
        <p:spPr>
          <a:xfrm>
            <a:off x="6472928" y="3531032"/>
            <a:ext cx="487378" cy="74675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80" name="Rounded Rectangle 779">
            <a:extLst>
              <a:ext uri="{FF2B5EF4-FFF2-40B4-BE49-F238E27FC236}">
                <a16:creationId xmlns:a16="http://schemas.microsoft.com/office/drawing/2014/main" id="{6A5B9CAE-94E0-50B6-3F05-6E6AB5A63170}"/>
              </a:ext>
            </a:extLst>
          </p:cNvPr>
          <p:cNvSpPr/>
          <p:nvPr/>
        </p:nvSpPr>
        <p:spPr>
          <a:xfrm>
            <a:off x="7001513" y="3531033"/>
            <a:ext cx="487378" cy="75993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84" name="Rounded Rectangle 783">
            <a:extLst>
              <a:ext uri="{FF2B5EF4-FFF2-40B4-BE49-F238E27FC236}">
                <a16:creationId xmlns:a16="http://schemas.microsoft.com/office/drawing/2014/main" id="{99C4D9B2-0D5B-9BD8-299A-4BC8C91F4389}"/>
              </a:ext>
            </a:extLst>
          </p:cNvPr>
          <p:cNvSpPr/>
          <p:nvPr/>
        </p:nvSpPr>
        <p:spPr>
          <a:xfrm>
            <a:off x="7627354" y="2754837"/>
            <a:ext cx="1495542" cy="2412752"/>
          </a:xfrm>
          <a:prstGeom prst="roundRect">
            <a:avLst>
              <a:gd name="adj" fmla="val 7444"/>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prstClr val="white"/>
              </a:solidFill>
              <a:latin typeface="Aptos" panose="02110004020202020204"/>
            </a:endParaRPr>
          </a:p>
        </p:txBody>
      </p:sp>
      <p:sp>
        <p:nvSpPr>
          <p:cNvPr id="790" name="Rounded Rectangle 789">
            <a:extLst>
              <a:ext uri="{FF2B5EF4-FFF2-40B4-BE49-F238E27FC236}">
                <a16:creationId xmlns:a16="http://schemas.microsoft.com/office/drawing/2014/main" id="{C3E68BD9-34B2-0EE6-651C-99B67E98074B}"/>
              </a:ext>
            </a:extLst>
          </p:cNvPr>
          <p:cNvSpPr/>
          <p:nvPr/>
        </p:nvSpPr>
        <p:spPr>
          <a:xfrm>
            <a:off x="9174749" y="572677"/>
            <a:ext cx="1243340" cy="4594913"/>
          </a:xfrm>
          <a:prstGeom prst="roundRect">
            <a:avLst>
              <a:gd name="adj" fmla="val 7444"/>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prstClr val="white"/>
              </a:solidFill>
              <a:latin typeface="Aptos" panose="02110004020202020204"/>
            </a:endParaRPr>
          </a:p>
        </p:txBody>
      </p:sp>
      <p:sp>
        <p:nvSpPr>
          <p:cNvPr id="496" name="Rounded Rectangle 495">
            <a:extLst>
              <a:ext uri="{FF2B5EF4-FFF2-40B4-BE49-F238E27FC236}">
                <a16:creationId xmlns:a16="http://schemas.microsoft.com/office/drawing/2014/main" id="{84CE8911-324E-F9D8-C535-061AF41A0CB4}"/>
              </a:ext>
            </a:extLst>
          </p:cNvPr>
          <p:cNvSpPr/>
          <p:nvPr/>
        </p:nvSpPr>
        <p:spPr>
          <a:xfrm>
            <a:off x="7708015" y="2949826"/>
            <a:ext cx="519012" cy="215369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505" name="Rounded Rectangle 504">
            <a:extLst>
              <a:ext uri="{FF2B5EF4-FFF2-40B4-BE49-F238E27FC236}">
                <a16:creationId xmlns:a16="http://schemas.microsoft.com/office/drawing/2014/main" id="{7FDDEFE2-EF01-61DD-29C1-530BFABC4731}"/>
              </a:ext>
            </a:extLst>
          </p:cNvPr>
          <p:cNvSpPr/>
          <p:nvPr/>
        </p:nvSpPr>
        <p:spPr>
          <a:xfrm>
            <a:off x="8298436" y="2949824"/>
            <a:ext cx="763110" cy="1280546"/>
          </a:xfrm>
          <a:prstGeom prst="roundRect">
            <a:avLst>
              <a:gd name="adj" fmla="val 14145"/>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606" name="Rounded Rectangle 605">
            <a:extLst>
              <a:ext uri="{FF2B5EF4-FFF2-40B4-BE49-F238E27FC236}">
                <a16:creationId xmlns:a16="http://schemas.microsoft.com/office/drawing/2014/main" id="{04929FD2-873E-B1A7-2A98-A13D905E6ED6}"/>
              </a:ext>
            </a:extLst>
          </p:cNvPr>
          <p:cNvSpPr/>
          <p:nvPr/>
        </p:nvSpPr>
        <p:spPr>
          <a:xfrm>
            <a:off x="8321889" y="4290965"/>
            <a:ext cx="729459" cy="812553"/>
          </a:xfrm>
          <a:prstGeom prst="roundRect">
            <a:avLst>
              <a:gd name="adj" fmla="val 947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53" name="Rounded Rectangle 752">
            <a:extLst>
              <a:ext uri="{FF2B5EF4-FFF2-40B4-BE49-F238E27FC236}">
                <a16:creationId xmlns:a16="http://schemas.microsoft.com/office/drawing/2014/main" id="{2D5FA9FF-C8A7-2AFE-6306-79F26FE30009}"/>
              </a:ext>
            </a:extLst>
          </p:cNvPr>
          <p:cNvSpPr/>
          <p:nvPr/>
        </p:nvSpPr>
        <p:spPr>
          <a:xfrm>
            <a:off x="6399436" y="563081"/>
            <a:ext cx="1161184" cy="1019418"/>
          </a:xfrm>
          <a:prstGeom prst="roundRect">
            <a:avLst>
              <a:gd name="adj" fmla="val 7444"/>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prstClr val="white"/>
              </a:solidFill>
              <a:latin typeface="Aptos" panose="02110004020202020204"/>
            </a:endParaRPr>
          </a:p>
        </p:txBody>
      </p:sp>
      <p:sp>
        <p:nvSpPr>
          <p:cNvPr id="755" name="Rounded Rectangle 754">
            <a:extLst>
              <a:ext uri="{FF2B5EF4-FFF2-40B4-BE49-F238E27FC236}">
                <a16:creationId xmlns:a16="http://schemas.microsoft.com/office/drawing/2014/main" id="{20FB4C0E-7BDE-3122-CB4B-E362643D30DE}"/>
              </a:ext>
            </a:extLst>
          </p:cNvPr>
          <p:cNvSpPr/>
          <p:nvPr/>
        </p:nvSpPr>
        <p:spPr>
          <a:xfrm>
            <a:off x="5173180" y="557992"/>
            <a:ext cx="1161184" cy="4609598"/>
          </a:xfrm>
          <a:prstGeom prst="roundRect">
            <a:avLst>
              <a:gd name="adj" fmla="val 7444"/>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prstClr val="white"/>
              </a:solidFill>
              <a:latin typeface="Aptos" panose="02110004020202020204"/>
            </a:endParaRPr>
          </a:p>
        </p:txBody>
      </p:sp>
      <p:sp>
        <p:nvSpPr>
          <p:cNvPr id="426" name="Rounded Rectangle 425">
            <a:extLst>
              <a:ext uri="{FF2B5EF4-FFF2-40B4-BE49-F238E27FC236}">
                <a16:creationId xmlns:a16="http://schemas.microsoft.com/office/drawing/2014/main" id="{A04EF70C-6626-15D3-6DDE-FC4CE74BFDC7}"/>
              </a:ext>
            </a:extLst>
          </p:cNvPr>
          <p:cNvSpPr/>
          <p:nvPr/>
        </p:nvSpPr>
        <p:spPr>
          <a:xfrm>
            <a:off x="5248635" y="739699"/>
            <a:ext cx="487378" cy="70482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448" name="Rounded Rectangle 447">
            <a:extLst>
              <a:ext uri="{FF2B5EF4-FFF2-40B4-BE49-F238E27FC236}">
                <a16:creationId xmlns:a16="http://schemas.microsoft.com/office/drawing/2014/main" id="{82C10331-F3E6-93ED-3FAE-2E3B77AECE7B}"/>
              </a:ext>
            </a:extLst>
          </p:cNvPr>
          <p:cNvSpPr/>
          <p:nvPr/>
        </p:nvSpPr>
        <p:spPr>
          <a:xfrm>
            <a:off x="5771392" y="747019"/>
            <a:ext cx="487378" cy="704827"/>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57" name="Rounded Rectangle 756">
            <a:extLst>
              <a:ext uri="{FF2B5EF4-FFF2-40B4-BE49-F238E27FC236}">
                <a16:creationId xmlns:a16="http://schemas.microsoft.com/office/drawing/2014/main" id="{4BFBB5FA-FE12-A8A4-34B1-4AACDA9AA413}"/>
              </a:ext>
            </a:extLst>
          </p:cNvPr>
          <p:cNvSpPr/>
          <p:nvPr/>
        </p:nvSpPr>
        <p:spPr>
          <a:xfrm>
            <a:off x="5242188" y="1615074"/>
            <a:ext cx="487378" cy="77764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58" name="Rounded Rectangle 757">
            <a:extLst>
              <a:ext uri="{FF2B5EF4-FFF2-40B4-BE49-F238E27FC236}">
                <a16:creationId xmlns:a16="http://schemas.microsoft.com/office/drawing/2014/main" id="{285D957C-324F-AA50-D066-34FDBB628436}"/>
              </a:ext>
            </a:extLst>
          </p:cNvPr>
          <p:cNvSpPr/>
          <p:nvPr/>
        </p:nvSpPr>
        <p:spPr>
          <a:xfrm>
            <a:off x="5773177" y="1615074"/>
            <a:ext cx="487378" cy="777647"/>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59" name="Rounded Rectangle 758">
            <a:extLst>
              <a:ext uri="{FF2B5EF4-FFF2-40B4-BE49-F238E27FC236}">
                <a16:creationId xmlns:a16="http://schemas.microsoft.com/office/drawing/2014/main" id="{3DAD72BA-952C-CEDF-DE15-F39C7EB33B1A}"/>
              </a:ext>
            </a:extLst>
          </p:cNvPr>
          <p:cNvSpPr/>
          <p:nvPr/>
        </p:nvSpPr>
        <p:spPr>
          <a:xfrm>
            <a:off x="5242188" y="2459597"/>
            <a:ext cx="487378" cy="93818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60" name="Rounded Rectangle 759">
            <a:extLst>
              <a:ext uri="{FF2B5EF4-FFF2-40B4-BE49-F238E27FC236}">
                <a16:creationId xmlns:a16="http://schemas.microsoft.com/office/drawing/2014/main" id="{AC8766D7-2F02-9C65-244D-9C18A1488F21}"/>
              </a:ext>
            </a:extLst>
          </p:cNvPr>
          <p:cNvSpPr/>
          <p:nvPr/>
        </p:nvSpPr>
        <p:spPr>
          <a:xfrm>
            <a:off x="5773177" y="2467519"/>
            <a:ext cx="487378" cy="919046"/>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61" name="Rounded Rectangle 760">
            <a:extLst>
              <a:ext uri="{FF2B5EF4-FFF2-40B4-BE49-F238E27FC236}">
                <a16:creationId xmlns:a16="http://schemas.microsoft.com/office/drawing/2014/main" id="{BBC41662-838B-1D99-0A90-E4B3E29604A2}"/>
              </a:ext>
            </a:extLst>
          </p:cNvPr>
          <p:cNvSpPr/>
          <p:nvPr/>
        </p:nvSpPr>
        <p:spPr>
          <a:xfrm>
            <a:off x="5246259" y="4369611"/>
            <a:ext cx="487378" cy="73496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62" name="Rounded Rectangle 761">
            <a:extLst>
              <a:ext uri="{FF2B5EF4-FFF2-40B4-BE49-F238E27FC236}">
                <a16:creationId xmlns:a16="http://schemas.microsoft.com/office/drawing/2014/main" id="{0AD154DC-0E2B-AC50-2E19-3650B4C9115C}"/>
              </a:ext>
            </a:extLst>
          </p:cNvPr>
          <p:cNvSpPr/>
          <p:nvPr/>
        </p:nvSpPr>
        <p:spPr>
          <a:xfrm>
            <a:off x="5779625" y="4369609"/>
            <a:ext cx="487378" cy="73496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a:solidFill>
                <a:srgbClr val="156082"/>
              </a:solidFill>
              <a:latin typeface="Aptos" panose="02110004020202020204"/>
            </a:endParaRPr>
          </a:p>
        </p:txBody>
      </p:sp>
      <p:sp>
        <p:nvSpPr>
          <p:cNvPr id="775" name="Rounded Rectangle 774">
            <a:extLst>
              <a:ext uri="{FF2B5EF4-FFF2-40B4-BE49-F238E27FC236}">
                <a16:creationId xmlns:a16="http://schemas.microsoft.com/office/drawing/2014/main" id="{CA7EB155-5DFA-CA39-C853-FB64E2C5F02A}"/>
              </a:ext>
            </a:extLst>
          </p:cNvPr>
          <p:cNvSpPr/>
          <p:nvPr/>
        </p:nvSpPr>
        <p:spPr>
          <a:xfrm>
            <a:off x="5239111" y="3489471"/>
            <a:ext cx="487378" cy="78831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76" name="Rounded Rectangle 775">
            <a:extLst>
              <a:ext uri="{FF2B5EF4-FFF2-40B4-BE49-F238E27FC236}">
                <a16:creationId xmlns:a16="http://schemas.microsoft.com/office/drawing/2014/main" id="{2671EE60-A6B6-8107-228A-0EC736139C0E}"/>
              </a:ext>
            </a:extLst>
          </p:cNvPr>
          <p:cNvSpPr/>
          <p:nvPr/>
        </p:nvSpPr>
        <p:spPr>
          <a:xfrm>
            <a:off x="5770102" y="3497762"/>
            <a:ext cx="487378" cy="76880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42" name="Rounded Rectangle 741">
            <a:extLst>
              <a:ext uri="{FF2B5EF4-FFF2-40B4-BE49-F238E27FC236}">
                <a16:creationId xmlns:a16="http://schemas.microsoft.com/office/drawing/2014/main" id="{1CBB4396-8B92-B37B-A255-B31A177D4D5E}"/>
              </a:ext>
            </a:extLst>
          </p:cNvPr>
          <p:cNvSpPr/>
          <p:nvPr/>
        </p:nvSpPr>
        <p:spPr>
          <a:xfrm>
            <a:off x="1841040" y="1531798"/>
            <a:ext cx="3240162" cy="1654492"/>
          </a:xfrm>
          <a:prstGeom prst="roundRect">
            <a:avLst>
              <a:gd name="adj" fmla="val 2362"/>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prstClr val="white"/>
              </a:solidFill>
              <a:latin typeface="Aptos" panose="02110004020202020204"/>
            </a:endParaRPr>
          </a:p>
        </p:txBody>
      </p:sp>
      <p:sp>
        <p:nvSpPr>
          <p:cNvPr id="405" name="Rounded Rectangle 404">
            <a:extLst>
              <a:ext uri="{FF2B5EF4-FFF2-40B4-BE49-F238E27FC236}">
                <a16:creationId xmlns:a16="http://schemas.microsoft.com/office/drawing/2014/main" id="{414B0B0E-BFF6-CE4D-F613-A12AFB0B13EB}"/>
              </a:ext>
            </a:extLst>
          </p:cNvPr>
          <p:cNvSpPr/>
          <p:nvPr/>
        </p:nvSpPr>
        <p:spPr>
          <a:xfrm>
            <a:off x="1890120" y="1683968"/>
            <a:ext cx="487378" cy="147579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411" name="Rounded Rectangle 410">
            <a:extLst>
              <a:ext uri="{FF2B5EF4-FFF2-40B4-BE49-F238E27FC236}">
                <a16:creationId xmlns:a16="http://schemas.microsoft.com/office/drawing/2014/main" id="{B8E58C4F-6807-3BF8-393A-CDAC449E6208}"/>
              </a:ext>
            </a:extLst>
          </p:cNvPr>
          <p:cNvSpPr/>
          <p:nvPr/>
        </p:nvSpPr>
        <p:spPr>
          <a:xfrm>
            <a:off x="2419187" y="1683968"/>
            <a:ext cx="487378" cy="147579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412" name="Rounded Rectangle 411">
            <a:extLst>
              <a:ext uri="{FF2B5EF4-FFF2-40B4-BE49-F238E27FC236}">
                <a16:creationId xmlns:a16="http://schemas.microsoft.com/office/drawing/2014/main" id="{3475110F-F0E4-58A0-029B-06386994B79D}"/>
              </a:ext>
            </a:extLst>
          </p:cNvPr>
          <p:cNvSpPr/>
          <p:nvPr/>
        </p:nvSpPr>
        <p:spPr>
          <a:xfrm>
            <a:off x="2955451" y="1682407"/>
            <a:ext cx="487378" cy="147579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413" name="Rounded Rectangle 412">
            <a:extLst>
              <a:ext uri="{FF2B5EF4-FFF2-40B4-BE49-F238E27FC236}">
                <a16:creationId xmlns:a16="http://schemas.microsoft.com/office/drawing/2014/main" id="{DFACA3E4-7FA9-AA05-7C26-22FF2079603B}"/>
              </a:ext>
            </a:extLst>
          </p:cNvPr>
          <p:cNvSpPr/>
          <p:nvPr/>
        </p:nvSpPr>
        <p:spPr>
          <a:xfrm>
            <a:off x="3491248" y="1686194"/>
            <a:ext cx="487378" cy="147579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424" name="Rounded Rectangle 423">
            <a:extLst>
              <a:ext uri="{FF2B5EF4-FFF2-40B4-BE49-F238E27FC236}">
                <a16:creationId xmlns:a16="http://schemas.microsoft.com/office/drawing/2014/main" id="{E7918F4F-3690-0CAB-9638-10589707627C}"/>
              </a:ext>
            </a:extLst>
          </p:cNvPr>
          <p:cNvSpPr/>
          <p:nvPr/>
        </p:nvSpPr>
        <p:spPr>
          <a:xfrm>
            <a:off x="4011443" y="1682407"/>
            <a:ext cx="487378" cy="147579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425" name="Rounded Rectangle 424">
            <a:extLst>
              <a:ext uri="{FF2B5EF4-FFF2-40B4-BE49-F238E27FC236}">
                <a16:creationId xmlns:a16="http://schemas.microsoft.com/office/drawing/2014/main" id="{6E0A2B25-A62D-25A0-F402-E23C6055BD55}"/>
              </a:ext>
            </a:extLst>
          </p:cNvPr>
          <p:cNvSpPr/>
          <p:nvPr/>
        </p:nvSpPr>
        <p:spPr>
          <a:xfrm>
            <a:off x="4540029" y="1682407"/>
            <a:ext cx="487378" cy="1475794"/>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740" name="Rounded Rectangle 739">
            <a:extLst>
              <a:ext uri="{FF2B5EF4-FFF2-40B4-BE49-F238E27FC236}">
                <a16:creationId xmlns:a16="http://schemas.microsoft.com/office/drawing/2014/main" id="{BC7A8233-7093-B42B-7867-9EF00D57F576}"/>
              </a:ext>
            </a:extLst>
          </p:cNvPr>
          <p:cNvSpPr/>
          <p:nvPr/>
        </p:nvSpPr>
        <p:spPr>
          <a:xfrm>
            <a:off x="1841017" y="551389"/>
            <a:ext cx="3256570" cy="941203"/>
          </a:xfrm>
          <a:prstGeom prst="roundRect">
            <a:avLst>
              <a:gd name="adj" fmla="val 7444"/>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prstClr val="white"/>
              </a:solidFill>
              <a:latin typeface="Aptos" panose="02110004020202020204"/>
            </a:endParaRPr>
          </a:p>
        </p:txBody>
      </p:sp>
      <p:sp>
        <p:nvSpPr>
          <p:cNvPr id="5" name="Oval 4">
            <a:extLst>
              <a:ext uri="{FF2B5EF4-FFF2-40B4-BE49-F238E27FC236}">
                <a16:creationId xmlns:a16="http://schemas.microsoft.com/office/drawing/2014/main" id="{EA9A55B8-9C24-B878-4D66-241954E49F1E}"/>
              </a:ext>
            </a:extLst>
          </p:cNvPr>
          <p:cNvSpPr/>
          <p:nvPr/>
        </p:nvSpPr>
        <p:spPr>
          <a:xfrm>
            <a:off x="1968540" y="2054316"/>
            <a:ext cx="342601" cy="165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71" dirty="0">
                <a:solidFill>
                  <a:prstClr val="white"/>
                </a:solidFill>
                <a:latin typeface="Aptos" panose="02110004020202020204"/>
              </a:rPr>
              <a:t>Mine2</a:t>
            </a:r>
          </a:p>
        </p:txBody>
      </p:sp>
      <p:sp>
        <p:nvSpPr>
          <p:cNvPr id="21" name="Oval 20">
            <a:extLst>
              <a:ext uri="{FF2B5EF4-FFF2-40B4-BE49-F238E27FC236}">
                <a16:creationId xmlns:a16="http://schemas.microsoft.com/office/drawing/2014/main" id="{A8401E86-F299-F5E5-5D05-235DB1905C8F}"/>
              </a:ext>
            </a:extLst>
          </p:cNvPr>
          <p:cNvSpPr/>
          <p:nvPr/>
        </p:nvSpPr>
        <p:spPr>
          <a:xfrm>
            <a:off x="2997108" y="2187206"/>
            <a:ext cx="407297"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00" dirty="0">
                <a:solidFill>
                  <a:prstClr val="white"/>
                </a:solidFill>
                <a:latin typeface="Aptos" panose="02110004020202020204"/>
              </a:rPr>
              <a:t>Smelter2</a:t>
            </a:r>
          </a:p>
        </p:txBody>
      </p:sp>
      <p:sp>
        <p:nvSpPr>
          <p:cNvPr id="32" name="Oval 31">
            <a:extLst>
              <a:ext uri="{FF2B5EF4-FFF2-40B4-BE49-F238E27FC236}">
                <a16:creationId xmlns:a16="http://schemas.microsoft.com/office/drawing/2014/main" id="{E78F9BE0-250F-95A3-7414-04EE80E10611}"/>
              </a:ext>
            </a:extLst>
          </p:cNvPr>
          <p:cNvSpPr/>
          <p:nvPr/>
        </p:nvSpPr>
        <p:spPr>
          <a:xfrm>
            <a:off x="5318078" y="1967380"/>
            <a:ext cx="343639" cy="1527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Fab2</a:t>
            </a:r>
          </a:p>
        </p:txBody>
      </p:sp>
      <p:sp>
        <p:nvSpPr>
          <p:cNvPr id="39" name="Oval 38">
            <a:extLst>
              <a:ext uri="{FF2B5EF4-FFF2-40B4-BE49-F238E27FC236}">
                <a16:creationId xmlns:a16="http://schemas.microsoft.com/office/drawing/2014/main" id="{E346781D-CDD3-2B52-0552-2BE774437005}"/>
              </a:ext>
            </a:extLst>
          </p:cNvPr>
          <p:cNvSpPr/>
          <p:nvPr/>
        </p:nvSpPr>
        <p:spPr>
          <a:xfrm>
            <a:off x="1978566" y="2359409"/>
            <a:ext cx="342601" cy="14751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71" dirty="0">
                <a:solidFill>
                  <a:prstClr val="white"/>
                </a:solidFill>
                <a:latin typeface="Aptos" panose="02110004020202020204"/>
              </a:rPr>
              <a:t>Mine3</a:t>
            </a:r>
          </a:p>
        </p:txBody>
      </p:sp>
      <p:sp>
        <p:nvSpPr>
          <p:cNvPr id="40" name="Oval 39">
            <a:extLst>
              <a:ext uri="{FF2B5EF4-FFF2-40B4-BE49-F238E27FC236}">
                <a16:creationId xmlns:a16="http://schemas.microsoft.com/office/drawing/2014/main" id="{28E7D26E-B03D-766A-FCE8-1B66606E8365}"/>
              </a:ext>
            </a:extLst>
          </p:cNvPr>
          <p:cNvSpPr/>
          <p:nvPr/>
        </p:nvSpPr>
        <p:spPr>
          <a:xfrm>
            <a:off x="1966141" y="2621957"/>
            <a:ext cx="367452" cy="147518"/>
          </a:xfrm>
          <a:prstGeom prst="ellips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black"/>
                </a:solidFill>
                <a:latin typeface="Aptos" panose="02110004020202020204"/>
              </a:rPr>
              <a:t>Mine4</a:t>
            </a:r>
          </a:p>
        </p:txBody>
      </p:sp>
      <p:cxnSp>
        <p:nvCxnSpPr>
          <p:cNvPr id="50" name="Straight Connector 26">
            <a:extLst>
              <a:ext uri="{FF2B5EF4-FFF2-40B4-BE49-F238E27FC236}">
                <a16:creationId xmlns:a16="http://schemas.microsoft.com/office/drawing/2014/main" id="{41199893-BB47-641B-66CF-9FEC4B48F8E7}"/>
              </a:ext>
            </a:extLst>
          </p:cNvPr>
          <p:cNvCxnSpPr>
            <a:cxnSpLocks/>
            <a:stCxn id="5" idx="6"/>
            <a:endCxn id="21" idx="2"/>
          </p:cNvCxnSpPr>
          <p:nvPr/>
        </p:nvCxnSpPr>
        <p:spPr>
          <a:xfrm>
            <a:off x="2311141" y="2137316"/>
            <a:ext cx="685966" cy="13289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46" name="Oval 145">
            <a:extLst>
              <a:ext uri="{FF2B5EF4-FFF2-40B4-BE49-F238E27FC236}">
                <a16:creationId xmlns:a16="http://schemas.microsoft.com/office/drawing/2014/main" id="{8FB4C358-3072-BB5E-8B7E-4414E13C629B}"/>
              </a:ext>
            </a:extLst>
          </p:cNvPr>
          <p:cNvSpPr/>
          <p:nvPr/>
        </p:nvSpPr>
        <p:spPr>
          <a:xfrm>
            <a:off x="2983391" y="2535091"/>
            <a:ext cx="407297" cy="166000"/>
          </a:xfrm>
          <a:prstGeom prst="ellips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black"/>
                </a:solidFill>
                <a:latin typeface="Aptos" panose="02110004020202020204"/>
              </a:rPr>
              <a:t>Smelter3</a:t>
            </a:r>
          </a:p>
        </p:txBody>
      </p:sp>
      <p:cxnSp>
        <p:nvCxnSpPr>
          <p:cNvPr id="251" name="Straight Connector 26">
            <a:extLst>
              <a:ext uri="{FF2B5EF4-FFF2-40B4-BE49-F238E27FC236}">
                <a16:creationId xmlns:a16="http://schemas.microsoft.com/office/drawing/2014/main" id="{78D90FEE-1476-C6EA-033E-796C34F04BB9}"/>
              </a:ext>
            </a:extLst>
          </p:cNvPr>
          <p:cNvCxnSpPr>
            <a:cxnSpLocks/>
            <a:stCxn id="39" idx="6"/>
            <a:endCxn id="21" idx="2"/>
          </p:cNvCxnSpPr>
          <p:nvPr/>
        </p:nvCxnSpPr>
        <p:spPr>
          <a:xfrm flipV="1">
            <a:off x="2321168" y="2270206"/>
            <a:ext cx="675940" cy="162962"/>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254" name="Straight Connector 26">
            <a:extLst>
              <a:ext uri="{FF2B5EF4-FFF2-40B4-BE49-F238E27FC236}">
                <a16:creationId xmlns:a16="http://schemas.microsoft.com/office/drawing/2014/main" id="{C004E955-AC19-0382-DE2E-F1EBA2A59296}"/>
              </a:ext>
            </a:extLst>
          </p:cNvPr>
          <p:cNvCxnSpPr>
            <a:cxnSpLocks/>
            <a:stCxn id="5" idx="6"/>
            <a:endCxn id="146" idx="2"/>
          </p:cNvCxnSpPr>
          <p:nvPr/>
        </p:nvCxnSpPr>
        <p:spPr>
          <a:xfrm>
            <a:off x="2311141" y="2137315"/>
            <a:ext cx="672250" cy="480776"/>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255" name="Straight Connector 26">
            <a:extLst>
              <a:ext uri="{FF2B5EF4-FFF2-40B4-BE49-F238E27FC236}">
                <a16:creationId xmlns:a16="http://schemas.microsoft.com/office/drawing/2014/main" id="{AE8A4341-D285-0794-ADEE-3FA916FF996E}"/>
              </a:ext>
            </a:extLst>
          </p:cNvPr>
          <p:cNvCxnSpPr>
            <a:cxnSpLocks/>
            <a:stCxn id="39" idx="6"/>
            <a:endCxn id="146" idx="2"/>
          </p:cNvCxnSpPr>
          <p:nvPr/>
        </p:nvCxnSpPr>
        <p:spPr>
          <a:xfrm>
            <a:off x="2321168" y="2433169"/>
            <a:ext cx="662223" cy="184923"/>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256" name="Straight Connector 26">
            <a:extLst>
              <a:ext uri="{FF2B5EF4-FFF2-40B4-BE49-F238E27FC236}">
                <a16:creationId xmlns:a16="http://schemas.microsoft.com/office/drawing/2014/main" id="{EC81D65A-C808-C559-FFD5-BA318831979F}"/>
              </a:ext>
            </a:extLst>
          </p:cNvPr>
          <p:cNvCxnSpPr>
            <a:cxnSpLocks/>
            <a:stCxn id="40" idx="6"/>
            <a:endCxn id="146" idx="2"/>
          </p:cNvCxnSpPr>
          <p:nvPr/>
        </p:nvCxnSpPr>
        <p:spPr>
          <a:xfrm flipV="1">
            <a:off x="2333591" y="2618091"/>
            <a:ext cx="649799" cy="77625"/>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335" name="Oval 334">
            <a:extLst>
              <a:ext uri="{FF2B5EF4-FFF2-40B4-BE49-F238E27FC236}">
                <a16:creationId xmlns:a16="http://schemas.microsoft.com/office/drawing/2014/main" id="{E4A28A62-143A-73FA-D8C2-D8B0E209A6FD}"/>
              </a:ext>
            </a:extLst>
          </p:cNvPr>
          <p:cNvSpPr/>
          <p:nvPr/>
        </p:nvSpPr>
        <p:spPr>
          <a:xfrm>
            <a:off x="4031530" y="2095499"/>
            <a:ext cx="407297"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00" dirty="0">
                <a:solidFill>
                  <a:prstClr val="white"/>
                </a:solidFill>
                <a:latin typeface="Aptos" panose="02110004020202020204"/>
              </a:rPr>
              <a:t>Refiner2</a:t>
            </a:r>
          </a:p>
        </p:txBody>
      </p:sp>
      <p:sp>
        <p:nvSpPr>
          <p:cNvPr id="336" name="Oval 335">
            <a:extLst>
              <a:ext uri="{FF2B5EF4-FFF2-40B4-BE49-F238E27FC236}">
                <a16:creationId xmlns:a16="http://schemas.microsoft.com/office/drawing/2014/main" id="{3EFEE306-7414-19F9-98E1-99B53335D46C}"/>
              </a:ext>
            </a:extLst>
          </p:cNvPr>
          <p:cNvSpPr/>
          <p:nvPr/>
        </p:nvSpPr>
        <p:spPr>
          <a:xfrm>
            <a:off x="4031530" y="2383118"/>
            <a:ext cx="407297" cy="166000"/>
          </a:xfrm>
          <a:prstGeom prst="ellips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black"/>
                </a:solidFill>
                <a:latin typeface="Aptos" panose="02110004020202020204"/>
              </a:rPr>
              <a:t>Refiner3</a:t>
            </a:r>
          </a:p>
        </p:txBody>
      </p:sp>
      <p:sp>
        <p:nvSpPr>
          <p:cNvPr id="337" name="Oval 336">
            <a:extLst>
              <a:ext uri="{FF2B5EF4-FFF2-40B4-BE49-F238E27FC236}">
                <a16:creationId xmlns:a16="http://schemas.microsoft.com/office/drawing/2014/main" id="{802FC618-C8ED-6C76-5BCB-E244328F655A}"/>
              </a:ext>
            </a:extLst>
          </p:cNvPr>
          <p:cNvSpPr/>
          <p:nvPr/>
        </p:nvSpPr>
        <p:spPr>
          <a:xfrm>
            <a:off x="4041068" y="2635791"/>
            <a:ext cx="407297"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00" dirty="0">
                <a:solidFill>
                  <a:prstClr val="white"/>
                </a:solidFill>
                <a:latin typeface="Aptos" panose="02110004020202020204"/>
              </a:rPr>
              <a:t>Refiner4</a:t>
            </a:r>
          </a:p>
        </p:txBody>
      </p:sp>
      <p:cxnSp>
        <p:nvCxnSpPr>
          <p:cNvPr id="344" name="Straight Connector 26">
            <a:extLst>
              <a:ext uri="{FF2B5EF4-FFF2-40B4-BE49-F238E27FC236}">
                <a16:creationId xmlns:a16="http://schemas.microsoft.com/office/drawing/2014/main" id="{9BDF1CCE-CFB4-32DA-0DB1-5DBB9CAFB8FE}"/>
              </a:ext>
            </a:extLst>
          </p:cNvPr>
          <p:cNvCxnSpPr>
            <a:cxnSpLocks/>
            <a:stCxn id="21" idx="6"/>
            <a:endCxn id="335" idx="2"/>
          </p:cNvCxnSpPr>
          <p:nvPr/>
        </p:nvCxnSpPr>
        <p:spPr>
          <a:xfrm flipV="1">
            <a:off x="3404405" y="2178499"/>
            <a:ext cx="627125" cy="91707"/>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347" name="Straight Connector 26">
            <a:extLst>
              <a:ext uri="{FF2B5EF4-FFF2-40B4-BE49-F238E27FC236}">
                <a16:creationId xmlns:a16="http://schemas.microsoft.com/office/drawing/2014/main" id="{23B06A93-D225-F115-C88E-BABFC0D0AD99}"/>
              </a:ext>
            </a:extLst>
          </p:cNvPr>
          <p:cNvCxnSpPr>
            <a:cxnSpLocks/>
            <a:stCxn id="21" idx="6"/>
            <a:endCxn id="336" idx="2"/>
          </p:cNvCxnSpPr>
          <p:nvPr/>
        </p:nvCxnSpPr>
        <p:spPr>
          <a:xfrm>
            <a:off x="3404405" y="2270206"/>
            <a:ext cx="627125" cy="195912"/>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350" name="Straight Connector 26">
            <a:extLst>
              <a:ext uri="{FF2B5EF4-FFF2-40B4-BE49-F238E27FC236}">
                <a16:creationId xmlns:a16="http://schemas.microsoft.com/office/drawing/2014/main" id="{5DB324C4-EE33-432C-D825-0ACF423323AD}"/>
              </a:ext>
            </a:extLst>
          </p:cNvPr>
          <p:cNvCxnSpPr>
            <a:cxnSpLocks/>
            <a:stCxn id="146" idx="6"/>
            <a:endCxn id="337" idx="2"/>
          </p:cNvCxnSpPr>
          <p:nvPr/>
        </p:nvCxnSpPr>
        <p:spPr>
          <a:xfrm>
            <a:off x="3390688" y="2618092"/>
            <a:ext cx="650380" cy="100698"/>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54" name="Straight Connector 26">
            <a:extLst>
              <a:ext uri="{FF2B5EF4-FFF2-40B4-BE49-F238E27FC236}">
                <a16:creationId xmlns:a16="http://schemas.microsoft.com/office/drawing/2014/main" id="{52FB7C51-7BB7-45C6-BAF4-869C38357EC3}"/>
              </a:ext>
            </a:extLst>
          </p:cNvPr>
          <p:cNvCxnSpPr>
            <a:cxnSpLocks/>
            <a:stCxn id="146" idx="6"/>
            <a:endCxn id="336" idx="2"/>
          </p:cNvCxnSpPr>
          <p:nvPr/>
        </p:nvCxnSpPr>
        <p:spPr>
          <a:xfrm flipV="1">
            <a:off x="3390688" y="2466118"/>
            <a:ext cx="640841" cy="151973"/>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363" name="Oval 362">
            <a:extLst>
              <a:ext uri="{FF2B5EF4-FFF2-40B4-BE49-F238E27FC236}">
                <a16:creationId xmlns:a16="http://schemas.microsoft.com/office/drawing/2014/main" id="{CF408F53-44D0-6CAB-3E31-D04BC095BDBF}"/>
              </a:ext>
            </a:extLst>
          </p:cNvPr>
          <p:cNvSpPr/>
          <p:nvPr/>
        </p:nvSpPr>
        <p:spPr>
          <a:xfrm>
            <a:off x="5335066" y="2753441"/>
            <a:ext cx="324090" cy="1527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Fab3</a:t>
            </a:r>
          </a:p>
        </p:txBody>
      </p:sp>
      <p:sp>
        <p:nvSpPr>
          <p:cNvPr id="364" name="Oval 363">
            <a:extLst>
              <a:ext uri="{FF2B5EF4-FFF2-40B4-BE49-F238E27FC236}">
                <a16:creationId xmlns:a16="http://schemas.microsoft.com/office/drawing/2014/main" id="{4E553728-B70F-16B7-196F-584E85327A39}"/>
              </a:ext>
            </a:extLst>
          </p:cNvPr>
          <p:cNvSpPr/>
          <p:nvPr/>
        </p:nvSpPr>
        <p:spPr>
          <a:xfrm>
            <a:off x="5330279" y="2976293"/>
            <a:ext cx="324090" cy="152715"/>
          </a:xfrm>
          <a:prstGeom prst="ellips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black"/>
                </a:solidFill>
                <a:latin typeface="Aptos" panose="02110004020202020204"/>
              </a:rPr>
              <a:t>Fab4</a:t>
            </a:r>
          </a:p>
        </p:txBody>
      </p:sp>
      <p:cxnSp>
        <p:nvCxnSpPr>
          <p:cNvPr id="369" name="Straight Connector 26">
            <a:extLst>
              <a:ext uri="{FF2B5EF4-FFF2-40B4-BE49-F238E27FC236}">
                <a16:creationId xmlns:a16="http://schemas.microsoft.com/office/drawing/2014/main" id="{1723E530-DF6E-5E29-16B4-11FBF15B1B40}"/>
              </a:ext>
            </a:extLst>
          </p:cNvPr>
          <p:cNvCxnSpPr>
            <a:cxnSpLocks/>
            <a:stCxn id="337" idx="6"/>
            <a:endCxn id="364" idx="2"/>
          </p:cNvCxnSpPr>
          <p:nvPr/>
        </p:nvCxnSpPr>
        <p:spPr>
          <a:xfrm>
            <a:off x="4448365" y="2718790"/>
            <a:ext cx="881914" cy="333860"/>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70" name="Straight Connector 26">
            <a:extLst>
              <a:ext uri="{FF2B5EF4-FFF2-40B4-BE49-F238E27FC236}">
                <a16:creationId xmlns:a16="http://schemas.microsoft.com/office/drawing/2014/main" id="{1B39DEEC-552B-6583-9111-9A7CF1F02338}"/>
              </a:ext>
            </a:extLst>
          </p:cNvPr>
          <p:cNvCxnSpPr>
            <a:cxnSpLocks/>
            <a:stCxn id="336" idx="6"/>
            <a:endCxn id="363" idx="2"/>
          </p:cNvCxnSpPr>
          <p:nvPr/>
        </p:nvCxnSpPr>
        <p:spPr>
          <a:xfrm>
            <a:off x="4438827" y="2466119"/>
            <a:ext cx="896239" cy="36368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372" name="Straight Connector 26">
            <a:extLst>
              <a:ext uri="{FF2B5EF4-FFF2-40B4-BE49-F238E27FC236}">
                <a16:creationId xmlns:a16="http://schemas.microsoft.com/office/drawing/2014/main" id="{7C16397F-0769-F675-088D-888965E03054}"/>
              </a:ext>
            </a:extLst>
          </p:cNvPr>
          <p:cNvCxnSpPr>
            <a:cxnSpLocks/>
            <a:stCxn id="335" idx="6"/>
            <a:endCxn id="363" idx="2"/>
          </p:cNvCxnSpPr>
          <p:nvPr/>
        </p:nvCxnSpPr>
        <p:spPr>
          <a:xfrm>
            <a:off x="4438827" y="2178499"/>
            <a:ext cx="896239" cy="651299"/>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373" name="Straight Connector 26">
            <a:extLst>
              <a:ext uri="{FF2B5EF4-FFF2-40B4-BE49-F238E27FC236}">
                <a16:creationId xmlns:a16="http://schemas.microsoft.com/office/drawing/2014/main" id="{CC20FCDF-93BD-1E4D-0D10-A0390F3AAF6B}"/>
              </a:ext>
            </a:extLst>
          </p:cNvPr>
          <p:cNvCxnSpPr>
            <a:cxnSpLocks/>
            <a:stCxn id="335" idx="6"/>
            <a:endCxn id="32" idx="2"/>
          </p:cNvCxnSpPr>
          <p:nvPr/>
        </p:nvCxnSpPr>
        <p:spPr>
          <a:xfrm flipV="1">
            <a:off x="4438827" y="2043737"/>
            <a:ext cx="879251" cy="134761"/>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430" name="TextBox 429">
            <a:extLst>
              <a:ext uri="{FF2B5EF4-FFF2-40B4-BE49-F238E27FC236}">
                <a16:creationId xmlns:a16="http://schemas.microsoft.com/office/drawing/2014/main" id="{0852FA0C-EE0D-293C-4439-8D525156408D}"/>
              </a:ext>
            </a:extLst>
          </p:cNvPr>
          <p:cNvSpPr txBox="1"/>
          <p:nvPr/>
        </p:nvSpPr>
        <p:spPr>
          <a:xfrm>
            <a:off x="3442829" y="1678363"/>
            <a:ext cx="582601"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Blister</a:t>
            </a:r>
          </a:p>
          <a:p>
            <a:pPr algn="ctr" defTabSz="244938"/>
            <a:r>
              <a:rPr lang="en-AU" sz="429" i="1" dirty="0">
                <a:solidFill>
                  <a:prstClr val="black"/>
                </a:solidFill>
                <a:latin typeface="Aptos" panose="02110004020202020204"/>
              </a:rPr>
              <a:t>Batch ID</a:t>
            </a:r>
          </a:p>
        </p:txBody>
      </p:sp>
      <p:sp>
        <p:nvSpPr>
          <p:cNvPr id="431" name="TextBox 430">
            <a:extLst>
              <a:ext uri="{FF2B5EF4-FFF2-40B4-BE49-F238E27FC236}">
                <a16:creationId xmlns:a16="http://schemas.microsoft.com/office/drawing/2014/main" id="{09BDA5D0-8854-9FE9-A51C-DF21AAF0FA7E}"/>
              </a:ext>
            </a:extLst>
          </p:cNvPr>
          <p:cNvSpPr txBox="1"/>
          <p:nvPr/>
        </p:nvSpPr>
        <p:spPr>
          <a:xfrm>
            <a:off x="4474097" y="1662520"/>
            <a:ext cx="608081"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Cathode</a:t>
            </a:r>
          </a:p>
          <a:p>
            <a:pPr algn="ctr" defTabSz="244938"/>
            <a:r>
              <a:rPr lang="en-AU" sz="429" i="1" dirty="0">
                <a:solidFill>
                  <a:prstClr val="black"/>
                </a:solidFill>
                <a:latin typeface="Aptos" panose="02110004020202020204"/>
              </a:rPr>
              <a:t>Batch ID</a:t>
            </a:r>
          </a:p>
        </p:txBody>
      </p:sp>
      <p:sp>
        <p:nvSpPr>
          <p:cNvPr id="432" name="TextBox 431">
            <a:extLst>
              <a:ext uri="{FF2B5EF4-FFF2-40B4-BE49-F238E27FC236}">
                <a16:creationId xmlns:a16="http://schemas.microsoft.com/office/drawing/2014/main" id="{BE68F2AF-5BEE-408C-D8A0-1724980C7481}"/>
              </a:ext>
            </a:extLst>
          </p:cNvPr>
          <p:cNvSpPr txBox="1"/>
          <p:nvPr/>
        </p:nvSpPr>
        <p:spPr>
          <a:xfrm>
            <a:off x="3988668" y="1674819"/>
            <a:ext cx="521684"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Refiners</a:t>
            </a:r>
          </a:p>
          <a:p>
            <a:pPr algn="ctr" defTabSz="244938"/>
            <a:r>
              <a:rPr lang="en-AU" sz="429" i="1" dirty="0">
                <a:solidFill>
                  <a:prstClr val="black"/>
                </a:solidFill>
                <a:latin typeface="Aptos" panose="02110004020202020204"/>
              </a:rPr>
              <a:t>RMI ID/ ICA ID</a:t>
            </a:r>
          </a:p>
        </p:txBody>
      </p:sp>
      <p:cxnSp>
        <p:nvCxnSpPr>
          <p:cNvPr id="440" name="Straight Connector 26">
            <a:extLst>
              <a:ext uri="{FF2B5EF4-FFF2-40B4-BE49-F238E27FC236}">
                <a16:creationId xmlns:a16="http://schemas.microsoft.com/office/drawing/2014/main" id="{E8BFA7A9-6DFE-B231-B7AC-3B416EBAF89C}"/>
              </a:ext>
            </a:extLst>
          </p:cNvPr>
          <p:cNvCxnSpPr>
            <a:cxnSpLocks/>
            <a:stCxn id="32" idx="6"/>
            <a:endCxn id="444" idx="1"/>
          </p:cNvCxnSpPr>
          <p:nvPr/>
        </p:nvCxnSpPr>
        <p:spPr>
          <a:xfrm>
            <a:off x="5661716" y="2043737"/>
            <a:ext cx="290305" cy="5813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41" name="Straight Connector 26">
            <a:extLst>
              <a:ext uri="{FF2B5EF4-FFF2-40B4-BE49-F238E27FC236}">
                <a16:creationId xmlns:a16="http://schemas.microsoft.com/office/drawing/2014/main" id="{60796EE4-D6D5-010C-ED1D-20D7A72BF164}"/>
              </a:ext>
            </a:extLst>
          </p:cNvPr>
          <p:cNvCxnSpPr>
            <a:cxnSpLocks/>
            <a:stCxn id="32" idx="6"/>
            <a:endCxn id="488" idx="1"/>
          </p:cNvCxnSpPr>
          <p:nvPr/>
        </p:nvCxnSpPr>
        <p:spPr>
          <a:xfrm flipV="1">
            <a:off x="5661716" y="1941512"/>
            <a:ext cx="199300" cy="102226"/>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42" name="Straight Connector 26">
            <a:extLst>
              <a:ext uri="{FF2B5EF4-FFF2-40B4-BE49-F238E27FC236}">
                <a16:creationId xmlns:a16="http://schemas.microsoft.com/office/drawing/2014/main" id="{C0C0AF48-873A-1A97-892B-9EEB981FA5B9}"/>
              </a:ext>
            </a:extLst>
          </p:cNvPr>
          <p:cNvCxnSpPr>
            <a:cxnSpLocks/>
            <a:stCxn id="363" idx="6"/>
            <a:endCxn id="458" idx="2"/>
          </p:cNvCxnSpPr>
          <p:nvPr/>
        </p:nvCxnSpPr>
        <p:spPr>
          <a:xfrm>
            <a:off x="5659156" y="2829799"/>
            <a:ext cx="887289" cy="10935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43" name="Straight Connector 26">
            <a:extLst>
              <a:ext uri="{FF2B5EF4-FFF2-40B4-BE49-F238E27FC236}">
                <a16:creationId xmlns:a16="http://schemas.microsoft.com/office/drawing/2014/main" id="{2E44FEE5-DDED-6390-C06C-02CA33BD4811}"/>
              </a:ext>
            </a:extLst>
          </p:cNvPr>
          <p:cNvCxnSpPr>
            <a:cxnSpLocks/>
            <a:stCxn id="363" idx="6"/>
            <a:endCxn id="446" idx="1"/>
          </p:cNvCxnSpPr>
          <p:nvPr/>
        </p:nvCxnSpPr>
        <p:spPr>
          <a:xfrm flipV="1">
            <a:off x="5659156" y="2766100"/>
            <a:ext cx="205836" cy="63699"/>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456" name="Oval 455">
            <a:extLst>
              <a:ext uri="{FF2B5EF4-FFF2-40B4-BE49-F238E27FC236}">
                <a16:creationId xmlns:a16="http://schemas.microsoft.com/office/drawing/2014/main" id="{53062615-2D5D-B263-7F3E-194E9AA53963}"/>
              </a:ext>
            </a:extLst>
          </p:cNvPr>
          <p:cNvSpPr/>
          <p:nvPr/>
        </p:nvSpPr>
        <p:spPr>
          <a:xfrm>
            <a:off x="6534138" y="2220316"/>
            <a:ext cx="343639" cy="1527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Manf2</a:t>
            </a:r>
          </a:p>
        </p:txBody>
      </p:sp>
      <p:sp>
        <p:nvSpPr>
          <p:cNvPr id="457" name="Oval 456">
            <a:extLst>
              <a:ext uri="{FF2B5EF4-FFF2-40B4-BE49-F238E27FC236}">
                <a16:creationId xmlns:a16="http://schemas.microsoft.com/office/drawing/2014/main" id="{E8F81661-2D58-F66B-1F81-0C748AF569B9}"/>
              </a:ext>
            </a:extLst>
          </p:cNvPr>
          <p:cNvSpPr/>
          <p:nvPr/>
        </p:nvSpPr>
        <p:spPr>
          <a:xfrm>
            <a:off x="6547814" y="2533444"/>
            <a:ext cx="324090" cy="152715"/>
          </a:xfrm>
          <a:prstGeom prst="ellips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black"/>
                </a:solidFill>
                <a:latin typeface="Aptos" panose="02110004020202020204"/>
              </a:rPr>
              <a:t>Manf3</a:t>
            </a:r>
          </a:p>
        </p:txBody>
      </p:sp>
      <p:sp>
        <p:nvSpPr>
          <p:cNvPr id="458" name="Oval 457">
            <a:extLst>
              <a:ext uri="{FF2B5EF4-FFF2-40B4-BE49-F238E27FC236}">
                <a16:creationId xmlns:a16="http://schemas.microsoft.com/office/drawing/2014/main" id="{EB45951B-BF62-8FCC-85D6-AF620611F260}"/>
              </a:ext>
            </a:extLst>
          </p:cNvPr>
          <p:cNvSpPr/>
          <p:nvPr/>
        </p:nvSpPr>
        <p:spPr>
          <a:xfrm>
            <a:off x="6546445" y="2862792"/>
            <a:ext cx="324090" cy="1527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Manf4</a:t>
            </a:r>
          </a:p>
        </p:txBody>
      </p:sp>
      <p:sp>
        <p:nvSpPr>
          <p:cNvPr id="460" name="TextBox 459">
            <a:extLst>
              <a:ext uri="{FF2B5EF4-FFF2-40B4-BE49-F238E27FC236}">
                <a16:creationId xmlns:a16="http://schemas.microsoft.com/office/drawing/2014/main" id="{1CC94460-C2F8-F771-234B-71D3204B0A14}"/>
              </a:ext>
            </a:extLst>
          </p:cNvPr>
          <p:cNvSpPr txBox="1"/>
          <p:nvPr/>
        </p:nvSpPr>
        <p:spPr>
          <a:xfrm>
            <a:off x="6375007" y="1790110"/>
            <a:ext cx="648771" cy="3013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Cell Factory</a:t>
            </a:r>
          </a:p>
          <a:p>
            <a:pPr algn="ctr" defTabSz="244938"/>
            <a:r>
              <a:rPr lang="en-AU" sz="429" i="1" dirty="0">
                <a:solidFill>
                  <a:prstClr val="black"/>
                </a:solidFill>
                <a:latin typeface="Aptos" panose="02110004020202020204"/>
              </a:rPr>
              <a:t>OSH ID or</a:t>
            </a:r>
          </a:p>
          <a:p>
            <a:pPr algn="ctr" defTabSz="244938"/>
            <a:r>
              <a:rPr lang="en-AU" sz="429" i="1" dirty="0">
                <a:solidFill>
                  <a:prstClr val="black"/>
                </a:solidFill>
                <a:latin typeface="Aptos" panose="02110004020202020204"/>
              </a:rPr>
              <a:t>Catena-x ID</a:t>
            </a:r>
          </a:p>
        </p:txBody>
      </p:sp>
      <p:cxnSp>
        <p:nvCxnSpPr>
          <p:cNvPr id="461" name="Straight Connector 26">
            <a:extLst>
              <a:ext uri="{FF2B5EF4-FFF2-40B4-BE49-F238E27FC236}">
                <a16:creationId xmlns:a16="http://schemas.microsoft.com/office/drawing/2014/main" id="{538D9D34-572D-F996-B183-42033E8CD220}"/>
              </a:ext>
            </a:extLst>
          </p:cNvPr>
          <p:cNvCxnSpPr>
            <a:cxnSpLocks/>
            <a:stCxn id="456" idx="6"/>
            <a:endCxn id="465" idx="1"/>
          </p:cNvCxnSpPr>
          <p:nvPr/>
        </p:nvCxnSpPr>
        <p:spPr>
          <a:xfrm flipV="1">
            <a:off x="6877775" y="2268395"/>
            <a:ext cx="239332" cy="28277"/>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62" name="Straight Connector 26">
            <a:extLst>
              <a:ext uri="{FF2B5EF4-FFF2-40B4-BE49-F238E27FC236}">
                <a16:creationId xmlns:a16="http://schemas.microsoft.com/office/drawing/2014/main" id="{D5C74B20-238A-75E2-31C6-B139090AC922}"/>
              </a:ext>
            </a:extLst>
          </p:cNvPr>
          <p:cNvCxnSpPr>
            <a:cxnSpLocks/>
            <a:stCxn id="457" idx="6"/>
            <a:endCxn id="467" idx="1"/>
          </p:cNvCxnSpPr>
          <p:nvPr/>
        </p:nvCxnSpPr>
        <p:spPr>
          <a:xfrm>
            <a:off x="6871904" y="2609801"/>
            <a:ext cx="245205" cy="64569"/>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464" name="Straight Connector 26">
            <a:extLst>
              <a:ext uri="{FF2B5EF4-FFF2-40B4-BE49-F238E27FC236}">
                <a16:creationId xmlns:a16="http://schemas.microsoft.com/office/drawing/2014/main" id="{C567D13B-5FE2-1B66-5CD1-DDBCD681C183}"/>
              </a:ext>
            </a:extLst>
          </p:cNvPr>
          <p:cNvCxnSpPr>
            <a:cxnSpLocks/>
            <a:stCxn id="458" idx="6"/>
            <a:endCxn id="468" idx="1"/>
          </p:cNvCxnSpPr>
          <p:nvPr/>
        </p:nvCxnSpPr>
        <p:spPr>
          <a:xfrm flipV="1">
            <a:off x="6870535" y="2874578"/>
            <a:ext cx="246574" cy="6457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470" name="TextBox 469">
            <a:extLst>
              <a:ext uri="{FF2B5EF4-FFF2-40B4-BE49-F238E27FC236}">
                <a16:creationId xmlns:a16="http://schemas.microsoft.com/office/drawing/2014/main" id="{94539FFF-D8CB-98F7-9502-DCD70A4C64B2}"/>
              </a:ext>
            </a:extLst>
          </p:cNvPr>
          <p:cNvSpPr txBox="1"/>
          <p:nvPr/>
        </p:nvSpPr>
        <p:spPr>
          <a:xfrm>
            <a:off x="6982019" y="1797175"/>
            <a:ext cx="530585" cy="3013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Batteries</a:t>
            </a:r>
          </a:p>
          <a:p>
            <a:pPr algn="ctr" defTabSz="244938"/>
            <a:r>
              <a:rPr lang="en-AU" sz="429" i="1" dirty="0">
                <a:solidFill>
                  <a:prstClr val="black"/>
                </a:solidFill>
                <a:latin typeface="Aptos" panose="02110004020202020204"/>
              </a:rPr>
              <a:t>Model id</a:t>
            </a:r>
          </a:p>
          <a:p>
            <a:pPr algn="ctr" defTabSz="244938"/>
            <a:r>
              <a:rPr lang="en-AU" sz="429" i="1" dirty="0">
                <a:solidFill>
                  <a:prstClr val="black"/>
                </a:solidFill>
                <a:latin typeface="Aptos" panose="02110004020202020204"/>
              </a:rPr>
              <a:t>Serial id</a:t>
            </a:r>
          </a:p>
        </p:txBody>
      </p:sp>
      <p:cxnSp>
        <p:nvCxnSpPr>
          <p:cNvPr id="485" name="Straight Connector 26">
            <a:extLst>
              <a:ext uri="{FF2B5EF4-FFF2-40B4-BE49-F238E27FC236}">
                <a16:creationId xmlns:a16="http://schemas.microsoft.com/office/drawing/2014/main" id="{31BE97E9-ED80-9DC1-FF24-AA711BB6C74D}"/>
              </a:ext>
            </a:extLst>
          </p:cNvPr>
          <p:cNvCxnSpPr>
            <a:cxnSpLocks/>
            <a:stCxn id="364" idx="6"/>
            <a:endCxn id="458" idx="2"/>
          </p:cNvCxnSpPr>
          <p:nvPr/>
        </p:nvCxnSpPr>
        <p:spPr>
          <a:xfrm flipV="1">
            <a:off x="5654369" y="2939149"/>
            <a:ext cx="892075" cy="113502"/>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444" name="Diamond 443">
            <a:extLst>
              <a:ext uri="{FF2B5EF4-FFF2-40B4-BE49-F238E27FC236}">
                <a16:creationId xmlns:a16="http://schemas.microsoft.com/office/drawing/2014/main" id="{AB128F94-095B-6DE0-DAC1-52BFDA436D61}"/>
              </a:ext>
            </a:extLst>
          </p:cNvPr>
          <p:cNvSpPr/>
          <p:nvPr/>
        </p:nvSpPr>
        <p:spPr>
          <a:xfrm>
            <a:off x="5952020" y="2038126"/>
            <a:ext cx="241514" cy="127488"/>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P3</a:t>
            </a:r>
          </a:p>
        </p:txBody>
      </p:sp>
      <p:sp>
        <p:nvSpPr>
          <p:cNvPr id="447" name="Diamond 446">
            <a:extLst>
              <a:ext uri="{FF2B5EF4-FFF2-40B4-BE49-F238E27FC236}">
                <a16:creationId xmlns:a16="http://schemas.microsoft.com/office/drawing/2014/main" id="{B7105524-47E3-79F6-4DDA-53EBF54E69A1}"/>
              </a:ext>
            </a:extLst>
          </p:cNvPr>
          <p:cNvSpPr/>
          <p:nvPr/>
        </p:nvSpPr>
        <p:spPr>
          <a:xfrm>
            <a:off x="6019565" y="2833854"/>
            <a:ext cx="245777" cy="129140"/>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P5</a:t>
            </a:r>
          </a:p>
        </p:txBody>
      </p:sp>
      <p:sp>
        <p:nvSpPr>
          <p:cNvPr id="488" name="Diamond 487">
            <a:extLst>
              <a:ext uri="{FF2B5EF4-FFF2-40B4-BE49-F238E27FC236}">
                <a16:creationId xmlns:a16="http://schemas.microsoft.com/office/drawing/2014/main" id="{E2ACCAB3-1A56-FE35-C2FB-BCE045F9EEBE}"/>
              </a:ext>
            </a:extLst>
          </p:cNvPr>
          <p:cNvSpPr/>
          <p:nvPr/>
        </p:nvSpPr>
        <p:spPr>
          <a:xfrm>
            <a:off x="5861017" y="1873244"/>
            <a:ext cx="268043" cy="136535"/>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P2</a:t>
            </a:r>
          </a:p>
        </p:txBody>
      </p:sp>
      <p:cxnSp>
        <p:nvCxnSpPr>
          <p:cNvPr id="516" name="Straight Connector 26">
            <a:extLst>
              <a:ext uri="{FF2B5EF4-FFF2-40B4-BE49-F238E27FC236}">
                <a16:creationId xmlns:a16="http://schemas.microsoft.com/office/drawing/2014/main" id="{C18C84F1-78AA-B557-4BB6-CD8C4294F794}"/>
              </a:ext>
            </a:extLst>
          </p:cNvPr>
          <p:cNvCxnSpPr>
            <a:cxnSpLocks/>
            <a:stCxn id="457" idx="6"/>
            <a:endCxn id="466" idx="1"/>
          </p:cNvCxnSpPr>
          <p:nvPr/>
        </p:nvCxnSpPr>
        <p:spPr>
          <a:xfrm flipV="1">
            <a:off x="6871903" y="2461059"/>
            <a:ext cx="245204" cy="148741"/>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465" name="Diamond 464">
            <a:extLst>
              <a:ext uri="{FF2B5EF4-FFF2-40B4-BE49-F238E27FC236}">
                <a16:creationId xmlns:a16="http://schemas.microsoft.com/office/drawing/2014/main" id="{4C4A9CD4-D0DA-0FD4-B81D-17E2F5991E51}"/>
              </a:ext>
            </a:extLst>
          </p:cNvPr>
          <p:cNvSpPr/>
          <p:nvPr/>
        </p:nvSpPr>
        <p:spPr>
          <a:xfrm>
            <a:off x="7117107" y="2203825"/>
            <a:ext cx="239651" cy="129140"/>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P12</a:t>
            </a:r>
          </a:p>
        </p:txBody>
      </p:sp>
      <p:sp>
        <p:nvSpPr>
          <p:cNvPr id="466" name="Diamond 465">
            <a:extLst>
              <a:ext uri="{FF2B5EF4-FFF2-40B4-BE49-F238E27FC236}">
                <a16:creationId xmlns:a16="http://schemas.microsoft.com/office/drawing/2014/main" id="{25BA4069-E568-16CA-105A-85EBB60C554B}"/>
              </a:ext>
            </a:extLst>
          </p:cNvPr>
          <p:cNvSpPr/>
          <p:nvPr/>
        </p:nvSpPr>
        <p:spPr>
          <a:xfrm>
            <a:off x="7117109" y="2396490"/>
            <a:ext cx="246049" cy="129140"/>
          </a:xfrm>
          <a:prstGeom prst="diamond">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black"/>
                </a:solidFill>
                <a:latin typeface="Aptos" panose="02110004020202020204"/>
              </a:rPr>
              <a:t>P13</a:t>
            </a:r>
          </a:p>
        </p:txBody>
      </p:sp>
      <p:sp>
        <p:nvSpPr>
          <p:cNvPr id="467" name="Diamond 466">
            <a:extLst>
              <a:ext uri="{FF2B5EF4-FFF2-40B4-BE49-F238E27FC236}">
                <a16:creationId xmlns:a16="http://schemas.microsoft.com/office/drawing/2014/main" id="{6ABC1E4E-C492-3C07-23FE-C5D3F9A3F8D5}"/>
              </a:ext>
            </a:extLst>
          </p:cNvPr>
          <p:cNvSpPr/>
          <p:nvPr/>
        </p:nvSpPr>
        <p:spPr>
          <a:xfrm>
            <a:off x="7117109" y="2609800"/>
            <a:ext cx="242709" cy="129140"/>
          </a:xfrm>
          <a:prstGeom prst="diamond">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black"/>
                </a:solidFill>
                <a:latin typeface="Aptos" panose="02110004020202020204"/>
              </a:rPr>
              <a:t>P14</a:t>
            </a:r>
          </a:p>
        </p:txBody>
      </p:sp>
      <p:sp>
        <p:nvSpPr>
          <p:cNvPr id="468" name="Diamond 467">
            <a:extLst>
              <a:ext uri="{FF2B5EF4-FFF2-40B4-BE49-F238E27FC236}">
                <a16:creationId xmlns:a16="http://schemas.microsoft.com/office/drawing/2014/main" id="{02D60291-EA90-5319-32EF-A04FEE0D0A5F}"/>
              </a:ext>
            </a:extLst>
          </p:cNvPr>
          <p:cNvSpPr/>
          <p:nvPr/>
        </p:nvSpPr>
        <p:spPr>
          <a:xfrm>
            <a:off x="7117109" y="2810009"/>
            <a:ext cx="226587" cy="129140"/>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P15</a:t>
            </a:r>
          </a:p>
        </p:txBody>
      </p:sp>
      <p:sp>
        <p:nvSpPr>
          <p:cNvPr id="674" name="Rounded Rectangle 673">
            <a:extLst>
              <a:ext uri="{FF2B5EF4-FFF2-40B4-BE49-F238E27FC236}">
                <a16:creationId xmlns:a16="http://schemas.microsoft.com/office/drawing/2014/main" id="{4A934C3C-F8DE-9621-8407-0BAA9874D35D}"/>
              </a:ext>
            </a:extLst>
          </p:cNvPr>
          <p:cNvSpPr/>
          <p:nvPr/>
        </p:nvSpPr>
        <p:spPr>
          <a:xfrm>
            <a:off x="1890120" y="726613"/>
            <a:ext cx="487378" cy="7155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675" name="Rounded Rectangle 674">
            <a:extLst>
              <a:ext uri="{FF2B5EF4-FFF2-40B4-BE49-F238E27FC236}">
                <a16:creationId xmlns:a16="http://schemas.microsoft.com/office/drawing/2014/main" id="{20747E67-60C3-CE0C-5695-B65F418D04B9}"/>
              </a:ext>
            </a:extLst>
          </p:cNvPr>
          <p:cNvSpPr/>
          <p:nvPr/>
        </p:nvSpPr>
        <p:spPr>
          <a:xfrm>
            <a:off x="2419187" y="726613"/>
            <a:ext cx="487378" cy="71554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676" name="Rounded Rectangle 675">
            <a:extLst>
              <a:ext uri="{FF2B5EF4-FFF2-40B4-BE49-F238E27FC236}">
                <a16:creationId xmlns:a16="http://schemas.microsoft.com/office/drawing/2014/main" id="{8B1DEDC3-DB9F-9791-753C-A2646EEAD803}"/>
              </a:ext>
            </a:extLst>
          </p:cNvPr>
          <p:cNvSpPr/>
          <p:nvPr/>
        </p:nvSpPr>
        <p:spPr>
          <a:xfrm>
            <a:off x="2955451" y="725052"/>
            <a:ext cx="487378" cy="7155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677" name="Rounded Rectangle 676">
            <a:extLst>
              <a:ext uri="{FF2B5EF4-FFF2-40B4-BE49-F238E27FC236}">
                <a16:creationId xmlns:a16="http://schemas.microsoft.com/office/drawing/2014/main" id="{976DF7AA-54F0-6B62-0B3F-37098645BAAA}"/>
              </a:ext>
            </a:extLst>
          </p:cNvPr>
          <p:cNvSpPr/>
          <p:nvPr/>
        </p:nvSpPr>
        <p:spPr>
          <a:xfrm>
            <a:off x="3482856" y="725052"/>
            <a:ext cx="487378" cy="71554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678" name="Rounded Rectangle 677">
            <a:extLst>
              <a:ext uri="{FF2B5EF4-FFF2-40B4-BE49-F238E27FC236}">
                <a16:creationId xmlns:a16="http://schemas.microsoft.com/office/drawing/2014/main" id="{2C7B947C-1C3E-7E22-DA56-3A99CB15BCBB}"/>
              </a:ext>
            </a:extLst>
          </p:cNvPr>
          <p:cNvSpPr/>
          <p:nvPr/>
        </p:nvSpPr>
        <p:spPr>
          <a:xfrm>
            <a:off x="4011443" y="725052"/>
            <a:ext cx="487378" cy="7155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679" name="Rounded Rectangle 678">
            <a:extLst>
              <a:ext uri="{FF2B5EF4-FFF2-40B4-BE49-F238E27FC236}">
                <a16:creationId xmlns:a16="http://schemas.microsoft.com/office/drawing/2014/main" id="{AD68647D-2F1A-69C5-FB2C-50B662028068}"/>
              </a:ext>
            </a:extLst>
          </p:cNvPr>
          <p:cNvSpPr/>
          <p:nvPr/>
        </p:nvSpPr>
        <p:spPr>
          <a:xfrm>
            <a:off x="4540029" y="725052"/>
            <a:ext cx="487378" cy="71554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srgbClr val="156082"/>
              </a:solidFill>
              <a:latin typeface="Aptos" panose="02110004020202020204"/>
            </a:endParaRPr>
          </a:p>
        </p:txBody>
      </p:sp>
      <p:sp>
        <p:nvSpPr>
          <p:cNvPr id="685" name="Rounded Rectangle 684">
            <a:extLst>
              <a:ext uri="{FF2B5EF4-FFF2-40B4-BE49-F238E27FC236}">
                <a16:creationId xmlns:a16="http://schemas.microsoft.com/office/drawing/2014/main" id="{C8045C6E-F247-5835-EB21-6A5954E81ED8}"/>
              </a:ext>
            </a:extLst>
          </p:cNvPr>
          <p:cNvSpPr/>
          <p:nvPr/>
        </p:nvSpPr>
        <p:spPr>
          <a:xfrm>
            <a:off x="6468828" y="748265"/>
            <a:ext cx="487378" cy="78353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686" name="Rounded Rectangle 685">
            <a:extLst>
              <a:ext uri="{FF2B5EF4-FFF2-40B4-BE49-F238E27FC236}">
                <a16:creationId xmlns:a16="http://schemas.microsoft.com/office/drawing/2014/main" id="{4F6281E8-1770-7456-7A96-2ACA666990D4}"/>
              </a:ext>
            </a:extLst>
          </p:cNvPr>
          <p:cNvSpPr/>
          <p:nvPr/>
        </p:nvSpPr>
        <p:spPr>
          <a:xfrm>
            <a:off x="6997159" y="748266"/>
            <a:ext cx="487378" cy="783532"/>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687" name="TextBox 686">
            <a:extLst>
              <a:ext uri="{FF2B5EF4-FFF2-40B4-BE49-F238E27FC236}">
                <a16:creationId xmlns:a16="http://schemas.microsoft.com/office/drawing/2014/main" id="{01F8F407-8082-A0C6-8344-C707A7816074}"/>
              </a:ext>
            </a:extLst>
          </p:cNvPr>
          <p:cNvSpPr txBox="1"/>
          <p:nvPr/>
        </p:nvSpPr>
        <p:spPr>
          <a:xfrm>
            <a:off x="1863758" y="708523"/>
            <a:ext cx="530585"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Mines</a:t>
            </a:r>
          </a:p>
          <a:p>
            <a:pPr algn="ctr" defTabSz="244938"/>
            <a:r>
              <a:rPr lang="en-AU" sz="429" i="1" dirty="0">
                <a:solidFill>
                  <a:prstClr val="black"/>
                </a:solidFill>
                <a:latin typeface="Aptos" panose="02110004020202020204"/>
              </a:rPr>
              <a:t>ID from permit</a:t>
            </a:r>
          </a:p>
        </p:txBody>
      </p:sp>
      <p:sp>
        <p:nvSpPr>
          <p:cNvPr id="688" name="TextBox 687">
            <a:extLst>
              <a:ext uri="{FF2B5EF4-FFF2-40B4-BE49-F238E27FC236}">
                <a16:creationId xmlns:a16="http://schemas.microsoft.com/office/drawing/2014/main" id="{CB2AE1B1-F6F0-1151-2EC8-6F9936FD629C}"/>
              </a:ext>
            </a:extLst>
          </p:cNvPr>
          <p:cNvSpPr txBox="1"/>
          <p:nvPr/>
        </p:nvSpPr>
        <p:spPr>
          <a:xfrm>
            <a:off x="2312640" y="708524"/>
            <a:ext cx="689949"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Concentrate</a:t>
            </a:r>
          </a:p>
          <a:p>
            <a:pPr algn="ctr" defTabSz="244938"/>
            <a:r>
              <a:rPr lang="en-AU" sz="429" i="1" dirty="0">
                <a:solidFill>
                  <a:prstClr val="black"/>
                </a:solidFill>
                <a:latin typeface="Aptos" panose="02110004020202020204"/>
              </a:rPr>
              <a:t>Batch ID</a:t>
            </a:r>
          </a:p>
        </p:txBody>
      </p:sp>
      <p:sp>
        <p:nvSpPr>
          <p:cNvPr id="689" name="TextBox 688">
            <a:extLst>
              <a:ext uri="{FF2B5EF4-FFF2-40B4-BE49-F238E27FC236}">
                <a16:creationId xmlns:a16="http://schemas.microsoft.com/office/drawing/2014/main" id="{0BC52D4A-FD7D-8200-4D15-C128B8EDA858}"/>
              </a:ext>
            </a:extLst>
          </p:cNvPr>
          <p:cNvSpPr txBox="1"/>
          <p:nvPr/>
        </p:nvSpPr>
        <p:spPr>
          <a:xfrm>
            <a:off x="2934121" y="714907"/>
            <a:ext cx="530585"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Smelters</a:t>
            </a:r>
          </a:p>
          <a:p>
            <a:pPr algn="ctr" defTabSz="244938"/>
            <a:r>
              <a:rPr lang="en-AU" sz="429" i="1" dirty="0">
                <a:solidFill>
                  <a:prstClr val="black"/>
                </a:solidFill>
                <a:latin typeface="Aptos" panose="02110004020202020204"/>
              </a:rPr>
              <a:t>RMI ID</a:t>
            </a:r>
          </a:p>
        </p:txBody>
      </p:sp>
      <p:sp>
        <p:nvSpPr>
          <p:cNvPr id="690" name="TextBox 689">
            <a:extLst>
              <a:ext uri="{FF2B5EF4-FFF2-40B4-BE49-F238E27FC236}">
                <a16:creationId xmlns:a16="http://schemas.microsoft.com/office/drawing/2014/main" id="{0B1F93DE-0C5E-F94C-001F-DDC365494D76}"/>
              </a:ext>
            </a:extLst>
          </p:cNvPr>
          <p:cNvSpPr txBox="1"/>
          <p:nvPr/>
        </p:nvSpPr>
        <p:spPr>
          <a:xfrm>
            <a:off x="3437535" y="708524"/>
            <a:ext cx="582601"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Crude metal</a:t>
            </a:r>
          </a:p>
          <a:p>
            <a:pPr algn="ctr" defTabSz="244938"/>
            <a:r>
              <a:rPr lang="en-AU" sz="429" i="1" dirty="0">
                <a:solidFill>
                  <a:prstClr val="black"/>
                </a:solidFill>
                <a:latin typeface="Aptos" panose="02110004020202020204"/>
              </a:rPr>
              <a:t>Batch ID</a:t>
            </a:r>
          </a:p>
        </p:txBody>
      </p:sp>
      <p:sp>
        <p:nvSpPr>
          <p:cNvPr id="691" name="TextBox 690">
            <a:extLst>
              <a:ext uri="{FF2B5EF4-FFF2-40B4-BE49-F238E27FC236}">
                <a16:creationId xmlns:a16="http://schemas.microsoft.com/office/drawing/2014/main" id="{75CB5891-24BB-237D-392F-D7788A6F7915}"/>
              </a:ext>
            </a:extLst>
          </p:cNvPr>
          <p:cNvSpPr txBox="1"/>
          <p:nvPr/>
        </p:nvSpPr>
        <p:spPr>
          <a:xfrm>
            <a:off x="4479181" y="708524"/>
            <a:ext cx="608081"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Pure metal</a:t>
            </a:r>
          </a:p>
          <a:p>
            <a:pPr algn="ctr" defTabSz="244938"/>
            <a:r>
              <a:rPr lang="en-AU" sz="429" i="1" dirty="0">
                <a:solidFill>
                  <a:prstClr val="black"/>
                </a:solidFill>
                <a:latin typeface="Aptos" panose="02110004020202020204"/>
              </a:rPr>
              <a:t>Batch ID</a:t>
            </a:r>
          </a:p>
        </p:txBody>
      </p:sp>
      <p:sp>
        <p:nvSpPr>
          <p:cNvPr id="692" name="TextBox 691">
            <a:extLst>
              <a:ext uri="{FF2B5EF4-FFF2-40B4-BE49-F238E27FC236}">
                <a16:creationId xmlns:a16="http://schemas.microsoft.com/office/drawing/2014/main" id="{1A909128-F525-4137-42A6-16B1D66CF8F7}"/>
              </a:ext>
            </a:extLst>
          </p:cNvPr>
          <p:cNvSpPr txBox="1"/>
          <p:nvPr/>
        </p:nvSpPr>
        <p:spPr>
          <a:xfrm>
            <a:off x="4030294" y="708524"/>
            <a:ext cx="448686"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Refiners</a:t>
            </a:r>
          </a:p>
          <a:p>
            <a:pPr algn="ctr" defTabSz="244938"/>
            <a:r>
              <a:rPr lang="en-AU" sz="429" i="1" dirty="0">
                <a:solidFill>
                  <a:prstClr val="black"/>
                </a:solidFill>
                <a:latin typeface="Aptos" panose="02110004020202020204"/>
              </a:rPr>
              <a:t>RMI ID</a:t>
            </a:r>
          </a:p>
        </p:txBody>
      </p:sp>
      <p:sp>
        <p:nvSpPr>
          <p:cNvPr id="716" name="TextBox 715">
            <a:extLst>
              <a:ext uri="{FF2B5EF4-FFF2-40B4-BE49-F238E27FC236}">
                <a16:creationId xmlns:a16="http://schemas.microsoft.com/office/drawing/2014/main" id="{234CEB48-FFDD-3D77-D8AE-96E0DA0B257A}"/>
              </a:ext>
            </a:extLst>
          </p:cNvPr>
          <p:cNvSpPr txBox="1"/>
          <p:nvPr/>
        </p:nvSpPr>
        <p:spPr>
          <a:xfrm>
            <a:off x="6942275" y="4355037"/>
            <a:ext cx="608081" cy="3013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Seats</a:t>
            </a:r>
          </a:p>
          <a:p>
            <a:pPr algn="ctr" defTabSz="244938"/>
            <a:r>
              <a:rPr lang="en-AU" sz="429" i="1" dirty="0">
                <a:solidFill>
                  <a:prstClr val="black"/>
                </a:solidFill>
                <a:latin typeface="Aptos" panose="02110004020202020204"/>
              </a:rPr>
              <a:t>Model id</a:t>
            </a:r>
          </a:p>
          <a:p>
            <a:pPr algn="ctr" defTabSz="244938"/>
            <a:r>
              <a:rPr lang="en-AU" sz="429" i="1" dirty="0">
                <a:solidFill>
                  <a:prstClr val="black"/>
                </a:solidFill>
                <a:latin typeface="Aptos" panose="02110004020202020204"/>
              </a:rPr>
              <a:t>Serial id</a:t>
            </a:r>
          </a:p>
        </p:txBody>
      </p:sp>
      <p:sp>
        <p:nvSpPr>
          <p:cNvPr id="717" name="TextBox 716">
            <a:extLst>
              <a:ext uri="{FF2B5EF4-FFF2-40B4-BE49-F238E27FC236}">
                <a16:creationId xmlns:a16="http://schemas.microsoft.com/office/drawing/2014/main" id="{9151A8AD-3DF1-8887-7162-77C7CABD0028}"/>
              </a:ext>
            </a:extLst>
          </p:cNvPr>
          <p:cNvSpPr txBox="1"/>
          <p:nvPr/>
        </p:nvSpPr>
        <p:spPr>
          <a:xfrm>
            <a:off x="6390942" y="4355037"/>
            <a:ext cx="651348"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Parts factory</a:t>
            </a:r>
          </a:p>
          <a:p>
            <a:pPr algn="ctr" defTabSz="244938"/>
            <a:r>
              <a:rPr lang="en-AU" sz="429" i="1" dirty="0">
                <a:solidFill>
                  <a:prstClr val="black"/>
                </a:solidFill>
                <a:latin typeface="Aptos" panose="02110004020202020204"/>
              </a:rPr>
              <a:t>OSH ID / GLN</a:t>
            </a:r>
          </a:p>
        </p:txBody>
      </p:sp>
      <p:cxnSp>
        <p:nvCxnSpPr>
          <p:cNvPr id="463" name="Straight Connector 26">
            <a:extLst>
              <a:ext uri="{FF2B5EF4-FFF2-40B4-BE49-F238E27FC236}">
                <a16:creationId xmlns:a16="http://schemas.microsoft.com/office/drawing/2014/main" id="{50AF36E4-DCB5-8C3F-9BC4-65E1EDADB89E}"/>
              </a:ext>
            </a:extLst>
          </p:cNvPr>
          <p:cNvCxnSpPr>
            <a:cxnSpLocks/>
            <a:stCxn id="494" idx="6"/>
            <a:endCxn id="501" idx="1"/>
          </p:cNvCxnSpPr>
          <p:nvPr/>
        </p:nvCxnSpPr>
        <p:spPr>
          <a:xfrm flipV="1">
            <a:off x="8124940" y="3965780"/>
            <a:ext cx="196949" cy="120022"/>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493" name="Oval 492">
            <a:extLst>
              <a:ext uri="{FF2B5EF4-FFF2-40B4-BE49-F238E27FC236}">
                <a16:creationId xmlns:a16="http://schemas.microsoft.com/office/drawing/2014/main" id="{D6ACC023-8F78-65D1-F9CE-9D3A0098B3F9}"/>
              </a:ext>
            </a:extLst>
          </p:cNvPr>
          <p:cNvSpPr/>
          <p:nvPr/>
        </p:nvSpPr>
        <p:spPr>
          <a:xfrm>
            <a:off x="7811801" y="3501042"/>
            <a:ext cx="343639" cy="14783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Plant3</a:t>
            </a:r>
          </a:p>
        </p:txBody>
      </p:sp>
      <p:sp>
        <p:nvSpPr>
          <p:cNvPr id="494" name="Oval 493">
            <a:extLst>
              <a:ext uri="{FF2B5EF4-FFF2-40B4-BE49-F238E27FC236}">
                <a16:creationId xmlns:a16="http://schemas.microsoft.com/office/drawing/2014/main" id="{4A824214-7B47-4119-A409-F0BD0842B315}"/>
              </a:ext>
            </a:extLst>
          </p:cNvPr>
          <p:cNvSpPr/>
          <p:nvPr/>
        </p:nvSpPr>
        <p:spPr>
          <a:xfrm>
            <a:off x="7800851" y="4010453"/>
            <a:ext cx="324090" cy="1506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Plant4</a:t>
            </a:r>
          </a:p>
        </p:txBody>
      </p:sp>
      <p:sp>
        <p:nvSpPr>
          <p:cNvPr id="497" name="TextBox 496">
            <a:extLst>
              <a:ext uri="{FF2B5EF4-FFF2-40B4-BE49-F238E27FC236}">
                <a16:creationId xmlns:a16="http://schemas.microsoft.com/office/drawing/2014/main" id="{46A3A28D-7BAC-D87B-F408-92F61CA7C4C3}"/>
              </a:ext>
            </a:extLst>
          </p:cNvPr>
          <p:cNvSpPr txBox="1"/>
          <p:nvPr/>
        </p:nvSpPr>
        <p:spPr>
          <a:xfrm>
            <a:off x="7648094" y="2949825"/>
            <a:ext cx="604271" cy="3013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Auto OEMs</a:t>
            </a:r>
          </a:p>
          <a:p>
            <a:pPr algn="ctr" defTabSz="244938"/>
            <a:r>
              <a:rPr lang="en-AU" sz="429" i="1" dirty="0">
                <a:solidFill>
                  <a:prstClr val="black"/>
                </a:solidFill>
                <a:latin typeface="Aptos" panose="02110004020202020204"/>
              </a:rPr>
              <a:t>OSH ID / GLN / Catena-x ID</a:t>
            </a:r>
          </a:p>
        </p:txBody>
      </p:sp>
      <p:cxnSp>
        <p:nvCxnSpPr>
          <p:cNvPr id="498" name="Straight Connector 26">
            <a:extLst>
              <a:ext uri="{FF2B5EF4-FFF2-40B4-BE49-F238E27FC236}">
                <a16:creationId xmlns:a16="http://schemas.microsoft.com/office/drawing/2014/main" id="{A41E7E1F-252E-E1DE-6DB9-587533C791AD}"/>
              </a:ext>
            </a:extLst>
          </p:cNvPr>
          <p:cNvCxnSpPr>
            <a:cxnSpLocks/>
            <a:stCxn id="493" idx="6"/>
            <a:endCxn id="502" idx="1"/>
          </p:cNvCxnSpPr>
          <p:nvPr/>
        </p:nvCxnSpPr>
        <p:spPr>
          <a:xfrm>
            <a:off x="8155439" y="3574961"/>
            <a:ext cx="277799" cy="137001"/>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502" name="Diamond 501">
            <a:extLst>
              <a:ext uri="{FF2B5EF4-FFF2-40B4-BE49-F238E27FC236}">
                <a16:creationId xmlns:a16="http://schemas.microsoft.com/office/drawing/2014/main" id="{6132370B-E796-6ACD-310D-3FD3BD0C2792}"/>
              </a:ext>
            </a:extLst>
          </p:cNvPr>
          <p:cNvSpPr/>
          <p:nvPr/>
        </p:nvSpPr>
        <p:spPr>
          <a:xfrm>
            <a:off x="8433238" y="3640464"/>
            <a:ext cx="346173" cy="142998"/>
          </a:xfrm>
          <a:prstGeom prst="diamond">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FP5</a:t>
            </a:r>
          </a:p>
        </p:txBody>
      </p:sp>
      <p:sp>
        <p:nvSpPr>
          <p:cNvPr id="503" name="Diamond 502">
            <a:extLst>
              <a:ext uri="{FF2B5EF4-FFF2-40B4-BE49-F238E27FC236}">
                <a16:creationId xmlns:a16="http://schemas.microsoft.com/office/drawing/2014/main" id="{8BBED686-1CA7-8D3F-CA9E-E611012FC390}"/>
              </a:ext>
            </a:extLst>
          </p:cNvPr>
          <p:cNvSpPr/>
          <p:nvPr/>
        </p:nvSpPr>
        <p:spPr>
          <a:xfrm>
            <a:off x="8622644" y="3466277"/>
            <a:ext cx="352065" cy="123821"/>
          </a:xfrm>
          <a:prstGeom prst="diamond">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FP4</a:t>
            </a:r>
          </a:p>
        </p:txBody>
      </p:sp>
      <p:sp>
        <p:nvSpPr>
          <p:cNvPr id="506" name="TextBox 505">
            <a:extLst>
              <a:ext uri="{FF2B5EF4-FFF2-40B4-BE49-F238E27FC236}">
                <a16:creationId xmlns:a16="http://schemas.microsoft.com/office/drawing/2014/main" id="{6E040E91-D041-2009-4071-4A03917F161A}"/>
              </a:ext>
            </a:extLst>
          </p:cNvPr>
          <p:cNvSpPr txBox="1"/>
          <p:nvPr/>
        </p:nvSpPr>
        <p:spPr>
          <a:xfrm>
            <a:off x="8257290" y="2949825"/>
            <a:ext cx="804882" cy="2462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Vehicles</a:t>
            </a:r>
          </a:p>
          <a:p>
            <a:pPr algn="ctr" defTabSz="244938"/>
            <a:r>
              <a:rPr lang="en-AU" sz="500" i="1" dirty="0">
                <a:solidFill>
                  <a:prstClr val="black"/>
                </a:solidFill>
                <a:latin typeface="Aptos" panose="02110004020202020204"/>
              </a:rPr>
              <a:t>Model id / VIN </a:t>
            </a:r>
          </a:p>
        </p:txBody>
      </p:sp>
      <p:cxnSp>
        <p:nvCxnSpPr>
          <p:cNvPr id="531" name="Straight Connector 26">
            <a:extLst>
              <a:ext uri="{FF2B5EF4-FFF2-40B4-BE49-F238E27FC236}">
                <a16:creationId xmlns:a16="http://schemas.microsoft.com/office/drawing/2014/main" id="{445BBD09-7ECE-8BF0-AF55-46EE05F60129}"/>
              </a:ext>
            </a:extLst>
          </p:cNvPr>
          <p:cNvCxnSpPr>
            <a:cxnSpLocks/>
            <a:stCxn id="493" idx="6"/>
            <a:endCxn id="503" idx="1"/>
          </p:cNvCxnSpPr>
          <p:nvPr/>
        </p:nvCxnSpPr>
        <p:spPr>
          <a:xfrm flipV="1">
            <a:off x="8155439" y="3528187"/>
            <a:ext cx="467205" cy="46774"/>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608" name="Oval 607">
            <a:extLst>
              <a:ext uri="{FF2B5EF4-FFF2-40B4-BE49-F238E27FC236}">
                <a16:creationId xmlns:a16="http://schemas.microsoft.com/office/drawing/2014/main" id="{E83D9DD0-2DC6-77E3-0FD0-1B5B73F04ACB}"/>
              </a:ext>
            </a:extLst>
          </p:cNvPr>
          <p:cNvSpPr/>
          <p:nvPr/>
        </p:nvSpPr>
        <p:spPr>
          <a:xfrm flipH="1">
            <a:off x="8428406" y="4409450"/>
            <a:ext cx="284377" cy="14783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Rep3</a:t>
            </a:r>
          </a:p>
        </p:txBody>
      </p:sp>
      <p:sp>
        <p:nvSpPr>
          <p:cNvPr id="609" name="Oval 608">
            <a:extLst>
              <a:ext uri="{FF2B5EF4-FFF2-40B4-BE49-F238E27FC236}">
                <a16:creationId xmlns:a16="http://schemas.microsoft.com/office/drawing/2014/main" id="{39374DC4-1E01-7A45-5AEF-9C1E6A9873D2}"/>
              </a:ext>
            </a:extLst>
          </p:cNvPr>
          <p:cNvSpPr/>
          <p:nvPr/>
        </p:nvSpPr>
        <p:spPr>
          <a:xfrm flipH="1">
            <a:off x="8719685" y="4509492"/>
            <a:ext cx="284377" cy="14783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Rep4</a:t>
            </a:r>
          </a:p>
        </p:txBody>
      </p:sp>
      <p:cxnSp>
        <p:nvCxnSpPr>
          <p:cNvPr id="610" name="Straight Connector 26">
            <a:extLst>
              <a:ext uri="{FF2B5EF4-FFF2-40B4-BE49-F238E27FC236}">
                <a16:creationId xmlns:a16="http://schemas.microsoft.com/office/drawing/2014/main" id="{C7800A3B-4A58-C240-A361-95B1DE704445}"/>
              </a:ext>
            </a:extLst>
          </p:cNvPr>
          <p:cNvCxnSpPr>
            <a:cxnSpLocks/>
            <a:stCxn id="501" idx="2"/>
            <a:endCxn id="608" idx="0"/>
          </p:cNvCxnSpPr>
          <p:nvPr/>
        </p:nvCxnSpPr>
        <p:spPr>
          <a:xfrm>
            <a:off x="8489346" y="4038604"/>
            <a:ext cx="81249" cy="370846"/>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613" name="Straight Connector 26">
            <a:extLst>
              <a:ext uri="{FF2B5EF4-FFF2-40B4-BE49-F238E27FC236}">
                <a16:creationId xmlns:a16="http://schemas.microsoft.com/office/drawing/2014/main" id="{46509672-C15E-1AC6-679E-66CDC53C2B29}"/>
              </a:ext>
            </a:extLst>
          </p:cNvPr>
          <p:cNvCxnSpPr>
            <a:cxnSpLocks/>
            <a:stCxn id="502" idx="2"/>
            <a:endCxn id="608" idx="0"/>
          </p:cNvCxnSpPr>
          <p:nvPr/>
        </p:nvCxnSpPr>
        <p:spPr>
          <a:xfrm flipH="1">
            <a:off x="8570595" y="3783461"/>
            <a:ext cx="35730" cy="625989"/>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616" name="Straight Connector 26">
            <a:extLst>
              <a:ext uri="{FF2B5EF4-FFF2-40B4-BE49-F238E27FC236}">
                <a16:creationId xmlns:a16="http://schemas.microsoft.com/office/drawing/2014/main" id="{72D6B77D-7024-E8A1-BECF-BA20ED19C573}"/>
              </a:ext>
            </a:extLst>
          </p:cNvPr>
          <p:cNvCxnSpPr>
            <a:cxnSpLocks/>
            <a:stCxn id="503" idx="2"/>
            <a:endCxn id="609" idx="0"/>
          </p:cNvCxnSpPr>
          <p:nvPr/>
        </p:nvCxnSpPr>
        <p:spPr>
          <a:xfrm>
            <a:off x="8798677" y="3590098"/>
            <a:ext cx="63196" cy="919394"/>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718" name="Straight Connector 26">
            <a:extLst>
              <a:ext uri="{FF2B5EF4-FFF2-40B4-BE49-F238E27FC236}">
                <a16:creationId xmlns:a16="http://schemas.microsoft.com/office/drawing/2014/main" id="{EB2832B2-0D3C-4B8C-D623-5EDDC60DF959}"/>
              </a:ext>
            </a:extLst>
          </p:cNvPr>
          <p:cNvCxnSpPr>
            <a:cxnSpLocks/>
            <a:stCxn id="720" idx="6"/>
            <a:endCxn id="724" idx="1"/>
          </p:cNvCxnSpPr>
          <p:nvPr/>
        </p:nvCxnSpPr>
        <p:spPr>
          <a:xfrm flipV="1">
            <a:off x="8156456" y="1617951"/>
            <a:ext cx="210847" cy="243621"/>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719" name="Oval 718">
            <a:extLst>
              <a:ext uri="{FF2B5EF4-FFF2-40B4-BE49-F238E27FC236}">
                <a16:creationId xmlns:a16="http://schemas.microsoft.com/office/drawing/2014/main" id="{10412E67-CAE9-953D-C4FE-5EA68BB99D59}"/>
              </a:ext>
            </a:extLst>
          </p:cNvPr>
          <p:cNvSpPr/>
          <p:nvPr/>
        </p:nvSpPr>
        <p:spPr>
          <a:xfrm>
            <a:off x="7812815" y="1332925"/>
            <a:ext cx="343639" cy="14783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Plant1</a:t>
            </a:r>
          </a:p>
        </p:txBody>
      </p:sp>
      <p:sp>
        <p:nvSpPr>
          <p:cNvPr id="720" name="Oval 719">
            <a:extLst>
              <a:ext uri="{FF2B5EF4-FFF2-40B4-BE49-F238E27FC236}">
                <a16:creationId xmlns:a16="http://schemas.microsoft.com/office/drawing/2014/main" id="{B37686D8-2CE6-6E69-BEBA-ED6EBDD49C8E}"/>
              </a:ext>
            </a:extLst>
          </p:cNvPr>
          <p:cNvSpPr/>
          <p:nvPr/>
        </p:nvSpPr>
        <p:spPr>
          <a:xfrm>
            <a:off x="7832364" y="1787652"/>
            <a:ext cx="324090" cy="14783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Plant2</a:t>
            </a:r>
          </a:p>
        </p:txBody>
      </p:sp>
      <p:sp>
        <p:nvSpPr>
          <p:cNvPr id="722" name="TextBox 721">
            <a:extLst>
              <a:ext uri="{FF2B5EF4-FFF2-40B4-BE49-F238E27FC236}">
                <a16:creationId xmlns:a16="http://schemas.microsoft.com/office/drawing/2014/main" id="{BA266873-CF81-F72F-F94C-90E91FDD4A70}"/>
              </a:ext>
            </a:extLst>
          </p:cNvPr>
          <p:cNvSpPr txBox="1"/>
          <p:nvPr/>
        </p:nvSpPr>
        <p:spPr>
          <a:xfrm>
            <a:off x="7652995" y="746372"/>
            <a:ext cx="604271"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OEMs</a:t>
            </a:r>
          </a:p>
          <a:p>
            <a:pPr algn="ctr" defTabSz="244938"/>
            <a:r>
              <a:rPr lang="en-AU" sz="429" i="1" dirty="0">
                <a:solidFill>
                  <a:prstClr val="black"/>
                </a:solidFill>
                <a:latin typeface="Aptos" panose="02110004020202020204"/>
              </a:rPr>
              <a:t>OSH ID / GLN</a:t>
            </a:r>
          </a:p>
        </p:txBody>
      </p:sp>
      <p:cxnSp>
        <p:nvCxnSpPr>
          <p:cNvPr id="723" name="Straight Connector 26">
            <a:extLst>
              <a:ext uri="{FF2B5EF4-FFF2-40B4-BE49-F238E27FC236}">
                <a16:creationId xmlns:a16="http://schemas.microsoft.com/office/drawing/2014/main" id="{B300C030-F047-AC5C-9040-1E3EB3DF490A}"/>
              </a:ext>
            </a:extLst>
          </p:cNvPr>
          <p:cNvCxnSpPr>
            <a:cxnSpLocks/>
            <a:stCxn id="719" idx="6"/>
            <a:endCxn id="725" idx="1"/>
          </p:cNvCxnSpPr>
          <p:nvPr/>
        </p:nvCxnSpPr>
        <p:spPr>
          <a:xfrm flipV="1">
            <a:off x="8156454" y="1316411"/>
            <a:ext cx="369398" cy="90432"/>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724" name="Diamond 723">
            <a:extLst>
              <a:ext uri="{FF2B5EF4-FFF2-40B4-BE49-F238E27FC236}">
                <a16:creationId xmlns:a16="http://schemas.microsoft.com/office/drawing/2014/main" id="{34048E5A-187A-94A2-E764-2C7A8FAD945A}"/>
              </a:ext>
            </a:extLst>
          </p:cNvPr>
          <p:cNvSpPr/>
          <p:nvPr/>
        </p:nvSpPr>
        <p:spPr>
          <a:xfrm>
            <a:off x="8367301" y="1553493"/>
            <a:ext cx="319318" cy="128914"/>
          </a:xfrm>
          <a:prstGeom prst="diamond">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FP3</a:t>
            </a:r>
          </a:p>
        </p:txBody>
      </p:sp>
      <p:sp>
        <p:nvSpPr>
          <p:cNvPr id="725" name="Diamond 724">
            <a:extLst>
              <a:ext uri="{FF2B5EF4-FFF2-40B4-BE49-F238E27FC236}">
                <a16:creationId xmlns:a16="http://schemas.microsoft.com/office/drawing/2014/main" id="{0366642D-6A95-98FD-A9D5-7624D62E551C}"/>
              </a:ext>
            </a:extLst>
          </p:cNvPr>
          <p:cNvSpPr/>
          <p:nvPr/>
        </p:nvSpPr>
        <p:spPr>
          <a:xfrm>
            <a:off x="8525852" y="1253903"/>
            <a:ext cx="326094" cy="125016"/>
          </a:xfrm>
          <a:prstGeom prst="diamond">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FP1</a:t>
            </a:r>
          </a:p>
        </p:txBody>
      </p:sp>
      <p:sp>
        <p:nvSpPr>
          <p:cNvPr id="726" name="Diamond 725">
            <a:extLst>
              <a:ext uri="{FF2B5EF4-FFF2-40B4-BE49-F238E27FC236}">
                <a16:creationId xmlns:a16="http://schemas.microsoft.com/office/drawing/2014/main" id="{94740F62-6C87-0DC2-8D5E-747062DBE067}"/>
              </a:ext>
            </a:extLst>
          </p:cNvPr>
          <p:cNvSpPr/>
          <p:nvPr/>
        </p:nvSpPr>
        <p:spPr>
          <a:xfrm>
            <a:off x="8700349" y="1444461"/>
            <a:ext cx="277045" cy="125016"/>
          </a:xfrm>
          <a:prstGeom prst="diamond">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FP2</a:t>
            </a:r>
          </a:p>
        </p:txBody>
      </p:sp>
      <p:sp>
        <p:nvSpPr>
          <p:cNvPr id="728" name="TextBox 727">
            <a:extLst>
              <a:ext uri="{FF2B5EF4-FFF2-40B4-BE49-F238E27FC236}">
                <a16:creationId xmlns:a16="http://schemas.microsoft.com/office/drawing/2014/main" id="{C50BFAB1-BAC7-A621-9A9B-8889457D2398}"/>
              </a:ext>
            </a:extLst>
          </p:cNvPr>
          <p:cNvSpPr txBox="1"/>
          <p:nvPr/>
        </p:nvSpPr>
        <p:spPr>
          <a:xfrm>
            <a:off x="8257679" y="734548"/>
            <a:ext cx="804882" cy="2462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Electronic Devices</a:t>
            </a:r>
          </a:p>
          <a:p>
            <a:pPr algn="ctr" defTabSz="244938"/>
            <a:r>
              <a:rPr lang="en-AU" sz="500" i="1" dirty="0">
                <a:solidFill>
                  <a:prstClr val="black"/>
                </a:solidFill>
                <a:latin typeface="Aptos" panose="02110004020202020204"/>
              </a:rPr>
              <a:t>Model id / serial id</a:t>
            </a:r>
          </a:p>
        </p:txBody>
      </p:sp>
      <p:cxnSp>
        <p:nvCxnSpPr>
          <p:cNvPr id="730" name="Straight Connector 26">
            <a:extLst>
              <a:ext uri="{FF2B5EF4-FFF2-40B4-BE49-F238E27FC236}">
                <a16:creationId xmlns:a16="http://schemas.microsoft.com/office/drawing/2014/main" id="{CAE3DEDC-115A-1742-D653-4263C1A271B4}"/>
              </a:ext>
            </a:extLst>
          </p:cNvPr>
          <p:cNvCxnSpPr>
            <a:cxnSpLocks/>
            <a:stCxn id="719" idx="6"/>
            <a:endCxn id="726" idx="1"/>
          </p:cNvCxnSpPr>
          <p:nvPr/>
        </p:nvCxnSpPr>
        <p:spPr>
          <a:xfrm>
            <a:off x="8156455" y="1406845"/>
            <a:ext cx="543895" cy="100125"/>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733" name="TextBox 732">
            <a:extLst>
              <a:ext uri="{FF2B5EF4-FFF2-40B4-BE49-F238E27FC236}">
                <a16:creationId xmlns:a16="http://schemas.microsoft.com/office/drawing/2014/main" id="{A1ABE17F-D65B-2C91-01FB-28C83113656B}"/>
              </a:ext>
            </a:extLst>
          </p:cNvPr>
          <p:cNvSpPr txBox="1"/>
          <p:nvPr/>
        </p:nvSpPr>
        <p:spPr>
          <a:xfrm>
            <a:off x="8285037" y="2427823"/>
            <a:ext cx="804882" cy="235321"/>
          </a:xfrm>
          <a:prstGeom prst="rect">
            <a:avLst/>
          </a:prstGeom>
          <a:noFill/>
        </p:spPr>
        <p:txBody>
          <a:bodyPr wrap="square" rtlCol="0">
            <a:spAutoFit/>
          </a:bodyPr>
          <a:lstStyle/>
          <a:p>
            <a:pPr algn="ctr" defTabSz="244938"/>
            <a:r>
              <a:rPr lang="en-AU" sz="429" i="1" dirty="0">
                <a:solidFill>
                  <a:prstClr val="black"/>
                </a:solidFill>
                <a:latin typeface="Aptos" panose="02110004020202020204"/>
              </a:rPr>
              <a:t>Facility ID</a:t>
            </a:r>
          </a:p>
          <a:p>
            <a:pPr algn="ctr" defTabSz="244938"/>
            <a:r>
              <a:rPr lang="en-AU" sz="500" b="1" dirty="0">
                <a:solidFill>
                  <a:prstClr val="black"/>
                </a:solidFill>
                <a:latin typeface="Aptos" panose="02110004020202020204"/>
              </a:rPr>
              <a:t>Service/Repair</a:t>
            </a:r>
          </a:p>
        </p:txBody>
      </p:sp>
      <p:sp>
        <p:nvSpPr>
          <p:cNvPr id="734" name="Oval 733">
            <a:extLst>
              <a:ext uri="{FF2B5EF4-FFF2-40B4-BE49-F238E27FC236}">
                <a16:creationId xmlns:a16="http://schemas.microsoft.com/office/drawing/2014/main" id="{1F138879-D296-C3A3-C7D6-04B33ABFE0DD}"/>
              </a:ext>
            </a:extLst>
          </p:cNvPr>
          <p:cNvSpPr/>
          <p:nvPr/>
        </p:nvSpPr>
        <p:spPr>
          <a:xfrm flipH="1">
            <a:off x="8393570" y="1985333"/>
            <a:ext cx="284377" cy="14380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Rep1</a:t>
            </a:r>
          </a:p>
        </p:txBody>
      </p:sp>
      <p:sp>
        <p:nvSpPr>
          <p:cNvPr id="735" name="Oval 734">
            <a:extLst>
              <a:ext uri="{FF2B5EF4-FFF2-40B4-BE49-F238E27FC236}">
                <a16:creationId xmlns:a16="http://schemas.microsoft.com/office/drawing/2014/main" id="{F79233A0-EA43-DA6E-6231-DDEA0056D02C}"/>
              </a:ext>
            </a:extLst>
          </p:cNvPr>
          <p:cNvSpPr/>
          <p:nvPr/>
        </p:nvSpPr>
        <p:spPr>
          <a:xfrm flipH="1">
            <a:off x="8734406" y="1985334"/>
            <a:ext cx="284377" cy="14783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Rep2</a:t>
            </a:r>
          </a:p>
        </p:txBody>
      </p:sp>
      <p:cxnSp>
        <p:nvCxnSpPr>
          <p:cNvPr id="736" name="Straight Connector 26">
            <a:extLst>
              <a:ext uri="{FF2B5EF4-FFF2-40B4-BE49-F238E27FC236}">
                <a16:creationId xmlns:a16="http://schemas.microsoft.com/office/drawing/2014/main" id="{37E184B6-9D53-021B-7036-DBB0B8396DC9}"/>
              </a:ext>
            </a:extLst>
          </p:cNvPr>
          <p:cNvCxnSpPr>
            <a:cxnSpLocks/>
            <a:stCxn id="724" idx="2"/>
            <a:endCxn id="734" idx="0"/>
          </p:cNvCxnSpPr>
          <p:nvPr/>
        </p:nvCxnSpPr>
        <p:spPr>
          <a:xfrm>
            <a:off x="8526960" y="1682408"/>
            <a:ext cx="8799" cy="302926"/>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738" name="Straight Connector 26">
            <a:extLst>
              <a:ext uri="{FF2B5EF4-FFF2-40B4-BE49-F238E27FC236}">
                <a16:creationId xmlns:a16="http://schemas.microsoft.com/office/drawing/2014/main" id="{6AEADD5D-6EFB-910C-4ACC-5092CAFA55B6}"/>
              </a:ext>
            </a:extLst>
          </p:cNvPr>
          <p:cNvCxnSpPr>
            <a:cxnSpLocks/>
            <a:stCxn id="726" idx="2"/>
            <a:endCxn id="735" idx="0"/>
          </p:cNvCxnSpPr>
          <p:nvPr/>
        </p:nvCxnSpPr>
        <p:spPr>
          <a:xfrm>
            <a:off x="8838873" y="1569479"/>
            <a:ext cx="37722" cy="415855"/>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741" name="TextBox 740">
            <a:extLst>
              <a:ext uri="{FF2B5EF4-FFF2-40B4-BE49-F238E27FC236}">
                <a16:creationId xmlns:a16="http://schemas.microsoft.com/office/drawing/2014/main" id="{0FE4D30C-B324-5B24-6282-FC20F581EE07}"/>
              </a:ext>
            </a:extLst>
          </p:cNvPr>
          <p:cNvSpPr txBox="1"/>
          <p:nvPr/>
        </p:nvSpPr>
        <p:spPr>
          <a:xfrm>
            <a:off x="2688066" y="574761"/>
            <a:ext cx="1509525"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Tin / Tantalum / Cobalt Value Chain</a:t>
            </a:r>
          </a:p>
        </p:txBody>
      </p:sp>
      <p:sp>
        <p:nvSpPr>
          <p:cNvPr id="743" name="TextBox 742">
            <a:extLst>
              <a:ext uri="{FF2B5EF4-FFF2-40B4-BE49-F238E27FC236}">
                <a16:creationId xmlns:a16="http://schemas.microsoft.com/office/drawing/2014/main" id="{013600E4-0F28-AFD5-83BF-244E30754E62}"/>
              </a:ext>
            </a:extLst>
          </p:cNvPr>
          <p:cNvSpPr txBox="1"/>
          <p:nvPr/>
        </p:nvSpPr>
        <p:spPr>
          <a:xfrm>
            <a:off x="2868441" y="1537897"/>
            <a:ext cx="1148776"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Copper Value Chain</a:t>
            </a:r>
          </a:p>
        </p:txBody>
      </p:sp>
      <p:sp>
        <p:nvSpPr>
          <p:cNvPr id="749" name="TextBox 748">
            <a:extLst>
              <a:ext uri="{FF2B5EF4-FFF2-40B4-BE49-F238E27FC236}">
                <a16:creationId xmlns:a16="http://schemas.microsoft.com/office/drawing/2014/main" id="{7A63D0E2-F739-384B-BDD6-84915E575DDA}"/>
              </a:ext>
            </a:extLst>
          </p:cNvPr>
          <p:cNvSpPr txBox="1"/>
          <p:nvPr/>
        </p:nvSpPr>
        <p:spPr>
          <a:xfrm>
            <a:off x="6379159" y="3348399"/>
            <a:ext cx="1148776"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Auto Components</a:t>
            </a:r>
          </a:p>
        </p:txBody>
      </p:sp>
      <p:sp>
        <p:nvSpPr>
          <p:cNvPr id="752" name="TextBox 751">
            <a:extLst>
              <a:ext uri="{FF2B5EF4-FFF2-40B4-BE49-F238E27FC236}">
                <a16:creationId xmlns:a16="http://schemas.microsoft.com/office/drawing/2014/main" id="{000948B3-9733-4DA9-C4A7-22577E17AB27}"/>
              </a:ext>
            </a:extLst>
          </p:cNvPr>
          <p:cNvSpPr txBox="1"/>
          <p:nvPr/>
        </p:nvSpPr>
        <p:spPr>
          <a:xfrm>
            <a:off x="6384116" y="1652421"/>
            <a:ext cx="1148776"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Batteries</a:t>
            </a:r>
          </a:p>
        </p:txBody>
      </p:sp>
      <p:sp>
        <p:nvSpPr>
          <p:cNvPr id="754" name="TextBox 753">
            <a:extLst>
              <a:ext uri="{FF2B5EF4-FFF2-40B4-BE49-F238E27FC236}">
                <a16:creationId xmlns:a16="http://schemas.microsoft.com/office/drawing/2014/main" id="{9CEB4D9A-BD49-6543-FB1E-73C86FDB60F8}"/>
              </a:ext>
            </a:extLst>
          </p:cNvPr>
          <p:cNvSpPr txBox="1"/>
          <p:nvPr/>
        </p:nvSpPr>
        <p:spPr>
          <a:xfrm>
            <a:off x="6385917" y="566197"/>
            <a:ext cx="1148776"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Circuit Boards</a:t>
            </a:r>
          </a:p>
        </p:txBody>
      </p:sp>
      <p:sp>
        <p:nvSpPr>
          <p:cNvPr id="756" name="TextBox 755">
            <a:extLst>
              <a:ext uri="{FF2B5EF4-FFF2-40B4-BE49-F238E27FC236}">
                <a16:creationId xmlns:a16="http://schemas.microsoft.com/office/drawing/2014/main" id="{0489D8CB-D16C-8823-0F2E-D55B32823FC6}"/>
              </a:ext>
            </a:extLst>
          </p:cNvPr>
          <p:cNvSpPr txBox="1"/>
          <p:nvPr/>
        </p:nvSpPr>
        <p:spPr>
          <a:xfrm>
            <a:off x="5771392" y="732930"/>
            <a:ext cx="487378"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Solder</a:t>
            </a:r>
          </a:p>
          <a:p>
            <a:pPr algn="ctr" defTabSz="244938"/>
            <a:r>
              <a:rPr lang="en-AU" sz="429" i="1" dirty="0">
                <a:solidFill>
                  <a:prstClr val="black"/>
                </a:solidFill>
                <a:latin typeface="Aptos" panose="02110004020202020204"/>
              </a:rPr>
              <a:t>Batch ID</a:t>
            </a:r>
          </a:p>
        </p:txBody>
      </p:sp>
      <p:sp>
        <p:nvSpPr>
          <p:cNvPr id="763" name="TextBox 762">
            <a:extLst>
              <a:ext uri="{FF2B5EF4-FFF2-40B4-BE49-F238E27FC236}">
                <a16:creationId xmlns:a16="http://schemas.microsoft.com/office/drawing/2014/main" id="{476A6DC7-9F6F-5508-AA02-E279AF5BA4D6}"/>
              </a:ext>
            </a:extLst>
          </p:cNvPr>
          <p:cNvSpPr txBox="1"/>
          <p:nvPr/>
        </p:nvSpPr>
        <p:spPr>
          <a:xfrm>
            <a:off x="5770167" y="2429871"/>
            <a:ext cx="487378" cy="3122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Copper Wire/foil</a:t>
            </a:r>
          </a:p>
          <a:p>
            <a:pPr algn="ctr" defTabSz="244938"/>
            <a:r>
              <a:rPr lang="en-AU" sz="429" i="1" dirty="0">
                <a:solidFill>
                  <a:prstClr val="black"/>
                </a:solidFill>
                <a:latin typeface="Aptos" panose="02110004020202020204"/>
              </a:rPr>
              <a:t>Batch ID</a:t>
            </a:r>
          </a:p>
        </p:txBody>
      </p:sp>
      <p:sp>
        <p:nvSpPr>
          <p:cNvPr id="764" name="TextBox 763">
            <a:extLst>
              <a:ext uri="{FF2B5EF4-FFF2-40B4-BE49-F238E27FC236}">
                <a16:creationId xmlns:a16="http://schemas.microsoft.com/office/drawing/2014/main" id="{059FBF6D-55F9-2D1A-4C8C-47D4FFC641F7}"/>
              </a:ext>
            </a:extLst>
          </p:cNvPr>
          <p:cNvSpPr txBox="1"/>
          <p:nvPr/>
        </p:nvSpPr>
        <p:spPr>
          <a:xfrm>
            <a:off x="5717354" y="1617440"/>
            <a:ext cx="598373"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Alloy powder</a:t>
            </a:r>
          </a:p>
          <a:p>
            <a:pPr algn="ctr" defTabSz="244938"/>
            <a:r>
              <a:rPr lang="en-AU" sz="429" i="1" dirty="0">
                <a:solidFill>
                  <a:prstClr val="black"/>
                </a:solidFill>
                <a:latin typeface="Aptos" panose="02110004020202020204"/>
              </a:rPr>
              <a:t>Batch ID</a:t>
            </a:r>
          </a:p>
        </p:txBody>
      </p:sp>
      <p:sp>
        <p:nvSpPr>
          <p:cNvPr id="768" name="TextBox 767">
            <a:extLst>
              <a:ext uri="{FF2B5EF4-FFF2-40B4-BE49-F238E27FC236}">
                <a16:creationId xmlns:a16="http://schemas.microsoft.com/office/drawing/2014/main" id="{046CC5B5-DB49-7050-D832-B1AAEA0DC104}"/>
              </a:ext>
            </a:extLst>
          </p:cNvPr>
          <p:cNvSpPr txBox="1"/>
          <p:nvPr/>
        </p:nvSpPr>
        <p:spPr>
          <a:xfrm>
            <a:off x="5712591" y="4372732"/>
            <a:ext cx="598373" cy="3122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Finished Leather</a:t>
            </a:r>
          </a:p>
          <a:p>
            <a:pPr algn="ctr" defTabSz="244938"/>
            <a:r>
              <a:rPr lang="en-AU" sz="429" i="1" dirty="0">
                <a:solidFill>
                  <a:prstClr val="black"/>
                </a:solidFill>
                <a:latin typeface="Aptos" panose="02110004020202020204"/>
              </a:rPr>
              <a:t>Batch ID</a:t>
            </a:r>
          </a:p>
        </p:txBody>
      </p:sp>
      <p:sp>
        <p:nvSpPr>
          <p:cNvPr id="769" name="TextBox 768">
            <a:extLst>
              <a:ext uri="{FF2B5EF4-FFF2-40B4-BE49-F238E27FC236}">
                <a16:creationId xmlns:a16="http://schemas.microsoft.com/office/drawing/2014/main" id="{46BD7FE2-1493-813C-C528-3200A61A4F65}"/>
              </a:ext>
            </a:extLst>
          </p:cNvPr>
          <p:cNvSpPr txBox="1"/>
          <p:nvPr/>
        </p:nvSpPr>
        <p:spPr>
          <a:xfrm>
            <a:off x="5152472" y="4362290"/>
            <a:ext cx="686543" cy="224420"/>
          </a:xfrm>
          <a:prstGeom prst="rect">
            <a:avLst/>
          </a:prstGeom>
          <a:noFill/>
        </p:spPr>
        <p:txBody>
          <a:bodyPr wrap="square" rtlCol="0">
            <a:spAutoFit/>
          </a:bodyPr>
          <a:lstStyle/>
          <a:p>
            <a:pPr algn="ctr" defTabSz="244938"/>
            <a:r>
              <a:rPr lang="en-AU" sz="429" b="1" dirty="0">
                <a:solidFill>
                  <a:prstClr val="black"/>
                </a:solidFill>
                <a:latin typeface="Aptos" panose="02110004020202020204"/>
              </a:rPr>
              <a:t>Finishing plants</a:t>
            </a:r>
          </a:p>
          <a:p>
            <a:pPr algn="ctr" defTabSz="244938"/>
            <a:r>
              <a:rPr lang="en-AU" sz="429" i="1" dirty="0">
                <a:solidFill>
                  <a:prstClr val="black"/>
                </a:solidFill>
                <a:latin typeface="Aptos" panose="02110004020202020204"/>
              </a:rPr>
              <a:t>OSH ID / GLN</a:t>
            </a:r>
          </a:p>
        </p:txBody>
      </p:sp>
      <p:sp>
        <p:nvSpPr>
          <p:cNvPr id="772" name="TextBox 771">
            <a:extLst>
              <a:ext uri="{FF2B5EF4-FFF2-40B4-BE49-F238E27FC236}">
                <a16:creationId xmlns:a16="http://schemas.microsoft.com/office/drawing/2014/main" id="{A98574E4-85EA-FE30-1003-97A1ADECB678}"/>
              </a:ext>
            </a:extLst>
          </p:cNvPr>
          <p:cNvSpPr txBox="1"/>
          <p:nvPr/>
        </p:nvSpPr>
        <p:spPr>
          <a:xfrm>
            <a:off x="5193138" y="728998"/>
            <a:ext cx="598373"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Tin alloy fabs</a:t>
            </a:r>
          </a:p>
          <a:p>
            <a:pPr algn="ctr" defTabSz="244938"/>
            <a:r>
              <a:rPr lang="en-AU" sz="429" i="1" dirty="0">
                <a:solidFill>
                  <a:prstClr val="black"/>
                </a:solidFill>
                <a:latin typeface="Aptos" panose="02110004020202020204"/>
              </a:rPr>
              <a:t>OSH ID / GLN</a:t>
            </a:r>
          </a:p>
        </p:txBody>
      </p:sp>
      <p:sp>
        <p:nvSpPr>
          <p:cNvPr id="773" name="TextBox 772">
            <a:extLst>
              <a:ext uri="{FF2B5EF4-FFF2-40B4-BE49-F238E27FC236}">
                <a16:creationId xmlns:a16="http://schemas.microsoft.com/office/drawing/2014/main" id="{8A8C7C8A-955E-C960-CF64-A419BDAEF7DB}"/>
              </a:ext>
            </a:extLst>
          </p:cNvPr>
          <p:cNvSpPr txBox="1"/>
          <p:nvPr/>
        </p:nvSpPr>
        <p:spPr>
          <a:xfrm>
            <a:off x="6420249" y="739699"/>
            <a:ext cx="568074"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PCB Factory</a:t>
            </a:r>
          </a:p>
          <a:p>
            <a:pPr algn="ctr" defTabSz="244938"/>
            <a:r>
              <a:rPr lang="en-AU" sz="429" i="1" dirty="0">
                <a:solidFill>
                  <a:prstClr val="black"/>
                </a:solidFill>
                <a:latin typeface="Aptos" panose="02110004020202020204"/>
              </a:rPr>
              <a:t>OSH ID / GLN</a:t>
            </a:r>
          </a:p>
        </p:txBody>
      </p:sp>
      <p:sp>
        <p:nvSpPr>
          <p:cNvPr id="774" name="TextBox 773">
            <a:extLst>
              <a:ext uri="{FF2B5EF4-FFF2-40B4-BE49-F238E27FC236}">
                <a16:creationId xmlns:a16="http://schemas.microsoft.com/office/drawing/2014/main" id="{206016C9-EE26-531E-D646-AC51D2DEF6D3}"/>
              </a:ext>
            </a:extLst>
          </p:cNvPr>
          <p:cNvSpPr txBox="1"/>
          <p:nvPr/>
        </p:nvSpPr>
        <p:spPr>
          <a:xfrm>
            <a:off x="6967228" y="745826"/>
            <a:ext cx="568074" cy="3013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PCBs</a:t>
            </a:r>
          </a:p>
          <a:p>
            <a:pPr algn="ctr" defTabSz="244938"/>
            <a:r>
              <a:rPr lang="en-AU" sz="429" i="1" dirty="0">
                <a:solidFill>
                  <a:prstClr val="black"/>
                </a:solidFill>
                <a:latin typeface="Aptos" panose="02110004020202020204"/>
              </a:rPr>
              <a:t>Model id</a:t>
            </a:r>
          </a:p>
          <a:p>
            <a:pPr algn="ctr" defTabSz="244938"/>
            <a:r>
              <a:rPr lang="en-AU" sz="429" i="1" dirty="0">
                <a:solidFill>
                  <a:prstClr val="black"/>
                </a:solidFill>
                <a:latin typeface="Aptos" panose="02110004020202020204"/>
              </a:rPr>
              <a:t>Serial id</a:t>
            </a:r>
          </a:p>
        </p:txBody>
      </p:sp>
      <p:sp>
        <p:nvSpPr>
          <p:cNvPr id="778" name="TextBox 777">
            <a:extLst>
              <a:ext uri="{FF2B5EF4-FFF2-40B4-BE49-F238E27FC236}">
                <a16:creationId xmlns:a16="http://schemas.microsoft.com/office/drawing/2014/main" id="{C9C15A3A-C2E7-8404-7AA6-CFBD0158469A}"/>
              </a:ext>
            </a:extLst>
          </p:cNvPr>
          <p:cNvSpPr txBox="1"/>
          <p:nvPr/>
        </p:nvSpPr>
        <p:spPr>
          <a:xfrm>
            <a:off x="5751372" y="3494269"/>
            <a:ext cx="509184"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Magnets</a:t>
            </a:r>
          </a:p>
          <a:p>
            <a:pPr algn="ctr" defTabSz="244938"/>
            <a:r>
              <a:rPr lang="en-AU" sz="429" i="1" dirty="0">
                <a:solidFill>
                  <a:prstClr val="black"/>
                </a:solidFill>
                <a:latin typeface="Aptos" panose="02110004020202020204"/>
              </a:rPr>
              <a:t>Batch ID</a:t>
            </a:r>
          </a:p>
        </p:txBody>
      </p:sp>
      <p:sp>
        <p:nvSpPr>
          <p:cNvPr id="781" name="TextBox 780">
            <a:extLst>
              <a:ext uri="{FF2B5EF4-FFF2-40B4-BE49-F238E27FC236}">
                <a16:creationId xmlns:a16="http://schemas.microsoft.com/office/drawing/2014/main" id="{3945C96A-0303-6FB3-6E42-9AF0CF47A143}"/>
              </a:ext>
            </a:extLst>
          </p:cNvPr>
          <p:cNvSpPr txBox="1"/>
          <p:nvPr/>
        </p:nvSpPr>
        <p:spPr>
          <a:xfrm>
            <a:off x="6936808" y="3517745"/>
            <a:ext cx="608081" cy="3013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Motors</a:t>
            </a:r>
          </a:p>
          <a:p>
            <a:pPr algn="ctr" defTabSz="244938"/>
            <a:r>
              <a:rPr lang="en-AU" sz="429" i="1" dirty="0">
                <a:solidFill>
                  <a:prstClr val="black"/>
                </a:solidFill>
                <a:latin typeface="Aptos" panose="02110004020202020204"/>
              </a:rPr>
              <a:t>Model id</a:t>
            </a:r>
          </a:p>
          <a:p>
            <a:pPr algn="ctr" defTabSz="244938"/>
            <a:r>
              <a:rPr lang="en-AU" sz="429" i="1" dirty="0">
                <a:solidFill>
                  <a:prstClr val="black"/>
                </a:solidFill>
                <a:latin typeface="Aptos" panose="02110004020202020204"/>
              </a:rPr>
              <a:t>Serial id</a:t>
            </a:r>
          </a:p>
        </p:txBody>
      </p:sp>
      <p:sp>
        <p:nvSpPr>
          <p:cNvPr id="782" name="TextBox 781">
            <a:extLst>
              <a:ext uri="{FF2B5EF4-FFF2-40B4-BE49-F238E27FC236}">
                <a16:creationId xmlns:a16="http://schemas.microsoft.com/office/drawing/2014/main" id="{F00B1AF6-6AF4-540A-F46A-039184D733FF}"/>
              </a:ext>
            </a:extLst>
          </p:cNvPr>
          <p:cNvSpPr txBox="1"/>
          <p:nvPr/>
        </p:nvSpPr>
        <p:spPr>
          <a:xfrm>
            <a:off x="6413614" y="3522486"/>
            <a:ext cx="612976" cy="3013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Motor Factory</a:t>
            </a:r>
          </a:p>
          <a:p>
            <a:pPr algn="ctr" defTabSz="244938"/>
            <a:r>
              <a:rPr lang="en-AU" sz="429" i="1" dirty="0">
                <a:solidFill>
                  <a:prstClr val="black"/>
                </a:solidFill>
                <a:latin typeface="Aptos" panose="02110004020202020204"/>
              </a:rPr>
              <a:t>OSH ID or</a:t>
            </a:r>
          </a:p>
          <a:p>
            <a:pPr algn="ctr" defTabSz="244938"/>
            <a:r>
              <a:rPr lang="en-AU" sz="429" i="1" dirty="0">
                <a:solidFill>
                  <a:prstClr val="black"/>
                </a:solidFill>
                <a:latin typeface="Aptos" panose="02110004020202020204"/>
              </a:rPr>
              <a:t>Catena-x ID</a:t>
            </a:r>
          </a:p>
        </p:txBody>
      </p:sp>
      <p:sp>
        <p:nvSpPr>
          <p:cNvPr id="788" name="TextBox 787">
            <a:extLst>
              <a:ext uri="{FF2B5EF4-FFF2-40B4-BE49-F238E27FC236}">
                <a16:creationId xmlns:a16="http://schemas.microsoft.com/office/drawing/2014/main" id="{3A7EFEEC-D521-F8DC-3A7C-D32E21758A05}"/>
              </a:ext>
            </a:extLst>
          </p:cNvPr>
          <p:cNvSpPr txBox="1"/>
          <p:nvPr/>
        </p:nvSpPr>
        <p:spPr>
          <a:xfrm>
            <a:off x="7789600" y="574761"/>
            <a:ext cx="1273870"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Electrical &amp; Electronic OEMs</a:t>
            </a:r>
          </a:p>
        </p:txBody>
      </p:sp>
      <p:sp>
        <p:nvSpPr>
          <p:cNvPr id="789" name="TextBox 788">
            <a:extLst>
              <a:ext uri="{FF2B5EF4-FFF2-40B4-BE49-F238E27FC236}">
                <a16:creationId xmlns:a16="http://schemas.microsoft.com/office/drawing/2014/main" id="{17DFE6E1-1B15-DF9B-2A11-6CFE23F6DBEF}"/>
              </a:ext>
            </a:extLst>
          </p:cNvPr>
          <p:cNvSpPr txBox="1"/>
          <p:nvPr/>
        </p:nvSpPr>
        <p:spPr>
          <a:xfrm>
            <a:off x="7751058" y="2768908"/>
            <a:ext cx="1273870"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Automotive OEMs</a:t>
            </a:r>
          </a:p>
        </p:txBody>
      </p:sp>
      <p:sp>
        <p:nvSpPr>
          <p:cNvPr id="792" name="TextBox 791">
            <a:extLst>
              <a:ext uri="{FF2B5EF4-FFF2-40B4-BE49-F238E27FC236}">
                <a16:creationId xmlns:a16="http://schemas.microsoft.com/office/drawing/2014/main" id="{EB4A59FC-E195-73B3-811A-1CC81B4CD248}"/>
              </a:ext>
            </a:extLst>
          </p:cNvPr>
          <p:cNvSpPr txBox="1"/>
          <p:nvPr/>
        </p:nvSpPr>
        <p:spPr>
          <a:xfrm>
            <a:off x="5117976" y="548970"/>
            <a:ext cx="1273870"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Specialised Fabricators</a:t>
            </a:r>
          </a:p>
        </p:txBody>
      </p:sp>
      <p:sp>
        <p:nvSpPr>
          <p:cNvPr id="793" name="Chevron 792">
            <a:extLst>
              <a:ext uri="{FF2B5EF4-FFF2-40B4-BE49-F238E27FC236}">
                <a16:creationId xmlns:a16="http://schemas.microsoft.com/office/drawing/2014/main" id="{43D04F4B-78C4-B352-6C78-181317C2EAF5}"/>
              </a:ext>
            </a:extLst>
          </p:cNvPr>
          <p:cNvSpPr/>
          <p:nvPr/>
        </p:nvSpPr>
        <p:spPr>
          <a:xfrm>
            <a:off x="9151277" y="5268053"/>
            <a:ext cx="1223512" cy="271793"/>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r>
              <a:rPr lang="en-US" sz="571" dirty="0">
                <a:solidFill>
                  <a:prstClr val="white"/>
                </a:solidFill>
                <a:latin typeface="Aptos" panose="02110004020202020204"/>
              </a:rPr>
              <a:t>recycle,  remanufacture</a:t>
            </a:r>
          </a:p>
        </p:txBody>
      </p:sp>
      <p:sp>
        <p:nvSpPr>
          <p:cNvPr id="794" name="Chevron 793">
            <a:extLst>
              <a:ext uri="{FF2B5EF4-FFF2-40B4-BE49-F238E27FC236}">
                <a16:creationId xmlns:a16="http://schemas.microsoft.com/office/drawing/2014/main" id="{10646411-9CD1-6D11-D9E6-46245CD9AD70}"/>
              </a:ext>
            </a:extLst>
          </p:cNvPr>
          <p:cNvSpPr/>
          <p:nvPr/>
        </p:nvSpPr>
        <p:spPr>
          <a:xfrm>
            <a:off x="8449923" y="5268053"/>
            <a:ext cx="725426" cy="271793"/>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r>
              <a:rPr lang="en-US" sz="571" dirty="0">
                <a:solidFill>
                  <a:prstClr val="white"/>
                </a:solidFill>
                <a:latin typeface="Aptos" panose="02110004020202020204"/>
              </a:rPr>
              <a:t>Use &amp; repair</a:t>
            </a:r>
          </a:p>
        </p:txBody>
      </p:sp>
      <p:sp>
        <p:nvSpPr>
          <p:cNvPr id="795" name="Chevron 794">
            <a:extLst>
              <a:ext uri="{FF2B5EF4-FFF2-40B4-BE49-F238E27FC236}">
                <a16:creationId xmlns:a16="http://schemas.microsoft.com/office/drawing/2014/main" id="{EA9C980F-97B5-31C0-E7F1-20E6EE0F5889}"/>
              </a:ext>
            </a:extLst>
          </p:cNvPr>
          <p:cNvSpPr/>
          <p:nvPr/>
        </p:nvSpPr>
        <p:spPr>
          <a:xfrm>
            <a:off x="7402985" y="5268053"/>
            <a:ext cx="1046938" cy="271793"/>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r>
              <a:rPr lang="en-US" sz="571" dirty="0">
                <a:solidFill>
                  <a:prstClr val="white"/>
                </a:solidFill>
                <a:latin typeface="Aptos" panose="02110004020202020204"/>
              </a:rPr>
              <a:t>Final assembly</a:t>
            </a:r>
          </a:p>
        </p:txBody>
      </p:sp>
      <p:sp>
        <p:nvSpPr>
          <p:cNvPr id="796" name="Chevron 795">
            <a:extLst>
              <a:ext uri="{FF2B5EF4-FFF2-40B4-BE49-F238E27FC236}">
                <a16:creationId xmlns:a16="http://schemas.microsoft.com/office/drawing/2014/main" id="{35C493C0-D72C-A503-FDD3-F45EF7DF4DAD}"/>
              </a:ext>
            </a:extLst>
          </p:cNvPr>
          <p:cNvSpPr/>
          <p:nvPr/>
        </p:nvSpPr>
        <p:spPr>
          <a:xfrm>
            <a:off x="6269517" y="5268053"/>
            <a:ext cx="1157542" cy="271793"/>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r>
              <a:rPr lang="en-US" sz="571" dirty="0">
                <a:solidFill>
                  <a:prstClr val="white"/>
                </a:solidFill>
                <a:latin typeface="Aptos" panose="02110004020202020204"/>
              </a:rPr>
              <a:t>Component manufacturing</a:t>
            </a:r>
          </a:p>
        </p:txBody>
      </p:sp>
      <p:sp>
        <p:nvSpPr>
          <p:cNvPr id="797" name="Chevron 796">
            <a:extLst>
              <a:ext uri="{FF2B5EF4-FFF2-40B4-BE49-F238E27FC236}">
                <a16:creationId xmlns:a16="http://schemas.microsoft.com/office/drawing/2014/main" id="{FFFC7293-8FE7-0D48-4577-8AA3DCD50675}"/>
              </a:ext>
            </a:extLst>
          </p:cNvPr>
          <p:cNvSpPr/>
          <p:nvPr/>
        </p:nvSpPr>
        <p:spPr>
          <a:xfrm>
            <a:off x="4966849" y="5268053"/>
            <a:ext cx="1326739" cy="271793"/>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r>
              <a:rPr lang="en-US" sz="571" dirty="0">
                <a:solidFill>
                  <a:prstClr val="white"/>
                </a:solidFill>
                <a:latin typeface="Aptos" panose="02110004020202020204"/>
              </a:rPr>
              <a:t>Sub-component fabrication</a:t>
            </a:r>
          </a:p>
        </p:txBody>
      </p:sp>
      <p:sp>
        <p:nvSpPr>
          <p:cNvPr id="798" name="Chevron 797">
            <a:extLst>
              <a:ext uri="{FF2B5EF4-FFF2-40B4-BE49-F238E27FC236}">
                <a16:creationId xmlns:a16="http://schemas.microsoft.com/office/drawing/2014/main" id="{68F061CE-C110-C5D6-4FEA-0BBCD1675914}"/>
              </a:ext>
            </a:extLst>
          </p:cNvPr>
          <p:cNvSpPr/>
          <p:nvPr/>
        </p:nvSpPr>
        <p:spPr>
          <a:xfrm>
            <a:off x="1841017" y="5268053"/>
            <a:ext cx="1194413" cy="271793"/>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r>
              <a:rPr lang="en-US" sz="571" dirty="0">
                <a:solidFill>
                  <a:prstClr val="white"/>
                </a:solidFill>
                <a:latin typeface="Aptos" panose="02110004020202020204"/>
              </a:rPr>
              <a:t>Primary production</a:t>
            </a:r>
          </a:p>
        </p:txBody>
      </p:sp>
      <p:sp>
        <p:nvSpPr>
          <p:cNvPr id="799" name="Chevron 798">
            <a:extLst>
              <a:ext uri="{FF2B5EF4-FFF2-40B4-BE49-F238E27FC236}">
                <a16:creationId xmlns:a16="http://schemas.microsoft.com/office/drawing/2014/main" id="{80A4CF58-267B-0B08-7758-71151ACD1CE8}"/>
              </a:ext>
            </a:extLst>
          </p:cNvPr>
          <p:cNvSpPr/>
          <p:nvPr/>
        </p:nvSpPr>
        <p:spPr>
          <a:xfrm>
            <a:off x="3011355" y="5268053"/>
            <a:ext cx="1979567" cy="271793"/>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r>
              <a:rPr lang="en-US" sz="571" dirty="0">
                <a:solidFill>
                  <a:prstClr val="white"/>
                </a:solidFill>
                <a:latin typeface="Aptos" panose="02110004020202020204"/>
              </a:rPr>
              <a:t>Material processing</a:t>
            </a:r>
          </a:p>
        </p:txBody>
      </p:sp>
      <p:sp>
        <p:nvSpPr>
          <p:cNvPr id="446" name="Diamond 445">
            <a:extLst>
              <a:ext uri="{FF2B5EF4-FFF2-40B4-BE49-F238E27FC236}">
                <a16:creationId xmlns:a16="http://schemas.microsoft.com/office/drawing/2014/main" id="{631E9450-6752-F4E8-8053-BA34560DDCBE}"/>
              </a:ext>
            </a:extLst>
          </p:cNvPr>
          <p:cNvSpPr/>
          <p:nvPr/>
        </p:nvSpPr>
        <p:spPr>
          <a:xfrm>
            <a:off x="5864993" y="2696093"/>
            <a:ext cx="269616" cy="140012"/>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P4</a:t>
            </a:r>
          </a:p>
        </p:txBody>
      </p:sp>
      <p:sp>
        <p:nvSpPr>
          <p:cNvPr id="806" name="Oval 805">
            <a:extLst>
              <a:ext uri="{FF2B5EF4-FFF2-40B4-BE49-F238E27FC236}">
                <a16:creationId xmlns:a16="http://schemas.microsoft.com/office/drawing/2014/main" id="{13169483-3ACA-0868-B94B-82EDF19A37FD}"/>
              </a:ext>
            </a:extLst>
          </p:cNvPr>
          <p:cNvSpPr/>
          <p:nvPr/>
        </p:nvSpPr>
        <p:spPr>
          <a:xfrm>
            <a:off x="1957750" y="1006090"/>
            <a:ext cx="342601" cy="165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71" dirty="0">
                <a:solidFill>
                  <a:prstClr val="white"/>
                </a:solidFill>
                <a:latin typeface="Aptos" panose="02110004020202020204"/>
              </a:rPr>
              <a:t>Mine1</a:t>
            </a:r>
          </a:p>
        </p:txBody>
      </p:sp>
      <p:sp>
        <p:nvSpPr>
          <p:cNvPr id="808" name="Oval 807">
            <a:extLst>
              <a:ext uri="{FF2B5EF4-FFF2-40B4-BE49-F238E27FC236}">
                <a16:creationId xmlns:a16="http://schemas.microsoft.com/office/drawing/2014/main" id="{071FFC6E-105E-7CEB-C989-47332CAA1692}"/>
              </a:ext>
            </a:extLst>
          </p:cNvPr>
          <p:cNvSpPr/>
          <p:nvPr/>
        </p:nvSpPr>
        <p:spPr>
          <a:xfrm>
            <a:off x="2986029" y="1006089"/>
            <a:ext cx="407297"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00" dirty="0">
                <a:solidFill>
                  <a:prstClr val="white"/>
                </a:solidFill>
                <a:latin typeface="Aptos" panose="02110004020202020204"/>
              </a:rPr>
              <a:t>Smelter1</a:t>
            </a:r>
          </a:p>
        </p:txBody>
      </p:sp>
      <p:sp>
        <p:nvSpPr>
          <p:cNvPr id="810" name="Oval 809">
            <a:extLst>
              <a:ext uri="{FF2B5EF4-FFF2-40B4-BE49-F238E27FC236}">
                <a16:creationId xmlns:a16="http://schemas.microsoft.com/office/drawing/2014/main" id="{9AF48609-F6B0-12EA-6543-F94CC32E8080}"/>
              </a:ext>
            </a:extLst>
          </p:cNvPr>
          <p:cNvSpPr/>
          <p:nvPr/>
        </p:nvSpPr>
        <p:spPr>
          <a:xfrm>
            <a:off x="4043827" y="1006089"/>
            <a:ext cx="407297"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00" dirty="0">
                <a:solidFill>
                  <a:prstClr val="white"/>
                </a:solidFill>
                <a:latin typeface="Aptos" panose="02110004020202020204"/>
              </a:rPr>
              <a:t>Refiner1</a:t>
            </a:r>
          </a:p>
        </p:txBody>
      </p:sp>
      <p:sp>
        <p:nvSpPr>
          <p:cNvPr id="824" name="Oval 823">
            <a:extLst>
              <a:ext uri="{FF2B5EF4-FFF2-40B4-BE49-F238E27FC236}">
                <a16:creationId xmlns:a16="http://schemas.microsoft.com/office/drawing/2014/main" id="{1209B83A-CFDD-2863-9EB6-1D4A7F6BF14E}"/>
              </a:ext>
            </a:extLst>
          </p:cNvPr>
          <p:cNvSpPr/>
          <p:nvPr/>
        </p:nvSpPr>
        <p:spPr>
          <a:xfrm>
            <a:off x="5320755" y="3820354"/>
            <a:ext cx="324090" cy="1527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Fab5</a:t>
            </a:r>
          </a:p>
        </p:txBody>
      </p:sp>
      <p:sp>
        <p:nvSpPr>
          <p:cNvPr id="825" name="Oval 824">
            <a:extLst>
              <a:ext uri="{FF2B5EF4-FFF2-40B4-BE49-F238E27FC236}">
                <a16:creationId xmlns:a16="http://schemas.microsoft.com/office/drawing/2014/main" id="{47C062BE-65F6-6225-7985-55B6B8E33907}"/>
              </a:ext>
            </a:extLst>
          </p:cNvPr>
          <p:cNvSpPr/>
          <p:nvPr/>
        </p:nvSpPr>
        <p:spPr>
          <a:xfrm>
            <a:off x="5341662" y="4656640"/>
            <a:ext cx="324090" cy="1527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Fab5</a:t>
            </a:r>
          </a:p>
        </p:txBody>
      </p:sp>
      <p:sp>
        <p:nvSpPr>
          <p:cNvPr id="826" name="Diamond 825">
            <a:extLst>
              <a:ext uri="{FF2B5EF4-FFF2-40B4-BE49-F238E27FC236}">
                <a16:creationId xmlns:a16="http://schemas.microsoft.com/office/drawing/2014/main" id="{3FBCEE62-609C-3588-7F19-449A3030E609}"/>
              </a:ext>
            </a:extLst>
          </p:cNvPr>
          <p:cNvSpPr/>
          <p:nvPr/>
        </p:nvSpPr>
        <p:spPr>
          <a:xfrm>
            <a:off x="5882342" y="3831676"/>
            <a:ext cx="315711" cy="134892"/>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P8</a:t>
            </a:r>
          </a:p>
        </p:txBody>
      </p:sp>
      <p:sp>
        <p:nvSpPr>
          <p:cNvPr id="827" name="Diamond 826">
            <a:extLst>
              <a:ext uri="{FF2B5EF4-FFF2-40B4-BE49-F238E27FC236}">
                <a16:creationId xmlns:a16="http://schemas.microsoft.com/office/drawing/2014/main" id="{70049AD4-2A37-725A-7D91-28BFBC6132E5}"/>
              </a:ext>
            </a:extLst>
          </p:cNvPr>
          <p:cNvSpPr/>
          <p:nvPr/>
        </p:nvSpPr>
        <p:spPr>
          <a:xfrm>
            <a:off x="5878996" y="4671995"/>
            <a:ext cx="302576" cy="129140"/>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P9</a:t>
            </a:r>
          </a:p>
        </p:txBody>
      </p:sp>
      <p:sp>
        <p:nvSpPr>
          <p:cNvPr id="828" name="Oval 827">
            <a:extLst>
              <a:ext uri="{FF2B5EF4-FFF2-40B4-BE49-F238E27FC236}">
                <a16:creationId xmlns:a16="http://schemas.microsoft.com/office/drawing/2014/main" id="{E7F55B4E-BFA1-9442-7250-AC46B09E49BC}"/>
              </a:ext>
            </a:extLst>
          </p:cNvPr>
          <p:cNvSpPr/>
          <p:nvPr/>
        </p:nvSpPr>
        <p:spPr>
          <a:xfrm>
            <a:off x="6554572" y="3884857"/>
            <a:ext cx="324090" cy="1527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Manf5</a:t>
            </a:r>
          </a:p>
        </p:txBody>
      </p:sp>
      <p:sp>
        <p:nvSpPr>
          <p:cNvPr id="829" name="Oval 828">
            <a:extLst>
              <a:ext uri="{FF2B5EF4-FFF2-40B4-BE49-F238E27FC236}">
                <a16:creationId xmlns:a16="http://schemas.microsoft.com/office/drawing/2014/main" id="{27143887-FFAA-E601-7841-41ED2166FC92}"/>
              </a:ext>
            </a:extLst>
          </p:cNvPr>
          <p:cNvSpPr/>
          <p:nvPr/>
        </p:nvSpPr>
        <p:spPr>
          <a:xfrm>
            <a:off x="6559147" y="4675658"/>
            <a:ext cx="313404" cy="1527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Manf6</a:t>
            </a:r>
          </a:p>
        </p:txBody>
      </p:sp>
      <p:sp>
        <p:nvSpPr>
          <p:cNvPr id="830" name="Diamond 829">
            <a:extLst>
              <a:ext uri="{FF2B5EF4-FFF2-40B4-BE49-F238E27FC236}">
                <a16:creationId xmlns:a16="http://schemas.microsoft.com/office/drawing/2014/main" id="{5FDAFF24-A76A-328C-D2A8-CC7DAB636E0B}"/>
              </a:ext>
            </a:extLst>
          </p:cNvPr>
          <p:cNvSpPr/>
          <p:nvPr/>
        </p:nvSpPr>
        <p:spPr>
          <a:xfrm>
            <a:off x="7087063" y="3782860"/>
            <a:ext cx="253555" cy="135971"/>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P16</a:t>
            </a:r>
          </a:p>
        </p:txBody>
      </p:sp>
      <p:sp>
        <p:nvSpPr>
          <p:cNvPr id="831" name="Diamond 830">
            <a:extLst>
              <a:ext uri="{FF2B5EF4-FFF2-40B4-BE49-F238E27FC236}">
                <a16:creationId xmlns:a16="http://schemas.microsoft.com/office/drawing/2014/main" id="{69CA4103-D90F-BB69-A2AD-F960AB6299E8}"/>
              </a:ext>
            </a:extLst>
          </p:cNvPr>
          <p:cNvSpPr/>
          <p:nvPr/>
        </p:nvSpPr>
        <p:spPr>
          <a:xfrm>
            <a:off x="7107394" y="4675314"/>
            <a:ext cx="271377" cy="129140"/>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P18</a:t>
            </a:r>
          </a:p>
        </p:txBody>
      </p:sp>
      <p:sp>
        <p:nvSpPr>
          <p:cNvPr id="832" name="Oval 831">
            <a:extLst>
              <a:ext uri="{FF2B5EF4-FFF2-40B4-BE49-F238E27FC236}">
                <a16:creationId xmlns:a16="http://schemas.microsoft.com/office/drawing/2014/main" id="{DA26A561-06AB-DE28-6917-B727CDD1510F}"/>
              </a:ext>
            </a:extLst>
          </p:cNvPr>
          <p:cNvSpPr/>
          <p:nvPr/>
        </p:nvSpPr>
        <p:spPr>
          <a:xfrm>
            <a:off x="5320505" y="1014777"/>
            <a:ext cx="343639" cy="1527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Fab1</a:t>
            </a:r>
          </a:p>
        </p:txBody>
      </p:sp>
      <p:sp>
        <p:nvSpPr>
          <p:cNvPr id="833" name="Diamond 832">
            <a:extLst>
              <a:ext uri="{FF2B5EF4-FFF2-40B4-BE49-F238E27FC236}">
                <a16:creationId xmlns:a16="http://schemas.microsoft.com/office/drawing/2014/main" id="{1A84F617-E50B-23E8-96C0-161C1B758519}"/>
              </a:ext>
            </a:extLst>
          </p:cNvPr>
          <p:cNvSpPr/>
          <p:nvPr/>
        </p:nvSpPr>
        <p:spPr>
          <a:xfrm>
            <a:off x="5878237" y="1016562"/>
            <a:ext cx="243273" cy="153400"/>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P1</a:t>
            </a:r>
          </a:p>
        </p:txBody>
      </p:sp>
      <p:sp>
        <p:nvSpPr>
          <p:cNvPr id="834" name="Oval 833">
            <a:extLst>
              <a:ext uri="{FF2B5EF4-FFF2-40B4-BE49-F238E27FC236}">
                <a16:creationId xmlns:a16="http://schemas.microsoft.com/office/drawing/2014/main" id="{92BA1B4E-F820-3C61-1971-3F9FE91D1656}"/>
              </a:ext>
            </a:extLst>
          </p:cNvPr>
          <p:cNvSpPr/>
          <p:nvPr/>
        </p:nvSpPr>
        <p:spPr>
          <a:xfrm>
            <a:off x="6541520" y="1099433"/>
            <a:ext cx="343639" cy="1527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Manf1</a:t>
            </a:r>
          </a:p>
        </p:txBody>
      </p:sp>
      <p:sp>
        <p:nvSpPr>
          <p:cNvPr id="835" name="Diamond 834">
            <a:extLst>
              <a:ext uri="{FF2B5EF4-FFF2-40B4-BE49-F238E27FC236}">
                <a16:creationId xmlns:a16="http://schemas.microsoft.com/office/drawing/2014/main" id="{5CF12BCE-B694-A7DE-3178-E493F83333FD}"/>
              </a:ext>
            </a:extLst>
          </p:cNvPr>
          <p:cNvSpPr/>
          <p:nvPr/>
        </p:nvSpPr>
        <p:spPr>
          <a:xfrm>
            <a:off x="7212595" y="1020921"/>
            <a:ext cx="258466" cy="129140"/>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P10</a:t>
            </a:r>
          </a:p>
        </p:txBody>
      </p:sp>
      <p:sp>
        <p:nvSpPr>
          <p:cNvPr id="836" name="Rounded Rectangle 835">
            <a:extLst>
              <a:ext uri="{FF2B5EF4-FFF2-40B4-BE49-F238E27FC236}">
                <a16:creationId xmlns:a16="http://schemas.microsoft.com/office/drawing/2014/main" id="{2F73D45C-D9A4-0C09-79D2-E31C99F27514}"/>
              </a:ext>
            </a:extLst>
          </p:cNvPr>
          <p:cNvSpPr/>
          <p:nvPr/>
        </p:nvSpPr>
        <p:spPr>
          <a:xfrm>
            <a:off x="2559539" y="1220839"/>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837" name="Rounded Rectangle 836">
            <a:extLst>
              <a:ext uri="{FF2B5EF4-FFF2-40B4-BE49-F238E27FC236}">
                <a16:creationId xmlns:a16="http://schemas.microsoft.com/office/drawing/2014/main" id="{6BB53529-878E-FA59-76B0-B661718C6171}"/>
              </a:ext>
            </a:extLst>
          </p:cNvPr>
          <p:cNvSpPr/>
          <p:nvPr/>
        </p:nvSpPr>
        <p:spPr>
          <a:xfrm>
            <a:off x="2679787" y="1329194"/>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838" name="Rounded Rectangle 837">
            <a:extLst>
              <a:ext uri="{FF2B5EF4-FFF2-40B4-BE49-F238E27FC236}">
                <a16:creationId xmlns:a16="http://schemas.microsoft.com/office/drawing/2014/main" id="{18EE8B16-056B-D3D0-E9A3-EF0EA4630824}"/>
              </a:ext>
            </a:extLst>
          </p:cNvPr>
          <p:cNvSpPr/>
          <p:nvPr/>
        </p:nvSpPr>
        <p:spPr>
          <a:xfrm>
            <a:off x="2463774" y="1329194"/>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CoA</a:t>
            </a:r>
          </a:p>
        </p:txBody>
      </p:sp>
      <p:sp>
        <p:nvSpPr>
          <p:cNvPr id="839" name="Rounded Rectangle 838">
            <a:extLst>
              <a:ext uri="{FF2B5EF4-FFF2-40B4-BE49-F238E27FC236}">
                <a16:creationId xmlns:a16="http://schemas.microsoft.com/office/drawing/2014/main" id="{F235EA5B-0999-8965-BB7B-4ADA816D4412}"/>
              </a:ext>
            </a:extLst>
          </p:cNvPr>
          <p:cNvSpPr/>
          <p:nvPr/>
        </p:nvSpPr>
        <p:spPr>
          <a:xfrm>
            <a:off x="2044825" y="1221424"/>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840" name="Rounded Rectangle 839">
            <a:extLst>
              <a:ext uri="{FF2B5EF4-FFF2-40B4-BE49-F238E27FC236}">
                <a16:creationId xmlns:a16="http://schemas.microsoft.com/office/drawing/2014/main" id="{AFE2DE94-AB75-2588-84A3-9D46A5005087}"/>
              </a:ext>
            </a:extLst>
          </p:cNvPr>
          <p:cNvSpPr/>
          <p:nvPr/>
        </p:nvSpPr>
        <p:spPr>
          <a:xfrm>
            <a:off x="2145040" y="1326912"/>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Permit</a:t>
            </a:r>
          </a:p>
        </p:txBody>
      </p:sp>
      <p:sp>
        <p:nvSpPr>
          <p:cNvPr id="841" name="Rounded Rectangle 840">
            <a:extLst>
              <a:ext uri="{FF2B5EF4-FFF2-40B4-BE49-F238E27FC236}">
                <a16:creationId xmlns:a16="http://schemas.microsoft.com/office/drawing/2014/main" id="{236DCCA0-900B-1D25-FBA9-A651C4467B0C}"/>
              </a:ext>
            </a:extLst>
          </p:cNvPr>
          <p:cNvSpPr/>
          <p:nvPr/>
        </p:nvSpPr>
        <p:spPr>
          <a:xfrm>
            <a:off x="1938268" y="1329194"/>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TSM</a:t>
            </a:r>
          </a:p>
        </p:txBody>
      </p:sp>
      <p:sp>
        <p:nvSpPr>
          <p:cNvPr id="842" name="Rounded Rectangle 841">
            <a:extLst>
              <a:ext uri="{FF2B5EF4-FFF2-40B4-BE49-F238E27FC236}">
                <a16:creationId xmlns:a16="http://schemas.microsoft.com/office/drawing/2014/main" id="{34EC6BF5-67B5-2A0F-8EA0-7FD5AD0025AE}"/>
              </a:ext>
            </a:extLst>
          </p:cNvPr>
          <p:cNvSpPr/>
          <p:nvPr/>
        </p:nvSpPr>
        <p:spPr>
          <a:xfrm>
            <a:off x="3118008" y="1221295"/>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844" name="Rounded Rectangle 843">
            <a:extLst>
              <a:ext uri="{FF2B5EF4-FFF2-40B4-BE49-F238E27FC236}">
                <a16:creationId xmlns:a16="http://schemas.microsoft.com/office/drawing/2014/main" id="{BBB1A790-1C98-ABE1-B4FC-B1998863AF1C}"/>
              </a:ext>
            </a:extLst>
          </p:cNvPr>
          <p:cNvSpPr/>
          <p:nvPr/>
        </p:nvSpPr>
        <p:spPr>
          <a:xfrm>
            <a:off x="3109695" y="1329063"/>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RMAP</a:t>
            </a:r>
          </a:p>
        </p:txBody>
      </p:sp>
      <p:sp>
        <p:nvSpPr>
          <p:cNvPr id="845" name="Rounded Rectangle 844">
            <a:extLst>
              <a:ext uri="{FF2B5EF4-FFF2-40B4-BE49-F238E27FC236}">
                <a16:creationId xmlns:a16="http://schemas.microsoft.com/office/drawing/2014/main" id="{9C9DF095-D911-29C3-5E08-23AC8789AA72}"/>
              </a:ext>
            </a:extLst>
          </p:cNvPr>
          <p:cNvSpPr/>
          <p:nvPr/>
        </p:nvSpPr>
        <p:spPr>
          <a:xfrm>
            <a:off x="4586150" y="1206129"/>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846" name="Rounded Rectangle 845">
            <a:extLst>
              <a:ext uri="{FF2B5EF4-FFF2-40B4-BE49-F238E27FC236}">
                <a16:creationId xmlns:a16="http://schemas.microsoft.com/office/drawing/2014/main" id="{63E62753-DCFA-8CEB-0096-252EF5738C9B}"/>
              </a:ext>
            </a:extLst>
          </p:cNvPr>
          <p:cNvSpPr/>
          <p:nvPr/>
        </p:nvSpPr>
        <p:spPr>
          <a:xfrm>
            <a:off x="4801822" y="1324373"/>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847" name="Rounded Rectangle 846">
            <a:extLst>
              <a:ext uri="{FF2B5EF4-FFF2-40B4-BE49-F238E27FC236}">
                <a16:creationId xmlns:a16="http://schemas.microsoft.com/office/drawing/2014/main" id="{3DF56A8C-5890-325E-E637-1E60B23B5B1A}"/>
              </a:ext>
            </a:extLst>
          </p:cNvPr>
          <p:cNvSpPr/>
          <p:nvPr/>
        </p:nvSpPr>
        <p:spPr>
          <a:xfrm>
            <a:off x="4585809" y="1324373"/>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CoA</a:t>
            </a:r>
          </a:p>
        </p:txBody>
      </p:sp>
      <p:sp>
        <p:nvSpPr>
          <p:cNvPr id="848" name="Rounded Rectangle 847">
            <a:extLst>
              <a:ext uri="{FF2B5EF4-FFF2-40B4-BE49-F238E27FC236}">
                <a16:creationId xmlns:a16="http://schemas.microsoft.com/office/drawing/2014/main" id="{CBEDF79F-7D3B-8CD6-F35D-BDF93DF4D4A8}"/>
              </a:ext>
            </a:extLst>
          </p:cNvPr>
          <p:cNvSpPr/>
          <p:nvPr/>
        </p:nvSpPr>
        <p:spPr>
          <a:xfrm>
            <a:off x="3649906" y="1215511"/>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849" name="Rounded Rectangle 848">
            <a:extLst>
              <a:ext uri="{FF2B5EF4-FFF2-40B4-BE49-F238E27FC236}">
                <a16:creationId xmlns:a16="http://schemas.microsoft.com/office/drawing/2014/main" id="{EC2238EA-8B7D-4CAD-0116-33E57E8FC1D0}"/>
              </a:ext>
            </a:extLst>
          </p:cNvPr>
          <p:cNvSpPr/>
          <p:nvPr/>
        </p:nvSpPr>
        <p:spPr>
          <a:xfrm>
            <a:off x="3641268" y="1329194"/>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850" name="Rounded Rectangle 849">
            <a:extLst>
              <a:ext uri="{FF2B5EF4-FFF2-40B4-BE49-F238E27FC236}">
                <a16:creationId xmlns:a16="http://schemas.microsoft.com/office/drawing/2014/main" id="{23D05A50-5FB6-EEA1-1A38-66F77945225E}"/>
              </a:ext>
            </a:extLst>
          </p:cNvPr>
          <p:cNvSpPr/>
          <p:nvPr/>
        </p:nvSpPr>
        <p:spPr>
          <a:xfrm>
            <a:off x="4173503" y="1222802"/>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856" name="Rounded Rectangle 855">
            <a:extLst>
              <a:ext uri="{FF2B5EF4-FFF2-40B4-BE49-F238E27FC236}">
                <a16:creationId xmlns:a16="http://schemas.microsoft.com/office/drawing/2014/main" id="{A4ECD7A9-F7F8-34FB-41F1-6B98525AF973}"/>
              </a:ext>
            </a:extLst>
          </p:cNvPr>
          <p:cNvSpPr/>
          <p:nvPr/>
        </p:nvSpPr>
        <p:spPr>
          <a:xfrm>
            <a:off x="4165686" y="1329194"/>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RMAP</a:t>
            </a:r>
          </a:p>
        </p:txBody>
      </p:sp>
      <p:sp>
        <p:nvSpPr>
          <p:cNvPr id="870" name="Rounded Rectangle 869">
            <a:extLst>
              <a:ext uri="{FF2B5EF4-FFF2-40B4-BE49-F238E27FC236}">
                <a16:creationId xmlns:a16="http://schemas.microsoft.com/office/drawing/2014/main" id="{4875859F-F405-B80E-24D5-5D63D1BE476D}"/>
              </a:ext>
            </a:extLst>
          </p:cNvPr>
          <p:cNvSpPr/>
          <p:nvPr/>
        </p:nvSpPr>
        <p:spPr>
          <a:xfrm>
            <a:off x="2047142" y="902918"/>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872" name="Rounded Rectangle 871">
            <a:extLst>
              <a:ext uri="{FF2B5EF4-FFF2-40B4-BE49-F238E27FC236}">
                <a16:creationId xmlns:a16="http://schemas.microsoft.com/office/drawing/2014/main" id="{01233343-0694-4F1B-6F6F-49D83D335151}"/>
              </a:ext>
            </a:extLst>
          </p:cNvPr>
          <p:cNvSpPr/>
          <p:nvPr/>
        </p:nvSpPr>
        <p:spPr>
          <a:xfrm>
            <a:off x="2539628" y="908558"/>
            <a:ext cx="224914" cy="74745"/>
          </a:xfrm>
          <a:prstGeom prst="round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Waybill</a:t>
            </a:r>
          </a:p>
        </p:txBody>
      </p:sp>
      <p:cxnSp>
        <p:nvCxnSpPr>
          <p:cNvPr id="873" name="Straight Connector 26">
            <a:extLst>
              <a:ext uri="{FF2B5EF4-FFF2-40B4-BE49-F238E27FC236}">
                <a16:creationId xmlns:a16="http://schemas.microsoft.com/office/drawing/2014/main" id="{24738A89-0F02-07D8-C198-03703EA21C0E}"/>
              </a:ext>
            </a:extLst>
          </p:cNvPr>
          <p:cNvCxnSpPr>
            <a:cxnSpLocks/>
            <a:stCxn id="806" idx="6"/>
            <a:endCxn id="808" idx="2"/>
          </p:cNvCxnSpPr>
          <p:nvPr/>
        </p:nvCxnSpPr>
        <p:spPr>
          <a:xfrm flipV="1">
            <a:off x="2300349" y="1089089"/>
            <a:ext cx="685678" cy="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876" name="Straight Connector 26">
            <a:extLst>
              <a:ext uri="{FF2B5EF4-FFF2-40B4-BE49-F238E27FC236}">
                <a16:creationId xmlns:a16="http://schemas.microsoft.com/office/drawing/2014/main" id="{0EA95E3A-A719-41B1-CF80-FDCF137581D8}"/>
              </a:ext>
            </a:extLst>
          </p:cNvPr>
          <p:cNvCxnSpPr>
            <a:cxnSpLocks/>
            <a:stCxn id="808" idx="6"/>
            <a:endCxn id="810" idx="2"/>
          </p:cNvCxnSpPr>
          <p:nvPr/>
        </p:nvCxnSpPr>
        <p:spPr>
          <a:xfrm>
            <a:off x="3393325" y="1089089"/>
            <a:ext cx="650501" cy="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888" name="Rounded Rectangle 887">
            <a:extLst>
              <a:ext uri="{FF2B5EF4-FFF2-40B4-BE49-F238E27FC236}">
                <a16:creationId xmlns:a16="http://schemas.microsoft.com/office/drawing/2014/main" id="{ABE15734-AAAA-7F3B-A451-7F63885F7ED1}"/>
              </a:ext>
            </a:extLst>
          </p:cNvPr>
          <p:cNvSpPr/>
          <p:nvPr/>
        </p:nvSpPr>
        <p:spPr>
          <a:xfrm>
            <a:off x="3109949" y="902214"/>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890" name="Rounded Rectangle 889">
            <a:extLst>
              <a:ext uri="{FF2B5EF4-FFF2-40B4-BE49-F238E27FC236}">
                <a16:creationId xmlns:a16="http://schemas.microsoft.com/office/drawing/2014/main" id="{A1315C85-0B64-95BE-FA92-CBB55618FBDB}"/>
              </a:ext>
            </a:extLst>
          </p:cNvPr>
          <p:cNvSpPr/>
          <p:nvPr/>
        </p:nvSpPr>
        <p:spPr>
          <a:xfrm>
            <a:off x="4167626" y="894894"/>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891" name="Rounded Rectangle 890">
            <a:extLst>
              <a:ext uri="{FF2B5EF4-FFF2-40B4-BE49-F238E27FC236}">
                <a16:creationId xmlns:a16="http://schemas.microsoft.com/office/drawing/2014/main" id="{440A3F68-8FED-B477-D701-4B7F70BCAB90}"/>
              </a:ext>
            </a:extLst>
          </p:cNvPr>
          <p:cNvSpPr/>
          <p:nvPr/>
        </p:nvSpPr>
        <p:spPr>
          <a:xfrm>
            <a:off x="4668768" y="915855"/>
            <a:ext cx="224914" cy="74745"/>
          </a:xfrm>
          <a:prstGeom prst="round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LME</a:t>
            </a:r>
          </a:p>
        </p:txBody>
      </p:sp>
      <p:sp>
        <p:nvSpPr>
          <p:cNvPr id="892" name="Rounded Rectangle 891">
            <a:extLst>
              <a:ext uri="{FF2B5EF4-FFF2-40B4-BE49-F238E27FC236}">
                <a16:creationId xmlns:a16="http://schemas.microsoft.com/office/drawing/2014/main" id="{8DEF1F72-120A-3785-3BA3-198141F18509}"/>
              </a:ext>
            </a:extLst>
          </p:cNvPr>
          <p:cNvSpPr/>
          <p:nvPr/>
        </p:nvSpPr>
        <p:spPr>
          <a:xfrm>
            <a:off x="1829891" y="3232172"/>
            <a:ext cx="3256570" cy="941203"/>
          </a:xfrm>
          <a:prstGeom prst="roundRect">
            <a:avLst>
              <a:gd name="adj" fmla="val 7444"/>
            </a:avLst>
          </a:prstGeom>
          <a:solidFill>
            <a:schemeClr val="accent4">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prstClr val="white"/>
              </a:solidFill>
              <a:latin typeface="Aptos" panose="02110004020202020204"/>
            </a:endParaRPr>
          </a:p>
        </p:txBody>
      </p:sp>
      <p:sp>
        <p:nvSpPr>
          <p:cNvPr id="893" name="Rounded Rectangle 892">
            <a:extLst>
              <a:ext uri="{FF2B5EF4-FFF2-40B4-BE49-F238E27FC236}">
                <a16:creationId xmlns:a16="http://schemas.microsoft.com/office/drawing/2014/main" id="{D7FA0957-99F8-4D18-A1E7-C1C6357E4025}"/>
              </a:ext>
            </a:extLst>
          </p:cNvPr>
          <p:cNvSpPr/>
          <p:nvPr/>
        </p:nvSpPr>
        <p:spPr>
          <a:xfrm>
            <a:off x="1879829" y="3403910"/>
            <a:ext cx="487378" cy="7155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894" name="Rounded Rectangle 893">
            <a:extLst>
              <a:ext uri="{FF2B5EF4-FFF2-40B4-BE49-F238E27FC236}">
                <a16:creationId xmlns:a16="http://schemas.microsoft.com/office/drawing/2014/main" id="{7C5302C0-B901-3948-B595-10870102B0CA}"/>
              </a:ext>
            </a:extLst>
          </p:cNvPr>
          <p:cNvSpPr/>
          <p:nvPr/>
        </p:nvSpPr>
        <p:spPr>
          <a:xfrm>
            <a:off x="2408895" y="3403910"/>
            <a:ext cx="487378" cy="71554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895" name="Rounded Rectangle 894">
            <a:extLst>
              <a:ext uri="{FF2B5EF4-FFF2-40B4-BE49-F238E27FC236}">
                <a16:creationId xmlns:a16="http://schemas.microsoft.com/office/drawing/2014/main" id="{7CEE939A-BE24-D493-78CB-CF02D0673958}"/>
              </a:ext>
            </a:extLst>
          </p:cNvPr>
          <p:cNvSpPr/>
          <p:nvPr/>
        </p:nvSpPr>
        <p:spPr>
          <a:xfrm>
            <a:off x="2945160" y="3402349"/>
            <a:ext cx="487378" cy="7155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896" name="Rounded Rectangle 895">
            <a:extLst>
              <a:ext uri="{FF2B5EF4-FFF2-40B4-BE49-F238E27FC236}">
                <a16:creationId xmlns:a16="http://schemas.microsoft.com/office/drawing/2014/main" id="{6CAD628D-3CEE-584F-25BF-5F19A86820FA}"/>
              </a:ext>
            </a:extLst>
          </p:cNvPr>
          <p:cNvSpPr/>
          <p:nvPr/>
        </p:nvSpPr>
        <p:spPr>
          <a:xfrm>
            <a:off x="3472566" y="3402349"/>
            <a:ext cx="487378" cy="71554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897" name="Rounded Rectangle 896">
            <a:extLst>
              <a:ext uri="{FF2B5EF4-FFF2-40B4-BE49-F238E27FC236}">
                <a16:creationId xmlns:a16="http://schemas.microsoft.com/office/drawing/2014/main" id="{97BD8A43-B3EC-C38F-0D15-22B5CCAC1D0A}"/>
              </a:ext>
            </a:extLst>
          </p:cNvPr>
          <p:cNvSpPr/>
          <p:nvPr/>
        </p:nvSpPr>
        <p:spPr>
          <a:xfrm>
            <a:off x="4001153" y="3402349"/>
            <a:ext cx="487378" cy="7155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898" name="Rounded Rectangle 897">
            <a:extLst>
              <a:ext uri="{FF2B5EF4-FFF2-40B4-BE49-F238E27FC236}">
                <a16:creationId xmlns:a16="http://schemas.microsoft.com/office/drawing/2014/main" id="{69B7005D-FA6B-221A-4997-03D80B9469D4}"/>
              </a:ext>
            </a:extLst>
          </p:cNvPr>
          <p:cNvSpPr/>
          <p:nvPr/>
        </p:nvSpPr>
        <p:spPr>
          <a:xfrm>
            <a:off x="4529738" y="3402349"/>
            <a:ext cx="487378" cy="71554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srgbClr val="156082"/>
              </a:solidFill>
              <a:latin typeface="Aptos" panose="02110004020202020204"/>
            </a:endParaRPr>
          </a:p>
        </p:txBody>
      </p:sp>
      <p:sp>
        <p:nvSpPr>
          <p:cNvPr id="899" name="TextBox 898">
            <a:extLst>
              <a:ext uri="{FF2B5EF4-FFF2-40B4-BE49-F238E27FC236}">
                <a16:creationId xmlns:a16="http://schemas.microsoft.com/office/drawing/2014/main" id="{BE0E687B-2DC1-4987-0B05-945FDFED7B09}"/>
              </a:ext>
            </a:extLst>
          </p:cNvPr>
          <p:cNvSpPr txBox="1"/>
          <p:nvPr/>
        </p:nvSpPr>
        <p:spPr>
          <a:xfrm>
            <a:off x="1853466" y="3385821"/>
            <a:ext cx="530585"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Mines</a:t>
            </a:r>
          </a:p>
          <a:p>
            <a:pPr algn="ctr" defTabSz="244938"/>
            <a:r>
              <a:rPr lang="en-AU" sz="429" i="1" dirty="0">
                <a:solidFill>
                  <a:prstClr val="black"/>
                </a:solidFill>
                <a:latin typeface="Aptos" panose="02110004020202020204"/>
              </a:rPr>
              <a:t>ID from permit</a:t>
            </a:r>
          </a:p>
        </p:txBody>
      </p:sp>
      <p:sp>
        <p:nvSpPr>
          <p:cNvPr id="900" name="TextBox 899">
            <a:extLst>
              <a:ext uri="{FF2B5EF4-FFF2-40B4-BE49-F238E27FC236}">
                <a16:creationId xmlns:a16="http://schemas.microsoft.com/office/drawing/2014/main" id="{156B2EAA-5C29-C3F6-EB79-67F26E7F15DF}"/>
              </a:ext>
            </a:extLst>
          </p:cNvPr>
          <p:cNvSpPr txBox="1"/>
          <p:nvPr/>
        </p:nvSpPr>
        <p:spPr>
          <a:xfrm>
            <a:off x="2302348" y="3385822"/>
            <a:ext cx="689949"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Concentrate</a:t>
            </a:r>
          </a:p>
          <a:p>
            <a:pPr algn="ctr" defTabSz="244938"/>
            <a:r>
              <a:rPr lang="en-AU" sz="429" i="1" dirty="0">
                <a:solidFill>
                  <a:prstClr val="black"/>
                </a:solidFill>
                <a:latin typeface="Aptos" panose="02110004020202020204"/>
              </a:rPr>
              <a:t>Batch ID</a:t>
            </a:r>
          </a:p>
        </p:txBody>
      </p:sp>
      <p:sp>
        <p:nvSpPr>
          <p:cNvPr id="901" name="TextBox 900">
            <a:extLst>
              <a:ext uri="{FF2B5EF4-FFF2-40B4-BE49-F238E27FC236}">
                <a16:creationId xmlns:a16="http://schemas.microsoft.com/office/drawing/2014/main" id="{D099A5D4-DE57-5C70-301C-AA82F10CAD4D}"/>
              </a:ext>
            </a:extLst>
          </p:cNvPr>
          <p:cNvSpPr txBox="1"/>
          <p:nvPr/>
        </p:nvSpPr>
        <p:spPr>
          <a:xfrm>
            <a:off x="2865312" y="3387699"/>
            <a:ext cx="653091" cy="224420"/>
          </a:xfrm>
          <a:prstGeom prst="rect">
            <a:avLst/>
          </a:prstGeom>
          <a:noFill/>
        </p:spPr>
        <p:txBody>
          <a:bodyPr wrap="square" rtlCol="0">
            <a:spAutoFit/>
          </a:bodyPr>
          <a:lstStyle/>
          <a:p>
            <a:pPr algn="ctr" defTabSz="244938"/>
            <a:r>
              <a:rPr lang="en-AU" sz="429" b="1" dirty="0">
                <a:solidFill>
                  <a:prstClr val="black"/>
                </a:solidFill>
                <a:latin typeface="Aptos" panose="02110004020202020204"/>
              </a:rPr>
              <a:t>Hydrometallurgy</a:t>
            </a:r>
          </a:p>
          <a:p>
            <a:pPr algn="ctr" defTabSz="244938"/>
            <a:r>
              <a:rPr lang="en-AU" sz="429" i="1" dirty="0">
                <a:solidFill>
                  <a:prstClr val="black"/>
                </a:solidFill>
                <a:latin typeface="Aptos" panose="02110004020202020204"/>
              </a:rPr>
              <a:t>RMI ID</a:t>
            </a:r>
          </a:p>
        </p:txBody>
      </p:sp>
      <p:sp>
        <p:nvSpPr>
          <p:cNvPr id="902" name="TextBox 901">
            <a:extLst>
              <a:ext uri="{FF2B5EF4-FFF2-40B4-BE49-F238E27FC236}">
                <a16:creationId xmlns:a16="http://schemas.microsoft.com/office/drawing/2014/main" id="{E18AB25E-D19D-E2E7-13D6-9FFD82D0549F}"/>
              </a:ext>
            </a:extLst>
          </p:cNvPr>
          <p:cNvSpPr txBox="1"/>
          <p:nvPr/>
        </p:nvSpPr>
        <p:spPr>
          <a:xfrm>
            <a:off x="3427245" y="3385822"/>
            <a:ext cx="582601"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Crude metal</a:t>
            </a:r>
          </a:p>
          <a:p>
            <a:pPr algn="ctr" defTabSz="244938"/>
            <a:r>
              <a:rPr lang="en-AU" sz="429" i="1" dirty="0">
                <a:solidFill>
                  <a:prstClr val="black"/>
                </a:solidFill>
                <a:latin typeface="Aptos" panose="02110004020202020204"/>
              </a:rPr>
              <a:t>Batch ID</a:t>
            </a:r>
          </a:p>
        </p:txBody>
      </p:sp>
      <p:sp>
        <p:nvSpPr>
          <p:cNvPr id="903" name="TextBox 902">
            <a:extLst>
              <a:ext uri="{FF2B5EF4-FFF2-40B4-BE49-F238E27FC236}">
                <a16:creationId xmlns:a16="http://schemas.microsoft.com/office/drawing/2014/main" id="{2A135E32-9E44-66D3-75AA-F18767727112}"/>
              </a:ext>
            </a:extLst>
          </p:cNvPr>
          <p:cNvSpPr txBox="1"/>
          <p:nvPr/>
        </p:nvSpPr>
        <p:spPr>
          <a:xfrm>
            <a:off x="4468889" y="3385822"/>
            <a:ext cx="608081"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Metal / Alloy</a:t>
            </a:r>
          </a:p>
          <a:p>
            <a:pPr algn="ctr" defTabSz="244938"/>
            <a:r>
              <a:rPr lang="en-AU" sz="429" i="1" dirty="0">
                <a:solidFill>
                  <a:prstClr val="black"/>
                </a:solidFill>
                <a:latin typeface="Aptos" panose="02110004020202020204"/>
              </a:rPr>
              <a:t>Batch ID</a:t>
            </a:r>
          </a:p>
        </p:txBody>
      </p:sp>
      <p:sp>
        <p:nvSpPr>
          <p:cNvPr id="904" name="TextBox 903">
            <a:extLst>
              <a:ext uri="{FF2B5EF4-FFF2-40B4-BE49-F238E27FC236}">
                <a16:creationId xmlns:a16="http://schemas.microsoft.com/office/drawing/2014/main" id="{630F102C-E9FE-CD2E-D690-C6F03984A09E}"/>
              </a:ext>
            </a:extLst>
          </p:cNvPr>
          <p:cNvSpPr txBox="1"/>
          <p:nvPr/>
        </p:nvSpPr>
        <p:spPr>
          <a:xfrm>
            <a:off x="4020001" y="3385822"/>
            <a:ext cx="448686"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Refiners</a:t>
            </a:r>
          </a:p>
          <a:p>
            <a:pPr algn="ctr" defTabSz="244938"/>
            <a:r>
              <a:rPr lang="en-AU" sz="429" i="1" dirty="0">
                <a:solidFill>
                  <a:prstClr val="black"/>
                </a:solidFill>
                <a:latin typeface="Aptos" panose="02110004020202020204"/>
              </a:rPr>
              <a:t>RMI ID</a:t>
            </a:r>
          </a:p>
        </p:txBody>
      </p:sp>
      <p:sp>
        <p:nvSpPr>
          <p:cNvPr id="905" name="TextBox 904">
            <a:extLst>
              <a:ext uri="{FF2B5EF4-FFF2-40B4-BE49-F238E27FC236}">
                <a16:creationId xmlns:a16="http://schemas.microsoft.com/office/drawing/2014/main" id="{0F0CB9A3-8451-CC22-7024-5889462AD0DD}"/>
              </a:ext>
            </a:extLst>
          </p:cNvPr>
          <p:cNvSpPr txBox="1"/>
          <p:nvPr/>
        </p:nvSpPr>
        <p:spPr>
          <a:xfrm>
            <a:off x="2677775" y="3252059"/>
            <a:ext cx="1509525"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Rare Earths Value Chain</a:t>
            </a:r>
          </a:p>
        </p:txBody>
      </p:sp>
      <p:sp>
        <p:nvSpPr>
          <p:cNvPr id="906" name="Oval 905">
            <a:extLst>
              <a:ext uri="{FF2B5EF4-FFF2-40B4-BE49-F238E27FC236}">
                <a16:creationId xmlns:a16="http://schemas.microsoft.com/office/drawing/2014/main" id="{4FDAE6AA-C3DF-A74A-C9B7-E238D8E32F0A}"/>
              </a:ext>
            </a:extLst>
          </p:cNvPr>
          <p:cNvSpPr/>
          <p:nvPr/>
        </p:nvSpPr>
        <p:spPr>
          <a:xfrm>
            <a:off x="1947458" y="3683387"/>
            <a:ext cx="342601" cy="165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71" dirty="0">
                <a:solidFill>
                  <a:prstClr val="white"/>
                </a:solidFill>
                <a:latin typeface="Aptos" panose="02110004020202020204"/>
              </a:rPr>
              <a:t>Mine5</a:t>
            </a:r>
          </a:p>
        </p:txBody>
      </p:sp>
      <p:sp>
        <p:nvSpPr>
          <p:cNvPr id="907" name="Oval 906">
            <a:extLst>
              <a:ext uri="{FF2B5EF4-FFF2-40B4-BE49-F238E27FC236}">
                <a16:creationId xmlns:a16="http://schemas.microsoft.com/office/drawing/2014/main" id="{B5A538C6-96EF-A899-2EC3-514F73B3136A}"/>
              </a:ext>
            </a:extLst>
          </p:cNvPr>
          <p:cNvSpPr/>
          <p:nvPr/>
        </p:nvSpPr>
        <p:spPr>
          <a:xfrm>
            <a:off x="2975736" y="3683386"/>
            <a:ext cx="407297"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00" dirty="0">
                <a:solidFill>
                  <a:prstClr val="white"/>
                </a:solidFill>
                <a:latin typeface="Aptos" panose="02110004020202020204"/>
              </a:rPr>
              <a:t>Smelter4</a:t>
            </a:r>
          </a:p>
        </p:txBody>
      </p:sp>
      <p:sp>
        <p:nvSpPr>
          <p:cNvPr id="908" name="Oval 907">
            <a:extLst>
              <a:ext uri="{FF2B5EF4-FFF2-40B4-BE49-F238E27FC236}">
                <a16:creationId xmlns:a16="http://schemas.microsoft.com/office/drawing/2014/main" id="{B3CEE3FA-E4BE-091A-DB3C-A8A7B039E8EE}"/>
              </a:ext>
            </a:extLst>
          </p:cNvPr>
          <p:cNvSpPr/>
          <p:nvPr/>
        </p:nvSpPr>
        <p:spPr>
          <a:xfrm>
            <a:off x="4033536" y="3683386"/>
            <a:ext cx="407297"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00" dirty="0">
                <a:solidFill>
                  <a:prstClr val="white"/>
                </a:solidFill>
                <a:latin typeface="Aptos" panose="02110004020202020204"/>
              </a:rPr>
              <a:t>Refiner5</a:t>
            </a:r>
          </a:p>
        </p:txBody>
      </p:sp>
      <p:sp>
        <p:nvSpPr>
          <p:cNvPr id="910" name="Rounded Rectangle 909">
            <a:extLst>
              <a:ext uri="{FF2B5EF4-FFF2-40B4-BE49-F238E27FC236}">
                <a16:creationId xmlns:a16="http://schemas.microsoft.com/office/drawing/2014/main" id="{13EFC171-93D5-F7AC-86F2-EDF09D74A26E}"/>
              </a:ext>
            </a:extLst>
          </p:cNvPr>
          <p:cNvSpPr/>
          <p:nvPr/>
        </p:nvSpPr>
        <p:spPr>
          <a:xfrm>
            <a:off x="2549249" y="3898137"/>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911" name="Rounded Rectangle 910">
            <a:extLst>
              <a:ext uri="{FF2B5EF4-FFF2-40B4-BE49-F238E27FC236}">
                <a16:creationId xmlns:a16="http://schemas.microsoft.com/office/drawing/2014/main" id="{4DD654BA-A372-1F31-69F0-D0717F24E967}"/>
              </a:ext>
            </a:extLst>
          </p:cNvPr>
          <p:cNvSpPr/>
          <p:nvPr/>
        </p:nvSpPr>
        <p:spPr>
          <a:xfrm>
            <a:off x="2669496" y="4006492"/>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912" name="Rounded Rectangle 911">
            <a:extLst>
              <a:ext uri="{FF2B5EF4-FFF2-40B4-BE49-F238E27FC236}">
                <a16:creationId xmlns:a16="http://schemas.microsoft.com/office/drawing/2014/main" id="{F5608B6C-68FA-E394-C632-C7698684380E}"/>
              </a:ext>
            </a:extLst>
          </p:cNvPr>
          <p:cNvSpPr/>
          <p:nvPr/>
        </p:nvSpPr>
        <p:spPr>
          <a:xfrm>
            <a:off x="2453483" y="4006492"/>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CoA</a:t>
            </a:r>
          </a:p>
        </p:txBody>
      </p:sp>
      <p:sp>
        <p:nvSpPr>
          <p:cNvPr id="913" name="Rounded Rectangle 912">
            <a:extLst>
              <a:ext uri="{FF2B5EF4-FFF2-40B4-BE49-F238E27FC236}">
                <a16:creationId xmlns:a16="http://schemas.microsoft.com/office/drawing/2014/main" id="{D09BF413-1B1F-0C4B-A1B2-4BE4B8F94E1C}"/>
              </a:ext>
            </a:extLst>
          </p:cNvPr>
          <p:cNvSpPr/>
          <p:nvPr/>
        </p:nvSpPr>
        <p:spPr>
          <a:xfrm>
            <a:off x="2034534" y="3898722"/>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914" name="Rounded Rectangle 913">
            <a:extLst>
              <a:ext uri="{FF2B5EF4-FFF2-40B4-BE49-F238E27FC236}">
                <a16:creationId xmlns:a16="http://schemas.microsoft.com/office/drawing/2014/main" id="{9D75A53F-FCC3-D21E-D6A3-023AA815916A}"/>
              </a:ext>
            </a:extLst>
          </p:cNvPr>
          <p:cNvSpPr/>
          <p:nvPr/>
        </p:nvSpPr>
        <p:spPr>
          <a:xfrm>
            <a:off x="2039604" y="4004211"/>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Permit</a:t>
            </a:r>
          </a:p>
        </p:txBody>
      </p:sp>
      <p:sp>
        <p:nvSpPr>
          <p:cNvPr id="916" name="Rounded Rectangle 915">
            <a:extLst>
              <a:ext uri="{FF2B5EF4-FFF2-40B4-BE49-F238E27FC236}">
                <a16:creationId xmlns:a16="http://schemas.microsoft.com/office/drawing/2014/main" id="{9C09CEE6-E2F9-E9FF-DABF-30706C3D2B0E}"/>
              </a:ext>
            </a:extLst>
          </p:cNvPr>
          <p:cNvSpPr/>
          <p:nvPr/>
        </p:nvSpPr>
        <p:spPr>
          <a:xfrm>
            <a:off x="3107716" y="3898591"/>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917" name="Rounded Rectangle 916">
            <a:extLst>
              <a:ext uri="{FF2B5EF4-FFF2-40B4-BE49-F238E27FC236}">
                <a16:creationId xmlns:a16="http://schemas.microsoft.com/office/drawing/2014/main" id="{D0C87C96-5B6B-E65D-29A4-B3B036B82FCC}"/>
              </a:ext>
            </a:extLst>
          </p:cNvPr>
          <p:cNvSpPr/>
          <p:nvPr/>
        </p:nvSpPr>
        <p:spPr>
          <a:xfrm>
            <a:off x="3099402" y="4006362"/>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RMAP</a:t>
            </a:r>
          </a:p>
        </p:txBody>
      </p:sp>
      <p:sp>
        <p:nvSpPr>
          <p:cNvPr id="918" name="Rounded Rectangle 917">
            <a:extLst>
              <a:ext uri="{FF2B5EF4-FFF2-40B4-BE49-F238E27FC236}">
                <a16:creationId xmlns:a16="http://schemas.microsoft.com/office/drawing/2014/main" id="{E50F5E8D-124E-FAD5-9CC9-99ABB6644443}"/>
              </a:ext>
            </a:extLst>
          </p:cNvPr>
          <p:cNvSpPr/>
          <p:nvPr/>
        </p:nvSpPr>
        <p:spPr>
          <a:xfrm>
            <a:off x="4671283" y="3893315"/>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919" name="Rounded Rectangle 918">
            <a:extLst>
              <a:ext uri="{FF2B5EF4-FFF2-40B4-BE49-F238E27FC236}">
                <a16:creationId xmlns:a16="http://schemas.microsoft.com/office/drawing/2014/main" id="{596901BB-B5CE-2267-B8C1-2A126694C1BC}"/>
              </a:ext>
            </a:extLst>
          </p:cNvPr>
          <p:cNvSpPr/>
          <p:nvPr/>
        </p:nvSpPr>
        <p:spPr>
          <a:xfrm>
            <a:off x="4791531" y="4001671"/>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920" name="Rounded Rectangle 919">
            <a:extLst>
              <a:ext uri="{FF2B5EF4-FFF2-40B4-BE49-F238E27FC236}">
                <a16:creationId xmlns:a16="http://schemas.microsoft.com/office/drawing/2014/main" id="{6CC9F484-F6BC-750A-8C66-0A6E24FB7F02}"/>
              </a:ext>
            </a:extLst>
          </p:cNvPr>
          <p:cNvSpPr/>
          <p:nvPr/>
        </p:nvSpPr>
        <p:spPr>
          <a:xfrm>
            <a:off x="4575518" y="4001671"/>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CoA</a:t>
            </a:r>
          </a:p>
        </p:txBody>
      </p:sp>
      <p:sp>
        <p:nvSpPr>
          <p:cNvPr id="921" name="Rounded Rectangle 920">
            <a:extLst>
              <a:ext uri="{FF2B5EF4-FFF2-40B4-BE49-F238E27FC236}">
                <a16:creationId xmlns:a16="http://schemas.microsoft.com/office/drawing/2014/main" id="{A4BA0814-BE61-19FF-C27C-5BA53BE81D66}"/>
              </a:ext>
            </a:extLst>
          </p:cNvPr>
          <p:cNvSpPr/>
          <p:nvPr/>
        </p:nvSpPr>
        <p:spPr>
          <a:xfrm>
            <a:off x="3639614" y="3892809"/>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922" name="Rounded Rectangle 921">
            <a:extLst>
              <a:ext uri="{FF2B5EF4-FFF2-40B4-BE49-F238E27FC236}">
                <a16:creationId xmlns:a16="http://schemas.microsoft.com/office/drawing/2014/main" id="{E48E7376-7638-E655-E536-777E618F1EF4}"/>
              </a:ext>
            </a:extLst>
          </p:cNvPr>
          <p:cNvSpPr/>
          <p:nvPr/>
        </p:nvSpPr>
        <p:spPr>
          <a:xfrm>
            <a:off x="3630977" y="4006492"/>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923" name="Rounded Rectangle 922">
            <a:extLst>
              <a:ext uri="{FF2B5EF4-FFF2-40B4-BE49-F238E27FC236}">
                <a16:creationId xmlns:a16="http://schemas.microsoft.com/office/drawing/2014/main" id="{E54EEC7A-B3EA-AA01-9E08-35EA6100FD2E}"/>
              </a:ext>
            </a:extLst>
          </p:cNvPr>
          <p:cNvSpPr/>
          <p:nvPr/>
        </p:nvSpPr>
        <p:spPr>
          <a:xfrm>
            <a:off x="4163211" y="3900100"/>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924" name="Rounded Rectangle 923">
            <a:extLst>
              <a:ext uri="{FF2B5EF4-FFF2-40B4-BE49-F238E27FC236}">
                <a16:creationId xmlns:a16="http://schemas.microsoft.com/office/drawing/2014/main" id="{D4DDF8AE-6FD3-018E-E09B-911A1BEFD3E7}"/>
              </a:ext>
            </a:extLst>
          </p:cNvPr>
          <p:cNvSpPr/>
          <p:nvPr/>
        </p:nvSpPr>
        <p:spPr>
          <a:xfrm>
            <a:off x="4155394" y="4006492"/>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RMAP</a:t>
            </a:r>
          </a:p>
        </p:txBody>
      </p:sp>
      <p:sp>
        <p:nvSpPr>
          <p:cNvPr id="925" name="Rounded Rectangle 924">
            <a:extLst>
              <a:ext uri="{FF2B5EF4-FFF2-40B4-BE49-F238E27FC236}">
                <a16:creationId xmlns:a16="http://schemas.microsoft.com/office/drawing/2014/main" id="{056A7DBD-207C-0AA0-EA6D-18BA371FFE45}"/>
              </a:ext>
            </a:extLst>
          </p:cNvPr>
          <p:cNvSpPr/>
          <p:nvPr/>
        </p:nvSpPr>
        <p:spPr>
          <a:xfrm>
            <a:off x="2036850" y="3580215"/>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926" name="Rounded Rectangle 925">
            <a:extLst>
              <a:ext uri="{FF2B5EF4-FFF2-40B4-BE49-F238E27FC236}">
                <a16:creationId xmlns:a16="http://schemas.microsoft.com/office/drawing/2014/main" id="{34374FEF-E5BA-5E9B-98BB-14B75E21F0B9}"/>
              </a:ext>
            </a:extLst>
          </p:cNvPr>
          <p:cNvSpPr/>
          <p:nvPr/>
        </p:nvSpPr>
        <p:spPr>
          <a:xfrm>
            <a:off x="2529335" y="3585855"/>
            <a:ext cx="224914" cy="74745"/>
          </a:xfrm>
          <a:prstGeom prst="round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Waybill</a:t>
            </a:r>
          </a:p>
        </p:txBody>
      </p:sp>
      <p:cxnSp>
        <p:nvCxnSpPr>
          <p:cNvPr id="927" name="Straight Connector 26">
            <a:extLst>
              <a:ext uri="{FF2B5EF4-FFF2-40B4-BE49-F238E27FC236}">
                <a16:creationId xmlns:a16="http://schemas.microsoft.com/office/drawing/2014/main" id="{362429EA-F77F-4BEC-730E-6E399DC5EA99}"/>
              </a:ext>
            </a:extLst>
          </p:cNvPr>
          <p:cNvCxnSpPr>
            <a:cxnSpLocks/>
            <a:stCxn id="906" idx="6"/>
            <a:endCxn id="907" idx="2"/>
          </p:cNvCxnSpPr>
          <p:nvPr/>
        </p:nvCxnSpPr>
        <p:spPr>
          <a:xfrm flipV="1">
            <a:off x="2290058" y="3766386"/>
            <a:ext cx="685678" cy="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929" name="Straight Connector 26">
            <a:extLst>
              <a:ext uri="{FF2B5EF4-FFF2-40B4-BE49-F238E27FC236}">
                <a16:creationId xmlns:a16="http://schemas.microsoft.com/office/drawing/2014/main" id="{5F240F4F-0CF8-A522-7664-D448ADA912C1}"/>
              </a:ext>
            </a:extLst>
          </p:cNvPr>
          <p:cNvCxnSpPr>
            <a:cxnSpLocks/>
            <a:stCxn id="907" idx="6"/>
            <a:endCxn id="908" idx="2"/>
          </p:cNvCxnSpPr>
          <p:nvPr/>
        </p:nvCxnSpPr>
        <p:spPr>
          <a:xfrm>
            <a:off x="3383034" y="3766386"/>
            <a:ext cx="650501" cy="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932" name="Rounded Rectangle 931">
            <a:extLst>
              <a:ext uri="{FF2B5EF4-FFF2-40B4-BE49-F238E27FC236}">
                <a16:creationId xmlns:a16="http://schemas.microsoft.com/office/drawing/2014/main" id="{949D3D87-89D0-6CA2-2E50-0C5219836B84}"/>
              </a:ext>
            </a:extLst>
          </p:cNvPr>
          <p:cNvSpPr/>
          <p:nvPr/>
        </p:nvSpPr>
        <p:spPr>
          <a:xfrm>
            <a:off x="3099658" y="3579512"/>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933" name="Rounded Rectangle 932">
            <a:extLst>
              <a:ext uri="{FF2B5EF4-FFF2-40B4-BE49-F238E27FC236}">
                <a16:creationId xmlns:a16="http://schemas.microsoft.com/office/drawing/2014/main" id="{51E7AA0D-FE46-CFCF-837D-50385F8E41A5}"/>
              </a:ext>
            </a:extLst>
          </p:cNvPr>
          <p:cNvSpPr/>
          <p:nvPr/>
        </p:nvSpPr>
        <p:spPr>
          <a:xfrm>
            <a:off x="4157335" y="3572192"/>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934" name="Rounded Rectangle 933">
            <a:extLst>
              <a:ext uri="{FF2B5EF4-FFF2-40B4-BE49-F238E27FC236}">
                <a16:creationId xmlns:a16="http://schemas.microsoft.com/office/drawing/2014/main" id="{3E82B094-3624-0990-6ACE-97365B873074}"/>
              </a:ext>
            </a:extLst>
          </p:cNvPr>
          <p:cNvSpPr/>
          <p:nvPr/>
        </p:nvSpPr>
        <p:spPr>
          <a:xfrm>
            <a:off x="4658476" y="3593153"/>
            <a:ext cx="224914" cy="74745"/>
          </a:xfrm>
          <a:prstGeom prst="round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LME</a:t>
            </a:r>
          </a:p>
        </p:txBody>
      </p:sp>
      <p:sp>
        <p:nvSpPr>
          <p:cNvPr id="935" name="Rounded Rectangle 934">
            <a:extLst>
              <a:ext uri="{FF2B5EF4-FFF2-40B4-BE49-F238E27FC236}">
                <a16:creationId xmlns:a16="http://schemas.microsoft.com/office/drawing/2014/main" id="{FE4E1DDA-E5A7-2BCC-0B25-2BD4C7CEDA38}"/>
              </a:ext>
            </a:extLst>
          </p:cNvPr>
          <p:cNvSpPr/>
          <p:nvPr/>
        </p:nvSpPr>
        <p:spPr>
          <a:xfrm>
            <a:off x="1840182" y="4221271"/>
            <a:ext cx="3256570" cy="941203"/>
          </a:xfrm>
          <a:prstGeom prst="roundRect">
            <a:avLst>
              <a:gd name="adj" fmla="val 7444"/>
            </a:avLst>
          </a:prstGeom>
          <a:solidFill>
            <a:schemeClr val="accent6">
              <a:lumMod val="75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srgbClr val="156082"/>
              </a:solidFill>
              <a:latin typeface="Aptos" panose="02110004020202020204"/>
            </a:endParaRPr>
          </a:p>
        </p:txBody>
      </p:sp>
      <p:sp>
        <p:nvSpPr>
          <p:cNvPr id="936" name="Rounded Rectangle 935">
            <a:extLst>
              <a:ext uri="{FF2B5EF4-FFF2-40B4-BE49-F238E27FC236}">
                <a16:creationId xmlns:a16="http://schemas.microsoft.com/office/drawing/2014/main" id="{762BE31C-C6D7-7DB3-7E3D-921030CF9023}"/>
              </a:ext>
            </a:extLst>
          </p:cNvPr>
          <p:cNvSpPr/>
          <p:nvPr/>
        </p:nvSpPr>
        <p:spPr>
          <a:xfrm>
            <a:off x="1890120" y="4393008"/>
            <a:ext cx="487378" cy="7155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937" name="Rounded Rectangle 936">
            <a:extLst>
              <a:ext uri="{FF2B5EF4-FFF2-40B4-BE49-F238E27FC236}">
                <a16:creationId xmlns:a16="http://schemas.microsoft.com/office/drawing/2014/main" id="{DE80C17F-A5CF-24DA-6D33-C63DF755D864}"/>
              </a:ext>
            </a:extLst>
          </p:cNvPr>
          <p:cNvSpPr/>
          <p:nvPr/>
        </p:nvSpPr>
        <p:spPr>
          <a:xfrm>
            <a:off x="2419187" y="4393008"/>
            <a:ext cx="487378" cy="715543"/>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938" name="Rounded Rectangle 937">
            <a:extLst>
              <a:ext uri="{FF2B5EF4-FFF2-40B4-BE49-F238E27FC236}">
                <a16:creationId xmlns:a16="http://schemas.microsoft.com/office/drawing/2014/main" id="{CAD95C6F-9304-1A10-413B-9D41B8318DD1}"/>
              </a:ext>
            </a:extLst>
          </p:cNvPr>
          <p:cNvSpPr/>
          <p:nvPr/>
        </p:nvSpPr>
        <p:spPr>
          <a:xfrm>
            <a:off x="2955451" y="4391448"/>
            <a:ext cx="487378" cy="7155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939" name="Rounded Rectangle 938">
            <a:extLst>
              <a:ext uri="{FF2B5EF4-FFF2-40B4-BE49-F238E27FC236}">
                <a16:creationId xmlns:a16="http://schemas.microsoft.com/office/drawing/2014/main" id="{E539FC52-F278-BEE8-2378-2D95290F24C0}"/>
              </a:ext>
            </a:extLst>
          </p:cNvPr>
          <p:cNvSpPr/>
          <p:nvPr/>
        </p:nvSpPr>
        <p:spPr>
          <a:xfrm>
            <a:off x="3482856" y="4391448"/>
            <a:ext cx="487378" cy="715543"/>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940" name="Rounded Rectangle 939">
            <a:extLst>
              <a:ext uri="{FF2B5EF4-FFF2-40B4-BE49-F238E27FC236}">
                <a16:creationId xmlns:a16="http://schemas.microsoft.com/office/drawing/2014/main" id="{80F2E639-4C7B-EB29-C65E-EFED10AF4E74}"/>
              </a:ext>
            </a:extLst>
          </p:cNvPr>
          <p:cNvSpPr/>
          <p:nvPr/>
        </p:nvSpPr>
        <p:spPr>
          <a:xfrm>
            <a:off x="4011443" y="4391448"/>
            <a:ext cx="487378" cy="7155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941" name="Rounded Rectangle 940">
            <a:extLst>
              <a:ext uri="{FF2B5EF4-FFF2-40B4-BE49-F238E27FC236}">
                <a16:creationId xmlns:a16="http://schemas.microsoft.com/office/drawing/2014/main" id="{C335D0E2-B143-420B-1552-5DAB872A357F}"/>
              </a:ext>
            </a:extLst>
          </p:cNvPr>
          <p:cNvSpPr/>
          <p:nvPr/>
        </p:nvSpPr>
        <p:spPr>
          <a:xfrm>
            <a:off x="4540029" y="4391448"/>
            <a:ext cx="487378" cy="715543"/>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defTabSz="244938"/>
            <a:endParaRPr lang="en-AU" sz="500" b="1" dirty="0">
              <a:solidFill>
                <a:srgbClr val="156082"/>
              </a:solidFill>
              <a:latin typeface="Aptos" panose="02110004020202020204"/>
            </a:endParaRPr>
          </a:p>
        </p:txBody>
      </p:sp>
      <p:sp>
        <p:nvSpPr>
          <p:cNvPr id="942" name="TextBox 941">
            <a:extLst>
              <a:ext uri="{FF2B5EF4-FFF2-40B4-BE49-F238E27FC236}">
                <a16:creationId xmlns:a16="http://schemas.microsoft.com/office/drawing/2014/main" id="{08230BB5-2767-572F-F318-C753D06718A9}"/>
              </a:ext>
            </a:extLst>
          </p:cNvPr>
          <p:cNvSpPr txBox="1"/>
          <p:nvPr/>
        </p:nvSpPr>
        <p:spPr>
          <a:xfrm>
            <a:off x="1863758" y="4374920"/>
            <a:ext cx="530585"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Farms</a:t>
            </a:r>
          </a:p>
          <a:p>
            <a:pPr algn="ctr" defTabSz="244938"/>
            <a:r>
              <a:rPr lang="en-AU" sz="429" i="1" dirty="0">
                <a:solidFill>
                  <a:prstClr val="black"/>
                </a:solidFill>
                <a:latin typeface="Aptos" panose="02110004020202020204"/>
              </a:rPr>
              <a:t>PIC ID</a:t>
            </a:r>
          </a:p>
        </p:txBody>
      </p:sp>
      <p:sp>
        <p:nvSpPr>
          <p:cNvPr id="943" name="TextBox 942">
            <a:extLst>
              <a:ext uri="{FF2B5EF4-FFF2-40B4-BE49-F238E27FC236}">
                <a16:creationId xmlns:a16="http://schemas.microsoft.com/office/drawing/2014/main" id="{5A1F1A86-F407-1909-1D98-764F41941C49}"/>
              </a:ext>
            </a:extLst>
          </p:cNvPr>
          <p:cNvSpPr txBox="1"/>
          <p:nvPr/>
        </p:nvSpPr>
        <p:spPr>
          <a:xfrm>
            <a:off x="2312640" y="4374920"/>
            <a:ext cx="689949"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Livestock</a:t>
            </a:r>
          </a:p>
          <a:p>
            <a:pPr algn="ctr" defTabSz="244938"/>
            <a:r>
              <a:rPr lang="en-AU" sz="429" i="1" dirty="0">
                <a:solidFill>
                  <a:prstClr val="black"/>
                </a:solidFill>
                <a:latin typeface="Aptos" panose="02110004020202020204"/>
              </a:rPr>
              <a:t>NLIS ID</a:t>
            </a:r>
          </a:p>
        </p:txBody>
      </p:sp>
      <p:sp>
        <p:nvSpPr>
          <p:cNvPr id="944" name="TextBox 943">
            <a:extLst>
              <a:ext uri="{FF2B5EF4-FFF2-40B4-BE49-F238E27FC236}">
                <a16:creationId xmlns:a16="http://schemas.microsoft.com/office/drawing/2014/main" id="{D4433678-9796-414A-08FF-1D7186F03DC6}"/>
              </a:ext>
            </a:extLst>
          </p:cNvPr>
          <p:cNvSpPr txBox="1"/>
          <p:nvPr/>
        </p:nvSpPr>
        <p:spPr>
          <a:xfrm>
            <a:off x="2875602" y="4376798"/>
            <a:ext cx="653091"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Processor</a:t>
            </a:r>
          </a:p>
          <a:p>
            <a:pPr algn="ctr" defTabSz="244938"/>
            <a:r>
              <a:rPr lang="en-AU" sz="429" i="1" dirty="0">
                <a:solidFill>
                  <a:prstClr val="black"/>
                </a:solidFill>
                <a:latin typeface="Aptos" panose="02110004020202020204"/>
              </a:rPr>
              <a:t>GLN</a:t>
            </a:r>
          </a:p>
        </p:txBody>
      </p:sp>
      <p:sp>
        <p:nvSpPr>
          <p:cNvPr id="945" name="TextBox 944">
            <a:extLst>
              <a:ext uri="{FF2B5EF4-FFF2-40B4-BE49-F238E27FC236}">
                <a16:creationId xmlns:a16="http://schemas.microsoft.com/office/drawing/2014/main" id="{5623C53E-7766-B4BA-B6FA-24629415ED4A}"/>
              </a:ext>
            </a:extLst>
          </p:cNvPr>
          <p:cNvSpPr txBox="1"/>
          <p:nvPr/>
        </p:nvSpPr>
        <p:spPr>
          <a:xfrm>
            <a:off x="3437535" y="4374920"/>
            <a:ext cx="582601"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Hides</a:t>
            </a:r>
          </a:p>
          <a:p>
            <a:pPr algn="ctr" defTabSz="244938"/>
            <a:r>
              <a:rPr lang="en-AU" sz="429" i="1" dirty="0">
                <a:solidFill>
                  <a:prstClr val="black"/>
                </a:solidFill>
                <a:latin typeface="Aptos" panose="02110004020202020204"/>
              </a:rPr>
              <a:t>Batch ID</a:t>
            </a:r>
          </a:p>
        </p:txBody>
      </p:sp>
      <p:sp>
        <p:nvSpPr>
          <p:cNvPr id="946" name="TextBox 945">
            <a:extLst>
              <a:ext uri="{FF2B5EF4-FFF2-40B4-BE49-F238E27FC236}">
                <a16:creationId xmlns:a16="http://schemas.microsoft.com/office/drawing/2014/main" id="{7CD44C56-4E4C-9A5B-25D6-CE1959D34A22}"/>
              </a:ext>
            </a:extLst>
          </p:cNvPr>
          <p:cNvSpPr txBox="1"/>
          <p:nvPr/>
        </p:nvSpPr>
        <p:spPr>
          <a:xfrm>
            <a:off x="4479181" y="4374920"/>
            <a:ext cx="608081"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Raw Leather</a:t>
            </a:r>
          </a:p>
          <a:p>
            <a:pPr algn="ctr" defTabSz="244938"/>
            <a:r>
              <a:rPr lang="en-AU" sz="429" i="1" dirty="0">
                <a:solidFill>
                  <a:prstClr val="black"/>
                </a:solidFill>
                <a:latin typeface="Aptos" panose="02110004020202020204"/>
              </a:rPr>
              <a:t>Batch ID</a:t>
            </a:r>
          </a:p>
        </p:txBody>
      </p:sp>
      <p:sp>
        <p:nvSpPr>
          <p:cNvPr id="947" name="TextBox 946">
            <a:extLst>
              <a:ext uri="{FF2B5EF4-FFF2-40B4-BE49-F238E27FC236}">
                <a16:creationId xmlns:a16="http://schemas.microsoft.com/office/drawing/2014/main" id="{F2D29EFD-0012-EFB8-CC9A-CD0991E616E7}"/>
              </a:ext>
            </a:extLst>
          </p:cNvPr>
          <p:cNvSpPr txBox="1"/>
          <p:nvPr/>
        </p:nvSpPr>
        <p:spPr>
          <a:xfrm>
            <a:off x="3999247" y="4369610"/>
            <a:ext cx="509736"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Tannery</a:t>
            </a:r>
          </a:p>
          <a:p>
            <a:pPr algn="ctr" defTabSz="244938"/>
            <a:r>
              <a:rPr lang="en-AU" sz="429" i="1" dirty="0">
                <a:solidFill>
                  <a:prstClr val="black"/>
                </a:solidFill>
                <a:latin typeface="Aptos" panose="02110004020202020204"/>
              </a:rPr>
              <a:t>OSH ID /GLN</a:t>
            </a:r>
          </a:p>
        </p:txBody>
      </p:sp>
      <p:sp>
        <p:nvSpPr>
          <p:cNvPr id="948" name="TextBox 947">
            <a:extLst>
              <a:ext uri="{FF2B5EF4-FFF2-40B4-BE49-F238E27FC236}">
                <a16:creationId xmlns:a16="http://schemas.microsoft.com/office/drawing/2014/main" id="{C004F78C-8273-362B-7DFE-7F2B47F66098}"/>
              </a:ext>
            </a:extLst>
          </p:cNvPr>
          <p:cNvSpPr txBox="1"/>
          <p:nvPr/>
        </p:nvSpPr>
        <p:spPr>
          <a:xfrm>
            <a:off x="2688066" y="4241157"/>
            <a:ext cx="1509525"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Leather Value Chain</a:t>
            </a:r>
          </a:p>
        </p:txBody>
      </p:sp>
      <p:sp>
        <p:nvSpPr>
          <p:cNvPr id="949" name="Oval 948">
            <a:extLst>
              <a:ext uri="{FF2B5EF4-FFF2-40B4-BE49-F238E27FC236}">
                <a16:creationId xmlns:a16="http://schemas.microsoft.com/office/drawing/2014/main" id="{41948B7C-9480-890D-4AD8-C62D3ACD3555}"/>
              </a:ext>
            </a:extLst>
          </p:cNvPr>
          <p:cNvSpPr/>
          <p:nvPr/>
        </p:nvSpPr>
        <p:spPr>
          <a:xfrm>
            <a:off x="1957750" y="4672486"/>
            <a:ext cx="342601" cy="16599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71" dirty="0">
                <a:solidFill>
                  <a:prstClr val="white"/>
                </a:solidFill>
                <a:latin typeface="Aptos" panose="02110004020202020204"/>
              </a:rPr>
              <a:t>Farm1</a:t>
            </a:r>
          </a:p>
        </p:txBody>
      </p:sp>
      <p:sp>
        <p:nvSpPr>
          <p:cNvPr id="950" name="Oval 949">
            <a:extLst>
              <a:ext uri="{FF2B5EF4-FFF2-40B4-BE49-F238E27FC236}">
                <a16:creationId xmlns:a16="http://schemas.microsoft.com/office/drawing/2014/main" id="{CCC9196F-2778-008D-E794-C016783AEF40}"/>
              </a:ext>
            </a:extLst>
          </p:cNvPr>
          <p:cNvSpPr/>
          <p:nvPr/>
        </p:nvSpPr>
        <p:spPr>
          <a:xfrm>
            <a:off x="2986029" y="4672486"/>
            <a:ext cx="407297"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00" dirty="0">
                <a:solidFill>
                  <a:prstClr val="white"/>
                </a:solidFill>
                <a:latin typeface="Aptos" panose="02110004020202020204"/>
              </a:rPr>
              <a:t>Process1</a:t>
            </a:r>
          </a:p>
        </p:txBody>
      </p:sp>
      <p:sp>
        <p:nvSpPr>
          <p:cNvPr id="951" name="Oval 950">
            <a:extLst>
              <a:ext uri="{FF2B5EF4-FFF2-40B4-BE49-F238E27FC236}">
                <a16:creationId xmlns:a16="http://schemas.microsoft.com/office/drawing/2014/main" id="{69D6BD3C-09F9-CB00-4C65-A77A15409041}"/>
              </a:ext>
            </a:extLst>
          </p:cNvPr>
          <p:cNvSpPr/>
          <p:nvPr/>
        </p:nvSpPr>
        <p:spPr>
          <a:xfrm>
            <a:off x="4043827" y="4672486"/>
            <a:ext cx="407297"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244938"/>
            <a:r>
              <a:rPr lang="en-AU" sz="500" dirty="0">
                <a:solidFill>
                  <a:prstClr val="white"/>
                </a:solidFill>
                <a:latin typeface="Aptos" panose="02110004020202020204"/>
              </a:rPr>
              <a:t>Tannery1</a:t>
            </a:r>
          </a:p>
        </p:txBody>
      </p:sp>
      <p:sp>
        <p:nvSpPr>
          <p:cNvPr id="953" name="Rounded Rectangle 952">
            <a:extLst>
              <a:ext uri="{FF2B5EF4-FFF2-40B4-BE49-F238E27FC236}">
                <a16:creationId xmlns:a16="http://schemas.microsoft.com/office/drawing/2014/main" id="{7076C047-BCCC-DC8A-93D4-AC702937079D}"/>
              </a:ext>
            </a:extLst>
          </p:cNvPr>
          <p:cNvSpPr/>
          <p:nvPr/>
        </p:nvSpPr>
        <p:spPr>
          <a:xfrm>
            <a:off x="2559539" y="4887235"/>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954" name="Rounded Rectangle 953">
            <a:extLst>
              <a:ext uri="{FF2B5EF4-FFF2-40B4-BE49-F238E27FC236}">
                <a16:creationId xmlns:a16="http://schemas.microsoft.com/office/drawing/2014/main" id="{8D15034C-07CD-B279-199A-CFD55C0123DB}"/>
              </a:ext>
            </a:extLst>
          </p:cNvPr>
          <p:cNvSpPr/>
          <p:nvPr/>
        </p:nvSpPr>
        <p:spPr>
          <a:xfrm>
            <a:off x="2557601" y="4990663"/>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956" name="Rounded Rectangle 955">
            <a:extLst>
              <a:ext uri="{FF2B5EF4-FFF2-40B4-BE49-F238E27FC236}">
                <a16:creationId xmlns:a16="http://schemas.microsoft.com/office/drawing/2014/main" id="{169FE63A-1DC4-40F9-34F1-4D5EC7FDE78A}"/>
              </a:ext>
            </a:extLst>
          </p:cNvPr>
          <p:cNvSpPr/>
          <p:nvPr/>
        </p:nvSpPr>
        <p:spPr>
          <a:xfrm>
            <a:off x="2044825" y="4887821"/>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958" name="Rounded Rectangle 957">
            <a:extLst>
              <a:ext uri="{FF2B5EF4-FFF2-40B4-BE49-F238E27FC236}">
                <a16:creationId xmlns:a16="http://schemas.microsoft.com/office/drawing/2014/main" id="{A2F49A6B-ADC7-6E5C-17AC-B02B0A749E2B}"/>
              </a:ext>
            </a:extLst>
          </p:cNvPr>
          <p:cNvSpPr/>
          <p:nvPr/>
        </p:nvSpPr>
        <p:spPr>
          <a:xfrm>
            <a:off x="2039604" y="4990663"/>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Regen</a:t>
            </a:r>
          </a:p>
        </p:txBody>
      </p:sp>
      <p:sp>
        <p:nvSpPr>
          <p:cNvPr id="959" name="Rounded Rectangle 958">
            <a:extLst>
              <a:ext uri="{FF2B5EF4-FFF2-40B4-BE49-F238E27FC236}">
                <a16:creationId xmlns:a16="http://schemas.microsoft.com/office/drawing/2014/main" id="{8E069F3A-20D3-1CD0-9DE5-4F3014803DB3}"/>
              </a:ext>
            </a:extLst>
          </p:cNvPr>
          <p:cNvSpPr/>
          <p:nvPr/>
        </p:nvSpPr>
        <p:spPr>
          <a:xfrm>
            <a:off x="3118008" y="4887691"/>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960" name="Rounded Rectangle 959">
            <a:extLst>
              <a:ext uri="{FF2B5EF4-FFF2-40B4-BE49-F238E27FC236}">
                <a16:creationId xmlns:a16="http://schemas.microsoft.com/office/drawing/2014/main" id="{93DC7025-58FE-8E70-710D-6430506B1BF1}"/>
              </a:ext>
            </a:extLst>
          </p:cNvPr>
          <p:cNvSpPr/>
          <p:nvPr/>
        </p:nvSpPr>
        <p:spPr>
          <a:xfrm>
            <a:off x="3109695" y="4995460"/>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MLA</a:t>
            </a:r>
          </a:p>
        </p:txBody>
      </p:sp>
      <p:sp>
        <p:nvSpPr>
          <p:cNvPr id="961" name="Rounded Rectangle 960">
            <a:extLst>
              <a:ext uri="{FF2B5EF4-FFF2-40B4-BE49-F238E27FC236}">
                <a16:creationId xmlns:a16="http://schemas.microsoft.com/office/drawing/2014/main" id="{4F32334A-9852-EC9A-3EC8-2760A754A586}"/>
              </a:ext>
            </a:extLst>
          </p:cNvPr>
          <p:cNvSpPr/>
          <p:nvPr/>
        </p:nvSpPr>
        <p:spPr>
          <a:xfrm>
            <a:off x="4681576" y="4882415"/>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962" name="Rounded Rectangle 961">
            <a:extLst>
              <a:ext uri="{FF2B5EF4-FFF2-40B4-BE49-F238E27FC236}">
                <a16:creationId xmlns:a16="http://schemas.microsoft.com/office/drawing/2014/main" id="{AF016D29-8DEE-C973-F19D-FE41B6F0D5B0}"/>
              </a:ext>
            </a:extLst>
          </p:cNvPr>
          <p:cNvSpPr/>
          <p:nvPr/>
        </p:nvSpPr>
        <p:spPr>
          <a:xfrm>
            <a:off x="4688690" y="4980911"/>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964" name="Rounded Rectangle 963">
            <a:extLst>
              <a:ext uri="{FF2B5EF4-FFF2-40B4-BE49-F238E27FC236}">
                <a16:creationId xmlns:a16="http://schemas.microsoft.com/office/drawing/2014/main" id="{B59738E7-DEDA-0A12-7552-9F9E354B1529}"/>
              </a:ext>
            </a:extLst>
          </p:cNvPr>
          <p:cNvSpPr/>
          <p:nvPr/>
        </p:nvSpPr>
        <p:spPr>
          <a:xfrm>
            <a:off x="3649906" y="4881907"/>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965" name="Rounded Rectangle 964">
            <a:extLst>
              <a:ext uri="{FF2B5EF4-FFF2-40B4-BE49-F238E27FC236}">
                <a16:creationId xmlns:a16="http://schemas.microsoft.com/office/drawing/2014/main" id="{4881F1AF-F12C-0BFA-C3FC-F882CBF44209}"/>
              </a:ext>
            </a:extLst>
          </p:cNvPr>
          <p:cNvSpPr/>
          <p:nvPr/>
        </p:nvSpPr>
        <p:spPr>
          <a:xfrm>
            <a:off x="3641268" y="4995591"/>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966" name="Rounded Rectangle 965">
            <a:extLst>
              <a:ext uri="{FF2B5EF4-FFF2-40B4-BE49-F238E27FC236}">
                <a16:creationId xmlns:a16="http://schemas.microsoft.com/office/drawing/2014/main" id="{08EAABD2-3A92-5440-D311-4F502B367DEA}"/>
              </a:ext>
            </a:extLst>
          </p:cNvPr>
          <p:cNvSpPr/>
          <p:nvPr/>
        </p:nvSpPr>
        <p:spPr>
          <a:xfrm>
            <a:off x="4173503" y="4889199"/>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967" name="Rounded Rectangle 966">
            <a:extLst>
              <a:ext uri="{FF2B5EF4-FFF2-40B4-BE49-F238E27FC236}">
                <a16:creationId xmlns:a16="http://schemas.microsoft.com/office/drawing/2014/main" id="{A858B944-C278-65DA-3DBB-8E2AC2C4AFF3}"/>
              </a:ext>
            </a:extLst>
          </p:cNvPr>
          <p:cNvSpPr/>
          <p:nvPr/>
        </p:nvSpPr>
        <p:spPr>
          <a:xfrm>
            <a:off x="4165686" y="4995591"/>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LWG</a:t>
            </a:r>
          </a:p>
        </p:txBody>
      </p:sp>
      <p:sp>
        <p:nvSpPr>
          <p:cNvPr id="968" name="Rounded Rectangle 967">
            <a:extLst>
              <a:ext uri="{FF2B5EF4-FFF2-40B4-BE49-F238E27FC236}">
                <a16:creationId xmlns:a16="http://schemas.microsoft.com/office/drawing/2014/main" id="{2544FDCB-77F1-048E-04F1-79222653F055}"/>
              </a:ext>
            </a:extLst>
          </p:cNvPr>
          <p:cNvSpPr/>
          <p:nvPr/>
        </p:nvSpPr>
        <p:spPr>
          <a:xfrm>
            <a:off x="2047142" y="4569314"/>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969" name="Rounded Rectangle 968">
            <a:extLst>
              <a:ext uri="{FF2B5EF4-FFF2-40B4-BE49-F238E27FC236}">
                <a16:creationId xmlns:a16="http://schemas.microsoft.com/office/drawing/2014/main" id="{A6374679-7342-1AC6-3739-CDB7ECA2971B}"/>
              </a:ext>
            </a:extLst>
          </p:cNvPr>
          <p:cNvSpPr/>
          <p:nvPr/>
        </p:nvSpPr>
        <p:spPr>
          <a:xfrm>
            <a:off x="2539628" y="4574955"/>
            <a:ext cx="224914" cy="74745"/>
          </a:xfrm>
          <a:prstGeom prst="round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NVD</a:t>
            </a:r>
          </a:p>
        </p:txBody>
      </p:sp>
      <p:cxnSp>
        <p:nvCxnSpPr>
          <p:cNvPr id="970" name="Straight Connector 26">
            <a:extLst>
              <a:ext uri="{FF2B5EF4-FFF2-40B4-BE49-F238E27FC236}">
                <a16:creationId xmlns:a16="http://schemas.microsoft.com/office/drawing/2014/main" id="{F5B1C7C9-DCED-2315-BC79-88BA130014C4}"/>
              </a:ext>
            </a:extLst>
          </p:cNvPr>
          <p:cNvCxnSpPr>
            <a:cxnSpLocks/>
            <a:stCxn id="949" idx="6"/>
            <a:endCxn id="950" idx="2"/>
          </p:cNvCxnSpPr>
          <p:nvPr/>
        </p:nvCxnSpPr>
        <p:spPr>
          <a:xfrm flipV="1">
            <a:off x="2300349" y="4755485"/>
            <a:ext cx="685678" cy="1"/>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971" name="Diamond 970">
            <a:extLst>
              <a:ext uri="{FF2B5EF4-FFF2-40B4-BE49-F238E27FC236}">
                <a16:creationId xmlns:a16="http://schemas.microsoft.com/office/drawing/2014/main" id="{01EB6006-260B-BA7A-4BFC-96594493476E}"/>
              </a:ext>
            </a:extLst>
          </p:cNvPr>
          <p:cNvSpPr/>
          <p:nvPr/>
        </p:nvSpPr>
        <p:spPr>
          <a:xfrm>
            <a:off x="2536379" y="4674620"/>
            <a:ext cx="244222" cy="170498"/>
          </a:xfrm>
          <a:prstGeom prst="diamond">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L1</a:t>
            </a:r>
          </a:p>
        </p:txBody>
      </p:sp>
      <p:cxnSp>
        <p:nvCxnSpPr>
          <p:cNvPr id="972" name="Straight Connector 26">
            <a:extLst>
              <a:ext uri="{FF2B5EF4-FFF2-40B4-BE49-F238E27FC236}">
                <a16:creationId xmlns:a16="http://schemas.microsoft.com/office/drawing/2014/main" id="{5FC98FE8-FDEA-9F27-AE9B-31776894D53D}"/>
              </a:ext>
            </a:extLst>
          </p:cNvPr>
          <p:cNvCxnSpPr>
            <a:cxnSpLocks/>
            <a:stCxn id="950" idx="6"/>
            <a:endCxn id="951" idx="2"/>
          </p:cNvCxnSpPr>
          <p:nvPr/>
        </p:nvCxnSpPr>
        <p:spPr>
          <a:xfrm>
            <a:off x="3393325" y="4755484"/>
            <a:ext cx="650501" cy="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975" name="Rounded Rectangle 974">
            <a:extLst>
              <a:ext uri="{FF2B5EF4-FFF2-40B4-BE49-F238E27FC236}">
                <a16:creationId xmlns:a16="http://schemas.microsoft.com/office/drawing/2014/main" id="{A1FCE5A2-728E-70FC-677A-351343679A41}"/>
              </a:ext>
            </a:extLst>
          </p:cNvPr>
          <p:cNvSpPr/>
          <p:nvPr/>
        </p:nvSpPr>
        <p:spPr>
          <a:xfrm>
            <a:off x="3109949" y="4568610"/>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976" name="Rounded Rectangle 975">
            <a:extLst>
              <a:ext uri="{FF2B5EF4-FFF2-40B4-BE49-F238E27FC236}">
                <a16:creationId xmlns:a16="http://schemas.microsoft.com/office/drawing/2014/main" id="{406D3109-7FEB-9240-1F8C-2CBE89D55C15}"/>
              </a:ext>
            </a:extLst>
          </p:cNvPr>
          <p:cNvSpPr/>
          <p:nvPr/>
        </p:nvSpPr>
        <p:spPr>
          <a:xfrm>
            <a:off x="4167626" y="4570340"/>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993" name="Rounded Rectangle 992">
            <a:extLst>
              <a:ext uri="{FF2B5EF4-FFF2-40B4-BE49-F238E27FC236}">
                <a16:creationId xmlns:a16="http://schemas.microsoft.com/office/drawing/2014/main" id="{B37C3A2A-1108-9FF3-F26C-5E5D4031A2EA}"/>
              </a:ext>
            </a:extLst>
          </p:cNvPr>
          <p:cNvSpPr/>
          <p:nvPr/>
        </p:nvSpPr>
        <p:spPr>
          <a:xfrm>
            <a:off x="2559047" y="2923659"/>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994" name="Rounded Rectangle 993">
            <a:extLst>
              <a:ext uri="{FF2B5EF4-FFF2-40B4-BE49-F238E27FC236}">
                <a16:creationId xmlns:a16="http://schemas.microsoft.com/office/drawing/2014/main" id="{03690D5B-478C-DF17-57C5-FCDEF99C47CD}"/>
              </a:ext>
            </a:extLst>
          </p:cNvPr>
          <p:cNvSpPr/>
          <p:nvPr/>
        </p:nvSpPr>
        <p:spPr>
          <a:xfrm>
            <a:off x="2679294" y="3032015"/>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995" name="Rounded Rectangle 994">
            <a:extLst>
              <a:ext uri="{FF2B5EF4-FFF2-40B4-BE49-F238E27FC236}">
                <a16:creationId xmlns:a16="http://schemas.microsoft.com/office/drawing/2014/main" id="{9CC14BF9-5601-B159-6FD8-7E22B447F185}"/>
              </a:ext>
            </a:extLst>
          </p:cNvPr>
          <p:cNvSpPr/>
          <p:nvPr/>
        </p:nvSpPr>
        <p:spPr>
          <a:xfrm>
            <a:off x="2463281" y="3032015"/>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CoA</a:t>
            </a:r>
          </a:p>
        </p:txBody>
      </p:sp>
      <p:sp>
        <p:nvSpPr>
          <p:cNvPr id="996" name="Rounded Rectangle 995">
            <a:extLst>
              <a:ext uri="{FF2B5EF4-FFF2-40B4-BE49-F238E27FC236}">
                <a16:creationId xmlns:a16="http://schemas.microsoft.com/office/drawing/2014/main" id="{947EC11A-7305-541C-2593-9D3FAE195E72}"/>
              </a:ext>
            </a:extLst>
          </p:cNvPr>
          <p:cNvSpPr/>
          <p:nvPr/>
        </p:nvSpPr>
        <p:spPr>
          <a:xfrm>
            <a:off x="2044334" y="2924244"/>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997" name="Rounded Rectangle 996">
            <a:extLst>
              <a:ext uri="{FF2B5EF4-FFF2-40B4-BE49-F238E27FC236}">
                <a16:creationId xmlns:a16="http://schemas.microsoft.com/office/drawing/2014/main" id="{A341532A-FFEB-6228-98DD-B79A48CBA15D}"/>
              </a:ext>
            </a:extLst>
          </p:cNvPr>
          <p:cNvSpPr/>
          <p:nvPr/>
        </p:nvSpPr>
        <p:spPr>
          <a:xfrm>
            <a:off x="2144547" y="3029733"/>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Permit</a:t>
            </a:r>
          </a:p>
        </p:txBody>
      </p:sp>
      <p:sp>
        <p:nvSpPr>
          <p:cNvPr id="998" name="Rounded Rectangle 997">
            <a:extLst>
              <a:ext uri="{FF2B5EF4-FFF2-40B4-BE49-F238E27FC236}">
                <a16:creationId xmlns:a16="http://schemas.microsoft.com/office/drawing/2014/main" id="{D7CFE1E9-F93B-DB8A-4C42-B99E5439EC88}"/>
              </a:ext>
            </a:extLst>
          </p:cNvPr>
          <p:cNvSpPr/>
          <p:nvPr/>
        </p:nvSpPr>
        <p:spPr>
          <a:xfrm>
            <a:off x="1937776" y="3032015"/>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TSM</a:t>
            </a:r>
          </a:p>
        </p:txBody>
      </p:sp>
      <p:sp>
        <p:nvSpPr>
          <p:cNvPr id="999" name="Rounded Rectangle 998">
            <a:extLst>
              <a:ext uri="{FF2B5EF4-FFF2-40B4-BE49-F238E27FC236}">
                <a16:creationId xmlns:a16="http://schemas.microsoft.com/office/drawing/2014/main" id="{1492F97D-A7F8-9755-156E-BFB9C2BED4DB}"/>
              </a:ext>
            </a:extLst>
          </p:cNvPr>
          <p:cNvSpPr/>
          <p:nvPr/>
        </p:nvSpPr>
        <p:spPr>
          <a:xfrm>
            <a:off x="3117515" y="2924113"/>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000" name="Rounded Rectangle 999">
            <a:extLst>
              <a:ext uri="{FF2B5EF4-FFF2-40B4-BE49-F238E27FC236}">
                <a16:creationId xmlns:a16="http://schemas.microsoft.com/office/drawing/2014/main" id="{4ADEA085-C55E-6415-925D-2B2EB7A5A443}"/>
              </a:ext>
            </a:extLst>
          </p:cNvPr>
          <p:cNvSpPr/>
          <p:nvPr/>
        </p:nvSpPr>
        <p:spPr>
          <a:xfrm>
            <a:off x="3109201" y="3031884"/>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RMAP</a:t>
            </a:r>
          </a:p>
        </p:txBody>
      </p:sp>
      <p:sp>
        <p:nvSpPr>
          <p:cNvPr id="1001" name="Rounded Rectangle 1000">
            <a:extLst>
              <a:ext uri="{FF2B5EF4-FFF2-40B4-BE49-F238E27FC236}">
                <a16:creationId xmlns:a16="http://schemas.microsoft.com/office/drawing/2014/main" id="{CA00A238-D3DA-69FC-CAE7-3B3B7F1D16B3}"/>
              </a:ext>
            </a:extLst>
          </p:cNvPr>
          <p:cNvSpPr/>
          <p:nvPr/>
        </p:nvSpPr>
        <p:spPr>
          <a:xfrm>
            <a:off x="4681082" y="2918838"/>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002" name="Rounded Rectangle 1001">
            <a:extLst>
              <a:ext uri="{FF2B5EF4-FFF2-40B4-BE49-F238E27FC236}">
                <a16:creationId xmlns:a16="http://schemas.microsoft.com/office/drawing/2014/main" id="{67F0F7D6-C133-F957-9B1A-9A0E5A18A71A}"/>
              </a:ext>
            </a:extLst>
          </p:cNvPr>
          <p:cNvSpPr/>
          <p:nvPr/>
        </p:nvSpPr>
        <p:spPr>
          <a:xfrm>
            <a:off x="4801329" y="3027193"/>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003" name="Rounded Rectangle 1002">
            <a:extLst>
              <a:ext uri="{FF2B5EF4-FFF2-40B4-BE49-F238E27FC236}">
                <a16:creationId xmlns:a16="http://schemas.microsoft.com/office/drawing/2014/main" id="{55E78299-31AB-7DCA-739C-4A70F358B625}"/>
              </a:ext>
            </a:extLst>
          </p:cNvPr>
          <p:cNvSpPr/>
          <p:nvPr/>
        </p:nvSpPr>
        <p:spPr>
          <a:xfrm>
            <a:off x="4585316" y="3027193"/>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CoA</a:t>
            </a:r>
          </a:p>
        </p:txBody>
      </p:sp>
      <p:sp>
        <p:nvSpPr>
          <p:cNvPr id="1004" name="Rounded Rectangle 1003">
            <a:extLst>
              <a:ext uri="{FF2B5EF4-FFF2-40B4-BE49-F238E27FC236}">
                <a16:creationId xmlns:a16="http://schemas.microsoft.com/office/drawing/2014/main" id="{26CCC43F-C9AF-A33B-0079-1EF268ECB39B}"/>
              </a:ext>
            </a:extLst>
          </p:cNvPr>
          <p:cNvSpPr/>
          <p:nvPr/>
        </p:nvSpPr>
        <p:spPr>
          <a:xfrm>
            <a:off x="3649412" y="2918331"/>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005" name="Rounded Rectangle 1004">
            <a:extLst>
              <a:ext uri="{FF2B5EF4-FFF2-40B4-BE49-F238E27FC236}">
                <a16:creationId xmlns:a16="http://schemas.microsoft.com/office/drawing/2014/main" id="{15D83F13-2636-CDC5-363C-ACBF8980773E}"/>
              </a:ext>
            </a:extLst>
          </p:cNvPr>
          <p:cNvSpPr/>
          <p:nvPr/>
        </p:nvSpPr>
        <p:spPr>
          <a:xfrm>
            <a:off x="3640775" y="3032015"/>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006" name="Rounded Rectangle 1005">
            <a:extLst>
              <a:ext uri="{FF2B5EF4-FFF2-40B4-BE49-F238E27FC236}">
                <a16:creationId xmlns:a16="http://schemas.microsoft.com/office/drawing/2014/main" id="{E535D204-BD75-5FE0-56AF-6E43AFF18664}"/>
              </a:ext>
            </a:extLst>
          </p:cNvPr>
          <p:cNvSpPr/>
          <p:nvPr/>
        </p:nvSpPr>
        <p:spPr>
          <a:xfrm>
            <a:off x="4173009" y="2925622"/>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007" name="Rounded Rectangle 1006">
            <a:extLst>
              <a:ext uri="{FF2B5EF4-FFF2-40B4-BE49-F238E27FC236}">
                <a16:creationId xmlns:a16="http://schemas.microsoft.com/office/drawing/2014/main" id="{C97CD234-0D4F-9A2B-FB78-D196D83F73EE}"/>
              </a:ext>
            </a:extLst>
          </p:cNvPr>
          <p:cNvSpPr/>
          <p:nvPr/>
        </p:nvSpPr>
        <p:spPr>
          <a:xfrm>
            <a:off x="4165193" y="3032015"/>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RMAP</a:t>
            </a:r>
          </a:p>
        </p:txBody>
      </p:sp>
      <p:sp>
        <p:nvSpPr>
          <p:cNvPr id="1008" name="Rounded Rectangle 1007">
            <a:extLst>
              <a:ext uri="{FF2B5EF4-FFF2-40B4-BE49-F238E27FC236}">
                <a16:creationId xmlns:a16="http://schemas.microsoft.com/office/drawing/2014/main" id="{700F2501-2B99-6050-86B9-3912030408D8}"/>
              </a:ext>
            </a:extLst>
          </p:cNvPr>
          <p:cNvSpPr/>
          <p:nvPr/>
        </p:nvSpPr>
        <p:spPr>
          <a:xfrm>
            <a:off x="2067957" y="1936981"/>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009" name="Rounded Rectangle 1008">
            <a:extLst>
              <a:ext uri="{FF2B5EF4-FFF2-40B4-BE49-F238E27FC236}">
                <a16:creationId xmlns:a16="http://schemas.microsoft.com/office/drawing/2014/main" id="{F069615C-1E65-D769-D6F7-B3DA07B5D0CB}"/>
              </a:ext>
            </a:extLst>
          </p:cNvPr>
          <p:cNvSpPr/>
          <p:nvPr/>
        </p:nvSpPr>
        <p:spPr>
          <a:xfrm>
            <a:off x="2527322" y="1936980"/>
            <a:ext cx="224914" cy="74745"/>
          </a:xfrm>
          <a:prstGeom prst="round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Waybill</a:t>
            </a:r>
          </a:p>
        </p:txBody>
      </p:sp>
      <p:sp>
        <p:nvSpPr>
          <p:cNvPr id="1010" name="Rounded Rectangle 1009">
            <a:extLst>
              <a:ext uri="{FF2B5EF4-FFF2-40B4-BE49-F238E27FC236}">
                <a16:creationId xmlns:a16="http://schemas.microsoft.com/office/drawing/2014/main" id="{5ED9EB45-7147-FAFF-90F0-2AE5A7CC3ADF}"/>
              </a:ext>
            </a:extLst>
          </p:cNvPr>
          <p:cNvSpPr/>
          <p:nvPr/>
        </p:nvSpPr>
        <p:spPr>
          <a:xfrm>
            <a:off x="3134250" y="1936981"/>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011" name="Rounded Rectangle 1010">
            <a:extLst>
              <a:ext uri="{FF2B5EF4-FFF2-40B4-BE49-F238E27FC236}">
                <a16:creationId xmlns:a16="http://schemas.microsoft.com/office/drawing/2014/main" id="{4371D184-4763-8E0F-C80A-4DE90D114548}"/>
              </a:ext>
            </a:extLst>
          </p:cNvPr>
          <p:cNvSpPr/>
          <p:nvPr/>
        </p:nvSpPr>
        <p:spPr>
          <a:xfrm>
            <a:off x="4154749" y="1928042"/>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012" name="Rounded Rectangle 1011">
            <a:extLst>
              <a:ext uri="{FF2B5EF4-FFF2-40B4-BE49-F238E27FC236}">
                <a16:creationId xmlns:a16="http://schemas.microsoft.com/office/drawing/2014/main" id="{D1C7E671-C850-17DD-E5FC-3B64795AE23B}"/>
              </a:ext>
            </a:extLst>
          </p:cNvPr>
          <p:cNvSpPr/>
          <p:nvPr/>
        </p:nvSpPr>
        <p:spPr>
          <a:xfrm>
            <a:off x="4678682" y="1900220"/>
            <a:ext cx="224914" cy="74745"/>
          </a:xfrm>
          <a:prstGeom prst="round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LME</a:t>
            </a:r>
          </a:p>
        </p:txBody>
      </p:sp>
      <p:sp>
        <p:nvSpPr>
          <p:cNvPr id="1013" name="TextBox 1012">
            <a:extLst>
              <a:ext uri="{FF2B5EF4-FFF2-40B4-BE49-F238E27FC236}">
                <a16:creationId xmlns:a16="http://schemas.microsoft.com/office/drawing/2014/main" id="{AE546B77-B4B9-CB78-6164-F4313E7D89CE}"/>
              </a:ext>
            </a:extLst>
          </p:cNvPr>
          <p:cNvSpPr txBox="1"/>
          <p:nvPr/>
        </p:nvSpPr>
        <p:spPr>
          <a:xfrm>
            <a:off x="1872474" y="1676269"/>
            <a:ext cx="530585" cy="3013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Mines</a:t>
            </a:r>
          </a:p>
          <a:p>
            <a:pPr algn="ctr" defTabSz="244938"/>
            <a:r>
              <a:rPr lang="en-AU" sz="429" i="1" dirty="0">
                <a:solidFill>
                  <a:prstClr val="black"/>
                </a:solidFill>
                <a:latin typeface="Aptos" panose="02110004020202020204"/>
              </a:rPr>
              <a:t>ID from permit</a:t>
            </a:r>
          </a:p>
          <a:p>
            <a:pPr algn="ctr" defTabSz="244938"/>
            <a:r>
              <a:rPr lang="en-AU" sz="429" i="1" dirty="0">
                <a:solidFill>
                  <a:prstClr val="black"/>
                </a:solidFill>
                <a:latin typeface="Aptos" panose="02110004020202020204"/>
              </a:rPr>
              <a:t>ICA ID</a:t>
            </a:r>
          </a:p>
        </p:txBody>
      </p:sp>
      <p:sp>
        <p:nvSpPr>
          <p:cNvPr id="1014" name="TextBox 1013">
            <a:extLst>
              <a:ext uri="{FF2B5EF4-FFF2-40B4-BE49-F238E27FC236}">
                <a16:creationId xmlns:a16="http://schemas.microsoft.com/office/drawing/2014/main" id="{07879A78-4646-24E7-469A-CBAC528F1453}"/>
              </a:ext>
            </a:extLst>
          </p:cNvPr>
          <p:cNvSpPr txBox="1"/>
          <p:nvPr/>
        </p:nvSpPr>
        <p:spPr>
          <a:xfrm>
            <a:off x="2321356" y="1676270"/>
            <a:ext cx="689949"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Concentrate</a:t>
            </a:r>
          </a:p>
          <a:p>
            <a:pPr algn="ctr" defTabSz="244938"/>
            <a:r>
              <a:rPr lang="en-AU" sz="429" i="1" dirty="0">
                <a:solidFill>
                  <a:prstClr val="black"/>
                </a:solidFill>
                <a:latin typeface="Aptos" panose="02110004020202020204"/>
              </a:rPr>
              <a:t>Batch ID</a:t>
            </a:r>
          </a:p>
        </p:txBody>
      </p:sp>
      <p:sp>
        <p:nvSpPr>
          <p:cNvPr id="1015" name="TextBox 1014">
            <a:extLst>
              <a:ext uri="{FF2B5EF4-FFF2-40B4-BE49-F238E27FC236}">
                <a16:creationId xmlns:a16="http://schemas.microsoft.com/office/drawing/2014/main" id="{AEB22DF8-2A12-71AC-C4C9-D4412735075F}"/>
              </a:ext>
            </a:extLst>
          </p:cNvPr>
          <p:cNvSpPr txBox="1"/>
          <p:nvPr/>
        </p:nvSpPr>
        <p:spPr>
          <a:xfrm>
            <a:off x="2942838" y="1682652"/>
            <a:ext cx="530585"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Smelters</a:t>
            </a:r>
          </a:p>
          <a:p>
            <a:pPr algn="ctr" defTabSz="244938"/>
            <a:r>
              <a:rPr lang="en-AU" sz="429" i="1" dirty="0">
                <a:solidFill>
                  <a:prstClr val="black"/>
                </a:solidFill>
                <a:latin typeface="Aptos" panose="02110004020202020204"/>
              </a:rPr>
              <a:t>RMI ID/ ICA ID</a:t>
            </a:r>
          </a:p>
        </p:txBody>
      </p:sp>
      <p:cxnSp>
        <p:nvCxnSpPr>
          <p:cNvPr id="1020" name="Straight Connector 26">
            <a:extLst>
              <a:ext uri="{FF2B5EF4-FFF2-40B4-BE49-F238E27FC236}">
                <a16:creationId xmlns:a16="http://schemas.microsoft.com/office/drawing/2014/main" id="{95FCA79D-B20F-4795-8B07-82247A65DC55}"/>
              </a:ext>
            </a:extLst>
          </p:cNvPr>
          <p:cNvCxnSpPr>
            <a:cxnSpLocks/>
            <a:stCxn id="810" idx="6"/>
            <a:endCxn id="832" idx="2"/>
          </p:cNvCxnSpPr>
          <p:nvPr/>
        </p:nvCxnSpPr>
        <p:spPr>
          <a:xfrm>
            <a:off x="4451126" y="1089089"/>
            <a:ext cx="869380" cy="2046"/>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023" name="Straight Connector 26">
            <a:extLst>
              <a:ext uri="{FF2B5EF4-FFF2-40B4-BE49-F238E27FC236}">
                <a16:creationId xmlns:a16="http://schemas.microsoft.com/office/drawing/2014/main" id="{F1FAFD8C-9AE1-A851-683E-B90C6B5E5669}"/>
              </a:ext>
            </a:extLst>
          </p:cNvPr>
          <p:cNvCxnSpPr>
            <a:cxnSpLocks/>
            <a:stCxn id="832" idx="6"/>
            <a:endCxn id="833" idx="1"/>
          </p:cNvCxnSpPr>
          <p:nvPr/>
        </p:nvCxnSpPr>
        <p:spPr>
          <a:xfrm>
            <a:off x="5664145" y="1091135"/>
            <a:ext cx="214093" cy="2127"/>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034" name="Straight Connector 26">
            <a:extLst>
              <a:ext uri="{FF2B5EF4-FFF2-40B4-BE49-F238E27FC236}">
                <a16:creationId xmlns:a16="http://schemas.microsoft.com/office/drawing/2014/main" id="{DDD4BCC8-9188-8C53-A05B-356D2EDE26FA}"/>
              </a:ext>
            </a:extLst>
          </p:cNvPr>
          <p:cNvCxnSpPr>
            <a:cxnSpLocks/>
            <a:stCxn id="810" idx="6"/>
            <a:endCxn id="1464" idx="1"/>
          </p:cNvCxnSpPr>
          <p:nvPr/>
        </p:nvCxnSpPr>
        <p:spPr>
          <a:xfrm>
            <a:off x="4451125" y="1089089"/>
            <a:ext cx="397543" cy="96649"/>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037" name="Straight Connector 26">
            <a:extLst>
              <a:ext uri="{FF2B5EF4-FFF2-40B4-BE49-F238E27FC236}">
                <a16:creationId xmlns:a16="http://schemas.microsoft.com/office/drawing/2014/main" id="{757D0448-DB10-521D-D1FD-DFEA0967080F}"/>
              </a:ext>
            </a:extLst>
          </p:cNvPr>
          <p:cNvCxnSpPr>
            <a:cxnSpLocks/>
            <a:stCxn id="1464" idx="4"/>
            <a:endCxn id="32" idx="2"/>
          </p:cNvCxnSpPr>
          <p:nvPr/>
        </p:nvCxnSpPr>
        <p:spPr>
          <a:xfrm>
            <a:off x="4989700" y="1257970"/>
            <a:ext cx="328376" cy="785769"/>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041" name="Straight Connector 26">
            <a:extLst>
              <a:ext uri="{FF2B5EF4-FFF2-40B4-BE49-F238E27FC236}">
                <a16:creationId xmlns:a16="http://schemas.microsoft.com/office/drawing/2014/main" id="{193A9966-E163-9FEE-D5C3-4EBF6164A46D}"/>
              </a:ext>
            </a:extLst>
          </p:cNvPr>
          <p:cNvCxnSpPr>
            <a:cxnSpLocks/>
            <a:stCxn id="833" idx="3"/>
            <a:endCxn id="834" idx="2"/>
          </p:cNvCxnSpPr>
          <p:nvPr/>
        </p:nvCxnSpPr>
        <p:spPr>
          <a:xfrm>
            <a:off x="6121508" y="1093262"/>
            <a:ext cx="420011" cy="82529"/>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044" name="Straight Connector 26">
            <a:extLst>
              <a:ext uri="{FF2B5EF4-FFF2-40B4-BE49-F238E27FC236}">
                <a16:creationId xmlns:a16="http://schemas.microsoft.com/office/drawing/2014/main" id="{A2FEC1D2-436D-487F-8CE7-6AE13C995286}"/>
              </a:ext>
            </a:extLst>
          </p:cNvPr>
          <p:cNvCxnSpPr>
            <a:cxnSpLocks/>
            <a:stCxn id="488" idx="3"/>
            <a:endCxn id="834" idx="2"/>
          </p:cNvCxnSpPr>
          <p:nvPr/>
        </p:nvCxnSpPr>
        <p:spPr>
          <a:xfrm flipV="1">
            <a:off x="6129060" y="1175790"/>
            <a:ext cx="412461" cy="765723"/>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052" name="Straight Connector 26">
            <a:extLst>
              <a:ext uri="{FF2B5EF4-FFF2-40B4-BE49-F238E27FC236}">
                <a16:creationId xmlns:a16="http://schemas.microsoft.com/office/drawing/2014/main" id="{055AEC3B-26B7-ED8B-E3FE-A9B77B5BF6C6}"/>
              </a:ext>
            </a:extLst>
          </p:cNvPr>
          <p:cNvCxnSpPr>
            <a:cxnSpLocks/>
            <a:stCxn id="444" idx="3"/>
            <a:endCxn id="456" idx="2"/>
          </p:cNvCxnSpPr>
          <p:nvPr/>
        </p:nvCxnSpPr>
        <p:spPr>
          <a:xfrm>
            <a:off x="6193535" y="2101869"/>
            <a:ext cx="340603" cy="194804"/>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065" name="Straight Connector 26">
            <a:extLst>
              <a:ext uri="{FF2B5EF4-FFF2-40B4-BE49-F238E27FC236}">
                <a16:creationId xmlns:a16="http://schemas.microsoft.com/office/drawing/2014/main" id="{1667E75F-C6C7-BDF8-DC31-F70D28956309}"/>
              </a:ext>
            </a:extLst>
          </p:cNvPr>
          <p:cNvCxnSpPr>
            <a:cxnSpLocks/>
            <a:stCxn id="908" idx="6"/>
            <a:endCxn id="824" idx="2"/>
          </p:cNvCxnSpPr>
          <p:nvPr/>
        </p:nvCxnSpPr>
        <p:spPr>
          <a:xfrm>
            <a:off x="4440834" y="3766386"/>
            <a:ext cx="879921" cy="130325"/>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69" name="Rounded Rectangle 1068">
            <a:extLst>
              <a:ext uri="{FF2B5EF4-FFF2-40B4-BE49-F238E27FC236}">
                <a16:creationId xmlns:a16="http://schemas.microsoft.com/office/drawing/2014/main" id="{AAAFE6D5-15B6-4F1C-8836-068EEAF054CC}"/>
              </a:ext>
            </a:extLst>
          </p:cNvPr>
          <p:cNvSpPr/>
          <p:nvPr/>
        </p:nvSpPr>
        <p:spPr>
          <a:xfrm>
            <a:off x="5909522" y="1227451"/>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070" name="Rounded Rectangle 1069">
            <a:extLst>
              <a:ext uri="{FF2B5EF4-FFF2-40B4-BE49-F238E27FC236}">
                <a16:creationId xmlns:a16="http://schemas.microsoft.com/office/drawing/2014/main" id="{108EDC86-7DBA-2DDA-9C1F-BC808CDF2360}"/>
              </a:ext>
            </a:extLst>
          </p:cNvPr>
          <p:cNvSpPr/>
          <p:nvPr/>
        </p:nvSpPr>
        <p:spPr>
          <a:xfrm>
            <a:off x="5912887" y="1329991"/>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072" name="Rounded Rectangle 1071">
            <a:extLst>
              <a:ext uri="{FF2B5EF4-FFF2-40B4-BE49-F238E27FC236}">
                <a16:creationId xmlns:a16="http://schemas.microsoft.com/office/drawing/2014/main" id="{A4A77FC7-B94B-171C-DF21-0A774AEC3A84}"/>
              </a:ext>
            </a:extLst>
          </p:cNvPr>
          <p:cNvSpPr/>
          <p:nvPr/>
        </p:nvSpPr>
        <p:spPr>
          <a:xfrm>
            <a:off x="5394809" y="1228036"/>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074" name="Rounded Rectangle 1073">
            <a:extLst>
              <a:ext uri="{FF2B5EF4-FFF2-40B4-BE49-F238E27FC236}">
                <a16:creationId xmlns:a16="http://schemas.microsoft.com/office/drawing/2014/main" id="{49812441-D9EB-C8A8-5FDA-4298A624E2EB}"/>
              </a:ext>
            </a:extLst>
          </p:cNvPr>
          <p:cNvSpPr/>
          <p:nvPr/>
        </p:nvSpPr>
        <p:spPr>
          <a:xfrm>
            <a:off x="5402877" y="1328466"/>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VAP</a:t>
            </a:r>
          </a:p>
        </p:txBody>
      </p:sp>
      <p:sp>
        <p:nvSpPr>
          <p:cNvPr id="1075" name="Rounded Rectangle 1074">
            <a:extLst>
              <a:ext uri="{FF2B5EF4-FFF2-40B4-BE49-F238E27FC236}">
                <a16:creationId xmlns:a16="http://schemas.microsoft.com/office/drawing/2014/main" id="{C8F1D082-EEAD-613A-5DAE-6B96838334F3}"/>
              </a:ext>
            </a:extLst>
          </p:cNvPr>
          <p:cNvSpPr/>
          <p:nvPr/>
        </p:nvSpPr>
        <p:spPr>
          <a:xfrm>
            <a:off x="5410416" y="919080"/>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080" name="TextBox 1079">
            <a:extLst>
              <a:ext uri="{FF2B5EF4-FFF2-40B4-BE49-F238E27FC236}">
                <a16:creationId xmlns:a16="http://schemas.microsoft.com/office/drawing/2014/main" id="{144951DF-3413-3B73-69CE-AC95DCCF3349}"/>
              </a:ext>
            </a:extLst>
          </p:cNvPr>
          <p:cNvSpPr txBox="1"/>
          <p:nvPr/>
        </p:nvSpPr>
        <p:spPr>
          <a:xfrm>
            <a:off x="5150575" y="1615073"/>
            <a:ext cx="664448"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Metallurgical</a:t>
            </a:r>
          </a:p>
          <a:p>
            <a:pPr algn="ctr" defTabSz="244938"/>
            <a:r>
              <a:rPr lang="en-AU" sz="429" i="1" dirty="0">
                <a:solidFill>
                  <a:prstClr val="black"/>
                </a:solidFill>
                <a:latin typeface="Aptos" panose="02110004020202020204"/>
              </a:rPr>
              <a:t>OSH ID / GLN</a:t>
            </a:r>
          </a:p>
        </p:txBody>
      </p:sp>
      <p:sp>
        <p:nvSpPr>
          <p:cNvPr id="1081" name="TextBox 1080">
            <a:extLst>
              <a:ext uri="{FF2B5EF4-FFF2-40B4-BE49-F238E27FC236}">
                <a16:creationId xmlns:a16="http://schemas.microsoft.com/office/drawing/2014/main" id="{8875DEF8-75B2-AAC5-D3E3-D4D7C7CE46CD}"/>
              </a:ext>
            </a:extLst>
          </p:cNvPr>
          <p:cNvSpPr txBox="1"/>
          <p:nvPr/>
        </p:nvSpPr>
        <p:spPr>
          <a:xfrm>
            <a:off x="5178103" y="2451714"/>
            <a:ext cx="598373"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Copper Fabs</a:t>
            </a:r>
          </a:p>
          <a:p>
            <a:pPr algn="ctr" defTabSz="244938"/>
            <a:r>
              <a:rPr lang="en-AU" sz="429" i="1" dirty="0">
                <a:solidFill>
                  <a:prstClr val="black"/>
                </a:solidFill>
                <a:latin typeface="Aptos" panose="02110004020202020204"/>
              </a:rPr>
              <a:t>OSH ID / GLN</a:t>
            </a:r>
          </a:p>
        </p:txBody>
      </p:sp>
      <p:sp>
        <p:nvSpPr>
          <p:cNvPr id="1082" name="TextBox 1081">
            <a:extLst>
              <a:ext uri="{FF2B5EF4-FFF2-40B4-BE49-F238E27FC236}">
                <a16:creationId xmlns:a16="http://schemas.microsoft.com/office/drawing/2014/main" id="{22822D49-D6C8-7D93-2DDB-0B7A687E63C9}"/>
              </a:ext>
            </a:extLst>
          </p:cNvPr>
          <p:cNvSpPr txBox="1"/>
          <p:nvPr/>
        </p:nvSpPr>
        <p:spPr>
          <a:xfrm>
            <a:off x="5178774" y="3482966"/>
            <a:ext cx="598373"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Magnet Fabs</a:t>
            </a:r>
          </a:p>
          <a:p>
            <a:pPr algn="ctr" defTabSz="244938"/>
            <a:r>
              <a:rPr lang="en-AU" sz="429" i="1" dirty="0">
                <a:solidFill>
                  <a:prstClr val="black"/>
                </a:solidFill>
                <a:latin typeface="Aptos" panose="02110004020202020204"/>
              </a:rPr>
              <a:t>OSH ID / GLN</a:t>
            </a:r>
          </a:p>
        </p:txBody>
      </p:sp>
      <p:cxnSp>
        <p:nvCxnSpPr>
          <p:cNvPr id="1090" name="Straight Connector 26">
            <a:extLst>
              <a:ext uri="{FF2B5EF4-FFF2-40B4-BE49-F238E27FC236}">
                <a16:creationId xmlns:a16="http://schemas.microsoft.com/office/drawing/2014/main" id="{26A57659-4AEC-0BF9-4ABE-70E2341E35A7}"/>
              </a:ext>
            </a:extLst>
          </p:cNvPr>
          <p:cNvCxnSpPr>
            <a:cxnSpLocks/>
            <a:stCxn id="951" idx="6"/>
            <a:endCxn id="825" idx="2"/>
          </p:cNvCxnSpPr>
          <p:nvPr/>
        </p:nvCxnSpPr>
        <p:spPr>
          <a:xfrm flipV="1">
            <a:off x="4451125" y="4732997"/>
            <a:ext cx="890537" cy="22487"/>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094" name="Straight Connector 26">
            <a:extLst>
              <a:ext uri="{FF2B5EF4-FFF2-40B4-BE49-F238E27FC236}">
                <a16:creationId xmlns:a16="http://schemas.microsoft.com/office/drawing/2014/main" id="{0888C7C4-72FF-742D-C040-0792A64BF4E0}"/>
              </a:ext>
            </a:extLst>
          </p:cNvPr>
          <p:cNvCxnSpPr>
            <a:cxnSpLocks/>
            <a:stCxn id="825" idx="6"/>
          </p:cNvCxnSpPr>
          <p:nvPr/>
        </p:nvCxnSpPr>
        <p:spPr>
          <a:xfrm>
            <a:off x="5665752" y="4732998"/>
            <a:ext cx="295347" cy="4092"/>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097" name="Straight Connector 26">
            <a:extLst>
              <a:ext uri="{FF2B5EF4-FFF2-40B4-BE49-F238E27FC236}">
                <a16:creationId xmlns:a16="http://schemas.microsoft.com/office/drawing/2014/main" id="{BEFB27B4-BDB5-C01B-396C-F8A980AE2C31}"/>
              </a:ext>
            </a:extLst>
          </p:cNvPr>
          <p:cNvCxnSpPr>
            <a:cxnSpLocks/>
            <a:stCxn id="824" idx="6"/>
            <a:endCxn id="826" idx="1"/>
          </p:cNvCxnSpPr>
          <p:nvPr/>
        </p:nvCxnSpPr>
        <p:spPr>
          <a:xfrm>
            <a:off x="5644844" y="3896712"/>
            <a:ext cx="237496" cy="2412"/>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03" name="Straight Connector 26">
            <a:extLst>
              <a:ext uri="{FF2B5EF4-FFF2-40B4-BE49-F238E27FC236}">
                <a16:creationId xmlns:a16="http://schemas.microsoft.com/office/drawing/2014/main" id="{ABC742B6-D46F-FED6-6B6C-3BBD6B5007B6}"/>
              </a:ext>
            </a:extLst>
          </p:cNvPr>
          <p:cNvCxnSpPr>
            <a:cxnSpLocks/>
            <a:stCxn id="364" idx="6"/>
            <a:endCxn id="1107" idx="1"/>
          </p:cNvCxnSpPr>
          <p:nvPr/>
        </p:nvCxnSpPr>
        <p:spPr>
          <a:xfrm>
            <a:off x="5654369" y="3052650"/>
            <a:ext cx="328959" cy="64569"/>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1106" name="Diamond 1105">
            <a:extLst>
              <a:ext uri="{FF2B5EF4-FFF2-40B4-BE49-F238E27FC236}">
                <a16:creationId xmlns:a16="http://schemas.microsoft.com/office/drawing/2014/main" id="{7EBD067E-81FF-B954-2F07-83485560CEC5}"/>
              </a:ext>
            </a:extLst>
          </p:cNvPr>
          <p:cNvSpPr/>
          <p:nvPr/>
        </p:nvSpPr>
        <p:spPr>
          <a:xfrm>
            <a:off x="5817657" y="2949826"/>
            <a:ext cx="245447" cy="129140"/>
          </a:xfrm>
          <a:prstGeom prst="diamond">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black"/>
                </a:solidFill>
                <a:latin typeface="Aptos" panose="02110004020202020204"/>
              </a:rPr>
              <a:t>P6</a:t>
            </a:r>
          </a:p>
        </p:txBody>
      </p:sp>
      <p:sp>
        <p:nvSpPr>
          <p:cNvPr id="1107" name="Diamond 1106">
            <a:extLst>
              <a:ext uri="{FF2B5EF4-FFF2-40B4-BE49-F238E27FC236}">
                <a16:creationId xmlns:a16="http://schemas.microsoft.com/office/drawing/2014/main" id="{AF71E3D0-8BF8-9D78-B703-3DB3B3D35D0B}"/>
              </a:ext>
            </a:extLst>
          </p:cNvPr>
          <p:cNvSpPr/>
          <p:nvPr/>
        </p:nvSpPr>
        <p:spPr>
          <a:xfrm>
            <a:off x="5983327" y="3052649"/>
            <a:ext cx="274152" cy="129140"/>
          </a:xfrm>
          <a:prstGeom prst="diamond">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black"/>
                </a:solidFill>
                <a:latin typeface="Aptos" panose="02110004020202020204"/>
              </a:rPr>
              <a:t>P7</a:t>
            </a:r>
          </a:p>
        </p:txBody>
      </p:sp>
      <p:cxnSp>
        <p:nvCxnSpPr>
          <p:cNvPr id="1109" name="Straight Connector 26">
            <a:extLst>
              <a:ext uri="{FF2B5EF4-FFF2-40B4-BE49-F238E27FC236}">
                <a16:creationId xmlns:a16="http://schemas.microsoft.com/office/drawing/2014/main" id="{E80F5E34-44A6-E222-EA56-EEF4F0CBF6A0}"/>
              </a:ext>
            </a:extLst>
          </p:cNvPr>
          <p:cNvCxnSpPr>
            <a:cxnSpLocks/>
            <a:stCxn id="1107" idx="3"/>
            <a:endCxn id="828" idx="2"/>
          </p:cNvCxnSpPr>
          <p:nvPr/>
        </p:nvCxnSpPr>
        <p:spPr>
          <a:xfrm>
            <a:off x="6257480" y="3117219"/>
            <a:ext cx="297091" cy="843994"/>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112" name="Straight Connector 26">
            <a:extLst>
              <a:ext uri="{FF2B5EF4-FFF2-40B4-BE49-F238E27FC236}">
                <a16:creationId xmlns:a16="http://schemas.microsoft.com/office/drawing/2014/main" id="{FEC1CE9D-E083-9967-A606-6BB686F76214}"/>
              </a:ext>
            </a:extLst>
          </p:cNvPr>
          <p:cNvCxnSpPr>
            <a:cxnSpLocks/>
            <a:stCxn id="826" idx="3"/>
            <a:endCxn id="828" idx="2"/>
          </p:cNvCxnSpPr>
          <p:nvPr/>
        </p:nvCxnSpPr>
        <p:spPr>
          <a:xfrm>
            <a:off x="6198053" y="3899122"/>
            <a:ext cx="356518" cy="62092"/>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15" name="Straight Connector 26">
            <a:extLst>
              <a:ext uri="{FF2B5EF4-FFF2-40B4-BE49-F238E27FC236}">
                <a16:creationId xmlns:a16="http://schemas.microsoft.com/office/drawing/2014/main" id="{E157C649-CC69-2B43-496F-EC5BC5C19C2E}"/>
              </a:ext>
            </a:extLst>
          </p:cNvPr>
          <p:cNvCxnSpPr>
            <a:cxnSpLocks/>
            <a:stCxn id="827" idx="3"/>
            <a:endCxn id="829" idx="2"/>
          </p:cNvCxnSpPr>
          <p:nvPr/>
        </p:nvCxnSpPr>
        <p:spPr>
          <a:xfrm>
            <a:off x="6181571" y="4736564"/>
            <a:ext cx="377575" cy="1545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19" name="Straight Connector 26">
            <a:extLst>
              <a:ext uri="{FF2B5EF4-FFF2-40B4-BE49-F238E27FC236}">
                <a16:creationId xmlns:a16="http://schemas.microsoft.com/office/drawing/2014/main" id="{3ED79795-2497-8264-55C9-D2437FD81A70}"/>
              </a:ext>
            </a:extLst>
          </p:cNvPr>
          <p:cNvCxnSpPr>
            <a:cxnSpLocks/>
            <a:stCxn id="829" idx="6"/>
            <a:endCxn id="831" idx="1"/>
          </p:cNvCxnSpPr>
          <p:nvPr/>
        </p:nvCxnSpPr>
        <p:spPr>
          <a:xfrm flipV="1">
            <a:off x="6872551" y="4739886"/>
            <a:ext cx="234843" cy="1213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22" name="Straight Connector 26">
            <a:extLst>
              <a:ext uri="{FF2B5EF4-FFF2-40B4-BE49-F238E27FC236}">
                <a16:creationId xmlns:a16="http://schemas.microsoft.com/office/drawing/2014/main" id="{DDED27AB-2428-7366-D84A-C450BCB24B00}"/>
              </a:ext>
            </a:extLst>
          </p:cNvPr>
          <p:cNvCxnSpPr>
            <a:cxnSpLocks/>
            <a:stCxn id="828" idx="6"/>
            <a:endCxn id="830" idx="1"/>
          </p:cNvCxnSpPr>
          <p:nvPr/>
        </p:nvCxnSpPr>
        <p:spPr>
          <a:xfrm flipV="1">
            <a:off x="6878661" y="3850846"/>
            <a:ext cx="208402" cy="110368"/>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29" name="Straight Connector 26">
            <a:extLst>
              <a:ext uri="{FF2B5EF4-FFF2-40B4-BE49-F238E27FC236}">
                <a16:creationId xmlns:a16="http://schemas.microsoft.com/office/drawing/2014/main" id="{706E2563-0909-E62E-08EE-7F08ED37809E}"/>
              </a:ext>
            </a:extLst>
          </p:cNvPr>
          <p:cNvCxnSpPr>
            <a:cxnSpLocks/>
            <a:stCxn id="831" idx="3"/>
            <a:endCxn id="494" idx="2"/>
          </p:cNvCxnSpPr>
          <p:nvPr/>
        </p:nvCxnSpPr>
        <p:spPr>
          <a:xfrm flipV="1">
            <a:off x="7378771" y="4085802"/>
            <a:ext cx="422078" cy="654082"/>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32" name="Straight Connector 26">
            <a:extLst>
              <a:ext uri="{FF2B5EF4-FFF2-40B4-BE49-F238E27FC236}">
                <a16:creationId xmlns:a16="http://schemas.microsoft.com/office/drawing/2014/main" id="{A2682212-34DB-C88F-6832-F825E99B56BE}"/>
              </a:ext>
            </a:extLst>
          </p:cNvPr>
          <p:cNvCxnSpPr>
            <a:cxnSpLocks/>
            <a:stCxn id="1183" idx="3"/>
            <a:endCxn id="494" idx="2"/>
          </p:cNvCxnSpPr>
          <p:nvPr/>
        </p:nvCxnSpPr>
        <p:spPr>
          <a:xfrm>
            <a:off x="7462645" y="3980046"/>
            <a:ext cx="338205" cy="105756"/>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35" name="Straight Connector 26">
            <a:extLst>
              <a:ext uri="{FF2B5EF4-FFF2-40B4-BE49-F238E27FC236}">
                <a16:creationId xmlns:a16="http://schemas.microsoft.com/office/drawing/2014/main" id="{39E48804-86B1-99BB-77FB-D316498A7112}"/>
              </a:ext>
            </a:extLst>
          </p:cNvPr>
          <p:cNvCxnSpPr>
            <a:cxnSpLocks/>
            <a:stCxn id="468" idx="3"/>
            <a:endCxn id="494" idx="2"/>
          </p:cNvCxnSpPr>
          <p:nvPr/>
        </p:nvCxnSpPr>
        <p:spPr>
          <a:xfrm>
            <a:off x="7343696" y="2874578"/>
            <a:ext cx="457155" cy="1211224"/>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42" name="Straight Connector 26">
            <a:extLst>
              <a:ext uri="{FF2B5EF4-FFF2-40B4-BE49-F238E27FC236}">
                <a16:creationId xmlns:a16="http://schemas.microsoft.com/office/drawing/2014/main" id="{02121C39-0D13-2DE0-BFC4-274792C2597F}"/>
              </a:ext>
            </a:extLst>
          </p:cNvPr>
          <p:cNvCxnSpPr>
            <a:cxnSpLocks/>
            <a:stCxn id="834" idx="6"/>
            <a:endCxn id="835" idx="1"/>
          </p:cNvCxnSpPr>
          <p:nvPr/>
        </p:nvCxnSpPr>
        <p:spPr>
          <a:xfrm flipV="1">
            <a:off x="6885158" y="1085490"/>
            <a:ext cx="327437" cy="9030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145" name="Diamond 1144">
            <a:extLst>
              <a:ext uri="{FF2B5EF4-FFF2-40B4-BE49-F238E27FC236}">
                <a16:creationId xmlns:a16="http://schemas.microsoft.com/office/drawing/2014/main" id="{18530D02-767C-D9D5-4AC6-0A319048B2C7}"/>
              </a:ext>
            </a:extLst>
          </p:cNvPr>
          <p:cNvSpPr/>
          <p:nvPr/>
        </p:nvSpPr>
        <p:spPr>
          <a:xfrm>
            <a:off x="7101477" y="1140152"/>
            <a:ext cx="248667" cy="129140"/>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P11</a:t>
            </a:r>
          </a:p>
        </p:txBody>
      </p:sp>
      <p:cxnSp>
        <p:nvCxnSpPr>
          <p:cNvPr id="1148" name="Straight Connector 26">
            <a:extLst>
              <a:ext uri="{FF2B5EF4-FFF2-40B4-BE49-F238E27FC236}">
                <a16:creationId xmlns:a16="http://schemas.microsoft.com/office/drawing/2014/main" id="{D93EFF24-059B-6D26-8F4A-67BC4FD94E03}"/>
              </a:ext>
            </a:extLst>
          </p:cNvPr>
          <p:cNvCxnSpPr>
            <a:cxnSpLocks/>
            <a:stCxn id="834" idx="6"/>
            <a:endCxn id="1145" idx="1"/>
          </p:cNvCxnSpPr>
          <p:nvPr/>
        </p:nvCxnSpPr>
        <p:spPr>
          <a:xfrm>
            <a:off x="6885159" y="1175792"/>
            <a:ext cx="216318" cy="2893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51" name="Straight Connector 26">
            <a:extLst>
              <a:ext uri="{FF2B5EF4-FFF2-40B4-BE49-F238E27FC236}">
                <a16:creationId xmlns:a16="http://schemas.microsoft.com/office/drawing/2014/main" id="{72F3BA9B-A813-816C-3ACD-0AC47FA8C652}"/>
              </a:ext>
            </a:extLst>
          </p:cNvPr>
          <p:cNvCxnSpPr>
            <a:cxnSpLocks/>
            <a:stCxn id="835" idx="3"/>
            <a:endCxn id="719" idx="2"/>
          </p:cNvCxnSpPr>
          <p:nvPr/>
        </p:nvCxnSpPr>
        <p:spPr>
          <a:xfrm>
            <a:off x="7471061" y="1085491"/>
            <a:ext cx="341755" cy="321353"/>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54" name="Straight Connector 26">
            <a:extLst>
              <a:ext uri="{FF2B5EF4-FFF2-40B4-BE49-F238E27FC236}">
                <a16:creationId xmlns:a16="http://schemas.microsoft.com/office/drawing/2014/main" id="{5619E5A4-2D62-ADAB-AA39-E260B13EF580}"/>
              </a:ext>
            </a:extLst>
          </p:cNvPr>
          <p:cNvCxnSpPr>
            <a:cxnSpLocks/>
            <a:stCxn id="1145" idx="3"/>
            <a:endCxn id="720" idx="2"/>
          </p:cNvCxnSpPr>
          <p:nvPr/>
        </p:nvCxnSpPr>
        <p:spPr>
          <a:xfrm>
            <a:off x="7350143" y="1204723"/>
            <a:ext cx="482222" cy="656849"/>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57" name="Straight Connector 26">
            <a:extLst>
              <a:ext uri="{FF2B5EF4-FFF2-40B4-BE49-F238E27FC236}">
                <a16:creationId xmlns:a16="http://schemas.microsoft.com/office/drawing/2014/main" id="{79282DD4-FF2D-47D5-418F-9A5618744600}"/>
              </a:ext>
            </a:extLst>
          </p:cNvPr>
          <p:cNvCxnSpPr>
            <a:cxnSpLocks/>
            <a:stCxn id="465" idx="3"/>
            <a:endCxn id="719" idx="2"/>
          </p:cNvCxnSpPr>
          <p:nvPr/>
        </p:nvCxnSpPr>
        <p:spPr>
          <a:xfrm flipV="1">
            <a:off x="7356759" y="1406843"/>
            <a:ext cx="456058" cy="861552"/>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62" name="Straight Connector 26">
            <a:extLst>
              <a:ext uri="{FF2B5EF4-FFF2-40B4-BE49-F238E27FC236}">
                <a16:creationId xmlns:a16="http://schemas.microsoft.com/office/drawing/2014/main" id="{241F2C2D-4285-8CD4-2318-77111163CA60}"/>
              </a:ext>
            </a:extLst>
          </p:cNvPr>
          <p:cNvCxnSpPr>
            <a:cxnSpLocks/>
            <a:stCxn id="466" idx="3"/>
            <a:endCxn id="720" idx="2"/>
          </p:cNvCxnSpPr>
          <p:nvPr/>
        </p:nvCxnSpPr>
        <p:spPr>
          <a:xfrm flipV="1">
            <a:off x="7363157" y="1861572"/>
            <a:ext cx="469208" cy="599488"/>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74" name="Straight Connector 26">
            <a:extLst>
              <a:ext uri="{FF2B5EF4-FFF2-40B4-BE49-F238E27FC236}">
                <a16:creationId xmlns:a16="http://schemas.microsoft.com/office/drawing/2014/main" id="{15C9D495-F366-4331-15B5-25B48C6988AB}"/>
              </a:ext>
            </a:extLst>
          </p:cNvPr>
          <p:cNvCxnSpPr>
            <a:cxnSpLocks/>
            <a:stCxn id="467" idx="3"/>
            <a:endCxn id="493" idx="2"/>
          </p:cNvCxnSpPr>
          <p:nvPr/>
        </p:nvCxnSpPr>
        <p:spPr>
          <a:xfrm>
            <a:off x="7359816" y="2674371"/>
            <a:ext cx="451983" cy="90059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77" name="Straight Connector 26">
            <a:extLst>
              <a:ext uri="{FF2B5EF4-FFF2-40B4-BE49-F238E27FC236}">
                <a16:creationId xmlns:a16="http://schemas.microsoft.com/office/drawing/2014/main" id="{B715A8D9-9F59-2139-FE2E-6D677A50E4ED}"/>
              </a:ext>
            </a:extLst>
          </p:cNvPr>
          <p:cNvCxnSpPr>
            <a:cxnSpLocks/>
            <a:stCxn id="830" idx="3"/>
            <a:endCxn id="493" idx="2"/>
          </p:cNvCxnSpPr>
          <p:nvPr/>
        </p:nvCxnSpPr>
        <p:spPr>
          <a:xfrm flipV="1">
            <a:off x="7340618" y="3574962"/>
            <a:ext cx="471183" cy="275886"/>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183" name="Diamond 1182">
            <a:extLst>
              <a:ext uri="{FF2B5EF4-FFF2-40B4-BE49-F238E27FC236}">
                <a16:creationId xmlns:a16="http://schemas.microsoft.com/office/drawing/2014/main" id="{025FDB01-3682-CB57-8070-4047E8E99399}"/>
              </a:ext>
            </a:extLst>
          </p:cNvPr>
          <p:cNvSpPr/>
          <p:nvPr/>
        </p:nvSpPr>
        <p:spPr>
          <a:xfrm>
            <a:off x="7199667" y="3911638"/>
            <a:ext cx="262976" cy="136815"/>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P17</a:t>
            </a:r>
          </a:p>
        </p:txBody>
      </p:sp>
      <p:cxnSp>
        <p:nvCxnSpPr>
          <p:cNvPr id="1188" name="Straight Connector 26">
            <a:extLst>
              <a:ext uri="{FF2B5EF4-FFF2-40B4-BE49-F238E27FC236}">
                <a16:creationId xmlns:a16="http://schemas.microsoft.com/office/drawing/2014/main" id="{66FE3142-3743-715C-069C-6389E153B99B}"/>
              </a:ext>
            </a:extLst>
          </p:cNvPr>
          <p:cNvCxnSpPr>
            <a:cxnSpLocks/>
            <a:stCxn id="828" idx="6"/>
            <a:endCxn id="1183" idx="1"/>
          </p:cNvCxnSpPr>
          <p:nvPr/>
        </p:nvCxnSpPr>
        <p:spPr>
          <a:xfrm>
            <a:off x="6878661" y="3961214"/>
            <a:ext cx="321007" cy="18832"/>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521" name="Rounded Rectangle 520">
            <a:extLst>
              <a:ext uri="{FF2B5EF4-FFF2-40B4-BE49-F238E27FC236}">
                <a16:creationId xmlns:a16="http://schemas.microsoft.com/office/drawing/2014/main" id="{B21D042D-BF1B-C17E-4B9C-895C06AC4C11}"/>
              </a:ext>
            </a:extLst>
          </p:cNvPr>
          <p:cNvSpPr/>
          <p:nvPr/>
        </p:nvSpPr>
        <p:spPr>
          <a:xfrm>
            <a:off x="9247132" y="2962766"/>
            <a:ext cx="520027" cy="98945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619" name="Rounded Rectangle 618">
            <a:extLst>
              <a:ext uri="{FF2B5EF4-FFF2-40B4-BE49-F238E27FC236}">
                <a16:creationId xmlns:a16="http://schemas.microsoft.com/office/drawing/2014/main" id="{699031F9-1EB5-4964-90AC-5FDF13C18FD6}"/>
              </a:ext>
            </a:extLst>
          </p:cNvPr>
          <p:cNvSpPr/>
          <p:nvPr/>
        </p:nvSpPr>
        <p:spPr>
          <a:xfrm>
            <a:off x="9811912" y="2954652"/>
            <a:ext cx="520027" cy="997566"/>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1194" name="Rounded Rectangle 1193">
            <a:extLst>
              <a:ext uri="{FF2B5EF4-FFF2-40B4-BE49-F238E27FC236}">
                <a16:creationId xmlns:a16="http://schemas.microsoft.com/office/drawing/2014/main" id="{4A038F8A-52C7-44AE-8EF3-C983A8686097}"/>
              </a:ext>
            </a:extLst>
          </p:cNvPr>
          <p:cNvSpPr/>
          <p:nvPr/>
        </p:nvSpPr>
        <p:spPr>
          <a:xfrm>
            <a:off x="9835451" y="4057391"/>
            <a:ext cx="520027" cy="1046127"/>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1195" name="Rounded Rectangle 1194">
            <a:extLst>
              <a:ext uri="{FF2B5EF4-FFF2-40B4-BE49-F238E27FC236}">
                <a16:creationId xmlns:a16="http://schemas.microsoft.com/office/drawing/2014/main" id="{A3F46BAA-713F-9D67-5980-A1E94836E211}"/>
              </a:ext>
            </a:extLst>
          </p:cNvPr>
          <p:cNvSpPr/>
          <p:nvPr/>
        </p:nvSpPr>
        <p:spPr>
          <a:xfrm>
            <a:off x="9259269" y="4057391"/>
            <a:ext cx="520027" cy="104612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519" name="Oval 518">
            <a:extLst>
              <a:ext uri="{FF2B5EF4-FFF2-40B4-BE49-F238E27FC236}">
                <a16:creationId xmlns:a16="http://schemas.microsoft.com/office/drawing/2014/main" id="{8A96D50E-3888-3714-3F06-03C90BDE481C}"/>
              </a:ext>
            </a:extLst>
          </p:cNvPr>
          <p:cNvSpPr/>
          <p:nvPr/>
        </p:nvSpPr>
        <p:spPr>
          <a:xfrm>
            <a:off x="9333065" y="3453434"/>
            <a:ext cx="343639" cy="145852"/>
          </a:xfrm>
          <a:prstGeom prst="ellips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black"/>
                </a:solidFill>
                <a:latin typeface="Aptos" panose="02110004020202020204"/>
              </a:rPr>
              <a:t>Recy3</a:t>
            </a:r>
          </a:p>
        </p:txBody>
      </p:sp>
      <p:sp>
        <p:nvSpPr>
          <p:cNvPr id="520" name="Oval 519">
            <a:extLst>
              <a:ext uri="{FF2B5EF4-FFF2-40B4-BE49-F238E27FC236}">
                <a16:creationId xmlns:a16="http://schemas.microsoft.com/office/drawing/2014/main" id="{43B41ACF-ACA9-6439-6C38-D8B7B4D62D89}"/>
              </a:ext>
            </a:extLst>
          </p:cNvPr>
          <p:cNvSpPr/>
          <p:nvPr/>
        </p:nvSpPr>
        <p:spPr>
          <a:xfrm>
            <a:off x="9366302" y="4451216"/>
            <a:ext cx="324090" cy="14585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Recy4</a:t>
            </a:r>
          </a:p>
        </p:txBody>
      </p:sp>
      <p:sp>
        <p:nvSpPr>
          <p:cNvPr id="522" name="TextBox 521">
            <a:extLst>
              <a:ext uri="{FF2B5EF4-FFF2-40B4-BE49-F238E27FC236}">
                <a16:creationId xmlns:a16="http://schemas.microsoft.com/office/drawing/2014/main" id="{1C609B2E-C643-32F1-CF45-8488E341EABD}"/>
              </a:ext>
            </a:extLst>
          </p:cNvPr>
          <p:cNvSpPr txBox="1"/>
          <p:nvPr/>
        </p:nvSpPr>
        <p:spPr>
          <a:xfrm>
            <a:off x="9250205" y="2966880"/>
            <a:ext cx="520027" cy="235321"/>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Recycler</a:t>
            </a:r>
          </a:p>
          <a:p>
            <a:pPr algn="ctr" defTabSz="244938"/>
            <a:r>
              <a:rPr lang="en-AU" sz="429" i="1" dirty="0">
                <a:solidFill>
                  <a:prstClr val="black"/>
                </a:solidFill>
                <a:latin typeface="Aptos" panose="02110004020202020204"/>
              </a:rPr>
              <a:t>OSH ID / GLN</a:t>
            </a:r>
          </a:p>
        </p:txBody>
      </p:sp>
      <p:sp>
        <p:nvSpPr>
          <p:cNvPr id="620" name="TextBox 619">
            <a:extLst>
              <a:ext uri="{FF2B5EF4-FFF2-40B4-BE49-F238E27FC236}">
                <a16:creationId xmlns:a16="http://schemas.microsoft.com/office/drawing/2014/main" id="{78315E77-EAB2-2F07-0EFF-25EA28455176}"/>
              </a:ext>
            </a:extLst>
          </p:cNvPr>
          <p:cNvSpPr txBox="1"/>
          <p:nvPr/>
        </p:nvSpPr>
        <p:spPr>
          <a:xfrm>
            <a:off x="9760310" y="2955057"/>
            <a:ext cx="608081" cy="3122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Scrap steel &amp; copper</a:t>
            </a:r>
          </a:p>
          <a:p>
            <a:pPr algn="ctr" defTabSz="244938"/>
            <a:r>
              <a:rPr lang="en-AU" sz="429" i="1" dirty="0">
                <a:solidFill>
                  <a:prstClr val="black"/>
                </a:solidFill>
                <a:latin typeface="Aptos" panose="02110004020202020204"/>
              </a:rPr>
              <a:t>Batch ID</a:t>
            </a:r>
          </a:p>
        </p:txBody>
      </p:sp>
      <p:sp>
        <p:nvSpPr>
          <p:cNvPr id="623" name="Diamond 622">
            <a:extLst>
              <a:ext uri="{FF2B5EF4-FFF2-40B4-BE49-F238E27FC236}">
                <a16:creationId xmlns:a16="http://schemas.microsoft.com/office/drawing/2014/main" id="{F043EC8F-9595-1C9B-12AA-A20EA597CF44}"/>
              </a:ext>
            </a:extLst>
          </p:cNvPr>
          <p:cNvSpPr/>
          <p:nvPr/>
        </p:nvSpPr>
        <p:spPr>
          <a:xfrm>
            <a:off x="9997513" y="4369609"/>
            <a:ext cx="295791" cy="163212"/>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RP3</a:t>
            </a:r>
          </a:p>
        </p:txBody>
      </p:sp>
      <p:cxnSp>
        <p:nvCxnSpPr>
          <p:cNvPr id="624" name="Straight Connector 26">
            <a:extLst>
              <a:ext uri="{FF2B5EF4-FFF2-40B4-BE49-F238E27FC236}">
                <a16:creationId xmlns:a16="http://schemas.microsoft.com/office/drawing/2014/main" id="{32C34066-7CBA-6F01-83D1-B4437755713D}"/>
              </a:ext>
            </a:extLst>
          </p:cNvPr>
          <p:cNvCxnSpPr>
            <a:cxnSpLocks/>
            <a:stCxn id="519" idx="6"/>
            <a:endCxn id="1590" idx="1"/>
          </p:cNvCxnSpPr>
          <p:nvPr/>
        </p:nvCxnSpPr>
        <p:spPr>
          <a:xfrm flipV="1">
            <a:off x="9676703" y="3397785"/>
            <a:ext cx="326267" cy="128575"/>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627" name="Straight Connector 26">
            <a:extLst>
              <a:ext uri="{FF2B5EF4-FFF2-40B4-BE49-F238E27FC236}">
                <a16:creationId xmlns:a16="http://schemas.microsoft.com/office/drawing/2014/main" id="{BB3A2DDE-BFEB-2F8E-6C74-188BD9559EC0}"/>
              </a:ext>
            </a:extLst>
          </p:cNvPr>
          <p:cNvCxnSpPr>
            <a:cxnSpLocks/>
            <a:stCxn id="519" idx="6"/>
            <a:endCxn id="1591" idx="1"/>
          </p:cNvCxnSpPr>
          <p:nvPr/>
        </p:nvCxnSpPr>
        <p:spPr>
          <a:xfrm>
            <a:off x="9676703" y="3526361"/>
            <a:ext cx="338529" cy="76904"/>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630" name="Straight Connector 26">
            <a:extLst>
              <a:ext uri="{FF2B5EF4-FFF2-40B4-BE49-F238E27FC236}">
                <a16:creationId xmlns:a16="http://schemas.microsoft.com/office/drawing/2014/main" id="{FDE15ECF-7FCF-D20A-032F-DDC7A3756BE5}"/>
              </a:ext>
            </a:extLst>
          </p:cNvPr>
          <p:cNvCxnSpPr>
            <a:cxnSpLocks/>
            <a:stCxn id="520" idx="6"/>
            <a:endCxn id="623" idx="1"/>
          </p:cNvCxnSpPr>
          <p:nvPr/>
        </p:nvCxnSpPr>
        <p:spPr>
          <a:xfrm flipV="1">
            <a:off x="9690392" y="4451215"/>
            <a:ext cx="307121" cy="72926"/>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791" name="TextBox 790">
            <a:extLst>
              <a:ext uri="{FF2B5EF4-FFF2-40B4-BE49-F238E27FC236}">
                <a16:creationId xmlns:a16="http://schemas.microsoft.com/office/drawing/2014/main" id="{A69FF088-58A5-68AD-09A4-A89848C924AB}"/>
              </a:ext>
            </a:extLst>
          </p:cNvPr>
          <p:cNvSpPr txBox="1"/>
          <p:nvPr/>
        </p:nvSpPr>
        <p:spPr>
          <a:xfrm>
            <a:off x="9144220" y="593533"/>
            <a:ext cx="1273870" cy="180178"/>
          </a:xfrm>
          <a:prstGeom prst="rect">
            <a:avLst/>
          </a:prstGeom>
          <a:noFill/>
        </p:spPr>
        <p:txBody>
          <a:bodyPr wrap="square" rtlCol="0">
            <a:spAutoFit/>
          </a:bodyPr>
          <a:lstStyle/>
          <a:p>
            <a:pPr algn="ctr" defTabSz="244938"/>
            <a:r>
              <a:rPr lang="en-AU" sz="571" b="1" dirty="0">
                <a:solidFill>
                  <a:prstClr val="white"/>
                </a:solidFill>
                <a:latin typeface="Aptos" panose="02110004020202020204"/>
              </a:rPr>
              <a:t>Specialised Recyclers</a:t>
            </a:r>
          </a:p>
        </p:txBody>
      </p:sp>
      <p:sp>
        <p:nvSpPr>
          <p:cNvPr id="1219" name="TextBox 1218">
            <a:extLst>
              <a:ext uri="{FF2B5EF4-FFF2-40B4-BE49-F238E27FC236}">
                <a16:creationId xmlns:a16="http://schemas.microsoft.com/office/drawing/2014/main" id="{03165DB5-B1E4-9EB4-681A-B31B80FCB539}"/>
              </a:ext>
            </a:extLst>
          </p:cNvPr>
          <p:cNvSpPr txBox="1"/>
          <p:nvPr/>
        </p:nvSpPr>
        <p:spPr>
          <a:xfrm>
            <a:off x="9191850" y="4057391"/>
            <a:ext cx="643600" cy="224420"/>
          </a:xfrm>
          <a:prstGeom prst="rect">
            <a:avLst/>
          </a:prstGeom>
          <a:noFill/>
        </p:spPr>
        <p:txBody>
          <a:bodyPr wrap="square" rtlCol="0">
            <a:spAutoFit/>
          </a:bodyPr>
          <a:lstStyle/>
          <a:p>
            <a:pPr algn="ctr" defTabSz="244938"/>
            <a:r>
              <a:rPr lang="en-AU" sz="429" b="1" dirty="0">
                <a:solidFill>
                  <a:prstClr val="black"/>
                </a:solidFill>
                <a:latin typeface="Aptos" panose="02110004020202020204"/>
              </a:rPr>
              <a:t>Remanufacture</a:t>
            </a:r>
          </a:p>
          <a:p>
            <a:pPr algn="ctr" defTabSz="244938"/>
            <a:r>
              <a:rPr lang="en-AU" sz="429" i="1" dirty="0">
                <a:solidFill>
                  <a:prstClr val="black"/>
                </a:solidFill>
                <a:latin typeface="Aptos" panose="02110004020202020204"/>
              </a:rPr>
              <a:t>OSH ID / GLN</a:t>
            </a:r>
          </a:p>
        </p:txBody>
      </p:sp>
      <p:sp>
        <p:nvSpPr>
          <p:cNvPr id="1220" name="TextBox 1219">
            <a:extLst>
              <a:ext uri="{FF2B5EF4-FFF2-40B4-BE49-F238E27FC236}">
                <a16:creationId xmlns:a16="http://schemas.microsoft.com/office/drawing/2014/main" id="{E1FFBC0D-9801-B512-D604-7A4C339ED9F3}"/>
              </a:ext>
            </a:extLst>
          </p:cNvPr>
          <p:cNvSpPr txBox="1"/>
          <p:nvPr/>
        </p:nvSpPr>
        <p:spPr>
          <a:xfrm>
            <a:off x="9776240" y="4053047"/>
            <a:ext cx="636590" cy="3122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Refurbished Motors</a:t>
            </a:r>
          </a:p>
          <a:p>
            <a:pPr algn="ctr" defTabSz="244938"/>
            <a:r>
              <a:rPr lang="en-AU" sz="429" i="1" dirty="0">
                <a:solidFill>
                  <a:prstClr val="black"/>
                </a:solidFill>
                <a:latin typeface="Aptos" panose="02110004020202020204"/>
              </a:rPr>
              <a:t>Model id / serial id</a:t>
            </a:r>
          </a:p>
        </p:txBody>
      </p:sp>
      <p:sp>
        <p:nvSpPr>
          <p:cNvPr id="1230" name="Rounded Rectangle 1229">
            <a:extLst>
              <a:ext uri="{FF2B5EF4-FFF2-40B4-BE49-F238E27FC236}">
                <a16:creationId xmlns:a16="http://schemas.microsoft.com/office/drawing/2014/main" id="{012E6F2D-6129-B70C-DAAF-0B62CF240813}"/>
              </a:ext>
            </a:extLst>
          </p:cNvPr>
          <p:cNvSpPr/>
          <p:nvPr/>
        </p:nvSpPr>
        <p:spPr>
          <a:xfrm>
            <a:off x="9222629" y="758525"/>
            <a:ext cx="520027" cy="98945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1231" name="Rounded Rectangle 1230">
            <a:extLst>
              <a:ext uri="{FF2B5EF4-FFF2-40B4-BE49-F238E27FC236}">
                <a16:creationId xmlns:a16="http://schemas.microsoft.com/office/drawing/2014/main" id="{767C8CD7-1F0E-2321-96F4-CB7A87F9AAC5}"/>
              </a:ext>
            </a:extLst>
          </p:cNvPr>
          <p:cNvSpPr/>
          <p:nvPr/>
        </p:nvSpPr>
        <p:spPr>
          <a:xfrm>
            <a:off x="9796420" y="759294"/>
            <a:ext cx="520027" cy="997566"/>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1232" name="Rounded Rectangle 1231">
            <a:extLst>
              <a:ext uri="{FF2B5EF4-FFF2-40B4-BE49-F238E27FC236}">
                <a16:creationId xmlns:a16="http://schemas.microsoft.com/office/drawing/2014/main" id="{0167C31C-9085-7146-2F13-7170A0CB3FB3}"/>
              </a:ext>
            </a:extLst>
          </p:cNvPr>
          <p:cNvSpPr/>
          <p:nvPr/>
        </p:nvSpPr>
        <p:spPr>
          <a:xfrm>
            <a:off x="9810949" y="1853151"/>
            <a:ext cx="520027" cy="997566"/>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1233" name="Rounded Rectangle 1232">
            <a:extLst>
              <a:ext uri="{FF2B5EF4-FFF2-40B4-BE49-F238E27FC236}">
                <a16:creationId xmlns:a16="http://schemas.microsoft.com/office/drawing/2014/main" id="{62318455-AAEB-868D-E219-73EA0A440EF9}"/>
              </a:ext>
            </a:extLst>
          </p:cNvPr>
          <p:cNvSpPr/>
          <p:nvPr/>
        </p:nvSpPr>
        <p:spPr>
          <a:xfrm>
            <a:off x="9234766" y="1853151"/>
            <a:ext cx="520027" cy="99756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1234" name="Oval 1233">
            <a:extLst>
              <a:ext uri="{FF2B5EF4-FFF2-40B4-BE49-F238E27FC236}">
                <a16:creationId xmlns:a16="http://schemas.microsoft.com/office/drawing/2014/main" id="{10388BED-E921-1100-9CCF-BB6393BDED8F}"/>
              </a:ext>
            </a:extLst>
          </p:cNvPr>
          <p:cNvSpPr/>
          <p:nvPr/>
        </p:nvSpPr>
        <p:spPr>
          <a:xfrm>
            <a:off x="9324057" y="1305994"/>
            <a:ext cx="343639" cy="14585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Recy1</a:t>
            </a:r>
          </a:p>
        </p:txBody>
      </p:sp>
      <p:sp>
        <p:nvSpPr>
          <p:cNvPr id="1235" name="Oval 1234">
            <a:extLst>
              <a:ext uri="{FF2B5EF4-FFF2-40B4-BE49-F238E27FC236}">
                <a16:creationId xmlns:a16="http://schemas.microsoft.com/office/drawing/2014/main" id="{0B5CE340-D9C2-B558-C12D-6A8CFA779387}"/>
              </a:ext>
            </a:extLst>
          </p:cNvPr>
          <p:cNvSpPr/>
          <p:nvPr/>
        </p:nvSpPr>
        <p:spPr>
          <a:xfrm>
            <a:off x="9341800" y="2237266"/>
            <a:ext cx="324090" cy="14585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Recy2</a:t>
            </a:r>
          </a:p>
        </p:txBody>
      </p:sp>
      <p:sp>
        <p:nvSpPr>
          <p:cNvPr id="1236" name="TextBox 1235">
            <a:extLst>
              <a:ext uri="{FF2B5EF4-FFF2-40B4-BE49-F238E27FC236}">
                <a16:creationId xmlns:a16="http://schemas.microsoft.com/office/drawing/2014/main" id="{A0DB61DA-568E-39D3-01BD-24B9AF209A0A}"/>
              </a:ext>
            </a:extLst>
          </p:cNvPr>
          <p:cNvSpPr txBox="1"/>
          <p:nvPr/>
        </p:nvSpPr>
        <p:spPr>
          <a:xfrm>
            <a:off x="9225701" y="762639"/>
            <a:ext cx="520027" cy="3122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Electronics recycler</a:t>
            </a:r>
          </a:p>
          <a:p>
            <a:pPr algn="ctr" defTabSz="244938"/>
            <a:r>
              <a:rPr lang="en-AU" sz="429" i="1" dirty="0">
                <a:solidFill>
                  <a:prstClr val="black"/>
                </a:solidFill>
                <a:latin typeface="Aptos" panose="02110004020202020204"/>
              </a:rPr>
              <a:t>OSH ID / GLN</a:t>
            </a:r>
          </a:p>
        </p:txBody>
      </p:sp>
      <p:sp>
        <p:nvSpPr>
          <p:cNvPr id="1237" name="TextBox 1236">
            <a:extLst>
              <a:ext uri="{FF2B5EF4-FFF2-40B4-BE49-F238E27FC236}">
                <a16:creationId xmlns:a16="http://schemas.microsoft.com/office/drawing/2014/main" id="{07174C87-DEC0-4EED-A5A7-D543765EA256}"/>
              </a:ext>
            </a:extLst>
          </p:cNvPr>
          <p:cNvSpPr txBox="1"/>
          <p:nvPr/>
        </p:nvSpPr>
        <p:spPr>
          <a:xfrm>
            <a:off x="9705559" y="771386"/>
            <a:ext cx="663274" cy="3122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Precious metals &amp; minerals</a:t>
            </a:r>
          </a:p>
          <a:p>
            <a:pPr algn="ctr" defTabSz="244938"/>
            <a:r>
              <a:rPr lang="en-AU" sz="429" i="1" dirty="0">
                <a:solidFill>
                  <a:prstClr val="black"/>
                </a:solidFill>
                <a:latin typeface="Aptos" panose="02110004020202020204"/>
              </a:rPr>
              <a:t>Batch ID</a:t>
            </a:r>
          </a:p>
        </p:txBody>
      </p:sp>
      <p:sp>
        <p:nvSpPr>
          <p:cNvPr id="1240" name="Diamond 1239">
            <a:extLst>
              <a:ext uri="{FF2B5EF4-FFF2-40B4-BE49-F238E27FC236}">
                <a16:creationId xmlns:a16="http://schemas.microsoft.com/office/drawing/2014/main" id="{E8E33320-C2A1-AE90-F05C-5BF44990AB01}"/>
              </a:ext>
            </a:extLst>
          </p:cNvPr>
          <p:cNvSpPr/>
          <p:nvPr/>
        </p:nvSpPr>
        <p:spPr>
          <a:xfrm>
            <a:off x="9921851" y="2282534"/>
            <a:ext cx="301467" cy="132371"/>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RP1</a:t>
            </a:r>
          </a:p>
        </p:txBody>
      </p:sp>
      <p:cxnSp>
        <p:nvCxnSpPr>
          <p:cNvPr id="1241" name="Straight Connector 26">
            <a:extLst>
              <a:ext uri="{FF2B5EF4-FFF2-40B4-BE49-F238E27FC236}">
                <a16:creationId xmlns:a16="http://schemas.microsoft.com/office/drawing/2014/main" id="{EBEF0416-87F4-CAD9-0D4F-06277D1D5C2E}"/>
              </a:ext>
            </a:extLst>
          </p:cNvPr>
          <p:cNvCxnSpPr>
            <a:cxnSpLocks/>
            <a:stCxn id="1234" idx="6"/>
          </p:cNvCxnSpPr>
          <p:nvPr/>
        </p:nvCxnSpPr>
        <p:spPr>
          <a:xfrm flipV="1">
            <a:off x="9667696" y="1253250"/>
            <a:ext cx="312184" cy="12567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243" name="Straight Connector 26">
            <a:extLst>
              <a:ext uri="{FF2B5EF4-FFF2-40B4-BE49-F238E27FC236}">
                <a16:creationId xmlns:a16="http://schemas.microsoft.com/office/drawing/2014/main" id="{19F7E931-2AED-455D-49C3-3560592AFA26}"/>
              </a:ext>
            </a:extLst>
          </p:cNvPr>
          <p:cNvCxnSpPr>
            <a:cxnSpLocks/>
            <a:stCxn id="1235" idx="6"/>
            <a:endCxn id="1240" idx="1"/>
          </p:cNvCxnSpPr>
          <p:nvPr/>
        </p:nvCxnSpPr>
        <p:spPr>
          <a:xfrm>
            <a:off x="9665890" y="2310192"/>
            <a:ext cx="255962" cy="38527"/>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244" name="TextBox 1243">
            <a:extLst>
              <a:ext uri="{FF2B5EF4-FFF2-40B4-BE49-F238E27FC236}">
                <a16:creationId xmlns:a16="http://schemas.microsoft.com/office/drawing/2014/main" id="{A3C918B2-9E08-76D8-2409-7FE8A6061E85}"/>
              </a:ext>
            </a:extLst>
          </p:cNvPr>
          <p:cNvSpPr txBox="1"/>
          <p:nvPr/>
        </p:nvSpPr>
        <p:spPr>
          <a:xfrm>
            <a:off x="9167347" y="1853150"/>
            <a:ext cx="643600" cy="224420"/>
          </a:xfrm>
          <a:prstGeom prst="rect">
            <a:avLst/>
          </a:prstGeom>
          <a:noFill/>
        </p:spPr>
        <p:txBody>
          <a:bodyPr wrap="square" rtlCol="0">
            <a:spAutoFit/>
          </a:bodyPr>
          <a:lstStyle/>
          <a:p>
            <a:pPr algn="ctr" defTabSz="244938"/>
            <a:r>
              <a:rPr lang="en-AU" sz="429" b="1" dirty="0">
                <a:solidFill>
                  <a:prstClr val="black"/>
                </a:solidFill>
                <a:latin typeface="Aptos" panose="02110004020202020204"/>
              </a:rPr>
              <a:t>Remanufacture</a:t>
            </a:r>
          </a:p>
          <a:p>
            <a:pPr algn="ctr" defTabSz="244938"/>
            <a:r>
              <a:rPr lang="en-AU" sz="429" i="1" dirty="0">
                <a:solidFill>
                  <a:prstClr val="black"/>
                </a:solidFill>
                <a:latin typeface="Aptos" panose="02110004020202020204"/>
              </a:rPr>
              <a:t>OSH ID / GLN</a:t>
            </a:r>
          </a:p>
        </p:txBody>
      </p:sp>
      <p:sp>
        <p:nvSpPr>
          <p:cNvPr id="1245" name="TextBox 1244">
            <a:extLst>
              <a:ext uri="{FF2B5EF4-FFF2-40B4-BE49-F238E27FC236}">
                <a16:creationId xmlns:a16="http://schemas.microsoft.com/office/drawing/2014/main" id="{43C62037-01CD-8B02-8FC3-14E0040CA130}"/>
              </a:ext>
            </a:extLst>
          </p:cNvPr>
          <p:cNvSpPr txBox="1"/>
          <p:nvPr/>
        </p:nvSpPr>
        <p:spPr>
          <a:xfrm>
            <a:off x="9738681" y="1841428"/>
            <a:ext cx="663296" cy="312265"/>
          </a:xfrm>
          <a:prstGeom prst="rect">
            <a:avLst/>
          </a:prstGeom>
          <a:noFill/>
        </p:spPr>
        <p:txBody>
          <a:bodyPr wrap="square" rtlCol="0">
            <a:spAutoFit/>
          </a:bodyPr>
          <a:lstStyle/>
          <a:p>
            <a:pPr algn="ctr" defTabSz="244938"/>
            <a:r>
              <a:rPr lang="en-AU" sz="500" b="1" dirty="0">
                <a:solidFill>
                  <a:prstClr val="black"/>
                </a:solidFill>
                <a:latin typeface="Aptos" panose="02110004020202020204"/>
              </a:rPr>
              <a:t>Repurposed Batteries</a:t>
            </a:r>
          </a:p>
          <a:p>
            <a:pPr algn="ctr" defTabSz="244938"/>
            <a:r>
              <a:rPr lang="en-AU" sz="429" i="1" dirty="0">
                <a:solidFill>
                  <a:prstClr val="black"/>
                </a:solidFill>
                <a:latin typeface="Aptos" panose="02110004020202020204"/>
              </a:rPr>
              <a:t>Model id / serial id</a:t>
            </a:r>
          </a:p>
        </p:txBody>
      </p:sp>
      <p:cxnSp>
        <p:nvCxnSpPr>
          <p:cNvPr id="574" name="Straight Connector 26">
            <a:extLst>
              <a:ext uri="{FF2B5EF4-FFF2-40B4-BE49-F238E27FC236}">
                <a16:creationId xmlns:a16="http://schemas.microsoft.com/office/drawing/2014/main" id="{5EB35DF5-CA82-C416-4CA1-82DDE1FCA36C}"/>
              </a:ext>
            </a:extLst>
          </p:cNvPr>
          <p:cNvCxnSpPr>
            <a:cxnSpLocks/>
            <a:stCxn id="502" idx="3"/>
            <a:endCxn id="519" idx="2"/>
          </p:cNvCxnSpPr>
          <p:nvPr/>
        </p:nvCxnSpPr>
        <p:spPr>
          <a:xfrm flipV="1">
            <a:off x="8779411" y="3526359"/>
            <a:ext cx="553654" cy="185603"/>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731" name="Straight Connector 26">
            <a:extLst>
              <a:ext uri="{FF2B5EF4-FFF2-40B4-BE49-F238E27FC236}">
                <a16:creationId xmlns:a16="http://schemas.microsoft.com/office/drawing/2014/main" id="{1F5C7BDB-6751-B265-C3F6-5A326B3F8509}"/>
              </a:ext>
            </a:extLst>
          </p:cNvPr>
          <p:cNvCxnSpPr>
            <a:cxnSpLocks/>
            <a:stCxn id="726" idx="3"/>
            <a:endCxn id="1234" idx="2"/>
          </p:cNvCxnSpPr>
          <p:nvPr/>
        </p:nvCxnSpPr>
        <p:spPr>
          <a:xfrm flipV="1">
            <a:off x="8977395" y="1378920"/>
            <a:ext cx="346662" cy="12805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250" name="Straight Connector 26">
            <a:extLst>
              <a:ext uri="{FF2B5EF4-FFF2-40B4-BE49-F238E27FC236}">
                <a16:creationId xmlns:a16="http://schemas.microsoft.com/office/drawing/2014/main" id="{D3C4B1B2-8817-4515-3DAB-009AC379FA28}"/>
              </a:ext>
            </a:extLst>
          </p:cNvPr>
          <p:cNvCxnSpPr>
            <a:cxnSpLocks/>
            <a:stCxn id="725" idx="3"/>
            <a:endCxn id="1234" idx="2"/>
          </p:cNvCxnSpPr>
          <p:nvPr/>
        </p:nvCxnSpPr>
        <p:spPr>
          <a:xfrm>
            <a:off x="8851947" y="1316412"/>
            <a:ext cx="472111" cy="62508"/>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253" name="Straight Connector 26">
            <a:extLst>
              <a:ext uri="{FF2B5EF4-FFF2-40B4-BE49-F238E27FC236}">
                <a16:creationId xmlns:a16="http://schemas.microsoft.com/office/drawing/2014/main" id="{51C64E0E-3F57-CA11-1BC6-35440BA3020F}"/>
              </a:ext>
            </a:extLst>
          </p:cNvPr>
          <p:cNvCxnSpPr>
            <a:cxnSpLocks/>
            <a:stCxn id="724" idx="3"/>
            <a:endCxn id="1235" idx="2"/>
          </p:cNvCxnSpPr>
          <p:nvPr/>
        </p:nvCxnSpPr>
        <p:spPr>
          <a:xfrm>
            <a:off x="8686619" y="1617949"/>
            <a:ext cx="655181" cy="692242"/>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273" name="Straight Connector 26">
            <a:extLst>
              <a:ext uri="{FF2B5EF4-FFF2-40B4-BE49-F238E27FC236}">
                <a16:creationId xmlns:a16="http://schemas.microsoft.com/office/drawing/2014/main" id="{760CD265-E2E2-DCB9-DD05-C8DD885340CC}"/>
              </a:ext>
            </a:extLst>
          </p:cNvPr>
          <p:cNvCxnSpPr>
            <a:cxnSpLocks/>
            <a:endCxn id="1235" idx="2"/>
          </p:cNvCxnSpPr>
          <p:nvPr/>
        </p:nvCxnSpPr>
        <p:spPr>
          <a:xfrm flipV="1">
            <a:off x="8977137" y="2310192"/>
            <a:ext cx="364662" cy="122084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603" name="Straight Connector 26">
            <a:extLst>
              <a:ext uri="{FF2B5EF4-FFF2-40B4-BE49-F238E27FC236}">
                <a16:creationId xmlns:a16="http://schemas.microsoft.com/office/drawing/2014/main" id="{1AD2B04C-70CA-E229-D70B-338838D8CC0A}"/>
              </a:ext>
            </a:extLst>
          </p:cNvPr>
          <p:cNvCxnSpPr>
            <a:cxnSpLocks/>
            <a:stCxn id="501" idx="3"/>
            <a:endCxn id="520" idx="2"/>
          </p:cNvCxnSpPr>
          <p:nvPr/>
        </p:nvCxnSpPr>
        <p:spPr>
          <a:xfrm>
            <a:off x="8656803" y="3965780"/>
            <a:ext cx="709499" cy="558362"/>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578" name="Straight Connector 26">
            <a:extLst>
              <a:ext uri="{FF2B5EF4-FFF2-40B4-BE49-F238E27FC236}">
                <a16:creationId xmlns:a16="http://schemas.microsoft.com/office/drawing/2014/main" id="{A241AF34-A51B-4CD0-24DE-A60A963293CD}"/>
              </a:ext>
            </a:extLst>
          </p:cNvPr>
          <p:cNvCxnSpPr>
            <a:cxnSpLocks/>
            <a:stCxn id="502" idx="3"/>
            <a:endCxn id="520" idx="2"/>
          </p:cNvCxnSpPr>
          <p:nvPr/>
        </p:nvCxnSpPr>
        <p:spPr>
          <a:xfrm>
            <a:off x="8779411" y="3711963"/>
            <a:ext cx="586891" cy="812179"/>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279" name="Straight Connector 26">
            <a:extLst>
              <a:ext uri="{FF2B5EF4-FFF2-40B4-BE49-F238E27FC236}">
                <a16:creationId xmlns:a16="http://schemas.microsoft.com/office/drawing/2014/main" id="{47AB2F3E-6F35-4C72-AFB2-2DD4EC4E02E9}"/>
              </a:ext>
            </a:extLst>
          </p:cNvPr>
          <p:cNvCxnSpPr>
            <a:cxnSpLocks/>
            <a:stCxn id="1234" idx="6"/>
          </p:cNvCxnSpPr>
          <p:nvPr/>
        </p:nvCxnSpPr>
        <p:spPr>
          <a:xfrm>
            <a:off x="9667695" y="1378919"/>
            <a:ext cx="310282" cy="72926"/>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282" name="Diamond 1281">
            <a:extLst>
              <a:ext uri="{FF2B5EF4-FFF2-40B4-BE49-F238E27FC236}">
                <a16:creationId xmlns:a16="http://schemas.microsoft.com/office/drawing/2014/main" id="{E2D8D13C-B9DD-80A7-7F1A-2AF6BD955B3F}"/>
              </a:ext>
            </a:extLst>
          </p:cNvPr>
          <p:cNvSpPr/>
          <p:nvPr/>
        </p:nvSpPr>
        <p:spPr>
          <a:xfrm>
            <a:off x="9931878" y="2473973"/>
            <a:ext cx="278121" cy="150289"/>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RP2</a:t>
            </a:r>
          </a:p>
        </p:txBody>
      </p:sp>
      <p:cxnSp>
        <p:nvCxnSpPr>
          <p:cNvPr id="1283" name="Straight Connector 26">
            <a:extLst>
              <a:ext uri="{FF2B5EF4-FFF2-40B4-BE49-F238E27FC236}">
                <a16:creationId xmlns:a16="http://schemas.microsoft.com/office/drawing/2014/main" id="{45382A6F-1E18-B16A-F3E9-8A44A4E51BE1}"/>
              </a:ext>
            </a:extLst>
          </p:cNvPr>
          <p:cNvCxnSpPr>
            <a:cxnSpLocks/>
            <a:stCxn id="1235" idx="6"/>
            <a:endCxn id="1282" idx="1"/>
          </p:cNvCxnSpPr>
          <p:nvPr/>
        </p:nvCxnSpPr>
        <p:spPr>
          <a:xfrm>
            <a:off x="9665890" y="2310192"/>
            <a:ext cx="265989" cy="238926"/>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300" name="Diamond 1299">
            <a:extLst>
              <a:ext uri="{FF2B5EF4-FFF2-40B4-BE49-F238E27FC236}">
                <a16:creationId xmlns:a16="http://schemas.microsoft.com/office/drawing/2014/main" id="{184CED20-E03E-4B56-03BC-E71865BD5C0F}"/>
              </a:ext>
            </a:extLst>
          </p:cNvPr>
          <p:cNvSpPr/>
          <p:nvPr/>
        </p:nvSpPr>
        <p:spPr>
          <a:xfrm>
            <a:off x="9954322" y="4581521"/>
            <a:ext cx="285559" cy="167400"/>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RP4</a:t>
            </a:r>
          </a:p>
        </p:txBody>
      </p:sp>
      <p:cxnSp>
        <p:nvCxnSpPr>
          <p:cNvPr id="1301" name="Straight Connector 26">
            <a:extLst>
              <a:ext uri="{FF2B5EF4-FFF2-40B4-BE49-F238E27FC236}">
                <a16:creationId xmlns:a16="http://schemas.microsoft.com/office/drawing/2014/main" id="{A06F6720-75DA-0F84-D979-0A7FCB4EC924}"/>
              </a:ext>
            </a:extLst>
          </p:cNvPr>
          <p:cNvCxnSpPr>
            <a:cxnSpLocks/>
            <a:stCxn id="520" idx="6"/>
            <a:endCxn id="1300" idx="1"/>
          </p:cNvCxnSpPr>
          <p:nvPr/>
        </p:nvCxnSpPr>
        <p:spPr>
          <a:xfrm>
            <a:off x="9690391" y="4524142"/>
            <a:ext cx="263931" cy="141078"/>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305" name="Rounded Rectangle 1304">
            <a:extLst>
              <a:ext uri="{FF2B5EF4-FFF2-40B4-BE49-F238E27FC236}">
                <a16:creationId xmlns:a16="http://schemas.microsoft.com/office/drawing/2014/main" id="{C41BEFD8-C36C-C404-64DE-8E8F663EDF22}"/>
              </a:ext>
            </a:extLst>
          </p:cNvPr>
          <p:cNvSpPr/>
          <p:nvPr/>
        </p:nvSpPr>
        <p:spPr>
          <a:xfrm>
            <a:off x="5912781" y="4888422"/>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306" name="Rounded Rectangle 1305">
            <a:extLst>
              <a:ext uri="{FF2B5EF4-FFF2-40B4-BE49-F238E27FC236}">
                <a16:creationId xmlns:a16="http://schemas.microsoft.com/office/drawing/2014/main" id="{690D8D0D-FB8F-999C-ADA9-5B1DF20BBD8F}"/>
              </a:ext>
            </a:extLst>
          </p:cNvPr>
          <p:cNvSpPr/>
          <p:nvPr/>
        </p:nvSpPr>
        <p:spPr>
          <a:xfrm>
            <a:off x="5919895" y="4986919"/>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307" name="Rounded Rectangle 1306">
            <a:extLst>
              <a:ext uri="{FF2B5EF4-FFF2-40B4-BE49-F238E27FC236}">
                <a16:creationId xmlns:a16="http://schemas.microsoft.com/office/drawing/2014/main" id="{7A1FD2AD-346D-8D6E-082E-C771925C0DA8}"/>
              </a:ext>
            </a:extLst>
          </p:cNvPr>
          <p:cNvSpPr/>
          <p:nvPr/>
        </p:nvSpPr>
        <p:spPr>
          <a:xfrm>
            <a:off x="5404708" y="4873553"/>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308" name="Rounded Rectangle 1307">
            <a:extLst>
              <a:ext uri="{FF2B5EF4-FFF2-40B4-BE49-F238E27FC236}">
                <a16:creationId xmlns:a16="http://schemas.microsoft.com/office/drawing/2014/main" id="{0122D83C-1470-C335-4118-FD6569969C3F}"/>
              </a:ext>
            </a:extLst>
          </p:cNvPr>
          <p:cNvSpPr/>
          <p:nvPr/>
        </p:nvSpPr>
        <p:spPr>
          <a:xfrm>
            <a:off x="5396891" y="4979946"/>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LWG</a:t>
            </a:r>
          </a:p>
        </p:txBody>
      </p:sp>
      <p:sp>
        <p:nvSpPr>
          <p:cNvPr id="1309" name="Rounded Rectangle 1308">
            <a:extLst>
              <a:ext uri="{FF2B5EF4-FFF2-40B4-BE49-F238E27FC236}">
                <a16:creationId xmlns:a16="http://schemas.microsoft.com/office/drawing/2014/main" id="{E30AEA8E-5DAE-197C-E562-052429F2D4D9}"/>
              </a:ext>
            </a:extLst>
          </p:cNvPr>
          <p:cNvSpPr/>
          <p:nvPr/>
        </p:nvSpPr>
        <p:spPr>
          <a:xfrm>
            <a:off x="7128752" y="4878504"/>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310" name="Rounded Rectangle 1309">
            <a:extLst>
              <a:ext uri="{FF2B5EF4-FFF2-40B4-BE49-F238E27FC236}">
                <a16:creationId xmlns:a16="http://schemas.microsoft.com/office/drawing/2014/main" id="{D0EE1A67-AB0C-0EFC-C2E8-BA364AB0EC50}"/>
              </a:ext>
            </a:extLst>
          </p:cNvPr>
          <p:cNvSpPr/>
          <p:nvPr/>
        </p:nvSpPr>
        <p:spPr>
          <a:xfrm>
            <a:off x="7135867" y="4977001"/>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311" name="Rounded Rectangle 1310">
            <a:extLst>
              <a:ext uri="{FF2B5EF4-FFF2-40B4-BE49-F238E27FC236}">
                <a16:creationId xmlns:a16="http://schemas.microsoft.com/office/drawing/2014/main" id="{42D8987D-8D43-5738-B36A-B3EFA37D05AB}"/>
              </a:ext>
            </a:extLst>
          </p:cNvPr>
          <p:cNvSpPr/>
          <p:nvPr/>
        </p:nvSpPr>
        <p:spPr>
          <a:xfrm>
            <a:off x="6620679" y="4885288"/>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312" name="Rounded Rectangle 1311">
            <a:extLst>
              <a:ext uri="{FF2B5EF4-FFF2-40B4-BE49-F238E27FC236}">
                <a16:creationId xmlns:a16="http://schemas.microsoft.com/office/drawing/2014/main" id="{AD321257-56F9-D137-AF60-010ED300933C}"/>
              </a:ext>
            </a:extLst>
          </p:cNvPr>
          <p:cNvSpPr/>
          <p:nvPr/>
        </p:nvSpPr>
        <p:spPr>
          <a:xfrm>
            <a:off x="6612863" y="4991680"/>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VAP</a:t>
            </a:r>
          </a:p>
        </p:txBody>
      </p:sp>
      <p:sp>
        <p:nvSpPr>
          <p:cNvPr id="1313" name="Rounded Rectangle 1312">
            <a:extLst>
              <a:ext uri="{FF2B5EF4-FFF2-40B4-BE49-F238E27FC236}">
                <a16:creationId xmlns:a16="http://schemas.microsoft.com/office/drawing/2014/main" id="{52F6AE45-95A6-7751-0E6A-734C56E8168B}"/>
              </a:ext>
            </a:extLst>
          </p:cNvPr>
          <p:cNvSpPr/>
          <p:nvPr/>
        </p:nvSpPr>
        <p:spPr>
          <a:xfrm>
            <a:off x="7138787" y="4079507"/>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314" name="Rounded Rectangle 1313">
            <a:extLst>
              <a:ext uri="{FF2B5EF4-FFF2-40B4-BE49-F238E27FC236}">
                <a16:creationId xmlns:a16="http://schemas.microsoft.com/office/drawing/2014/main" id="{348D41E9-BB20-2486-7431-8C744CAEE64A}"/>
              </a:ext>
            </a:extLst>
          </p:cNvPr>
          <p:cNvSpPr/>
          <p:nvPr/>
        </p:nvSpPr>
        <p:spPr>
          <a:xfrm>
            <a:off x="7145900" y="4178003"/>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315" name="Rounded Rectangle 1314">
            <a:extLst>
              <a:ext uri="{FF2B5EF4-FFF2-40B4-BE49-F238E27FC236}">
                <a16:creationId xmlns:a16="http://schemas.microsoft.com/office/drawing/2014/main" id="{B206B924-1DEA-1E40-C8A1-C0EE70CCF530}"/>
              </a:ext>
            </a:extLst>
          </p:cNvPr>
          <p:cNvSpPr/>
          <p:nvPr/>
        </p:nvSpPr>
        <p:spPr>
          <a:xfrm>
            <a:off x="6630714" y="4068192"/>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316" name="Rounded Rectangle 1315">
            <a:extLst>
              <a:ext uri="{FF2B5EF4-FFF2-40B4-BE49-F238E27FC236}">
                <a16:creationId xmlns:a16="http://schemas.microsoft.com/office/drawing/2014/main" id="{911CCD61-351D-3551-690F-4AF935E78D7F}"/>
              </a:ext>
            </a:extLst>
          </p:cNvPr>
          <p:cNvSpPr/>
          <p:nvPr/>
        </p:nvSpPr>
        <p:spPr>
          <a:xfrm>
            <a:off x="6622897" y="4174585"/>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VAP</a:t>
            </a:r>
          </a:p>
        </p:txBody>
      </p:sp>
      <p:sp>
        <p:nvSpPr>
          <p:cNvPr id="1327" name="Rounded Rectangle 1326">
            <a:extLst>
              <a:ext uri="{FF2B5EF4-FFF2-40B4-BE49-F238E27FC236}">
                <a16:creationId xmlns:a16="http://schemas.microsoft.com/office/drawing/2014/main" id="{4EFED181-46A9-FDEA-1BF6-E483332EF6A5}"/>
              </a:ext>
            </a:extLst>
          </p:cNvPr>
          <p:cNvSpPr/>
          <p:nvPr/>
        </p:nvSpPr>
        <p:spPr>
          <a:xfrm>
            <a:off x="5907458" y="4049751"/>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328" name="Rounded Rectangle 1327">
            <a:extLst>
              <a:ext uri="{FF2B5EF4-FFF2-40B4-BE49-F238E27FC236}">
                <a16:creationId xmlns:a16="http://schemas.microsoft.com/office/drawing/2014/main" id="{B7EA58F0-F24A-9483-7B04-F1EC7CE471F7}"/>
              </a:ext>
            </a:extLst>
          </p:cNvPr>
          <p:cNvSpPr/>
          <p:nvPr/>
        </p:nvSpPr>
        <p:spPr>
          <a:xfrm>
            <a:off x="5914573" y="4148247"/>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329" name="Rounded Rectangle 1328">
            <a:extLst>
              <a:ext uri="{FF2B5EF4-FFF2-40B4-BE49-F238E27FC236}">
                <a16:creationId xmlns:a16="http://schemas.microsoft.com/office/drawing/2014/main" id="{C54A27E9-F798-2AAC-DD88-00DC87DCC19D}"/>
              </a:ext>
            </a:extLst>
          </p:cNvPr>
          <p:cNvSpPr/>
          <p:nvPr/>
        </p:nvSpPr>
        <p:spPr>
          <a:xfrm>
            <a:off x="5399385" y="4056534"/>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330" name="Rounded Rectangle 1329">
            <a:extLst>
              <a:ext uri="{FF2B5EF4-FFF2-40B4-BE49-F238E27FC236}">
                <a16:creationId xmlns:a16="http://schemas.microsoft.com/office/drawing/2014/main" id="{C0FED6B1-008C-88E2-704D-4C83655EBAEF}"/>
              </a:ext>
            </a:extLst>
          </p:cNvPr>
          <p:cNvSpPr/>
          <p:nvPr/>
        </p:nvSpPr>
        <p:spPr>
          <a:xfrm>
            <a:off x="5391568" y="4162926"/>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VAP</a:t>
            </a:r>
          </a:p>
        </p:txBody>
      </p:sp>
      <p:sp>
        <p:nvSpPr>
          <p:cNvPr id="1331" name="Rounded Rectangle 1330">
            <a:extLst>
              <a:ext uri="{FF2B5EF4-FFF2-40B4-BE49-F238E27FC236}">
                <a16:creationId xmlns:a16="http://schemas.microsoft.com/office/drawing/2014/main" id="{0A776ED8-8231-82B6-37D5-0A746657B2B7}"/>
              </a:ext>
            </a:extLst>
          </p:cNvPr>
          <p:cNvSpPr/>
          <p:nvPr/>
        </p:nvSpPr>
        <p:spPr>
          <a:xfrm>
            <a:off x="5930699" y="3174141"/>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332" name="Rounded Rectangle 1331">
            <a:extLst>
              <a:ext uri="{FF2B5EF4-FFF2-40B4-BE49-F238E27FC236}">
                <a16:creationId xmlns:a16="http://schemas.microsoft.com/office/drawing/2014/main" id="{836F71B5-AB7F-4B03-4C77-9DE7589E7259}"/>
              </a:ext>
            </a:extLst>
          </p:cNvPr>
          <p:cNvSpPr/>
          <p:nvPr/>
        </p:nvSpPr>
        <p:spPr>
          <a:xfrm>
            <a:off x="5937813" y="3272639"/>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333" name="Rounded Rectangle 1332">
            <a:extLst>
              <a:ext uri="{FF2B5EF4-FFF2-40B4-BE49-F238E27FC236}">
                <a16:creationId xmlns:a16="http://schemas.microsoft.com/office/drawing/2014/main" id="{E693F808-47FF-54D3-F5F2-6F860C1E3F62}"/>
              </a:ext>
            </a:extLst>
          </p:cNvPr>
          <p:cNvSpPr/>
          <p:nvPr/>
        </p:nvSpPr>
        <p:spPr>
          <a:xfrm>
            <a:off x="5422625" y="3180925"/>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334" name="Rounded Rectangle 1333">
            <a:extLst>
              <a:ext uri="{FF2B5EF4-FFF2-40B4-BE49-F238E27FC236}">
                <a16:creationId xmlns:a16="http://schemas.microsoft.com/office/drawing/2014/main" id="{3838C393-21A8-8CC3-6A92-5D34F1A86190}"/>
              </a:ext>
            </a:extLst>
          </p:cNvPr>
          <p:cNvSpPr/>
          <p:nvPr/>
        </p:nvSpPr>
        <p:spPr>
          <a:xfrm>
            <a:off x="5414808" y="3287318"/>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VAP</a:t>
            </a:r>
          </a:p>
        </p:txBody>
      </p:sp>
      <p:cxnSp>
        <p:nvCxnSpPr>
          <p:cNvPr id="1338" name="Straight Connector 26">
            <a:extLst>
              <a:ext uri="{FF2B5EF4-FFF2-40B4-BE49-F238E27FC236}">
                <a16:creationId xmlns:a16="http://schemas.microsoft.com/office/drawing/2014/main" id="{36D34BC0-E983-4A9A-4493-90F4AF9236CA}"/>
              </a:ext>
            </a:extLst>
          </p:cNvPr>
          <p:cNvCxnSpPr>
            <a:cxnSpLocks/>
            <a:stCxn id="446" idx="3"/>
            <a:endCxn id="457" idx="2"/>
          </p:cNvCxnSpPr>
          <p:nvPr/>
        </p:nvCxnSpPr>
        <p:spPr>
          <a:xfrm flipV="1">
            <a:off x="6134608" y="2609800"/>
            <a:ext cx="413205" cy="156299"/>
          </a:xfrm>
          <a:prstGeom prst="straightConnector1">
            <a:avLst/>
          </a:prstGeom>
          <a:ln>
            <a:solidFill>
              <a:schemeClr val="bg1">
                <a:lumMod val="5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1341" name="Rounded Rectangle 1340">
            <a:extLst>
              <a:ext uri="{FF2B5EF4-FFF2-40B4-BE49-F238E27FC236}">
                <a16:creationId xmlns:a16="http://schemas.microsoft.com/office/drawing/2014/main" id="{1F225D8E-8EAE-6CD0-458D-193305FB3810}"/>
              </a:ext>
            </a:extLst>
          </p:cNvPr>
          <p:cNvSpPr/>
          <p:nvPr/>
        </p:nvSpPr>
        <p:spPr>
          <a:xfrm>
            <a:off x="5924292" y="2183281"/>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342" name="Rounded Rectangle 1341">
            <a:extLst>
              <a:ext uri="{FF2B5EF4-FFF2-40B4-BE49-F238E27FC236}">
                <a16:creationId xmlns:a16="http://schemas.microsoft.com/office/drawing/2014/main" id="{73F5BC50-6A5C-7DF0-041E-8963BA74FCA2}"/>
              </a:ext>
            </a:extLst>
          </p:cNvPr>
          <p:cNvSpPr/>
          <p:nvPr/>
        </p:nvSpPr>
        <p:spPr>
          <a:xfrm>
            <a:off x="5927656" y="2285823"/>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343" name="Rounded Rectangle 1342">
            <a:extLst>
              <a:ext uri="{FF2B5EF4-FFF2-40B4-BE49-F238E27FC236}">
                <a16:creationId xmlns:a16="http://schemas.microsoft.com/office/drawing/2014/main" id="{27E4AD62-FA56-7889-6C2A-7BEBE356F9FB}"/>
              </a:ext>
            </a:extLst>
          </p:cNvPr>
          <p:cNvSpPr/>
          <p:nvPr/>
        </p:nvSpPr>
        <p:spPr>
          <a:xfrm>
            <a:off x="5409578" y="2183868"/>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344" name="Rounded Rectangle 1343">
            <a:extLst>
              <a:ext uri="{FF2B5EF4-FFF2-40B4-BE49-F238E27FC236}">
                <a16:creationId xmlns:a16="http://schemas.microsoft.com/office/drawing/2014/main" id="{A22D5191-2352-4A03-FDA2-971CB2AC8779}"/>
              </a:ext>
            </a:extLst>
          </p:cNvPr>
          <p:cNvSpPr/>
          <p:nvPr/>
        </p:nvSpPr>
        <p:spPr>
          <a:xfrm>
            <a:off x="5417647" y="2284297"/>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VAP</a:t>
            </a:r>
          </a:p>
        </p:txBody>
      </p:sp>
      <p:sp>
        <p:nvSpPr>
          <p:cNvPr id="1349" name="Rounded Rectangle 1348">
            <a:extLst>
              <a:ext uri="{FF2B5EF4-FFF2-40B4-BE49-F238E27FC236}">
                <a16:creationId xmlns:a16="http://schemas.microsoft.com/office/drawing/2014/main" id="{2A4882CD-BF57-D6E4-88E7-49AB1FEAFCF7}"/>
              </a:ext>
            </a:extLst>
          </p:cNvPr>
          <p:cNvSpPr/>
          <p:nvPr/>
        </p:nvSpPr>
        <p:spPr>
          <a:xfrm>
            <a:off x="5387917" y="1855590"/>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374" name="Rounded Rectangle 1373">
            <a:extLst>
              <a:ext uri="{FF2B5EF4-FFF2-40B4-BE49-F238E27FC236}">
                <a16:creationId xmlns:a16="http://schemas.microsoft.com/office/drawing/2014/main" id="{AEB759F5-E7B7-949D-C5E0-B3649B57F1DA}"/>
              </a:ext>
            </a:extLst>
          </p:cNvPr>
          <p:cNvSpPr/>
          <p:nvPr/>
        </p:nvSpPr>
        <p:spPr>
          <a:xfrm>
            <a:off x="5413594" y="2665541"/>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375" name="Rounded Rectangle 1374">
            <a:extLst>
              <a:ext uri="{FF2B5EF4-FFF2-40B4-BE49-F238E27FC236}">
                <a16:creationId xmlns:a16="http://schemas.microsoft.com/office/drawing/2014/main" id="{73815678-485F-4106-24FC-0DC63AEA6D62}"/>
              </a:ext>
            </a:extLst>
          </p:cNvPr>
          <p:cNvSpPr/>
          <p:nvPr/>
        </p:nvSpPr>
        <p:spPr>
          <a:xfrm>
            <a:off x="5400891" y="3721304"/>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376" name="Rounded Rectangle 1375">
            <a:extLst>
              <a:ext uri="{FF2B5EF4-FFF2-40B4-BE49-F238E27FC236}">
                <a16:creationId xmlns:a16="http://schemas.microsoft.com/office/drawing/2014/main" id="{10A11303-11DC-7254-AE8B-D005D81BD383}"/>
              </a:ext>
            </a:extLst>
          </p:cNvPr>
          <p:cNvSpPr/>
          <p:nvPr/>
        </p:nvSpPr>
        <p:spPr>
          <a:xfrm>
            <a:off x="5413836" y="4559807"/>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377" name="Rounded Rectangle 1376">
            <a:extLst>
              <a:ext uri="{FF2B5EF4-FFF2-40B4-BE49-F238E27FC236}">
                <a16:creationId xmlns:a16="http://schemas.microsoft.com/office/drawing/2014/main" id="{FA1D1578-599B-75FD-78C4-6577ADBF626E}"/>
              </a:ext>
            </a:extLst>
          </p:cNvPr>
          <p:cNvSpPr/>
          <p:nvPr/>
        </p:nvSpPr>
        <p:spPr>
          <a:xfrm>
            <a:off x="6640653" y="4580240"/>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396" name="Rounded Rectangle 1395">
            <a:extLst>
              <a:ext uri="{FF2B5EF4-FFF2-40B4-BE49-F238E27FC236}">
                <a16:creationId xmlns:a16="http://schemas.microsoft.com/office/drawing/2014/main" id="{F0C00D6F-F7ED-F733-C60C-7A99FD1E7764}"/>
              </a:ext>
            </a:extLst>
          </p:cNvPr>
          <p:cNvSpPr/>
          <p:nvPr/>
        </p:nvSpPr>
        <p:spPr>
          <a:xfrm>
            <a:off x="7151185" y="1313925"/>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397" name="Rounded Rectangle 1396">
            <a:extLst>
              <a:ext uri="{FF2B5EF4-FFF2-40B4-BE49-F238E27FC236}">
                <a16:creationId xmlns:a16="http://schemas.microsoft.com/office/drawing/2014/main" id="{18AFA2F2-7419-0169-5927-8C8E2F40C60D}"/>
              </a:ext>
            </a:extLst>
          </p:cNvPr>
          <p:cNvSpPr/>
          <p:nvPr/>
        </p:nvSpPr>
        <p:spPr>
          <a:xfrm>
            <a:off x="7154549" y="1416466"/>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398" name="Rounded Rectangle 1397">
            <a:extLst>
              <a:ext uri="{FF2B5EF4-FFF2-40B4-BE49-F238E27FC236}">
                <a16:creationId xmlns:a16="http://schemas.microsoft.com/office/drawing/2014/main" id="{AEE300A6-73EF-E3F2-79F2-BBC49C237339}"/>
              </a:ext>
            </a:extLst>
          </p:cNvPr>
          <p:cNvSpPr/>
          <p:nvPr/>
        </p:nvSpPr>
        <p:spPr>
          <a:xfrm>
            <a:off x="6636471" y="1309987"/>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399" name="Rounded Rectangle 1398">
            <a:extLst>
              <a:ext uri="{FF2B5EF4-FFF2-40B4-BE49-F238E27FC236}">
                <a16:creationId xmlns:a16="http://schemas.microsoft.com/office/drawing/2014/main" id="{83240E4E-9223-2FAD-5AD9-2D213D8BC02B}"/>
              </a:ext>
            </a:extLst>
          </p:cNvPr>
          <p:cNvSpPr/>
          <p:nvPr/>
        </p:nvSpPr>
        <p:spPr>
          <a:xfrm>
            <a:off x="6644540" y="1410417"/>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VAP</a:t>
            </a:r>
          </a:p>
        </p:txBody>
      </p:sp>
      <p:sp>
        <p:nvSpPr>
          <p:cNvPr id="1400" name="Rounded Rectangle 1399">
            <a:extLst>
              <a:ext uri="{FF2B5EF4-FFF2-40B4-BE49-F238E27FC236}">
                <a16:creationId xmlns:a16="http://schemas.microsoft.com/office/drawing/2014/main" id="{482CD051-7A41-AB74-E73F-DCC8A6B7EB8A}"/>
              </a:ext>
            </a:extLst>
          </p:cNvPr>
          <p:cNvSpPr/>
          <p:nvPr/>
        </p:nvSpPr>
        <p:spPr>
          <a:xfrm>
            <a:off x="6652078" y="964835"/>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401" name="Rounded Rectangle 1400">
            <a:extLst>
              <a:ext uri="{FF2B5EF4-FFF2-40B4-BE49-F238E27FC236}">
                <a16:creationId xmlns:a16="http://schemas.microsoft.com/office/drawing/2014/main" id="{4EE98A77-4484-3C25-E839-3CFE7E6EE4AC}"/>
              </a:ext>
            </a:extLst>
          </p:cNvPr>
          <p:cNvSpPr/>
          <p:nvPr/>
        </p:nvSpPr>
        <p:spPr>
          <a:xfrm>
            <a:off x="7161437" y="3052649"/>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402" name="Rounded Rectangle 1401">
            <a:extLst>
              <a:ext uri="{FF2B5EF4-FFF2-40B4-BE49-F238E27FC236}">
                <a16:creationId xmlns:a16="http://schemas.microsoft.com/office/drawing/2014/main" id="{DCD276DB-C034-8408-1E21-8917BF582AEF}"/>
              </a:ext>
            </a:extLst>
          </p:cNvPr>
          <p:cNvSpPr/>
          <p:nvPr/>
        </p:nvSpPr>
        <p:spPr>
          <a:xfrm>
            <a:off x="7164801" y="3155192"/>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403" name="Rounded Rectangle 1402">
            <a:extLst>
              <a:ext uri="{FF2B5EF4-FFF2-40B4-BE49-F238E27FC236}">
                <a16:creationId xmlns:a16="http://schemas.microsoft.com/office/drawing/2014/main" id="{282943F0-4967-528B-9AB1-3F900FC2F786}"/>
              </a:ext>
            </a:extLst>
          </p:cNvPr>
          <p:cNvSpPr/>
          <p:nvPr/>
        </p:nvSpPr>
        <p:spPr>
          <a:xfrm>
            <a:off x="6591303" y="3045247"/>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404" name="Rounded Rectangle 1403">
            <a:extLst>
              <a:ext uri="{FF2B5EF4-FFF2-40B4-BE49-F238E27FC236}">
                <a16:creationId xmlns:a16="http://schemas.microsoft.com/office/drawing/2014/main" id="{215921B8-F8DF-F944-AFFD-CF6F517E98CA}"/>
              </a:ext>
            </a:extLst>
          </p:cNvPr>
          <p:cNvSpPr/>
          <p:nvPr/>
        </p:nvSpPr>
        <p:spPr>
          <a:xfrm>
            <a:off x="6599372" y="3145676"/>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VAP</a:t>
            </a:r>
          </a:p>
        </p:txBody>
      </p:sp>
      <p:sp>
        <p:nvSpPr>
          <p:cNvPr id="1405" name="Rounded Rectangle 1404">
            <a:extLst>
              <a:ext uri="{FF2B5EF4-FFF2-40B4-BE49-F238E27FC236}">
                <a16:creationId xmlns:a16="http://schemas.microsoft.com/office/drawing/2014/main" id="{93F77BC1-78DC-30F8-95CC-15E1AF261124}"/>
              </a:ext>
            </a:extLst>
          </p:cNvPr>
          <p:cNvSpPr/>
          <p:nvPr/>
        </p:nvSpPr>
        <p:spPr>
          <a:xfrm>
            <a:off x="6625012" y="2086129"/>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406" name="Rounded Rectangle 1405">
            <a:extLst>
              <a:ext uri="{FF2B5EF4-FFF2-40B4-BE49-F238E27FC236}">
                <a16:creationId xmlns:a16="http://schemas.microsoft.com/office/drawing/2014/main" id="{6517CD3B-1A87-9E42-471C-71A36D28EEEB}"/>
              </a:ext>
            </a:extLst>
          </p:cNvPr>
          <p:cNvSpPr/>
          <p:nvPr/>
        </p:nvSpPr>
        <p:spPr>
          <a:xfrm>
            <a:off x="8427772" y="3306947"/>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407" name="Rounded Rectangle 1406">
            <a:extLst>
              <a:ext uri="{FF2B5EF4-FFF2-40B4-BE49-F238E27FC236}">
                <a16:creationId xmlns:a16="http://schemas.microsoft.com/office/drawing/2014/main" id="{D763388A-B0CF-137A-641B-98AF19637935}"/>
              </a:ext>
            </a:extLst>
          </p:cNvPr>
          <p:cNvSpPr/>
          <p:nvPr/>
        </p:nvSpPr>
        <p:spPr>
          <a:xfrm>
            <a:off x="8686619" y="3310466"/>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408" name="Rounded Rectangle 1407">
            <a:extLst>
              <a:ext uri="{FF2B5EF4-FFF2-40B4-BE49-F238E27FC236}">
                <a16:creationId xmlns:a16="http://schemas.microsoft.com/office/drawing/2014/main" id="{A290F077-4E2B-06F1-ABB4-79999028AF0C}"/>
              </a:ext>
            </a:extLst>
          </p:cNvPr>
          <p:cNvSpPr/>
          <p:nvPr/>
        </p:nvSpPr>
        <p:spPr>
          <a:xfrm>
            <a:off x="7881133" y="4846830"/>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409" name="Rounded Rectangle 1408">
            <a:extLst>
              <a:ext uri="{FF2B5EF4-FFF2-40B4-BE49-F238E27FC236}">
                <a16:creationId xmlns:a16="http://schemas.microsoft.com/office/drawing/2014/main" id="{989CC3F7-F325-C9FD-BF71-83B727925FC8}"/>
              </a:ext>
            </a:extLst>
          </p:cNvPr>
          <p:cNvSpPr/>
          <p:nvPr/>
        </p:nvSpPr>
        <p:spPr>
          <a:xfrm>
            <a:off x="7881133" y="4962047"/>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IFRS</a:t>
            </a:r>
          </a:p>
        </p:txBody>
      </p:sp>
      <p:sp>
        <p:nvSpPr>
          <p:cNvPr id="1410" name="Rounded Rectangle 1409">
            <a:extLst>
              <a:ext uri="{FF2B5EF4-FFF2-40B4-BE49-F238E27FC236}">
                <a16:creationId xmlns:a16="http://schemas.microsoft.com/office/drawing/2014/main" id="{C32E3039-8E49-1C91-326E-0E184C9FE6AE}"/>
              </a:ext>
            </a:extLst>
          </p:cNvPr>
          <p:cNvSpPr/>
          <p:nvPr/>
        </p:nvSpPr>
        <p:spPr>
          <a:xfrm>
            <a:off x="7906134" y="3361442"/>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421" name="Rounded Rectangle 1420">
            <a:extLst>
              <a:ext uri="{FF2B5EF4-FFF2-40B4-BE49-F238E27FC236}">
                <a16:creationId xmlns:a16="http://schemas.microsoft.com/office/drawing/2014/main" id="{1CF7210A-1F21-A63B-FAEE-24236277E050}"/>
              </a:ext>
            </a:extLst>
          </p:cNvPr>
          <p:cNvSpPr/>
          <p:nvPr/>
        </p:nvSpPr>
        <p:spPr>
          <a:xfrm>
            <a:off x="6627950" y="3784256"/>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448" name="Rounded Rectangle 1447">
            <a:extLst>
              <a:ext uri="{FF2B5EF4-FFF2-40B4-BE49-F238E27FC236}">
                <a16:creationId xmlns:a16="http://schemas.microsoft.com/office/drawing/2014/main" id="{FFF4FE7E-113D-97AB-E6E1-050AA9ABCB4F}"/>
              </a:ext>
            </a:extLst>
          </p:cNvPr>
          <p:cNvSpPr/>
          <p:nvPr/>
        </p:nvSpPr>
        <p:spPr>
          <a:xfrm>
            <a:off x="8486676" y="3158201"/>
            <a:ext cx="382543" cy="92640"/>
          </a:xfrm>
          <a:prstGeom prst="round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Registration</a:t>
            </a:r>
          </a:p>
        </p:txBody>
      </p:sp>
      <p:sp>
        <p:nvSpPr>
          <p:cNvPr id="1456" name="Triangle 1455">
            <a:extLst>
              <a:ext uri="{FF2B5EF4-FFF2-40B4-BE49-F238E27FC236}">
                <a16:creationId xmlns:a16="http://schemas.microsoft.com/office/drawing/2014/main" id="{D6F3ABB3-4894-1E56-C76E-60A26E28768E}"/>
              </a:ext>
            </a:extLst>
          </p:cNvPr>
          <p:cNvSpPr/>
          <p:nvPr/>
        </p:nvSpPr>
        <p:spPr>
          <a:xfrm>
            <a:off x="2521941" y="1003101"/>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M1</a:t>
            </a:r>
          </a:p>
        </p:txBody>
      </p:sp>
      <p:sp>
        <p:nvSpPr>
          <p:cNvPr id="1457" name="Triangle 1456">
            <a:extLst>
              <a:ext uri="{FF2B5EF4-FFF2-40B4-BE49-F238E27FC236}">
                <a16:creationId xmlns:a16="http://schemas.microsoft.com/office/drawing/2014/main" id="{69AAFC00-CADC-BE6D-3A43-71822E2B1197}"/>
              </a:ext>
            </a:extLst>
          </p:cNvPr>
          <p:cNvSpPr/>
          <p:nvPr/>
        </p:nvSpPr>
        <p:spPr>
          <a:xfrm>
            <a:off x="2489251" y="2076380"/>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M2</a:t>
            </a:r>
          </a:p>
        </p:txBody>
      </p:sp>
      <p:sp>
        <p:nvSpPr>
          <p:cNvPr id="1458" name="Triangle 1457">
            <a:extLst>
              <a:ext uri="{FF2B5EF4-FFF2-40B4-BE49-F238E27FC236}">
                <a16:creationId xmlns:a16="http://schemas.microsoft.com/office/drawing/2014/main" id="{0D37B1BE-7622-507B-5D6C-F20065EDACBC}"/>
              </a:ext>
            </a:extLst>
          </p:cNvPr>
          <p:cNvSpPr/>
          <p:nvPr/>
        </p:nvSpPr>
        <p:spPr>
          <a:xfrm>
            <a:off x="2695143" y="2239939"/>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M3</a:t>
            </a:r>
          </a:p>
        </p:txBody>
      </p:sp>
      <p:sp>
        <p:nvSpPr>
          <p:cNvPr id="1459" name="Triangle 1458">
            <a:extLst>
              <a:ext uri="{FF2B5EF4-FFF2-40B4-BE49-F238E27FC236}">
                <a16:creationId xmlns:a16="http://schemas.microsoft.com/office/drawing/2014/main" id="{25EB6BA9-A014-F798-F690-667F27139D44}"/>
              </a:ext>
            </a:extLst>
          </p:cNvPr>
          <p:cNvSpPr/>
          <p:nvPr/>
        </p:nvSpPr>
        <p:spPr>
          <a:xfrm>
            <a:off x="2474507" y="2403327"/>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M4</a:t>
            </a:r>
          </a:p>
        </p:txBody>
      </p:sp>
      <p:sp>
        <p:nvSpPr>
          <p:cNvPr id="1460" name="Triangle 1459">
            <a:extLst>
              <a:ext uri="{FF2B5EF4-FFF2-40B4-BE49-F238E27FC236}">
                <a16:creationId xmlns:a16="http://schemas.microsoft.com/office/drawing/2014/main" id="{072D03D5-FEBD-99C1-B79B-F10179A47D01}"/>
              </a:ext>
            </a:extLst>
          </p:cNvPr>
          <p:cNvSpPr/>
          <p:nvPr/>
        </p:nvSpPr>
        <p:spPr>
          <a:xfrm>
            <a:off x="2617369" y="2583646"/>
            <a:ext cx="188044" cy="144464"/>
          </a:xfrm>
          <a:prstGeom prst="triangle">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M5</a:t>
            </a:r>
          </a:p>
        </p:txBody>
      </p:sp>
      <p:sp>
        <p:nvSpPr>
          <p:cNvPr id="1461" name="Triangle 1460">
            <a:extLst>
              <a:ext uri="{FF2B5EF4-FFF2-40B4-BE49-F238E27FC236}">
                <a16:creationId xmlns:a16="http://schemas.microsoft.com/office/drawing/2014/main" id="{B6589CD7-638B-3038-6940-94A9FB0C17E8}"/>
              </a:ext>
            </a:extLst>
          </p:cNvPr>
          <p:cNvSpPr/>
          <p:nvPr/>
        </p:nvSpPr>
        <p:spPr>
          <a:xfrm>
            <a:off x="2558256" y="3693047"/>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M6</a:t>
            </a:r>
          </a:p>
        </p:txBody>
      </p:sp>
      <p:sp>
        <p:nvSpPr>
          <p:cNvPr id="1462" name="Triangle 1461">
            <a:extLst>
              <a:ext uri="{FF2B5EF4-FFF2-40B4-BE49-F238E27FC236}">
                <a16:creationId xmlns:a16="http://schemas.microsoft.com/office/drawing/2014/main" id="{835D12CE-84DD-4C30-C89F-09BE926DA0CB}"/>
              </a:ext>
            </a:extLst>
          </p:cNvPr>
          <p:cNvSpPr/>
          <p:nvPr/>
        </p:nvSpPr>
        <p:spPr>
          <a:xfrm>
            <a:off x="4626456" y="1000557"/>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M13</a:t>
            </a:r>
          </a:p>
        </p:txBody>
      </p:sp>
      <p:sp>
        <p:nvSpPr>
          <p:cNvPr id="1464" name="Triangle 1463">
            <a:extLst>
              <a:ext uri="{FF2B5EF4-FFF2-40B4-BE49-F238E27FC236}">
                <a16:creationId xmlns:a16="http://schemas.microsoft.com/office/drawing/2014/main" id="{051A6CD3-913A-475F-AC43-ADC616D2D9A3}"/>
              </a:ext>
            </a:extLst>
          </p:cNvPr>
          <p:cNvSpPr/>
          <p:nvPr/>
        </p:nvSpPr>
        <p:spPr>
          <a:xfrm>
            <a:off x="4801657" y="1113505"/>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M14</a:t>
            </a:r>
          </a:p>
        </p:txBody>
      </p:sp>
      <p:sp>
        <p:nvSpPr>
          <p:cNvPr id="1468" name="Triangle 1467">
            <a:extLst>
              <a:ext uri="{FF2B5EF4-FFF2-40B4-BE49-F238E27FC236}">
                <a16:creationId xmlns:a16="http://schemas.microsoft.com/office/drawing/2014/main" id="{08637181-EE8D-001D-A8C1-B4BAF71CD5F1}"/>
              </a:ext>
            </a:extLst>
          </p:cNvPr>
          <p:cNvSpPr/>
          <p:nvPr/>
        </p:nvSpPr>
        <p:spPr>
          <a:xfrm>
            <a:off x="4681352" y="2025754"/>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M15</a:t>
            </a:r>
          </a:p>
        </p:txBody>
      </p:sp>
      <p:sp>
        <p:nvSpPr>
          <p:cNvPr id="1472" name="Triangle 1471">
            <a:extLst>
              <a:ext uri="{FF2B5EF4-FFF2-40B4-BE49-F238E27FC236}">
                <a16:creationId xmlns:a16="http://schemas.microsoft.com/office/drawing/2014/main" id="{2427F777-AFF2-8FDD-55CD-AAB128391387}"/>
              </a:ext>
            </a:extLst>
          </p:cNvPr>
          <p:cNvSpPr/>
          <p:nvPr/>
        </p:nvSpPr>
        <p:spPr>
          <a:xfrm>
            <a:off x="4683305" y="2279924"/>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M16</a:t>
            </a:r>
          </a:p>
        </p:txBody>
      </p:sp>
      <p:sp>
        <p:nvSpPr>
          <p:cNvPr id="1473" name="Triangle 1472">
            <a:extLst>
              <a:ext uri="{FF2B5EF4-FFF2-40B4-BE49-F238E27FC236}">
                <a16:creationId xmlns:a16="http://schemas.microsoft.com/office/drawing/2014/main" id="{96D42793-05D4-3786-8B1B-25D630BF7D2A}"/>
              </a:ext>
            </a:extLst>
          </p:cNvPr>
          <p:cNvSpPr/>
          <p:nvPr/>
        </p:nvSpPr>
        <p:spPr>
          <a:xfrm>
            <a:off x="4685258" y="2534092"/>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M17</a:t>
            </a:r>
          </a:p>
        </p:txBody>
      </p:sp>
      <p:sp>
        <p:nvSpPr>
          <p:cNvPr id="1474" name="Triangle 1473">
            <a:extLst>
              <a:ext uri="{FF2B5EF4-FFF2-40B4-BE49-F238E27FC236}">
                <a16:creationId xmlns:a16="http://schemas.microsoft.com/office/drawing/2014/main" id="{AB574402-4978-50A2-7531-24FF602739AE}"/>
              </a:ext>
            </a:extLst>
          </p:cNvPr>
          <p:cNvSpPr/>
          <p:nvPr/>
        </p:nvSpPr>
        <p:spPr>
          <a:xfrm>
            <a:off x="4683221" y="2750098"/>
            <a:ext cx="188044" cy="144464"/>
          </a:xfrm>
          <a:prstGeom prst="triangle">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M18</a:t>
            </a:r>
          </a:p>
        </p:txBody>
      </p:sp>
      <p:sp>
        <p:nvSpPr>
          <p:cNvPr id="1475" name="Triangle 1474">
            <a:extLst>
              <a:ext uri="{FF2B5EF4-FFF2-40B4-BE49-F238E27FC236}">
                <a16:creationId xmlns:a16="http://schemas.microsoft.com/office/drawing/2014/main" id="{9080468B-705A-7746-F4A4-A2B42C068252}"/>
              </a:ext>
            </a:extLst>
          </p:cNvPr>
          <p:cNvSpPr/>
          <p:nvPr/>
        </p:nvSpPr>
        <p:spPr>
          <a:xfrm>
            <a:off x="4698903" y="3720340"/>
            <a:ext cx="188044"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M19</a:t>
            </a:r>
          </a:p>
        </p:txBody>
      </p:sp>
      <p:sp>
        <p:nvSpPr>
          <p:cNvPr id="1477" name="Triangle 1476">
            <a:extLst>
              <a:ext uri="{FF2B5EF4-FFF2-40B4-BE49-F238E27FC236}">
                <a16:creationId xmlns:a16="http://schemas.microsoft.com/office/drawing/2014/main" id="{712181A1-9683-7750-DDF6-28C142705F4A}"/>
              </a:ext>
            </a:extLst>
          </p:cNvPr>
          <p:cNvSpPr/>
          <p:nvPr/>
        </p:nvSpPr>
        <p:spPr>
          <a:xfrm>
            <a:off x="3637217" y="4664332"/>
            <a:ext cx="188044" cy="144464"/>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M20</a:t>
            </a:r>
          </a:p>
        </p:txBody>
      </p:sp>
      <p:sp>
        <p:nvSpPr>
          <p:cNvPr id="1478" name="Triangle 1477">
            <a:extLst>
              <a:ext uri="{FF2B5EF4-FFF2-40B4-BE49-F238E27FC236}">
                <a16:creationId xmlns:a16="http://schemas.microsoft.com/office/drawing/2014/main" id="{A4B6E90E-633A-269F-FB1B-8DE9461EF518}"/>
              </a:ext>
            </a:extLst>
          </p:cNvPr>
          <p:cNvSpPr/>
          <p:nvPr/>
        </p:nvSpPr>
        <p:spPr>
          <a:xfrm>
            <a:off x="4705828" y="4650759"/>
            <a:ext cx="188044" cy="144464"/>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M21</a:t>
            </a:r>
          </a:p>
        </p:txBody>
      </p:sp>
      <p:sp>
        <p:nvSpPr>
          <p:cNvPr id="1480" name="Triangle 1479">
            <a:extLst>
              <a:ext uri="{FF2B5EF4-FFF2-40B4-BE49-F238E27FC236}">
                <a16:creationId xmlns:a16="http://schemas.microsoft.com/office/drawing/2014/main" id="{5AA24730-1C8E-8A82-363A-AC798997E7CF}"/>
              </a:ext>
            </a:extLst>
          </p:cNvPr>
          <p:cNvSpPr/>
          <p:nvPr/>
        </p:nvSpPr>
        <p:spPr>
          <a:xfrm>
            <a:off x="3735628" y="2125188"/>
            <a:ext cx="188044" cy="144464"/>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M8</a:t>
            </a:r>
          </a:p>
        </p:txBody>
      </p:sp>
      <p:sp>
        <p:nvSpPr>
          <p:cNvPr id="1481" name="Triangle 1480">
            <a:extLst>
              <a:ext uri="{FF2B5EF4-FFF2-40B4-BE49-F238E27FC236}">
                <a16:creationId xmlns:a16="http://schemas.microsoft.com/office/drawing/2014/main" id="{BD5C9507-2785-C138-4242-963878B9C903}"/>
              </a:ext>
            </a:extLst>
          </p:cNvPr>
          <p:cNvSpPr/>
          <p:nvPr/>
        </p:nvSpPr>
        <p:spPr>
          <a:xfrm>
            <a:off x="3557559" y="2286813"/>
            <a:ext cx="188044" cy="144464"/>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M9</a:t>
            </a:r>
          </a:p>
        </p:txBody>
      </p:sp>
      <p:sp>
        <p:nvSpPr>
          <p:cNvPr id="1482" name="Triangle 1481">
            <a:extLst>
              <a:ext uri="{FF2B5EF4-FFF2-40B4-BE49-F238E27FC236}">
                <a16:creationId xmlns:a16="http://schemas.microsoft.com/office/drawing/2014/main" id="{72F2615F-52FA-26A9-4E9C-258D0F1C087F}"/>
              </a:ext>
            </a:extLst>
          </p:cNvPr>
          <p:cNvSpPr/>
          <p:nvPr/>
        </p:nvSpPr>
        <p:spPr>
          <a:xfrm>
            <a:off x="3731003" y="2439140"/>
            <a:ext cx="188044" cy="144464"/>
          </a:xfrm>
          <a:prstGeom prst="triangl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black"/>
                </a:solidFill>
                <a:latin typeface="Aptos" panose="02110004020202020204"/>
              </a:rPr>
              <a:t>M10</a:t>
            </a:r>
          </a:p>
        </p:txBody>
      </p:sp>
      <p:sp>
        <p:nvSpPr>
          <p:cNvPr id="1483" name="Triangle 1482">
            <a:extLst>
              <a:ext uri="{FF2B5EF4-FFF2-40B4-BE49-F238E27FC236}">
                <a16:creationId xmlns:a16="http://schemas.microsoft.com/office/drawing/2014/main" id="{450F9823-6EF3-066D-9A9B-2E69192AD998}"/>
              </a:ext>
            </a:extLst>
          </p:cNvPr>
          <p:cNvSpPr/>
          <p:nvPr/>
        </p:nvSpPr>
        <p:spPr>
          <a:xfrm>
            <a:off x="3578876" y="2596208"/>
            <a:ext cx="188044" cy="144464"/>
          </a:xfrm>
          <a:prstGeom prst="triangl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black"/>
                </a:solidFill>
                <a:latin typeface="Aptos" panose="02110004020202020204"/>
              </a:rPr>
              <a:t>M11</a:t>
            </a:r>
          </a:p>
        </p:txBody>
      </p:sp>
      <p:sp>
        <p:nvSpPr>
          <p:cNvPr id="1484" name="Triangle 1483">
            <a:extLst>
              <a:ext uri="{FF2B5EF4-FFF2-40B4-BE49-F238E27FC236}">
                <a16:creationId xmlns:a16="http://schemas.microsoft.com/office/drawing/2014/main" id="{86C5E09D-211F-75CD-1427-DA3FD663A856}"/>
              </a:ext>
            </a:extLst>
          </p:cNvPr>
          <p:cNvSpPr/>
          <p:nvPr/>
        </p:nvSpPr>
        <p:spPr>
          <a:xfrm>
            <a:off x="3640107" y="3682155"/>
            <a:ext cx="188044" cy="144464"/>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M12</a:t>
            </a:r>
          </a:p>
        </p:txBody>
      </p:sp>
      <p:sp>
        <p:nvSpPr>
          <p:cNvPr id="1485" name="Triangle 1484">
            <a:extLst>
              <a:ext uri="{FF2B5EF4-FFF2-40B4-BE49-F238E27FC236}">
                <a16:creationId xmlns:a16="http://schemas.microsoft.com/office/drawing/2014/main" id="{B9F2E8CC-582A-ACB0-D705-48F6A198E063}"/>
              </a:ext>
            </a:extLst>
          </p:cNvPr>
          <p:cNvSpPr/>
          <p:nvPr/>
        </p:nvSpPr>
        <p:spPr>
          <a:xfrm>
            <a:off x="3640107" y="1000557"/>
            <a:ext cx="188044" cy="144464"/>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M7</a:t>
            </a:r>
          </a:p>
        </p:txBody>
      </p:sp>
      <p:sp>
        <p:nvSpPr>
          <p:cNvPr id="1494" name="Rounded Rectangle 1493">
            <a:extLst>
              <a:ext uri="{FF2B5EF4-FFF2-40B4-BE49-F238E27FC236}">
                <a16:creationId xmlns:a16="http://schemas.microsoft.com/office/drawing/2014/main" id="{1488EA18-5EA3-1000-BC0A-EA14A26669D9}"/>
              </a:ext>
            </a:extLst>
          </p:cNvPr>
          <p:cNvSpPr/>
          <p:nvPr/>
        </p:nvSpPr>
        <p:spPr>
          <a:xfrm>
            <a:off x="7087608" y="2075794"/>
            <a:ext cx="306482" cy="82372"/>
          </a:xfrm>
          <a:prstGeom prst="roundRect">
            <a:avLst/>
          </a:prstGeom>
          <a:solidFill>
            <a:schemeClr val="bg1"/>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ESPR DPP</a:t>
            </a:r>
          </a:p>
        </p:txBody>
      </p:sp>
      <p:sp>
        <p:nvSpPr>
          <p:cNvPr id="1497" name="Rounded Rectangle 1496">
            <a:extLst>
              <a:ext uri="{FF2B5EF4-FFF2-40B4-BE49-F238E27FC236}">
                <a16:creationId xmlns:a16="http://schemas.microsoft.com/office/drawing/2014/main" id="{BAF6F250-F068-B989-11CA-551EC0D3B25E}"/>
              </a:ext>
            </a:extLst>
          </p:cNvPr>
          <p:cNvSpPr/>
          <p:nvPr/>
        </p:nvSpPr>
        <p:spPr>
          <a:xfrm>
            <a:off x="8516829" y="980805"/>
            <a:ext cx="306482" cy="82372"/>
          </a:xfrm>
          <a:prstGeom prst="roundRect">
            <a:avLst/>
          </a:prstGeom>
          <a:solidFill>
            <a:schemeClr val="bg1"/>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ESPR DPP</a:t>
            </a:r>
          </a:p>
        </p:txBody>
      </p:sp>
      <p:sp>
        <p:nvSpPr>
          <p:cNvPr id="501" name="Diamond 500">
            <a:extLst>
              <a:ext uri="{FF2B5EF4-FFF2-40B4-BE49-F238E27FC236}">
                <a16:creationId xmlns:a16="http://schemas.microsoft.com/office/drawing/2014/main" id="{DE73123E-A083-1804-E90A-54BABA516A14}"/>
              </a:ext>
            </a:extLst>
          </p:cNvPr>
          <p:cNvSpPr/>
          <p:nvPr/>
        </p:nvSpPr>
        <p:spPr>
          <a:xfrm>
            <a:off x="8321889" y="3892955"/>
            <a:ext cx="334913" cy="145649"/>
          </a:xfrm>
          <a:prstGeom prst="diamond">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FP6</a:t>
            </a:r>
          </a:p>
        </p:txBody>
      </p:sp>
      <p:sp>
        <p:nvSpPr>
          <p:cNvPr id="1588" name="Triangle 1587">
            <a:extLst>
              <a:ext uri="{FF2B5EF4-FFF2-40B4-BE49-F238E27FC236}">
                <a16:creationId xmlns:a16="http://schemas.microsoft.com/office/drawing/2014/main" id="{527197A3-159C-F14A-DB1A-9F9E10666FB6}"/>
              </a:ext>
            </a:extLst>
          </p:cNvPr>
          <p:cNvSpPr/>
          <p:nvPr/>
        </p:nvSpPr>
        <p:spPr>
          <a:xfrm>
            <a:off x="9945556" y="1169465"/>
            <a:ext cx="188044" cy="144464"/>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RM1</a:t>
            </a:r>
          </a:p>
        </p:txBody>
      </p:sp>
      <p:sp>
        <p:nvSpPr>
          <p:cNvPr id="1589" name="Triangle 1588">
            <a:extLst>
              <a:ext uri="{FF2B5EF4-FFF2-40B4-BE49-F238E27FC236}">
                <a16:creationId xmlns:a16="http://schemas.microsoft.com/office/drawing/2014/main" id="{0654FD79-65BD-40B8-CEBA-EDAD67C11788}"/>
              </a:ext>
            </a:extLst>
          </p:cNvPr>
          <p:cNvSpPr/>
          <p:nvPr/>
        </p:nvSpPr>
        <p:spPr>
          <a:xfrm>
            <a:off x="9952033" y="1372293"/>
            <a:ext cx="188044" cy="144464"/>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RM2</a:t>
            </a:r>
          </a:p>
        </p:txBody>
      </p:sp>
      <p:sp>
        <p:nvSpPr>
          <p:cNvPr id="1590" name="Triangle 1589">
            <a:extLst>
              <a:ext uri="{FF2B5EF4-FFF2-40B4-BE49-F238E27FC236}">
                <a16:creationId xmlns:a16="http://schemas.microsoft.com/office/drawing/2014/main" id="{635CDFC4-53CA-0668-5A10-1471E6662F10}"/>
              </a:ext>
            </a:extLst>
          </p:cNvPr>
          <p:cNvSpPr/>
          <p:nvPr/>
        </p:nvSpPr>
        <p:spPr>
          <a:xfrm>
            <a:off x="9955959" y="3325553"/>
            <a:ext cx="188044" cy="144464"/>
          </a:xfrm>
          <a:prstGeom prst="triangl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black"/>
                </a:solidFill>
                <a:latin typeface="Aptos" panose="02110004020202020204"/>
              </a:rPr>
              <a:t>RM3</a:t>
            </a:r>
          </a:p>
        </p:txBody>
      </p:sp>
      <p:sp>
        <p:nvSpPr>
          <p:cNvPr id="1591" name="Triangle 1590">
            <a:extLst>
              <a:ext uri="{FF2B5EF4-FFF2-40B4-BE49-F238E27FC236}">
                <a16:creationId xmlns:a16="http://schemas.microsoft.com/office/drawing/2014/main" id="{18611ED0-5812-AB33-68E9-C52744471847}"/>
              </a:ext>
            </a:extLst>
          </p:cNvPr>
          <p:cNvSpPr/>
          <p:nvPr/>
        </p:nvSpPr>
        <p:spPr>
          <a:xfrm>
            <a:off x="9968221" y="3531032"/>
            <a:ext cx="188044" cy="144464"/>
          </a:xfrm>
          <a:prstGeom prst="triangl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black"/>
                </a:solidFill>
                <a:latin typeface="Aptos" panose="02110004020202020204"/>
              </a:rPr>
              <a:t>RM4</a:t>
            </a:r>
          </a:p>
        </p:txBody>
      </p:sp>
      <p:sp>
        <p:nvSpPr>
          <p:cNvPr id="1592" name="Rounded Rectangle 1591">
            <a:extLst>
              <a:ext uri="{FF2B5EF4-FFF2-40B4-BE49-F238E27FC236}">
                <a16:creationId xmlns:a16="http://schemas.microsoft.com/office/drawing/2014/main" id="{63E63A8A-0A58-36DF-74A0-C6EC84CC3A40}"/>
              </a:ext>
            </a:extLst>
          </p:cNvPr>
          <p:cNvSpPr/>
          <p:nvPr/>
        </p:nvSpPr>
        <p:spPr>
          <a:xfrm>
            <a:off x="7874685" y="2350901"/>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593" name="Rounded Rectangle 1592">
            <a:extLst>
              <a:ext uri="{FF2B5EF4-FFF2-40B4-BE49-F238E27FC236}">
                <a16:creationId xmlns:a16="http://schemas.microsoft.com/office/drawing/2014/main" id="{33284109-2F8C-DAFA-9721-B1A167AA2AA8}"/>
              </a:ext>
            </a:extLst>
          </p:cNvPr>
          <p:cNvSpPr/>
          <p:nvPr/>
        </p:nvSpPr>
        <p:spPr>
          <a:xfrm>
            <a:off x="7874685" y="2466118"/>
            <a:ext cx="178893" cy="76099"/>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black"/>
                </a:solidFill>
                <a:latin typeface="Aptos" panose="02110004020202020204"/>
              </a:rPr>
              <a:t>IFRS</a:t>
            </a:r>
          </a:p>
        </p:txBody>
      </p:sp>
      <p:sp>
        <p:nvSpPr>
          <p:cNvPr id="1594" name="Rounded Rectangle 1593">
            <a:extLst>
              <a:ext uri="{FF2B5EF4-FFF2-40B4-BE49-F238E27FC236}">
                <a16:creationId xmlns:a16="http://schemas.microsoft.com/office/drawing/2014/main" id="{41450769-99D0-A669-7B45-C14E59FE6488}"/>
              </a:ext>
            </a:extLst>
          </p:cNvPr>
          <p:cNvSpPr/>
          <p:nvPr/>
        </p:nvSpPr>
        <p:spPr>
          <a:xfrm>
            <a:off x="7892248" y="1028333"/>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595" name="Rounded Rectangle 1594">
            <a:extLst>
              <a:ext uri="{FF2B5EF4-FFF2-40B4-BE49-F238E27FC236}">
                <a16:creationId xmlns:a16="http://schemas.microsoft.com/office/drawing/2014/main" id="{7EC6B462-AC31-3FF5-5AAD-4AF65FA2F4EE}"/>
              </a:ext>
            </a:extLst>
          </p:cNvPr>
          <p:cNvSpPr/>
          <p:nvPr/>
        </p:nvSpPr>
        <p:spPr>
          <a:xfrm>
            <a:off x="8461582" y="1109638"/>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596" name="Rounded Rectangle 1595">
            <a:extLst>
              <a:ext uri="{FF2B5EF4-FFF2-40B4-BE49-F238E27FC236}">
                <a16:creationId xmlns:a16="http://schemas.microsoft.com/office/drawing/2014/main" id="{050CA821-D17E-D5B3-8EDA-93A199DBB813}"/>
              </a:ext>
            </a:extLst>
          </p:cNvPr>
          <p:cNvSpPr/>
          <p:nvPr/>
        </p:nvSpPr>
        <p:spPr>
          <a:xfrm>
            <a:off x="8720427" y="1113155"/>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597" name="Rounded Rectangle 1596">
            <a:extLst>
              <a:ext uri="{FF2B5EF4-FFF2-40B4-BE49-F238E27FC236}">
                <a16:creationId xmlns:a16="http://schemas.microsoft.com/office/drawing/2014/main" id="{C8CC2218-3CEF-B888-5CDA-B560755C6897}"/>
              </a:ext>
            </a:extLst>
          </p:cNvPr>
          <p:cNvSpPr/>
          <p:nvPr/>
        </p:nvSpPr>
        <p:spPr>
          <a:xfrm>
            <a:off x="8604711" y="2347569"/>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598" name="Rounded Rectangle 1597">
            <a:extLst>
              <a:ext uri="{FF2B5EF4-FFF2-40B4-BE49-F238E27FC236}">
                <a16:creationId xmlns:a16="http://schemas.microsoft.com/office/drawing/2014/main" id="{102D1DC7-A372-A376-0EA1-A4CB9EF86FF5}"/>
              </a:ext>
            </a:extLst>
          </p:cNvPr>
          <p:cNvSpPr/>
          <p:nvPr/>
        </p:nvSpPr>
        <p:spPr>
          <a:xfrm>
            <a:off x="8597172" y="2209560"/>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599" name="TextBox 1598">
            <a:extLst>
              <a:ext uri="{FF2B5EF4-FFF2-40B4-BE49-F238E27FC236}">
                <a16:creationId xmlns:a16="http://schemas.microsoft.com/office/drawing/2014/main" id="{E625F214-AA38-BCAB-1AB6-F6CFFCD8F520}"/>
              </a:ext>
            </a:extLst>
          </p:cNvPr>
          <p:cNvSpPr txBox="1"/>
          <p:nvPr/>
        </p:nvSpPr>
        <p:spPr>
          <a:xfrm>
            <a:off x="8303188" y="4889255"/>
            <a:ext cx="804882" cy="235321"/>
          </a:xfrm>
          <a:prstGeom prst="rect">
            <a:avLst/>
          </a:prstGeom>
          <a:noFill/>
        </p:spPr>
        <p:txBody>
          <a:bodyPr wrap="square" rtlCol="0">
            <a:spAutoFit/>
          </a:bodyPr>
          <a:lstStyle/>
          <a:p>
            <a:pPr algn="ctr" defTabSz="244938"/>
            <a:r>
              <a:rPr lang="en-AU" sz="429" i="1" dirty="0">
                <a:solidFill>
                  <a:prstClr val="black"/>
                </a:solidFill>
                <a:latin typeface="Aptos" panose="02110004020202020204"/>
              </a:rPr>
              <a:t>Facility ID</a:t>
            </a:r>
          </a:p>
          <a:p>
            <a:pPr algn="ctr" defTabSz="244938"/>
            <a:r>
              <a:rPr lang="en-AU" sz="500" b="1" dirty="0">
                <a:solidFill>
                  <a:prstClr val="black"/>
                </a:solidFill>
                <a:latin typeface="Aptos" panose="02110004020202020204"/>
              </a:rPr>
              <a:t>Service/Repair</a:t>
            </a:r>
          </a:p>
        </p:txBody>
      </p:sp>
      <p:sp>
        <p:nvSpPr>
          <p:cNvPr id="1600" name="Rounded Rectangle 1599">
            <a:extLst>
              <a:ext uri="{FF2B5EF4-FFF2-40B4-BE49-F238E27FC236}">
                <a16:creationId xmlns:a16="http://schemas.microsoft.com/office/drawing/2014/main" id="{BAC80ADC-0C55-9607-C544-8F3EB49167C6}"/>
              </a:ext>
            </a:extLst>
          </p:cNvPr>
          <p:cNvSpPr/>
          <p:nvPr/>
        </p:nvSpPr>
        <p:spPr>
          <a:xfrm>
            <a:off x="8622861" y="4809002"/>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601" name="Rounded Rectangle 1600">
            <a:extLst>
              <a:ext uri="{FF2B5EF4-FFF2-40B4-BE49-F238E27FC236}">
                <a16:creationId xmlns:a16="http://schemas.microsoft.com/office/drawing/2014/main" id="{7832079A-315F-776D-DD30-30CD14A407E2}"/>
              </a:ext>
            </a:extLst>
          </p:cNvPr>
          <p:cNvSpPr/>
          <p:nvPr/>
        </p:nvSpPr>
        <p:spPr>
          <a:xfrm>
            <a:off x="8614129" y="4698139"/>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602" name="Rounded Rectangle 1601">
            <a:extLst>
              <a:ext uri="{FF2B5EF4-FFF2-40B4-BE49-F238E27FC236}">
                <a16:creationId xmlns:a16="http://schemas.microsoft.com/office/drawing/2014/main" id="{236D8FFE-7E6D-86CC-0607-0A4B79D99259}"/>
              </a:ext>
            </a:extLst>
          </p:cNvPr>
          <p:cNvSpPr/>
          <p:nvPr/>
        </p:nvSpPr>
        <p:spPr>
          <a:xfrm>
            <a:off x="9931878" y="2146020"/>
            <a:ext cx="306482" cy="82372"/>
          </a:xfrm>
          <a:prstGeom prst="roundRect">
            <a:avLst/>
          </a:prstGeom>
          <a:solidFill>
            <a:schemeClr val="bg1"/>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ESPR DPP</a:t>
            </a:r>
          </a:p>
        </p:txBody>
      </p:sp>
      <p:sp>
        <p:nvSpPr>
          <p:cNvPr id="1607" name="Rounded Rectangle 1606">
            <a:extLst>
              <a:ext uri="{FF2B5EF4-FFF2-40B4-BE49-F238E27FC236}">
                <a16:creationId xmlns:a16="http://schemas.microsoft.com/office/drawing/2014/main" id="{5351738F-D9C2-79A1-788D-9C7AAB4914BE}"/>
              </a:ext>
            </a:extLst>
          </p:cNvPr>
          <p:cNvSpPr/>
          <p:nvPr/>
        </p:nvSpPr>
        <p:spPr>
          <a:xfrm>
            <a:off x="9839139" y="2728049"/>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608" name="Rounded Rectangle 1607">
            <a:extLst>
              <a:ext uri="{FF2B5EF4-FFF2-40B4-BE49-F238E27FC236}">
                <a16:creationId xmlns:a16="http://schemas.microsoft.com/office/drawing/2014/main" id="{5D3E369F-FBCC-8E34-D352-C10954C7AD68}"/>
              </a:ext>
            </a:extLst>
          </p:cNvPr>
          <p:cNvSpPr/>
          <p:nvPr/>
        </p:nvSpPr>
        <p:spPr>
          <a:xfrm>
            <a:off x="10097984" y="2731568"/>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611" name="Rounded Rectangle 1610">
            <a:extLst>
              <a:ext uri="{FF2B5EF4-FFF2-40B4-BE49-F238E27FC236}">
                <a16:creationId xmlns:a16="http://schemas.microsoft.com/office/drawing/2014/main" id="{6DE41312-2B69-16CF-B267-04E8BFDB057C}"/>
              </a:ext>
            </a:extLst>
          </p:cNvPr>
          <p:cNvSpPr/>
          <p:nvPr/>
        </p:nvSpPr>
        <p:spPr>
          <a:xfrm>
            <a:off x="9871464" y="4955735"/>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612" name="Rounded Rectangle 1611">
            <a:extLst>
              <a:ext uri="{FF2B5EF4-FFF2-40B4-BE49-F238E27FC236}">
                <a16:creationId xmlns:a16="http://schemas.microsoft.com/office/drawing/2014/main" id="{5F3D3D10-5603-8409-66FA-19A8EE9275AC}"/>
              </a:ext>
            </a:extLst>
          </p:cNvPr>
          <p:cNvSpPr/>
          <p:nvPr/>
        </p:nvSpPr>
        <p:spPr>
          <a:xfrm>
            <a:off x="10130310" y="4959253"/>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613" name="Rounded Rectangle 1612">
            <a:extLst>
              <a:ext uri="{FF2B5EF4-FFF2-40B4-BE49-F238E27FC236}">
                <a16:creationId xmlns:a16="http://schemas.microsoft.com/office/drawing/2014/main" id="{E7684239-7AA1-B5B7-99CF-74779328C08B}"/>
              </a:ext>
            </a:extLst>
          </p:cNvPr>
          <p:cNvSpPr/>
          <p:nvPr/>
        </p:nvSpPr>
        <p:spPr>
          <a:xfrm>
            <a:off x="9453909" y="4886759"/>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614" name="Rounded Rectangle 1613">
            <a:extLst>
              <a:ext uri="{FF2B5EF4-FFF2-40B4-BE49-F238E27FC236}">
                <a16:creationId xmlns:a16="http://schemas.microsoft.com/office/drawing/2014/main" id="{1E1FA850-2504-A6D4-B01E-1C2E74911557}"/>
              </a:ext>
            </a:extLst>
          </p:cNvPr>
          <p:cNvSpPr/>
          <p:nvPr/>
        </p:nvSpPr>
        <p:spPr>
          <a:xfrm>
            <a:off x="9429627" y="4985480"/>
            <a:ext cx="242037" cy="818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License</a:t>
            </a:r>
          </a:p>
        </p:txBody>
      </p:sp>
      <p:sp>
        <p:nvSpPr>
          <p:cNvPr id="1617" name="Rounded Rectangle 1616">
            <a:extLst>
              <a:ext uri="{FF2B5EF4-FFF2-40B4-BE49-F238E27FC236}">
                <a16:creationId xmlns:a16="http://schemas.microsoft.com/office/drawing/2014/main" id="{42EFC645-C114-C55F-734F-9A8721651EA8}"/>
              </a:ext>
            </a:extLst>
          </p:cNvPr>
          <p:cNvSpPr/>
          <p:nvPr/>
        </p:nvSpPr>
        <p:spPr>
          <a:xfrm>
            <a:off x="9408079" y="2630955"/>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618" name="Rounded Rectangle 1617">
            <a:extLst>
              <a:ext uri="{FF2B5EF4-FFF2-40B4-BE49-F238E27FC236}">
                <a16:creationId xmlns:a16="http://schemas.microsoft.com/office/drawing/2014/main" id="{37962059-F306-7CFB-54A4-97B74E388C2B}"/>
              </a:ext>
            </a:extLst>
          </p:cNvPr>
          <p:cNvSpPr/>
          <p:nvPr/>
        </p:nvSpPr>
        <p:spPr>
          <a:xfrm>
            <a:off x="9383798" y="2729677"/>
            <a:ext cx="242037" cy="818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License</a:t>
            </a:r>
          </a:p>
        </p:txBody>
      </p:sp>
      <p:sp>
        <p:nvSpPr>
          <p:cNvPr id="1619" name="Rounded Rectangle 1618">
            <a:extLst>
              <a:ext uri="{FF2B5EF4-FFF2-40B4-BE49-F238E27FC236}">
                <a16:creationId xmlns:a16="http://schemas.microsoft.com/office/drawing/2014/main" id="{C8AEBAB3-A977-9FA6-0A67-F692D7A3750E}"/>
              </a:ext>
            </a:extLst>
          </p:cNvPr>
          <p:cNvSpPr/>
          <p:nvPr/>
        </p:nvSpPr>
        <p:spPr>
          <a:xfrm>
            <a:off x="9406552" y="1535175"/>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DFR</a:t>
            </a:r>
          </a:p>
        </p:txBody>
      </p:sp>
      <p:sp>
        <p:nvSpPr>
          <p:cNvPr id="1620" name="Rounded Rectangle 1619">
            <a:extLst>
              <a:ext uri="{FF2B5EF4-FFF2-40B4-BE49-F238E27FC236}">
                <a16:creationId xmlns:a16="http://schemas.microsoft.com/office/drawing/2014/main" id="{7DFBB620-7FD4-2773-0E60-451D4026D95B}"/>
              </a:ext>
            </a:extLst>
          </p:cNvPr>
          <p:cNvSpPr/>
          <p:nvPr/>
        </p:nvSpPr>
        <p:spPr>
          <a:xfrm>
            <a:off x="9382268" y="1633897"/>
            <a:ext cx="242037" cy="818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black"/>
                </a:solidFill>
                <a:latin typeface="Aptos" panose="02110004020202020204"/>
              </a:rPr>
              <a:t>License</a:t>
            </a:r>
          </a:p>
        </p:txBody>
      </p:sp>
      <p:sp>
        <p:nvSpPr>
          <p:cNvPr id="1621" name="Rounded Rectangle 1620">
            <a:extLst>
              <a:ext uri="{FF2B5EF4-FFF2-40B4-BE49-F238E27FC236}">
                <a16:creationId xmlns:a16="http://schemas.microsoft.com/office/drawing/2014/main" id="{2264A180-C982-6922-0F0F-D27336E96D5B}"/>
              </a:ext>
            </a:extLst>
          </p:cNvPr>
          <p:cNvSpPr/>
          <p:nvPr/>
        </p:nvSpPr>
        <p:spPr>
          <a:xfrm>
            <a:off x="9398792" y="2124682"/>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622" name="Rounded Rectangle 1621">
            <a:extLst>
              <a:ext uri="{FF2B5EF4-FFF2-40B4-BE49-F238E27FC236}">
                <a16:creationId xmlns:a16="http://schemas.microsoft.com/office/drawing/2014/main" id="{07B55BB8-70E4-40D9-748E-37CEB092CA58}"/>
              </a:ext>
            </a:extLst>
          </p:cNvPr>
          <p:cNvSpPr/>
          <p:nvPr/>
        </p:nvSpPr>
        <p:spPr>
          <a:xfrm>
            <a:off x="9398792" y="1202302"/>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sp>
        <p:nvSpPr>
          <p:cNvPr id="1623" name="Rounded Rectangle 1622">
            <a:extLst>
              <a:ext uri="{FF2B5EF4-FFF2-40B4-BE49-F238E27FC236}">
                <a16:creationId xmlns:a16="http://schemas.microsoft.com/office/drawing/2014/main" id="{00B6F5E7-7482-7310-FF96-6624F1A0ACF6}"/>
              </a:ext>
            </a:extLst>
          </p:cNvPr>
          <p:cNvSpPr/>
          <p:nvPr/>
        </p:nvSpPr>
        <p:spPr>
          <a:xfrm>
            <a:off x="9848070" y="1633252"/>
            <a:ext cx="178893" cy="76099"/>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DPP</a:t>
            </a:r>
          </a:p>
        </p:txBody>
      </p:sp>
      <p:sp>
        <p:nvSpPr>
          <p:cNvPr id="1624" name="Rounded Rectangle 1623">
            <a:extLst>
              <a:ext uri="{FF2B5EF4-FFF2-40B4-BE49-F238E27FC236}">
                <a16:creationId xmlns:a16="http://schemas.microsoft.com/office/drawing/2014/main" id="{FB632C5D-03D1-6AB6-BD1C-AD3051CEF095}"/>
              </a:ext>
            </a:extLst>
          </p:cNvPr>
          <p:cNvSpPr/>
          <p:nvPr/>
        </p:nvSpPr>
        <p:spPr>
          <a:xfrm>
            <a:off x="10106916" y="1636769"/>
            <a:ext cx="178893" cy="76099"/>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00" dirty="0">
                <a:solidFill>
                  <a:prstClr val="white"/>
                </a:solidFill>
                <a:latin typeface="Aptos" panose="02110004020202020204"/>
              </a:rPr>
              <a:t>DTE</a:t>
            </a:r>
          </a:p>
        </p:txBody>
      </p:sp>
      <p:sp>
        <p:nvSpPr>
          <p:cNvPr id="1625" name="Rounded Rectangle 1624">
            <a:extLst>
              <a:ext uri="{FF2B5EF4-FFF2-40B4-BE49-F238E27FC236}">
                <a16:creationId xmlns:a16="http://schemas.microsoft.com/office/drawing/2014/main" id="{1B9EC3DD-352F-A257-8254-F51E618654B3}"/>
              </a:ext>
            </a:extLst>
          </p:cNvPr>
          <p:cNvSpPr/>
          <p:nvPr/>
        </p:nvSpPr>
        <p:spPr>
          <a:xfrm>
            <a:off x="9449323" y="4334060"/>
            <a:ext cx="163817" cy="7109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429" dirty="0">
                <a:solidFill>
                  <a:prstClr val="white"/>
                </a:solidFill>
                <a:latin typeface="Aptos" panose="02110004020202020204"/>
              </a:rPr>
              <a:t>DIA</a:t>
            </a:r>
          </a:p>
        </p:txBody>
      </p:sp>
      <p:cxnSp>
        <p:nvCxnSpPr>
          <p:cNvPr id="1632" name="Straight Connector 1631">
            <a:extLst>
              <a:ext uri="{FF2B5EF4-FFF2-40B4-BE49-F238E27FC236}">
                <a16:creationId xmlns:a16="http://schemas.microsoft.com/office/drawing/2014/main" id="{A231F5C8-75A0-34C6-469B-8CFB25FF0A66}"/>
              </a:ext>
            </a:extLst>
          </p:cNvPr>
          <p:cNvCxnSpPr>
            <a:cxnSpLocks/>
          </p:cNvCxnSpPr>
          <p:nvPr/>
        </p:nvCxnSpPr>
        <p:spPr>
          <a:xfrm flipH="1">
            <a:off x="4534423" y="5403950"/>
            <a:ext cx="5852342" cy="135896"/>
          </a:xfrm>
          <a:prstGeom prst="bentConnector4">
            <a:avLst>
              <a:gd name="adj1" fmla="val -1694"/>
              <a:gd name="adj2" fmla="val 211069"/>
            </a:avLst>
          </a:prstGeom>
          <a:ln w="28575">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634" name="Straight Connector 1631">
            <a:extLst>
              <a:ext uri="{FF2B5EF4-FFF2-40B4-BE49-F238E27FC236}">
                <a16:creationId xmlns:a16="http://schemas.microsoft.com/office/drawing/2014/main" id="{771D3B25-0EB0-A49F-E853-B9C1D5739A12}"/>
              </a:ext>
            </a:extLst>
          </p:cNvPr>
          <p:cNvCxnSpPr>
            <a:cxnSpLocks/>
            <a:stCxn id="793" idx="3"/>
            <a:endCxn id="796" idx="2"/>
          </p:cNvCxnSpPr>
          <p:nvPr/>
        </p:nvCxnSpPr>
        <p:spPr>
          <a:xfrm flipH="1">
            <a:off x="6775349" y="5403950"/>
            <a:ext cx="3599439" cy="135896"/>
          </a:xfrm>
          <a:prstGeom prst="bentConnector4">
            <a:avLst>
              <a:gd name="adj1" fmla="val -2970"/>
              <a:gd name="adj2" fmla="val 211530"/>
            </a:avLst>
          </a:prstGeom>
          <a:ln w="28575">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638" name="TextBox 1637">
            <a:extLst>
              <a:ext uri="{FF2B5EF4-FFF2-40B4-BE49-F238E27FC236}">
                <a16:creationId xmlns:a16="http://schemas.microsoft.com/office/drawing/2014/main" id="{559E9137-2871-1A9C-9869-8BE991DE8211}"/>
              </a:ext>
            </a:extLst>
          </p:cNvPr>
          <p:cNvSpPr txBox="1"/>
          <p:nvPr/>
        </p:nvSpPr>
        <p:spPr>
          <a:xfrm>
            <a:off x="6870535" y="5532470"/>
            <a:ext cx="1079142" cy="180178"/>
          </a:xfrm>
          <a:prstGeom prst="rect">
            <a:avLst/>
          </a:prstGeom>
          <a:noFill/>
        </p:spPr>
        <p:txBody>
          <a:bodyPr wrap="none" rtlCol="0">
            <a:spAutoFit/>
          </a:bodyPr>
          <a:lstStyle/>
          <a:p>
            <a:pPr defTabSz="244938"/>
            <a:r>
              <a:rPr lang="en-AU" sz="571" dirty="0">
                <a:solidFill>
                  <a:prstClr val="black"/>
                </a:solidFill>
                <a:latin typeface="Aptos" panose="02110004020202020204"/>
              </a:rPr>
              <a:t>Repurpose / Remanufacture</a:t>
            </a:r>
          </a:p>
        </p:txBody>
      </p:sp>
      <p:sp>
        <p:nvSpPr>
          <p:cNvPr id="1639" name="TextBox 1638">
            <a:extLst>
              <a:ext uri="{FF2B5EF4-FFF2-40B4-BE49-F238E27FC236}">
                <a16:creationId xmlns:a16="http://schemas.microsoft.com/office/drawing/2014/main" id="{09AAF7DD-A3CA-C87B-F9B6-BAC5C8E2A258}"/>
              </a:ext>
            </a:extLst>
          </p:cNvPr>
          <p:cNvSpPr txBox="1"/>
          <p:nvPr/>
        </p:nvSpPr>
        <p:spPr>
          <a:xfrm>
            <a:off x="4801323" y="5541193"/>
            <a:ext cx="436338" cy="180178"/>
          </a:xfrm>
          <a:prstGeom prst="rect">
            <a:avLst/>
          </a:prstGeom>
          <a:noFill/>
        </p:spPr>
        <p:txBody>
          <a:bodyPr wrap="none" rtlCol="0">
            <a:spAutoFit/>
          </a:bodyPr>
          <a:lstStyle/>
          <a:p>
            <a:pPr defTabSz="244938"/>
            <a:r>
              <a:rPr lang="en-AU" sz="571" dirty="0">
                <a:solidFill>
                  <a:prstClr val="black"/>
                </a:solidFill>
                <a:latin typeface="Aptos" panose="02110004020202020204"/>
              </a:rPr>
              <a:t>Recycle</a:t>
            </a:r>
          </a:p>
        </p:txBody>
      </p:sp>
      <p:sp>
        <p:nvSpPr>
          <p:cNvPr id="1640" name="Rounded Rectangle 1639">
            <a:extLst>
              <a:ext uri="{FF2B5EF4-FFF2-40B4-BE49-F238E27FC236}">
                <a16:creationId xmlns:a16="http://schemas.microsoft.com/office/drawing/2014/main" id="{BA74E8EB-E809-66FA-8356-B690FBDCF21D}"/>
              </a:ext>
            </a:extLst>
          </p:cNvPr>
          <p:cNvSpPr/>
          <p:nvPr/>
        </p:nvSpPr>
        <p:spPr>
          <a:xfrm>
            <a:off x="1933507" y="5723644"/>
            <a:ext cx="312211" cy="120405"/>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white"/>
                </a:solidFill>
                <a:latin typeface="Aptos" panose="02110004020202020204"/>
              </a:rPr>
              <a:t>DPP</a:t>
            </a:r>
          </a:p>
        </p:txBody>
      </p:sp>
      <p:sp>
        <p:nvSpPr>
          <p:cNvPr id="1641" name="Rounded Rectangle 1640">
            <a:extLst>
              <a:ext uri="{FF2B5EF4-FFF2-40B4-BE49-F238E27FC236}">
                <a16:creationId xmlns:a16="http://schemas.microsoft.com/office/drawing/2014/main" id="{06D7120C-0CAF-44D3-5018-1FDFF818F709}"/>
              </a:ext>
            </a:extLst>
          </p:cNvPr>
          <p:cNvSpPr/>
          <p:nvPr/>
        </p:nvSpPr>
        <p:spPr>
          <a:xfrm>
            <a:off x="1933507" y="5887133"/>
            <a:ext cx="312211" cy="120405"/>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white"/>
                </a:solidFill>
                <a:latin typeface="Aptos" panose="02110004020202020204"/>
              </a:rPr>
              <a:t>DFR</a:t>
            </a:r>
          </a:p>
        </p:txBody>
      </p:sp>
      <p:sp>
        <p:nvSpPr>
          <p:cNvPr id="1642" name="Rounded Rectangle 1641">
            <a:extLst>
              <a:ext uri="{FF2B5EF4-FFF2-40B4-BE49-F238E27FC236}">
                <a16:creationId xmlns:a16="http://schemas.microsoft.com/office/drawing/2014/main" id="{364232C4-E9D5-5381-5AB0-905A8C28F466}"/>
              </a:ext>
            </a:extLst>
          </p:cNvPr>
          <p:cNvSpPr/>
          <p:nvPr/>
        </p:nvSpPr>
        <p:spPr>
          <a:xfrm>
            <a:off x="1933507" y="6050624"/>
            <a:ext cx="312211" cy="120405"/>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white"/>
                </a:solidFill>
                <a:latin typeface="Aptos" panose="02110004020202020204"/>
              </a:rPr>
              <a:t>DTE</a:t>
            </a:r>
          </a:p>
        </p:txBody>
      </p:sp>
      <p:sp>
        <p:nvSpPr>
          <p:cNvPr id="1643" name="Rounded Rectangle 1642">
            <a:extLst>
              <a:ext uri="{FF2B5EF4-FFF2-40B4-BE49-F238E27FC236}">
                <a16:creationId xmlns:a16="http://schemas.microsoft.com/office/drawing/2014/main" id="{D0600E70-C987-B327-3EFA-0333996A9CA7}"/>
              </a:ext>
            </a:extLst>
          </p:cNvPr>
          <p:cNvSpPr/>
          <p:nvPr/>
        </p:nvSpPr>
        <p:spPr>
          <a:xfrm>
            <a:off x="1933507" y="6214114"/>
            <a:ext cx="312211" cy="12040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black"/>
                </a:solidFill>
                <a:latin typeface="Aptos" panose="02110004020202020204"/>
              </a:rPr>
              <a:t>DCC</a:t>
            </a:r>
          </a:p>
        </p:txBody>
      </p:sp>
      <p:sp>
        <p:nvSpPr>
          <p:cNvPr id="1644" name="Rounded Rectangle 1643">
            <a:extLst>
              <a:ext uri="{FF2B5EF4-FFF2-40B4-BE49-F238E27FC236}">
                <a16:creationId xmlns:a16="http://schemas.microsoft.com/office/drawing/2014/main" id="{D693F45E-D05D-6C89-4BFE-073CBB0ECF49}"/>
              </a:ext>
            </a:extLst>
          </p:cNvPr>
          <p:cNvSpPr/>
          <p:nvPr/>
        </p:nvSpPr>
        <p:spPr>
          <a:xfrm>
            <a:off x="1933507" y="6377605"/>
            <a:ext cx="312211" cy="12040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white"/>
                </a:solidFill>
                <a:latin typeface="Aptos" panose="02110004020202020204"/>
              </a:rPr>
              <a:t>DIA</a:t>
            </a:r>
          </a:p>
        </p:txBody>
      </p:sp>
      <p:sp>
        <p:nvSpPr>
          <p:cNvPr id="1645" name="TextBox 1644">
            <a:extLst>
              <a:ext uri="{FF2B5EF4-FFF2-40B4-BE49-F238E27FC236}">
                <a16:creationId xmlns:a16="http://schemas.microsoft.com/office/drawing/2014/main" id="{A9277B03-29CB-A0D1-905D-D85D855B16EB}"/>
              </a:ext>
            </a:extLst>
          </p:cNvPr>
          <p:cNvSpPr txBox="1"/>
          <p:nvPr/>
        </p:nvSpPr>
        <p:spPr>
          <a:xfrm>
            <a:off x="2248860" y="5711300"/>
            <a:ext cx="947695" cy="180178"/>
          </a:xfrm>
          <a:prstGeom prst="rect">
            <a:avLst/>
          </a:prstGeom>
          <a:noFill/>
        </p:spPr>
        <p:txBody>
          <a:bodyPr wrap="none" rtlCol="0">
            <a:spAutoFit/>
          </a:bodyPr>
          <a:lstStyle/>
          <a:p>
            <a:pPr defTabSz="244938"/>
            <a:r>
              <a:rPr lang="en-AU" sz="571" dirty="0">
                <a:solidFill>
                  <a:prstClr val="black"/>
                </a:solidFill>
                <a:latin typeface="Aptos" panose="02110004020202020204"/>
              </a:rPr>
              <a:t>Digital Product Passport</a:t>
            </a:r>
          </a:p>
        </p:txBody>
      </p:sp>
      <p:sp>
        <p:nvSpPr>
          <p:cNvPr id="1646" name="TextBox 1645">
            <a:extLst>
              <a:ext uri="{FF2B5EF4-FFF2-40B4-BE49-F238E27FC236}">
                <a16:creationId xmlns:a16="http://schemas.microsoft.com/office/drawing/2014/main" id="{D1E058EE-0E79-CA5A-9D07-3ADB7F062DBD}"/>
              </a:ext>
            </a:extLst>
          </p:cNvPr>
          <p:cNvSpPr txBox="1"/>
          <p:nvPr/>
        </p:nvSpPr>
        <p:spPr>
          <a:xfrm>
            <a:off x="2248860" y="5861978"/>
            <a:ext cx="870751" cy="180178"/>
          </a:xfrm>
          <a:prstGeom prst="rect">
            <a:avLst/>
          </a:prstGeom>
          <a:noFill/>
        </p:spPr>
        <p:txBody>
          <a:bodyPr wrap="none" rtlCol="0">
            <a:spAutoFit/>
          </a:bodyPr>
          <a:lstStyle/>
          <a:p>
            <a:pPr defTabSz="244938"/>
            <a:r>
              <a:rPr lang="en-AU" sz="571" dirty="0">
                <a:solidFill>
                  <a:prstClr val="black"/>
                </a:solidFill>
                <a:latin typeface="Aptos" panose="02110004020202020204"/>
              </a:rPr>
              <a:t>Digital Facility Record</a:t>
            </a:r>
          </a:p>
        </p:txBody>
      </p:sp>
      <p:sp>
        <p:nvSpPr>
          <p:cNvPr id="1647" name="TextBox 1646">
            <a:extLst>
              <a:ext uri="{FF2B5EF4-FFF2-40B4-BE49-F238E27FC236}">
                <a16:creationId xmlns:a16="http://schemas.microsoft.com/office/drawing/2014/main" id="{D782C11E-06E7-69D2-E2B7-3244656ED115}"/>
              </a:ext>
            </a:extLst>
          </p:cNvPr>
          <p:cNvSpPr txBox="1"/>
          <p:nvPr/>
        </p:nvSpPr>
        <p:spPr>
          <a:xfrm>
            <a:off x="2248953" y="6033928"/>
            <a:ext cx="958917" cy="180178"/>
          </a:xfrm>
          <a:prstGeom prst="rect">
            <a:avLst/>
          </a:prstGeom>
          <a:noFill/>
        </p:spPr>
        <p:txBody>
          <a:bodyPr wrap="none" rtlCol="0">
            <a:spAutoFit/>
          </a:bodyPr>
          <a:lstStyle/>
          <a:p>
            <a:pPr defTabSz="244938"/>
            <a:r>
              <a:rPr lang="en-AU" sz="571" dirty="0">
                <a:solidFill>
                  <a:prstClr val="black"/>
                </a:solidFill>
                <a:latin typeface="Aptos" panose="02110004020202020204"/>
              </a:rPr>
              <a:t>Digital Traceability Event</a:t>
            </a:r>
          </a:p>
        </p:txBody>
      </p:sp>
      <p:sp>
        <p:nvSpPr>
          <p:cNvPr id="1648" name="TextBox 1647">
            <a:extLst>
              <a:ext uri="{FF2B5EF4-FFF2-40B4-BE49-F238E27FC236}">
                <a16:creationId xmlns:a16="http://schemas.microsoft.com/office/drawing/2014/main" id="{1FBA1B40-BBE6-8FB4-0420-9CEB663FE7F9}"/>
              </a:ext>
            </a:extLst>
          </p:cNvPr>
          <p:cNvSpPr txBox="1"/>
          <p:nvPr/>
        </p:nvSpPr>
        <p:spPr>
          <a:xfrm>
            <a:off x="2248860" y="6202333"/>
            <a:ext cx="1104790" cy="180178"/>
          </a:xfrm>
          <a:prstGeom prst="rect">
            <a:avLst/>
          </a:prstGeom>
          <a:noFill/>
        </p:spPr>
        <p:txBody>
          <a:bodyPr wrap="none" rtlCol="0">
            <a:spAutoFit/>
          </a:bodyPr>
          <a:lstStyle/>
          <a:p>
            <a:pPr defTabSz="244938"/>
            <a:r>
              <a:rPr lang="en-AU" sz="571" dirty="0">
                <a:solidFill>
                  <a:prstClr val="black"/>
                </a:solidFill>
                <a:latin typeface="Aptos" panose="02110004020202020204"/>
              </a:rPr>
              <a:t>Digital Conformity Credential</a:t>
            </a:r>
          </a:p>
        </p:txBody>
      </p:sp>
      <p:sp>
        <p:nvSpPr>
          <p:cNvPr id="1649" name="TextBox 1648">
            <a:extLst>
              <a:ext uri="{FF2B5EF4-FFF2-40B4-BE49-F238E27FC236}">
                <a16:creationId xmlns:a16="http://schemas.microsoft.com/office/drawing/2014/main" id="{CBBA6646-087A-C12A-B9F5-2D5C4F2A24EF}"/>
              </a:ext>
            </a:extLst>
          </p:cNvPr>
          <p:cNvSpPr txBox="1"/>
          <p:nvPr/>
        </p:nvSpPr>
        <p:spPr>
          <a:xfrm>
            <a:off x="2248767" y="6370739"/>
            <a:ext cx="880369" cy="180178"/>
          </a:xfrm>
          <a:prstGeom prst="rect">
            <a:avLst/>
          </a:prstGeom>
          <a:noFill/>
        </p:spPr>
        <p:txBody>
          <a:bodyPr wrap="none" rtlCol="0">
            <a:spAutoFit/>
          </a:bodyPr>
          <a:lstStyle/>
          <a:p>
            <a:pPr defTabSz="244938"/>
            <a:r>
              <a:rPr lang="en-AU" sz="571" dirty="0">
                <a:solidFill>
                  <a:prstClr val="black"/>
                </a:solidFill>
                <a:latin typeface="Aptos" panose="02110004020202020204"/>
              </a:rPr>
              <a:t>Digital Identity Anchor</a:t>
            </a:r>
          </a:p>
        </p:txBody>
      </p:sp>
      <p:sp>
        <p:nvSpPr>
          <p:cNvPr id="1650" name="TextBox 1649">
            <a:extLst>
              <a:ext uri="{FF2B5EF4-FFF2-40B4-BE49-F238E27FC236}">
                <a16:creationId xmlns:a16="http://schemas.microsoft.com/office/drawing/2014/main" id="{B816E2FD-9252-4DDE-A040-0991BD4F24E5}"/>
              </a:ext>
            </a:extLst>
          </p:cNvPr>
          <p:cNvSpPr txBox="1"/>
          <p:nvPr/>
        </p:nvSpPr>
        <p:spPr>
          <a:xfrm>
            <a:off x="1854269" y="5581893"/>
            <a:ext cx="551754" cy="180178"/>
          </a:xfrm>
          <a:prstGeom prst="rect">
            <a:avLst/>
          </a:prstGeom>
          <a:noFill/>
        </p:spPr>
        <p:txBody>
          <a:bodyPr wrap="none" rtlCol="0">
            <a:spAutoFit/>
          </a:bodyPr>
          <a:lstStyle/>
          <a:p>
            <a:pPr defTabSz="244938"/>
            <a:r>
              <a:rPr lang="en-AU" sz="571" b="1" dirty="0">
                <a:solidFill>
                  <a:prstClr val="black"/>
                </a:solidFill>
                <a:latin typeface="Aptos" panose="02110004020202020204"/>
              </a:rPr>
              <a:t>Data Types</a:t>
            </a:r>
          </a:p>
        </p:txBody>
      </p:sp>
      <p:sp>
        <p:nvSpPr>
          <p:cNvPr id="1651" name="TextBox 1650">
            <a:extLst>
              <a:ext uri="{FF2B5EF4-FFF2-40B4-BE49-F238E27FC236}">
                <a16:creationId xmlns:a16="http://schemas.microsoft.com/office/drawing/2014/main" id="{7DE892BC-9BA4-87BD-396C-751B04D20CF9}"/>
              </a:ext>
            </a:extLst>
          </p:cNvPr>
          <p:cNvSpPr txBox="1"/>
          <p:nvPr/>
        </p:nvSpPr>
        <p:spPr>
          <a:xfrm>
            <a:off x="4492499" y="5774701"/>
            <a:ext cx="585417" cy="180178"/>
          </a:xfrm>
          <a:prstGeom prst="rect">
            <a:avLst/>
          </a:prstGeom>
          <a:noFill/>
        </p:spPr>
        <p:txBody>
          <a:bodyPr wrap="none" rtlCol="0">
            <a:spAutoFit/>
          </a:bodyPr>
          <a:lstStyle/>
          <a:p>
            <a:pPr defTabSz="244938"/>
            <a:r>
              <a:rPr lang="en-AU" sz="571" b="1" dirty="0">
                <a:solidFill>
                  <a:prstClr val="black"/>
                </a:solidFill>
                <a:latin typeface="Aptos" panose="02110004020202020204"/>
              </a:rPr>
              <a:t>Entity Types</a:t>
            </a:r>
          </a:p>
        </p:txBody>
      </p:sp>
      <p:sp>
        <p:nvSpPr>
          <p:cNvPr id="1652" name="Oval 1651">
            <a:extLst>
              <a:ext uri="{FF2B5EF4-FFF2-40B4-BE49-F238E27FC236}">
                <a16:creationId xmlns:a16="http://schemas.microsoft.com/office/drawing/2014/main" id="{1FFDDE5D-3108-F59E-E5CA-78F022C3D654}"/>
              </a:ext>
            </a:extLst>
          </p:cNvPr>
          <p:cNvSpPr/>
          <p:nvPr/>
        </p:nvSpPr>
        <p:spPr>
          <a:xfrm>
            <a:off x="4572853" y="5944415"/>
            <a:ext cx="356975"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00" dirty="0">
                <a:solidFill>
                  <a:prstClr val="white"/>
                </a:solidFill>
                <a:latin typeface="Aptos" panose="02110004020202020204"/>
              </a:rPr>
              <a:t>Type</a:t>
            </a:r>
          </a:p>
        </p:txBody>
      </p:sp>
      <p:sp>
        <p:nvSpPr>
          <p:cNvPr id="1653" name="Triangle 1652">
            <a:extLst>
              <a:ext uri="{FF2B5EF4-FFF2-40B4-BE49-F238E27FC236}">
                <a16:creationId xmlns:a16="http://schemas.microsoft.com/office/drawing/2014/main" id="{7F8470FD-0974-1F5D-B9CC-FA17160A4EF3}"/>
              </a:ext>
            </a:extLst>
          </p:cNvPr>
          <p:cNvSpPr/>
          <p:nvPr/>
        </p:nvSpPr>
        <p:spPr>
          <a:xfrm>
            <a:off x="4586863" y="6152530"/>
            <a:ext cx="164810" cy="144464"/>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M</a:t>
            </a:r>
          </a:p>
        </p:txBody>
      </p:sp>
      <p:sp>
        <p:nvSpPr>
          <p:cNvPr id="1654" name="Diamond 1653">
            <a:extLst>
              <a:ext uri="{FF2B5EF4-FFF2-40B4-BE49-F238E27FC236}">
                <a16:creationId xmlns:a16="http://schemas.microsoft.com/office/drawing/2014/main" id="{D46A9530-020A-F4D4-903B-A1ABE4424E3C}"/>
              </a:ext>
            </a:extLst>
          </p:cNvPr>
          <p:cNvSpPr/>
          <p:nvPr/>
        </p:nvSpPr>
        <p:spPr>
          <a:xfrm>
            <a:off x="4545585" y="6380695"/>
            <a:ext cx="306213" cy="140638"/>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a:t>
            </a:r>
          </a:p>
        </p:txBody>
      </p:sp>
      <p:sp>
        <p:nvSpPr>
          <p:cNvPr id="1655" name="Triangle 1654">
            <a:extLst>
              <a:ext uri="{FF2B5EF4-FFF2-40B4-BE49-F238E27FC236}">
                <a16:creationId xmlns:a16="http://schemas.microsoft.com/office/drawing/2014/main" id="{E28392E4-711D-EA81-7227-321669C149AE}"/>
              </a:ext>
            </a:extLst>
          </p:cNvPr>
          <p:cNvSpPr/>
          <p:nvPr/>
        </p:nvSpPr>
        <p:spPr>
          <a:xfrm>
            <a:off x="4792696" y="6162243"/>
            <a:ext cx="164810" cy="144464"/>
          </a:xfrm>
          <a:prstGeom prst="triangl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M</a:t>
            </a:r>
          </a:p>
        </p:txBody>
      </p:sp>
      <p:sp>
        <p:nvSpPr>
          <p:cNvPr id="1656" name="Diamond 1655">
            <a:extLst>
              <a:ext uri="{FF2B5EF4-FFF2-40B4-BE49-F238E27FC236}">
                <a16:creationId xmlns:a16="http://schemas.microsoft.com/office/drawing/2014/main" id="{EF76B2D9-0A4D-E5D8-B487-CB5806825655}"/>
              </a:ext>
            </a:extLst>
          </p:cNvPr>
          <p:cNvSpPr/>
          <p:nvPr/>
        </p:nvSpPr>
        <p:spPr>
          <a:xfrm>
            <a:off x="4875100" y="6383425"/>
            <a:ext cx="262734" cy="135178"/>
          </a:xfrm>
          <a:prstGeom prst="diamond">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srgbClr val="156082"/>
                </a:solidFill>
                <a:latin typeface="Aptos" panose="02110004020202020204"/>
              </a:rPr>
              <a:t>P</a:t>
            </a:r>
          </a:p>
        </p:txBody>
      </p:sp>
      <p:sp>
        <p:nvSpPr>
          <p:cNvPr id="1657" name="TextBox 1656">
            <a:extLst>
              <a:ext uri="{FF2B5EF4-FFF2-40B4-BE49-F238E27FC236}">
                <a16:creationId xmlns:a16="http://schemas.microsoft.com/office/drawing/2014/main" id="{9ED6185D-05B2-A6E9-8606-FD052CA38803}"/>
              </a:ext>
            </a:extLst>
          </p:cNvPr>
          <p:cNvSpPr txBox="1"/>
          <p:nvPr/>
        </p:nvSpPr>
        <p:spPr>
          <a:xfrm>
            <a:off x="4963156" y="5915394"/>
            <a:ext cx="917887" cy="355867"/>
          </a:xfrm>
          <a:prstGeom prst="rect">
            <a:avLst/>
          </a:prstGeom>
          <a:noFill/>
        </p:spPr>
        <p:txBody>
          <a:bodyPr wrap="square" rtlCol="0">
            <a:spAutoFit/>
          </a:bodyPr>
          <a:lstStyle/>
          <a:p>
            <a:pPr defTabSz="244938"/>
            <a:r>
              <a:rPr lang="en-AU" sz="571" dirty="0">
                <a:solidFill>
                  <a:prstClr val="black"/>
                </a:solidFill>
                <a:latin typeface="Aptos" panose="02110004020202020204"/>
              </a:rPr>
              <a:t>Production / manufacturing facilities</a:t>
            </a:r>
          </a:p>
        </p:txBody>
      </p:sp>
      <p:sp>
        <p:nvSpPr>
          <p:cNvPr id="1658" name="TextBox 1657">
            <a:extLst>
              <a:ext uri="{FF2B5EF4-FFF2-40B4-BE49-F238E27FC236}">
                <a16:creationId xmlns:a16="http://schemas.microsoft.com/office/drawing/2014/main" id="{8F6F1B5F-2964-46F0-C3EA-BBF845D69A3B}"/>
              </a:ext>
            </a:extLst>
          </p:cNvPr>
          <p:cNvSpPr txBox="1"/>
          <p:nvPr/>
        </p:nvSpPr>
        <p:spPr>
          <a:xfrm>
            <a:off x="5000686" y="6166966"/>
            <a:ext cx="917887" cy="180178"/>
          </a:xfrm>
          <a:prstGeom prst="rect">
            <a:avLst/>
          </a:prstGeom>
          <a:noFill/>
        </p:spPr>
        <p:txBody>
          <a:bodyPr wrap="square" rtlCol="0">
            <a:spAutoFit/>
          </a:bodyPr>
          <a:lstStyle/>
          <a:p>
            <a:pPr defTabSz="244938"/>
            <a:r>
              <a:rPr lang="en-AU" sz="571" dirty="0">
                <a:solidFill>
                  <a:prstClr val="black"/>
                </a:solidFill>
                <a:latin typeface="Aptos" panose="02110004020202020204"/>
              </a:rPr>
              <a:t>Bulk materials (Traded)</a:t>
            </a:r>
          </a:p>
        </p:txBody>
      </p:sp>
      <p:sp>
        <p:nvSpPr>
          <p:cNvPr id="1659" name="TextBox 1658">
            <a:extLst>
              <a:ext uri="{FF2B5EF4-FFF2-40B4-BE49-F238E27FC236}">
                <a16:creationId xmlns:a16="http://schemas.microsoft.com/office/drawing/2014/main" id="{C0EE533C-0281-7B95-4DF5-E30C6DBB8BEF}"/>
              </a:ext>
            </a:extLst>
          </p:cNvPr>
          <p:cNvSpPr txBox="1"/>
          <p:nvPr/>
        </p:nvSpPr>
        <p:spPr>
          <a:xfrm>
            <a:off x="5159338" y="6360379"/>
            <a:ext cx="721705" cy="268022"/>
          </a:xfrm>
          <a:prstGeom prst="rect">
            <a:avLst/>
          </a:prstGeom>
          <a:noFill/>
        </p:spPr>
        <p:txBody>
          <a:bodyPr wrap="square" rtlCol="0">
            <a:spAutoFit/>
          </a:bodyPr>
          <a:lstStyle/>
          <a:p>
            <a:pPr defTabSz="244938"/>
            <a:r>
              <a:rPr lang="en-AU" sz="571" dirty="0">
                <a:solidFill>
                  <a:prstClr val="black"/>
                </a:solidFill>
                <a:latin typeface="Aptos" panose="02110004020202020204"/>
              </a:rPr>
              <a:t>Products (Traded)</a:t>
            </a:r>
          </a:p>
        </p:txBody>
      </p:sp>
      <p:sp>
        <p:nvSpPr>
          <p:cNvPr id="1660" name="TextBox 1659">
            <a:extLst>
              <a:ext uri="{FF2B5EF4-FFF2-40B4-BE49-F238E27FC236}">
                <a16:creationId xmlns:a16="http://schemas.microsoft.com/office/drawing/2014/main" id="{7CA561D7-5C0A-10AE-3790-9859A000995A}"/>
              </a:ext>
            </a:extLst>
          </p:cNvPr>
          <p:cNvSpPr txBox="1"/>
          <p:nvPr/>
        </p:nvSpPr>
        <p:spPr>
          <a:xfrm>
            <a:off x="7135850" y="5763074"/>
            <a:ext cx="2435282" cy="180178"/>
          </a:xfrm>
          <a:prstGeom prst="rect">
            <a:avLst/>
          </a:prstGeom>
          <a:noFill/>
        </p:spPr>
        <p:txBody>
          <a:bodyPr wrap="none" rtlCol="0">
            <a:spAutoFit/>
          </a:bodyPr>
          <a:lstStyle/>
          <a:p>
            <a:pPr defTabSz="244938"/>
            <a:r>
              <a:rPr lang="en-AU" sz="571" b="1" dirty="0">
                <a:solidFill>
                  <a:prstClr val="black"/>
                </a:solidFill>
                <a:latin typeface="Aptos" panose="02110004020202020204"/>
              </a:rPr>
              <a:t>Despite the apparent complexity, there is a simple repeating pattern</a:t>
            </a:r>
          </a:p>
        </p:txBody>
      </p:sp>
      <p:sp>
        <p:nvSpPr>
          <p:cNvPr id="1661" name="Rounded Rectangle 1660">
            <a:extLst>
              <a:ext uri="{FF2B5EF4-FFF2-40B4-BE49-F238E27FC236}">
                <a16:creationId xmlns:a16="http://schemas.microsoft.com/office/drawing/2014/main" id="{178A12BE-7A4C-D446-DD17-A5C149A11D7B}"/>
              </a:ext>
            </a:extLst>
          </p:cNvPr>
          <p:cNvSpPr/>
          <p:nvPr/>
        </p:nvSpPr>
        <p:spPr>
          <a:xfrm>
            <a:off x="1836729" y="5580087"/>
            <a:ext cx="1446340" cy="997995"/>
          </a:xfrm>
          <a:prstGeom prst="roundRect">
            <a:avLst>
              <a:gd name="adj" fmla="val 685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1662" name="Rounded Rectangle 1661">
            <a:extLst>
              <a:ext uri="{FF2B5EF4-FFF2-40B4-BE49-F238E27FC236}">
                <a16:creationId xmlns:a16="http://schemas.microsoft.com/office/drawing/2014/main" id="{E1E84B83-7492-AC80-45E4-8F55CDDF210A}"/>
              </a:ext>
            </a:extLst>
          </p:cNvPr>
          <p:cNvSpPr/>
          <p:nvPr/>
        </p:nvSpPr>
        <p:spPr>
          <a:xfrm>
            <a:off x="4492487" y="5760079"/>
            <a:ext cx="1380225" cy="811453"/>
          </a:xfrm>
          <a:prstGeom prst="roundRect">
            <a:avLst>
              <a:gd name="adj" fmla="val 685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1663" name="Rounded Rectangle 1662">
            <a:extLst>
              <a:ext uri="{FF2B5EF4-FFF2-40B4-BE49-F238E27FC236}">
                <a16:creationId xmlns:a16="http://schemas.microsoft.com/office/drawing/2014/main" id="{73DAA03F-D7B0-15CD-267B-078E58D6ED32}"/>
              </a:ext>
            </a:extLst>
          </p:cNvPr>
          <p:cNvSpPr/>
          <p:nvPr/>
        </p:nvSpPr>
        <p:spPr>
          <a:xfrm>
            <a:off x="5947122" y="5760079"/>
            <a:ext cx="4538855" cy="811453"/>
          </a:xfrm>
          <a:prstGeom prst="roundRect">
            <a:avLst>
              <a:gd name="adj" fmla="val 685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1664" name="Oval 1663">
            <a:extLst>
              <a:ext uri="{FF2B5EF4-FFF2-40B4-BE49-F238E27FC236}">
                <a16:creationId xmlns:a16="http://schemas.microsoft.com/office/drawing/2014/main" id="{3C5D6926-D391-6400-3FAD-8F07E576EBC7}"/>
              </a:ext>
            </a:extLst>
          </p:cNvPr>
          <p:cNvSpPr/>
          <p:nvPr/>
        </p:nvSpPr>
        <p:spPr>
          <a:xfrm>
            <a:off x="7713458" y="6101716"/>
            <a:ext cx="612793" cy="21037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71" dirty="0">
                <a:solidFill>
                  <a:prstClr val="white"/>
                </a:solidFill>
                <a:latin typeface="Aptos" panose="02110004020202020204"/>
              </a:rPr>
              <a:t>A facility</a:t>
            </a:r>
          </a:p>
        </p:txBody>
      </p:sp>
      <p:sp>
        <p:nvSpPr>
          <p:cNvPr id="1665" name="Diamond 1664">
            <a:extLst>
              <a:ext uri="{FF2B5EF4-FFF2-40B4-BE49-F238E27FC236}">
                <a16:creationId xmlns:a16="http://schemas.microsoft.com/office/drawing/2014/main" id="{0B9D2EFD-9360-6393-FC48-3074C5A350F7}"/>
              </a:ext>
            </a:extLst>
          </p:cNvPr>
          <p:cNvSpPr/>
          <p:nvPr/>
        </p:nvSpPr>
        <p:spPr>
          <a:xfrm>
            <a:off x="8781761" y="6087341"/>
            <a:ext cx="647923" cy="239121"/>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00" dirty="0">
                <a:solidFill>
                  <a:prstClr val="white"/>
                </a:solidFill>
                <a:latin typeface="Aptos" panose="02110004020202020204"/>
              </a:rPr>
              <a:t>Products or </a:t>
            </a:r>
          </a:p>
          <a:p>
            <a:pPr algn="ctr" defTabSz="244938"/>
            <a:r>
              <a:rPr lang="en-AU" sz="500" dirty="0">
                <a:solidFill>
                  <a:prstClr val="white"/>
                </a:solidFill>
                <a:latin typeface="Aptos" panose="02110004020202020204"/>
              </a:rPr>
              <a:t>materials</a:t>
            </a:r>
          </a:p>
        </p:txBody>
      </p:sp>
      <p:cxnSp>
        <p:nvCxnSpPr>
          <p:cNvPr id="1668" name="Straight Connector 26">
            <a:extLst>
              <a:ext uri="{FF2B5EF4-FFF2-40B4-BE49-F238E27FC236}">
                <a16:creationId xmlns:a16="http://schemas.microsoft.com/office/drawing/2014/main" id="{47A10AC3-F975-9F71-40EB-45659C3C70B8}"/>
              </a:ext>
            </a:extLst>
          </p:cNvPr>
          <p:cNvCxnSpPr>
            <a:cxnSpLocks/>
            <a:stCxn id="1665" idx="1"/>
            <a:endCxn id="1664" idx="6"/>
          </p:cNvCxnSpPr>
          <p:nvPr/>
        </p:nvCxnSpPr>
        <p:spPr>
          <a:xfrm flipH="1">
            <a:off x="8326250" y="6206900"/>
            <a:ext cx="455511"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675" name="Straight Connector 26">
            <a:extLst>
              <a:ext uri="{FF2B5EF4-FFF2-40B4-BE49-F238E27FC236}">
                <a16:creationId xmlns:a16="http://schemas.microsoft.com/office/drawing/2014/main" id="{F49E3A43-C751-FA89-B554-703F61C2AA5E}"/>
              </a:ext>
            </a:extLst>
          </p:cNvPr>
          <p:cNvCxnSpPr>
            <a:cxnSpLocks/>
            <a:stCxn id="1665" idx="3"/>
            <a:endCxn id="1665" idx="2"/>
          </p:cNvCxnSpPr>
          <p:nvPr/>
        </p:nvCxnSpPr>
        <p:spPr>
          <a:xfrm flipH="1">
            <a:off x="9105722" y="6206901"/>
            <a:ext cx="323962" cy="119560"/>
          </a:xfrm>
          <a:prstGeom prst="bentConnector4">
            <a:avLst>
              <a:gd name="adj1" fmla="val -44016"/>
              <a:gd name="adj2" fmla="val 226768"/>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681" name="Rounded Rectangle 1680">
            <a:extLst>
              <a:ext uri="{FF2B5EF4-FFF2-40B4-BE49-F238E27FC236}">
                <a16:creationId xmlns:a16="http://schemas.microsoft.com/office/drawing/2014/main" id="{22612ACD-09FD-5F77-0FEA-8765936D75A0}"/>
              </a:ext>
            </a:extLst>
          </p:cNvPr>
          <p:cNvSpPr/>
          <p:nvPr/>
        </p:nvSpPr>
        <p:spPr>
          <a:xfrm>
            <a:off x="9197170" y="6391637"/>
            <a:ext cx="312211" cy="120405"/>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white"/>
                </a:solidFill>
                <a:latin typeface="Aptos" panose="02110004020202020204"/>
              </a:rPr>
              <a:t>DTE</a:t>
            </a:r>
          </a:p>
        </p:txBody>
      </p:sp>
      <p:sp>
        <p:nvSpPr>
          <p:cNvPr id="1682" name="Rounded Rectangle 1681">
            <a:extLst>
              <a:ext uri="{FF2B5EF4-FFF2-40B4-BE49-F238E27FC236}">
                <a16:creationId xmlns:a16="http://schemas.microsoft.com/office/drawing/2014/main" id="{5E5C28A5-ABB5-3D54-C66A-BA59643CAA19}"/>
              </a:ext>
            </a:extLst>
          </p:cNvPr>
          <p:cNvSpPr/>
          <p:nvPr/>
        </p:nvSpPr>
        <p:spPr>
          <a:xfrm>
            <a:off x="6872953" y="5940161"/>
            <a:ext cx="312211" cy="120405"/>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white"/>
                </a:solidFill>
                <a:latin typeface="Aptos" panose="02110004020202020204"/>
              </a:rPr>
              <a:t>DFR</a:t>
            </a:r>
          </a:p>
        </p:txBody>
      </p:sp>
      <p:sp>
        <p:nvSpPr>
          <p:cNvPr id="1683" name="Rounded Rectangle 1682">
            <a:extLst>
              <a:ext uri="{FF2B5EF4-FFF2-40B4-BE49-F238E27FC236}">
                <a16:creationId xmlns:a16="http://schemas.microsoft.com/office/drawing/2014/main" id="{1A112906-CAF1-026B-9F1B-8FAAE29A2289}"/>
              </a:ext>
            </a:extLst>
          </p:cNvPr>
          <p:cNvSpPr/>
          <p:nvPr/>
        </p:nvSpPr>
        <p:spPr>
          <a:xfrm>
            <a:off x="9694124" y="5906421"/>
            <a:ext cx="312211" cy="120405"/>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white"/>
                </a:solidFill>
                <a:latin typeface="Aptos" panose="02110004020202020204"/>
              </a:rPr>
              <a:t>DPP</a:t>
            </a:r>
          </a:p>
        </p:txBody>
      </p:sp>
      <p:cxnSp>
        <p:nvCxnSpPr>
          <p:cNvPr id="1689" name="Straight Connector 26">
            <a:extLst>
              <a:ext uri="{FF2B5EF4-FFF2-40B4-BE49-F238E27FC236}">
                <a16:creationId xmlns:a16="http://schemas.microsoft.com/office/drawing/2014/main" id="{55B29584-36EE-1475-B787-FEB6B44D3662}"/>
              </a:ext>
            </a:extLst>
          </p:cNvPr>
          <p:cNvCxnSpPr>
            <a:cxnSpLocks/>
            <a:stCxn id="1665" idx="0"/>
            <a:endCxn id="1683" idx="1"/>
          </p:cNvCxnSpPr>
          <p:nvPr/>
        </p:nvCxnSpPr>
        <p:spPr>
          <a:xfrm rot="5400000" flipH="1" flipV="1">
            <a:off x="9339565" y="5732781"/>
            <a:ext cx="120716" cy="588402"/>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693" name="Straight Connector 26">
            <a:extLst>
              <a:ext uri="{FF2B5EF4-FFF2-40B4-BE49-F238E27FC236}">
                <a16:creationId xmlns:a16="http://schemas.microsoft.com/office/drawing/2014/main" id="{70075C40-C18A-4489-1892-B39B2D5FB81F}"/>
              </a:ext>
            </a:extLst>
          </p:cNvPr>
          <p:cNvCxnSpPr>
            <a:cxnSpLocks/>
            <a:stCxn id="1664" idx="0"/>
            <a:endCxn id="1682" idx="3"/>
          </p:cNvCxnSpPr>
          <p:nvPr/>
        </p:nvCxnSpPr>
        <p:spPr>
          <a:xfrm rot="16200000" flipV="1">
            <a:off x="7551834" y="5633696"/>
            <a:ext cx="101353" cy="834690"/>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698" name="TextBox 1697">
            <a:extLst>
              <a:ext uri="{FF2B5EF4-FFF2-40B4-BE49-F238E27FC236}">
                <a16:creationId xmlns:a16="http://schemas.microsoft.com/office/drawing/2014/main" id="{31CA78FD-D571-BA4E-D2A5-F0DC008A22FF}"/>
              </a:ext>
            </a:extLst>
          </p:cNvPr>
          <p:cNvSpPr txBox="1"/>
          <p:nvPr/>
        </p:nvSpPr>
        <p:spPr>
          <a:xfrm>
            <a:off x="9562752" y="6332828"/>
            <a:ext cx="524503" cy="180178"/>
          </a:xfrm>
          <a:prstGeom prst="rect">
            <a:avLst/>
          </a:prstGeom>
          <a:noFill/>
        </p:spPr>
        <p:txBody>
          <a:bodyPr wrap="none" rtlCol="0">
            <a:spAutoFit/>
          </a:bodyPr>
          <a:lstStyle/>
          <a:p>
            <a:pPr defTabSz="244938"/>
            <a:r>
              <a:rPr lang="en-AU" sz="571" dirty="0">
                <a:solidFill>
                  <a:prstClr val="black"/>
                </a:solidFill>
                <a:latin typeface="Aptos" panose="02110004020202020204"/>
              </a:rPr>
              <a:t>Made from</a:t>
            </a:r>
          </a:p>
        </p:txBody>
      </p:sp>
      <p:sp>
        <p:nvSpPr>
          <p:cNvPr id="1699" name="TextBox 1698">
            <a:extLst>
              <a:ext uri="{FF2B5EF4-FFF2-40B4-BE49-F238E27FC236}">
                <a16:creationId xmlns:a16="http://schemas.microsoft.com/office/drawing/2014/main" id="{32B5F16E-CA29-2844-CA5E-A02ADA4A270B}"/>
              </a:ext>
            </a:extLst>
          </p:cNvPr>
          <p:cNvSpPr txBox="1"/>
          <p:nvPr/>
        </p:nvSpPr>
        <p:spPr>
          <a:xfrm>
            <a:off x="9077882" y="5930210"/>
            <a:ext cx="599844" cy="180178"/>
          </a:xfrm>
          <a:prstGeom prst="rect">
            <a:avLst/>
          </a:prstGeom>
          <a:noFill/>
        </p:spPr>
        <p:txBody>
          <a:bodyPr wrap="none" rtlCol="0">
            <a:spAutoFit/>
          </a:bodyPr>
          <a:lstStyle/>
          <a:p>
            <a:pPr defTabSz="244938"/>
            <a:r>
              <a:rPr lang="en-AU" sz="571" dirty="0">
                <a:solidFill>
                  <a:prstClr val="black"/>
                </a:solidFill>
                <a:latin typeface="Aptos" panose="02110004020202020204"/>
              </a:rPr>
              <a:t>Described by</a:t>
            </a:r>
          </a:p>
        </p:txBody>
      </p:sp>
      <p:sp>
        <p:nvSpPr>
          <p:cNvPr id="1700" name="TextBox 1699">
            <a:extLst>
              <a:ext uri="{FF2B5EF4-FFF2-40B4-BE49-F238E27FC236}">
                <a16:creationId xmlns:a16="http://schemas.microsoft.com/office/drawing/2014/main" id="{5B7A13C7-51FD-0EDC-49EE-9E3C3610A37A}"/>
              </a:ext>
            </a:extLst>
          </p:cNvPr>
          <p:cNvSpPr txBox="1"/>
          <p:nvPr/>
        </p:nvSpPr>
        <p:spPr>
          <a:xfrm>
            <a:off x="7300115" y="5968444"/>
            <a:ext cx="599844" cy="180178"/>
          </a:xfrm>
          <a:prstGeom prst="rect">
            <a:avLst/>
          </a:prstGeom>
          <a:noFill/>
        </p:spPr>
        <p:txBody>
          <a:bodyPr wrap="none" rtlCol="0">
            <a:spAutoFit/>
          </a:bodyPr>
          <a:lstStyle/>
          <a:p>
            <a:pPr defTabSz="244938"/>
            <a:r>
              <a:rPr lang="en-AU" sz="571" dirty="0">
                <a:solidFill>
                  <a:prstClr val="black"/>
                </a:solidFill>
                <a:latin typeface="Aptos" panose="02110004020202020204"/>
              </a:rPr>
              <a:t>Described by</a:t>
            </a:r>
          </a:p>
        </p:txBody>
      </p:sp>
      <p:pic>
        <p:nvPicPr>
          <p:cNvPr id="1702" name="Picture 2" descr="Government icon (black) - Free vector icons on creazilla.com">
            <a:extLst>
              <a:ext uri="{FF2B5EF4-FFF2-40B4-BE49-F238E27FC236}">
                <a16:creationId xmlns:a16="http://schemas.microsoft.com/office/drawing/2014/main" id="{8DEA9FD1-4611-1979-E28A-D529628F97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4307" y="6060565"/>
            <a:ext cx="307680" cy="312715"/>
          </a:xfrm>
          <a:prstGeom prst="rect">
            <a:avLst/>
          </a:prstGeom>
          <a:noFill/>
          <a:extLst>
            <a:ext uri="{909E8E84-426E-40DD-AFC4-6F175D3DCCD1}">
              <a14:hiddenFill xmlns:a14="http://schemas.microsoft.com/office/drawing/2010/main">
                <a:solidFill>
                  <a:srgbClr val="FFFFFF"/>
                </a:solidFill>
              </a14:hiddenFill>
            </a:ext>
          </a:extLst>
        </p:spPr>
      </p:pic>
      <p:sp>
        <p:nvSpPr>
          <p:cNvPr id="1703" name="TextBox 1702">
            <a:extLst>
              <a:ext uri="{FF2B5EF4-FFF2-40B4-BE49-F238E27FC236}">
                <a16:creationId xmlns:a16="http://schemas.microsoft.com/office/drawing/2014/main" id="{B236A489-0175-2429-9B8E-F742979B65BD}"/>
              </a:ext>
            </a:extLst>
          </p:cNvPr>
          <p:cNvSpPr txBox="1"/>
          <p:nvPr/>
        </p:nvSpPr>
        <p:spPr>
          <a:xfrm>
            <a:off x="6075790" y="5907522"/>
            <a:ext cx="473206" cy="180178"/>
          </a:xfrm>
          <a:prstGeom prst="rect">
            <a:avLst/>
          </a:prstGeom>
          <a:noFill/>
        </p:spPr>
        <p:txBody>
          <a:bodyPr wrap="none" rtlCol="0">
            <a:spAutoFit/>
          </a:bodyPr>
          <a:lstStyle/>
          <a:p>
            <a:pPr defTabSz="244938"/>
            <a:r>
              <a:rPr lang="en-AU" sz="571" dirty="0">
                <a:solidFill>
                  <a:prstClr val="black"/>
                </a:solidFill>
                <a:latin typeface="Aptos" panose="02110004020202020204"/>
              </a:rPr>
              <a:t>Authority</a:t>
            </a:r>
          </a:p>
        </p:txBody>
      </p:sp>
      <p:cxnSp>
        <p:nvCxnSpPr>
          <p:cNvPr id="1704" name="Straight Connector 26">
            <a:extLst>
              <a:ext uri="{FF2B5EF4-FFF2-40B4-BE49-F238E27FC236}">
                <a16:creationId xmlns:a16="http://schemas.microsoft.com/office/drawing/2014/main" id="{1D57261B-06CE-2011-F29C-60CB15E5E441}"/>
              </a:ext>
            </a:extLst>
          </p:cNvPr>
          <p:cNvCxnSpPr>
            <a:cxnSpLocks/>
            <a:stCxn id="1664" idx="2"/>
            <a:endCxn id="1702" idx="3"/>
          </p:cNvCxnSpPr>
          <p:nvPr/>
        </p:nvCxnSpPr>
        <p:spPr>
          <a:xfrm flipH="1">
            <a:off x="6421986" y="6206901"/>
            <a:ext cx="1291472" cy="1002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701" name="Rounded Rectangle 1700">
            <a:extLst>
              <a:ext uri="{FF2B5EF4-FFF2-40B4-BE49-F238E27FC236}">
                <a16:creationId xmlns:a16="http://schemas.microsoft.com/office/drawing/2014/main" id="{CD0D56E8-2BCE-2053-62B8-D79F04E58C79}"/>
              </a:ext>
            </a:extLst>
          </p:cNvPr>
          <p:cNvSpPr/>
          <p:nvPr/>
        </p:nvSpPr>
        <p:spPr>
          <a:xfrm>
            <a:off x="6900080" y="6342423"/>
            <a:ext cx="312211" cy="12040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white"/>
                </a:solidFill>
                <a:latin typeface="Aptos" panose="02110004020202020204"/>
              </a:rPr>
              <a:t>DIA</a:t>
            </a:r>
          </a:p>
        </p:txBody>
      </p:sp>
      <p:sp>
        <p:nvSpPr>
          <p:cNvPr id="1708" name="Rounded Rectangle 1707">
            <a:extLst>
              <a:ext uri="{FF2B5EF4-FFF2-40B4-BE49-F238E27FC236}">
                <a16:creationId xmlns:a16="http://schemas.microsoft.com/office/drawing/2014/main" id="{F16A808C-7FA4-76FC-A95A-7664626F9409}"/>
              </a:ext>
            </a:extLst>
          </p:cNvPr>
          <p:cNvSpPr/>
          <p:nvPr/>
        </p:nvSpPr>
        <p:spPr>
          <a:xfrm>
            <a:off x="6553886" y="6145855"/>
            <a:ext cx="312211" cy="12040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black"/>
                </a:solidFill>
                <a:latin typeface="Aptos" panose="02110004020202020204"/>
              </a:rPr>
              <a:t>DCC</a:t>
            </a:r>
          </a:p>
        </p:txBody>
      </p:sp>
      <p:sp>
        <p:nvSpPr>
          <p:cNvPr id="1709" name="TextBox 1708">
            <a:extLst>
              <a:ext uri="{FF2B5EF4-FFF2-40B4-BE49-F238E27FC236}">
                <a16:creationId xmlns:a16="http://schemas.microsoft.com/office/drawing/2014/main" id="{9038F3E1-5D8C-7DA0-A8B4-00A7E9CE8E6F}"/>
              </a:ext>
            </a:extLst>
          </p:cNvPr>
          <p:cNvSpPr txBox="1"/>
          <p:nvPr/>
        </p:nvSpPr>
        <p:spPr>
          <a:xfrm>
            <a:off x="6865940" y="6189380"/>
            <a:ext cx="873957" cy="180178"/>
          </a:xfrm>
          <a:prstGeom prst="rect">
            <a:avLst/>
          </a:prstGeom>
          <a:noFill/>
        </p:spPr>
        <p:txBody>
          <a:bodyPr wrap="none" rtlCol="0">
            <a:spAutoFit/>
          </a:bodyPr>
          <a:lstStyle/>
          <a:p>
            <a:pPr defTabSz="244938"/>
            <a:r>
              <a:rPr lang="en-AU" sz="571" dirty="0">
                <a:solidFill>
                  <a:prstClr val="black"/>
                </a:solidFill>
                <a:latin typeface="Aptos" panose="02110004020202020204"/>
              </a:rPr>
              <a:t>Certified / licensed by</a:t>
            </a:r>
          </a:p>
        </p:txBody>
      </p:sp>
      <p:cxnSp>
        <p:nvCxnSpPr>
          <p:cNvPr id="1713" name="Straight Connector 26">
            <a:extLst>
              <a:ext uri="{FF2B5EF4-FFF2-40B4-BE49-F238E27FC236}">
                <a16:creationId xmlns:a16="http://schemas.microsoft.com/office/drawing/2014/main" id="{1BB65A1B-B984-06FB-B4E1-1A147406705D}"/>
              </a:ext>
            </a:extLst>
          </p:cNvPr>
          <p:cNvCxnSpPr>
            <a:cxnSpLocks/>
            <a:stCxn id="1664" idx="4"/>
            <a:endCxn id="1701" idx="3"/>
          </p:cNvCxnSpPr>
          <p:nvPr/>
        </p:nvCxnSpPr>
        <p:spPr>
          <a:xfrm rot="5400000">
            <a:off x="7570803" y="5953574"/>
            <a:ext cx="90541" cy="807564"/>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716" name="TextBox 1715">
            <a:extLst>
              <a:ext uri="{FF2B5EF4-FFF2-40B4-BE49-F238E27FC236}">
                <a16:creationId xmlns:a16="http://schemas.microsoft.com/office/drawing/2014/main" id="{6296B170-7DF5-5253-6085-4DCDB9E0AAE2}"/>
              </a:ext>
            </a:extLst>
          </p:cNvPr>
          <p:cNvSpPr txBox="1"/>
          <p:nvPr/>
        </p:nvSpPr>
        <p:spPr>
          <a:xfrm>
            <a:off x="7394302" y="6385246"/>
            <a:ext cx="575799" cy="180178"/>
          </a:xfrm>
          <a:prstGeom prst="rect">
            <a:avLst/>
          </a:prstGeom>
          <a:noFill/>
        </p:spPr>
        <p:txBody>
          <a:bodyPr wrap="none" rtlCol="0">
            <a:spAutoFit/>
          </a:bodyPr>
          <a:lstStyle/>
          <a:p>
            <a:pPr defTabSz="244938"/>
            <a:r>
              <a:rPr lang="en-AU" sz="571" dirty="0">
                <a:solidFill>
                  <a:prstClr val="black"/>
                </a:solidFill>
                <a:latin typeface="Aptos" panose="02110004020202020204"/>
              </a:rPr>
              <a:t>Identified by</a:t>
            </a:r>
          </a:p>
        </p:txBody>
      </p:sp>
      <p:sp>
        <p:nvSpPr>
          <p:cNvPr id="1730" name="TextBox 1729">
            <a:extLst>
              <a:ext uri="{FF2B5EF4-FFF2-40B4-BE49-F238E27FC236}">
                <a16:creationId xmlns:a16="http://schemas.microsoft.com/office/drawing/2014/main" id="{44CFDBA9-344B-775F-A3B2-45686F1B1549}"/>
              </a:ext>
            </a:extLst>
          </p:cNvPr>
          <p:cNvSpPr txBox="1"/>
          <p:nvPr/>
        </p:nvSpPr>
        <p:spPr>
          <a:xfrm>
            <a:off x="9663756" y="6005397"/>
            <a:ext cx="665980" cy="355867"/>
          </a:xfrm>
          <a:prstGeom prst="rect">
            <a:avLst/>
          </a:prstGeom>
          <a:noFill/>
        </p:spPr>
        <p:txBody>
          <a:bodyPr wrap="square" rtlCol="0">
            <a:spAutoFit/>
          </a:bodyPr>
          <a:lstStyle/>
          <a:p>
            <a:pPr defTabSz="244938"/>
            <a:r>
              <a:rPr lang="en-AU" sz="571" i="1" dirty="0">
                <a:solidFill>
                  <a:prstClr val="black"/>
                </a:solidFill>
                <a:latin typeface="Aptos" panose="02110004020202020204"/>
              </a:rPr>
              <a:t>At model, batch, or item level</a:t>
            </a:r>
          </a:p>
        </p:txBody>
      </p:sp>
      <p:sp>
        <p:nvSpPr>
          <p:cNvPr id="2" name="Rounded Rectangle 1">
            <a:extLst>
              <a:ext uri="{FF2B5EF4-FFF2-40B4-BE49-F238E27FC236}">
                <a16:creationId xmlns:a16="http://schemas.microsoft.com/office/drawing/2014/main" id="{8CC1FA87-CECB-626A-CF5E-8E36DC932746}"/>
              </a:ext>
            </a:extLst>
          </p:cNvPr>
          <p:cNvSpPr/>
          <p:nvPr/>
        </p:nvSpPr>
        <p:spPr>
          <a:xfrm>
            <a:off x="8122102" y="5920516"/>
            <a:ext cx="250391" cy="106114"/>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571" dirty="0">
                <a:solidFill>
                  <a:prstClr val="black"/>
                </a:solidFill>
                <a:latin typeface="Aptos" panose="02110004020202020204"/>
              </a:rPr>
              <a:t>DCC</a:t>
            </a:r>
          </a:p>
        </p:txBody>
      </p:sp>
      <p:cxnSp>
        <p:nvCxnSpPr>
          <p:cNvPr id="3" name="Straight Connector 26">
            <a:extLst>
              <a:ext uri="{FF2B5EF4-FFF2-40B4-BE49-F238E27FC236}">
                <a16:creationId xmlns:a16="http://schemas.microsoft.com/office/drawing/2014/main" id="{E2E6A7E7-28F2-84F6-D255-5ABC96C9D564}"/>
              </a:ext>
            </a:extLst>
          </p:cNvPr>
          <p:cNvCxnSpPr>
            <a:cxnSpLocks/>
            <a:stCxn id="1665" idx="0"/>
            <a:endCxn id="2" idx="3"/>
          </p:cNvCxnSpPr>
          <p:nvPr/>
        </p:nvCxnSpPr>
        <p:spPr>
          <a:xfrm rot="16200000" flipV="1">
            <a:off x="8682224" y="5663842"/>
            <a:ext cx="113768" cy="733229"/>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77FDCBB-AF6D-1DA5-EF2F-7EDCB528DBE6}"/>
              </a:ext>
            </a:extLst>
          </p:cNvPr>
          <p:cNvSpPr txBox="1"/>
          <p:nvPr/>
        </p:nvSpPr>
        <p:spPr>
          <a:xfrm>
            <a:off x="8392035" y="5942971"/>
            <a:ext cx="788999" cy="180178"/>
          </a:xfrm>
          <a:prstGeom prst="rect">
            <a:avLst/>
          </a:prstGeom>
          <a:noFill/>
        </p:spPr>
        <p:txBody>
          <a:bodyPr wrap="none" rtlCol="0">
            <a:spAutoFit/>
          </a:bodyPr>
          <a:lstStyle/>
          <a:p>
            <a:pPr defTabSz="244938"/>
            <a:r>
              <a:rPr lang="en-AU" sz="571" dirty="0">
                <a:solidFill>
                  <a:prstClr val="black"/>
                </a:solidFill>
                <a:latin typeface="Aptos" panose="02110004020202020204"/>
              </a:rPr>
              <a:t>Certified/Tested by</a:t>
            </a:r>
          </a:p>
        </p:txBody>
      </p:sp>
      <p:sp>
        <p:nvSpPr>
          <p:cNvPr id="14" name="Rounded Rectangle 13">
            <a:extLst>
              <a:ext uri="{FF2B5EF4-FFF2-40B4-BE49-F238E27FC236}">
                <a16:creationId xmlns:a16="http://schemas.microsoft.com/office/drawing/2014/main" id="{6CB8DA42-116E-2924-A5DB-BC7C819907FA}"/>
              </a:ext>
            </a:extLst>
          </p:cNvPr>
          <p:cNvSpPr/>
          <p:nvPr/>
        </p:nvSpPr>
        <p:spPr>
          <a:xfrm>
            <a:off x="3349971" y="5581210"/>
            <a:ext cx="1088856" cy="1001498"/>
          </a:xfrm>
          <a:prstGeom prst="roundRect">
            <a:avLst>
              <a:gd name="adj" fmla="val 685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4938"/>
            <a:endParaRPr lang="en-AU" sz="1000">
              <a:solidFill>
                <a:prstClr val="white"/>
              </a:solidFill>
              <a:latin typeface="Aptos" panose="02110004020202020204"/>
            </a:endParaRPr>
          </a:p>
        </p:txBody>
      </p:sp>
      <p:sp>
        <p:nvSpPr>
          <p:cNvPr id="15" name="Oval 14">
            <a:extLst>
              <a:ext uri="{FF2B5EF4-FFF2-40B4-BE49-F238E27FC236}">
                <a16:creationId xmlns:a16="http://schemas.microsoft.com/office/drawing/2014/main" id="{A7A39440-EF63-BF0A-6AB9-5DB60537960B}"/>
              </a:ext>
            </a:extLst>
          </p:cNvPr>
          <p:cNvSpPr/>
          <p:nvPr/>
        </p:nvSpPr>
        <p:spPr>
          <a:xfrm>
            <a:off x="3437398" y="5663119"/>
            <a:ext cx="356975" cy="166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00" dirty="0">
                <a:solidFill>
                  <a:prstClr val="white"/>
                </a:solidFill>
                <a:latin typeface="Aptos" panose="02110004020202020204"/>
              </a:rPr>
              <a:t>Type</a:t>
            </a:r>
          </a:p>
        </p:txBody>
      </p:sp>
      <p:sp>
        <p:nvSpPr>
          <p:cNvPr id="16" name="Triangle 15">
            <a:extLst>
              <a:ext uri="{FF2B5EF4-FFF2-40B4-BE49-F238E27FC236}">
                <a16:creationId xmlns:a16="http://schemas.microsoft.com/office/drawing/2014/main" id="{DE4ADB5A-9FB0-6D6C-464B-06A08898A38B}"/>
              </a:ext>
            </a:extLst>
          </p:cNvPr>
          <p:cNvSpPr/>
          <p:nvPr/>
        </p:nvSpPr>
        <p:spPr>
          <a:xfrm>
            <a:off x="3868629" y="5664192"/>
            <a:ext cx="164810" cy="144464"/>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M</a:t>
            </a:r>
          </a:p>
        </p:txBody>
      </p:sp>
      <p:sp>
        <p:nvSpPr>
          <p:cNvPr id="17" name="Diamond 16">
            <a:extLst>
              <a:ext uri="{FF2B5EF4-FFF2-40B4-BE49-F238E27FC236}">
                <a16:creationId xmlns:a16="http://schemas.microsoft.com/office/drawing/2014/main" id="{A6919DC8-D93D-EC09-338B-0EFEB5ED6281}"/>
              </a:ext>
            </a:extLst>
          </p:cNvPr>
          <p:cNvSpPr/>
          <p:nvPr/>
        </p:nvSpPr>
        <p:spPr>
          <a:xfrm>
            <a:off x="4081414" y="5675799"/>
            <a:ext cx="306213" cy="140638"/>
          </a:xfrm>
          <a:prstGeom prst="diamond">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white"/>
                </a:solidFill>
                <a:latin typeface="Aptos" panose="02110004020202020204"/>
              </a:rPr>
              <a:t>P</a:t>
            </a:r>
          </a:p>
        </p:txBody>
      </p:sp>
      <p:sp>
        <p:nvSpPr>
          <p:cNvPr id="18" name="TextBox 17">
            <a:extLst>
              <a:ext uri="{FF2B5EF4-FFF2-40B4-BE49-F238E27FC236}">
                <a16:creationId xmlns:a16="http://schemas.microsoft.com/office/drawing/2014/main" id="{0FCB23A1-9904-97B3-C01B-4E9E51B29183}"/>
              </a:ext>
            </a:extLst>
          </p:cNvPr>
          <p:cNvSpPr txBox="1"/>
          <p:nvPr/>
        </p:nvSpPr>
        <p:spPr>
          <a:xfrm>
            <a:off x="3390594" y="5831567"/>
            <a:ext cx="917887" cy="268022"/>
          </a:xfrm>
          <a:prstGeom prst="rect">
            <a:avLst/>
          </a:prstGeom>
          <a:noFill/>
        </p:spPr>
        <p:txBody>
          <a:bodyPr wrap="square" rtlCol="0">
            <a:spAutoFit/>
          </a:bodyPr>
          <a:lstStyle/>
          <a:p>
            <a:pPr defTabSz="244938"/>
            <a:r>
              <a:rPr lang="en-AU" sz="571" dirty="0">
                <a:solidFill>
                  <a:prstClr val="black"/>
                </a:solidFill>
                <a:latin typeface="Aptos" panose="02110004020202020204"/>
              </a:rPr>
              <a:t>Products &amp; facilities with UNTP credentials</a:t>
            </a:r>
          </a:p>
        </p:txBody>
      </p:sp>
      <p:sp>
        <p:nvSpPr>
          <p:cNvPr id="25" name="Oval 24">
            <a:extLst>
              <a:ext uri="{FF2B5EF4-FFF2-40B4-BE49-F238E27FC236}">
                <a16:creationId xmlns:a16="http://schemas.microsoft.com/office/drawing/2014/main" id="{88B961DB-BDAB-6334-BCD0-A6918F57C577}"/>
              </a:ext>
            </a:extLst>
          </p:cNvPr>
          <p:cNvSpPr/>
          <p:nvPr/>
        </p:nvSpPr>
        <p:spPr>
          <a:xfrm>
            <a:off x="3437398" y="6129405"/>
            <a:ext cx="356975" cy="166000"/>
          </a:xfrm>
          <a:prstGeom prst="ellips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500" dirty="0">
                <a:solidFill>
                  <a:prstClr val="black"/>
                </a:solidFill>
                <a:latin typeface="Aptos" panose="02110004020202020204"/>
              </a:rPr>
              <a:t>Type</a:t>
            </a:r>
          </a:p>
        </p:txBody>
      </p:sp>
      <p:sp>
        <p:nvSpPr>
          <p:cNvPr id="26" name="Triangle 25">
            <a:extLst>
              <a:ext uri="{FF2B5EF4-FFF2-40B4-BE49-F238E27FC236}">
                <a16:creationId xmlns:a16="http://schemas.microsoft.com/office/drawing/2014/main" id="{9C890C80-5FFB-57F6-0F10-E505C1F1C1EC}"/>
              </a:ext>
            </a:extLst>
          </p:cNvPr>
          <p:cNvSpPr/>
          <p:nvPr/>
        </p:nvSpPr>
        <p:spPr>
          <a:xfrm>
            <a:off x="3868629" y="6130479"/>
            <a:ext cx="164810" cy="144464"/>
          </a:xfrm>
          <a:prstGeom prst="triangle">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black"/>
                </a:solidFill>
                <a:latin typeface="Aptos" panose="02110004020202020204"/>
              </a:rPr>
              <a:t>M</a:t>
            </a:r>
          </a:p>
        </p:txBody>
      </p:sp>
      <p:sp>
        <p:nvSpPr>
          <p:cNvPr id="27" name="Diamond 26">
            <a:extLst>
              <a:ext uri="{FF2B5EF4-FFF2-40B4-BE49-F238E27FC236}">
                <a16:creationId xmlns:a16="http://schemas.microsoft.com/office/drawing/2014/main" id="{17F2995F-7407-D674-DB1A-C799A511EC23}"/>
              </a:ext>
            </a:extLst>
          </p:cNvPr>
          <p:cNvSpPr/>
          <p:nvPr/>
        </p:nvSpPr>
        <p:spPr>
          <a:xfrm>
            <a:off x="4081414" y="6142086"/>
            <a:ext cx="306213" cy="140638"/>
          </a:xfrm>
          <a:prstGeom prst="diamond">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defTabSz="244938"/>
            <a:r>
              <a:rPr lang="en-AU" sz="429" dirty="0">
                <a:solidFill>
                  <a:prstClr val="black"/>
                </a:solidFill>
                <a:latin typeface="Aptos" panose="02110004020202020204"/>
              </a:rPr>
              <a:t>P</a:t>
            </a:r>
          </a:p>
        </p:txBody>
      </p:sp>
      <p:sp>
        <p:nvSpPr>
          <p:cNvPr id="28" name="TextBox 27">
            <a:extLst>
              <a:ext uri="{FF2B5EF4-FFF2-40B4-BE49-F238E27FC236}">
                <a16:creationId xmlns:a16="http://schemas.microsoft.com/office/drawing/2014/main" id="{80EE8238-57C7-6E63-8E6E-D8921E8345C6}"/>
              </a:ext>
            </a:extLst>
          </p:cNvPr>
          <p:cNvSpPr txBox="1"/>
          <p:nvPr/>
        </p:nvSpPr>
        <p:spPr>
          <a:xfrm>
            <a:off x="3390594" y="6297854"/>
            <a:ext cx="917887" cy="355867"/>
          </a:xfrm>
          <a:prstGeom prst="rect">
            <a:avLst/>
          </a:prstGeom>
          <a:noFill/>
        </p:spPr>
        <p:txBody>
          <a:bodyPr wrap="square" rtlCol="0">
            <a:spAutoFit/>
          </a:bodyPr>
          <a:lstStyle/>
          <a:p>
            <a:pPr defTabSz="244938"/>
            <a:r>
              <a:rPr lang="en-AU" sz="571" dirty="0">
                <a:solidFill>
                  <a:prstClr val="black"/>
                </a:solidFill>
                <a:latin typeface="Aptos" panose="02110004020202020204"/>
              </a:rPr>
              <a:t>Products &amp; facilities with PDF / unstructured data</a:t>
            </a:r>
          </a:p>
        </p:txBody>
      </p:sp>
      <p:pic>
        <p:nvPicPr>
          <p:cNvPr id="1026" name="Picture 2" descr="Free PDF File SVG, PNG Icon, Symbol. Download Image.">
            <a:extLst>
              <a:ext uri="{FF2B5EF4-FFF2-40B4-BE49-F238E27FC236}">
                <a16:creationId xmlns:a16="http://schemas.microsoft.com/office/drawing/2014/main" id="{BD11C4BF-41A0-6D82-1455-81F22C60C9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5260" y="2656903"/>
            <a:ext cx="179365" cy="19065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Free PDF File SVG, PNG Icon, Symbol. Download Image.">
            <a:extLst>
              <a:ext uri="{FF2B5EF4-FFF2-40B4-BE49-F238E27FC236}">
                <a16:creationId xmlns:a16="http://schemas.microsoft.com/office/drawing/2014/main" id="{1EC0FFFD-D6CE-6602-9C05-B6DC4B509B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2623" y="2496879"/>
            <a:ext cx="179365" cy="19065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Free PDF File SVG, PNG Icon, Symbol. Download Image.">
            <a:extLst>
              <a:ext uri="{FF2B5EF4-FFF2-40B4-BE49-F238E27FC236}">
                <a16:creationId xmlns:a16="http://schemas.microsoft.com/office/drawing/2014/main" id="{F74A4979-69B7-AB67-AF74-CDDC358C73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1647" y="3086559"/>
            <a:ext cx="179365" cy="19065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Free PDF File SVG, PNG Icon, Symbol. Download Image.">
            <a:extLst>
              <a:ext uri="{FF2B5EF4-FFF2-40B4-BE49-F238E27FC236}">
                <a16:creationId xmlns:a16="http://schemas.microsoft.com/office/drawing/2014/main" id="{27C49270-3707-962C-5D05-B8ED498F9A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0195" y="2476798"/>
            <a:ext cx="179365" cy="18003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Free PDF File SVG, PNG Icon, Symbol. Download Image.">
            <a:extLst>
              <a:ext uri="{FF2B5EF4-FFF2-40B4-BE49-F238E27FC236}">
                <a16:creationId xmlns:a16="http://schemas.microsoft.com/office/drawing/2014/main" id="{5B6AAC61-3E11-E9A7-CE7F-9668655C0C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1409" y="2664820"/>
            <a:ext cx="179365" cy="180035"/>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Free PDF File SVG, PNG Icon, Symbol. Download Image.">
            <a:extLst>
              <a:ext uri="{FF2B5EF4-FFF2-40B4-BE49-F238E27FC236}">
                <a16:creationId xmlns:a16="http://schemas.microsoft.com/office/drawing/2014/main" id="{B276E9C4-A257-1762-DF0A-7E42A4FEB1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0105" y="2701091"/>
            <a:ext cx="179365" cy="1800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Free PDF File SVG, PNG Icon, Symbol. Download Image.">
            <a:extLst>
              <a:ext uri="{FF2B5EF4-FFF2-40B4-BE49-F238E27FC236}">
                <a16:creationId xmlns:a16="http://schemas.microsoft.com/office/drawing/2014/main" id="{64A645E1-FA26-22CB-A2B2-18B1975D4B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8389" y="2566886"/>
            <a:ext cx="179365" cy="18003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Free PDF File SVG, PNG Icon, Symbol. Download Image.">
            <a:extLst>
              <a:ext uri="{FF2B5EF4-FFF2-40B4-BE49-F238E27FC236}">
                <a16:creationId xmlns:a16="http://schemas.microsoft.com/office/drawing/2014/main" id="{029D7DA4-2506-A979-B471-6049C68CC9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5199" y="2678565"/>
            <a:ext cx="179365" cy="18003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Free PDF File SVG, PNG Icon, Symbol. Download Image.">
            <a:extLst>
              <a:ext uri="{FF2B5EF4-FFF2-40B4-BE49-F238E27FC236}">
                <a16:creationId xmlns:a16="http://schemas.microsoft.com/office/drawing/2014/main" id="{E6E15127-5C37-B0F2-96DF-22C4615D47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91465" y="3674741"/>
            <a:ext cx="179365" cy="20742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Free PDF File SVG, PNG Icon, Symbol. Download Image.">
            <a:extLst>
              <a:ext uri="{FF2B5EF4-FFF2-40B4-BE49-F238E27FC236}">
                <a16:creationId xmlns:a16="http://schemas.microsoft.com/office/drawing/2014/main" id="{4AF8AD24-4F64-4D51-2414-CA07BA59A5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9038" y="3713881"/>
            <a:ext cx="179365" cy="207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76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3CC6B-3E78-7773-CC13-0580201F762D}"/>
            </a:ext>
          </a:extLst>
        </p:cNvPr>
        <p:cNvGrpSpPr/>
        <p:nvPr/>
      </p:nvGrpSpPr>
      <p:grpSpPr>
        <a:xfrm>
          <a:off x="0" y="0"/>
          <a:ext cx="0" cy="0"/>
          <a:chOff x="0" y="0"/>
          <a:chExt cx="0" cy="0"/>
        </a:xfrm>
      </p:grpSpPr>
      <p:pic>
        <p:nvPicPr>
          <p:cNvPr id="1026" name="Picture 2" descr="Smelting - Free construction and tools icons">
            <a:extLst>
              <a:ext uri="{FF2B5EF4-FFF2-40B4-BE49-F238E27FC236}">
                <a16:creationId xmlns:a16="http://schemas.microsoft.com/office/drawing/2014/main" id="{C1CE6BC8-5D9E-EA30-7C10-8696C3C23F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1581" y="2789840"/>
            <a:ext cx="470979" cy="5037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Chemical Plant 2 icon - Free vector (SVG) - Free PNG - Copyicon.com">
            <a:extLst>
              <a:ext uri="{FF2B5EF4-FFF2-40B4-BE49-F238E27FC236}">
                <a16:creationId xmlns:a16="http://schemas.microsoft.com/office/drawing/2014/main" id="{21A11A24-919C-1D39-6D1A-C0041FC647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3187" y="2754885"/>
            <a:ext cx="628078" cy="5589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840310F-B743-AD98-5257-4CB15192A204}"/>
              </a:ext>
            </a:extLst>
          </p:cNvPr>
          <p:cNvPicPr>
            <a:picLocks noChangeAspect="1"/>
          </p:cNvPicPr>
          <p:nvPr/>
        </p:nvPicPr>
        <p:blipFill>
          <a:blip r:embed="rId5"/>
          <a:stretch>
            <a:fillRect/>
          </a:stretch>
        </p:blipFill>
        <p:spPr>
          <a:xfrm>
            <a:off x="1244739" y="2680910"/>
            <a:ext cx="810868" cy="721655"/>
          </a:xfrm>
          <a:prstGeom prst="rect">
            <a:avLst/>
          </a:prstGeom>
        </p:spPr>
      </p:pic>
      <p:sp>
        <p:nvSpPr>
          <p:cNvPr id="7" name="TextBox 6">
            <a:extLst>
              <a:ext uri="{FF2B5EF4-FFF2-40B4-BE49-F238E27FC236}">
                <a16:creationId xmlns:a16="http://schemas.microsoft.com/office/drawing/2014/main" id="{D7124FE9-0366-3D29-D4F1-F24914052813}"/>
              </a:ext>
            </a:extLst>
          </p:cNvPr>
          <p:cNvSpPr txBox="1"/>
          <p:nvPr/>
        </p:nvSpPr>
        <p:spPr>
          <a:xfrm>
            <a:off x="1390269" y="2465260"/>
            <a:ext cx="537123"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Mine</a:t>
            </a:r>
          </a:p>
        </p:txBody>
      </p:sp>
      <p:sp>
        <p:nvSpPr>
          <p:cNvPr id="8" name="TextBox 7">
            <a:extLst>
              <a:ext uri="{FF2B5EF4-FFF2-40B4-BE49-F238E27FC236}">
                <a16:creationId xmlns:a16="http://schemas.microsoft.com/office/drawing/2014/main" id="{A496BE06-3BAB-C97B-BF35-2E3C24D1EC05}"/>
              </a:ext>
            </a:extLst>
          </p:cNvPr>
          <p:cNvSpPr txBox="1"/>
          <p:nvPr/>
        </p:nvSpPr>
        <p:spPr>
          <a:xfrm>
            <a:off x="8262108" y="2465260"/>
            <a:ext cx="124384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Manufacturer</a:t>
            </a:r>
          </a:p>
        </p:txBody>
      </p:sp>
      <p:sp>
        <p:nvSpPr>
          <p:cNvPr id="9" name="TextBox 8">
            <a:extLst>
              <a:ext uri="{FF2B5EF4-FFF2-40B4-BE49-F238E27FC236}">
                <a16:creationId xmlns:a16="http://schemas.microsoft.com/office/drawing/2014/main" id="{E4ED2E6B-96D1-EF50-43D3-86D5FABFBB7C}"/>
              </a:ext>
            </a:extLst>
          </p:cNvPr>
          <p:cNvSpPr txBox="1"/>
          <p:nvPr/>
        </p:nvSpPr>
        <p:spPr>
          <a:xfrm>
            <a:off x="4941704" y="2465260"/>
            <a:ext cx="677750"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Refiner</a:t>
            </a:r>
          </a:p>
        </p:txBody>
      </p:sp>
      <p:sp>
        <p:nvSpPr>
          <p:cNvPr id="10" name="TextBox 9">
            <a:extLst>
              <a:ext uri="{FF2B5EF4-FFF2-40B4-BE49-F238E27FC236}">
                <a16:creationId xmlns:a16="http://schemas.microsoft.com/office/drawing/2014/main" id="{C07469EF-12FA-84A4-7425-A82CD1BAA77A}"/>
              </a:ext>
            </a:extLst>
          </p:cNvPr>
          <p:cNvSpPr txBox="1"/>
          <p:nvPr/>
        </p:nvSpPr>
        <p:spPr>
          <a:xfrm>
            <a:off x="10139477" y="2484261"/>
            <a:ext cx="1272123"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OEM</a:t>
            </a:r>
          </a:p>
        </p:txBody>
      </p:sp>
      <p:pic>
        <p:nvPicPr>
          <p:cNvPr id="15" name="Picture 6" descr="Factory Icon in Material Design">
            <a:extLst>
              <a:ext uri="{FF2B5EF4-FFF2-40B4-BE49-F238E27FC236}">
                <a16:creationId xmlns:a16="http://schemas.microsoft.com/office/drawing/2014/main" id="{90807D95-43C9-1C96-D2AF-7ED706036E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48683" y="2746815"/>
            <a:ext cx="637146" cy="56704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4" descr="Car manufacturing - Free industry icons">
            <a:extLst>
              <a:ext uri="{FF2B5EF4-FFF2-40B4-BE49-F238E27FC236}">
                <a16:creationId xmlns:a16="http://schemas.microsoft.com/office/drawing/2014/main" id="{33759BAB-DE56-FE48-F7CE-67CCD7F6BB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89455" y="2789840"/>
            <a:ext cx="540140" cy="480713"/>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D4D4F53F-95D1-0A1A-CF32-FA184EEF3D83}"/>
              </a:ext>
            </a:extLst>
          </p:cNvPr>
          <p:cNvSpPr txBox="1"/>
          <p:nvPr/>
        </p:nvSpPr>
        <p:spPr>
          <a:xfrm>
            <a:off x="3134422" y="2465260"/>
            <a:ext cx="717026"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Smelter</a:t>
            </a:r>
          </a:p>
        </p:txBody>
      </p:sp>
      <p:sp>
        <p:nvSpPr>
          <p:cNvPr id="36" name="TextBox 35">
            <a:extLst>
              <a:ext uri="{FF2B5EF4-FFF2-40B4-BE49-F238E27FC236}">
                <a16:creationId xmlns:a16="http://schemas.microsoft.com/office/drawing/2014/main" id="{95383BED-A73B-63BA-7E84-9B89EF0244E9}"/>
              </a:ext>
            </a:extLst>
          </p:cNvPr>
          <p:cNvSpPr txBox="1"/>
          <p:nvPr/>
        </p:nvSpPr>
        <p:spPr>
          <a:xfrm>
            <a:off x="6605443" y="2465260"/>
            <a:ext cx="104360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Fabricator</a:t>
            </a:r>
          </a:p>
        </p:txBody>
      </p:sp>
      <p:pic>
        <p:nvPicPr>
          <p:cNvPr id="1030" name="Picture 6" descr="2,500+ Gravel Icon Stock Illustrations, Royalty-Free Vector Graphics &amp; Clip  Art - iStock">
            <a:extLst>
              <a:ext uri="{FF2B5EF4-FFF2-40B4-BE49-F238E27FC236}">
                <a16:creationId xmlns:a16="http://schemas.microsoft.com/office/drawing/2014/main" id="{CCAE4C7A-56D5-391C-905E-28E204FD0D1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114" t="15270" r="15934" b="16995"/>
          <a:stretch/>
        </p:blipFill>
        <p:spPr bwMode="auto">
          <a:xfrm>
            <a:off x="1484281" y="3726033"/>
            <a:ext cx="370651" cy="3952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got - Free business icons">
            <a:extLst>
              <a:ext uri="{FF2B5EF4-FFF2-40B4-BE49-F238E27FC236}">
                <a16:creationId xmlns:a16="http://schemas.microsoft.com/office/drawing/2014/main" id="{94BFB3B4-6C4E-FFF6-B0A0-950E22B40E5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13916" y="3739841"/>
            <a:ext cx="407859" cy="436275"/>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55B0FE64-07DD-8EF2-9A64-0DB95A721436}"/>
              </a:ext>
            </a:extLst>
          </p:cNvPr>
          <p:cNvSpPr txBox="1"/>
          <p:nvPr/>
        </p:nvSpPr>
        <p:spPr>
          <a:xfrm>
            <a:off x="1237286" y="3507947"/>
            <a:ext cx="102294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Concentrate</a:t>
            </a:r>
          </a:p>
        </p:txBody>
      </p:sp>
      <p:sp>
        <p:nvSpPr>
          <p:cNvPr id="43" name="TextBox 42">
            <a:extLst>
              <a:ext uri="{FF2B5EF4-FFF2-40B4-BE49-F238E27FC236}">
                <a16:creationId xmlns:a16="http://schemas.microsoft.com/office/drawing/2014/main" id="{9672B2A4-34FB-4D04-DE5E-8E7843FEF694}"/>
              </a:ext>
            </a:extLst>
          </p:cNvPr>
          <p:cNvSpPr txBox="1"/>
          <p:nvPr/>
        </p:nvSpPr>
        <p:spPr>
          <a:xfrm>
            <a:off x="8553618" y="3507947"/>
            <a:ext cx="883135"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Battery</a:t>
            </a:r>
          </a:p>
        </p:txBody>
      </p:sp>
      <p:sp>
        <p:nvSpPr>
          <p:cNvPr id="44" name="TextBox 43">
            <a:extLst>
              <a:ext uri="{FF2B5EF4-FFF2-40B4-BE49-F238E27FC236}">
                <a16:creationId xmlns:a16="http://schemas.microsoft.com/office/drawing/2014/main" id="{CDAAF254-F2E9-5A50-57DA-AAB1E1AC66C7}"/>
              </a:ext>
            </a:extLst>
          </p:cNvPr>
          <p:cNvSpPr txBox="1"/>
          <p:nvPr/>
        </p:nvSpPr>
        <p:spPr>
          <a:xfrm>
            <a:off x="4930131" y="3507947"/>
            <a:ext cx="82427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Cathodes</a:t>
            </a:r>
          </a:p>
        </p:txBody>
      </p:sp>
      <p:sp>
        <p:nvSpPr>
          <p:cNvPr id="45" name="TextBox 44">
            <a:extLst>
              <a:ext uri="{FF2B5EF4-FFF2-40B4-BE49-F238E27FC236}">
                <a16:creationId xmlns:a16="http://schemas.microsoft.com/office/drawing/2014/main" id="{0D937BA7-AD04-A077-5B54-EFBFEBF083C7}"/>
              </a:ext>
            </a:extLst>
          </p:cNvPr>
          <p:cNvSpPr txBox="1"/>
          <p:nvPr/>
        </p:nvSpPr>
        <p:spPr>
          <a:xfrm>
            <a:off x="10341823" y="3472394"/>
            <a:ext cx="883135"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EV</a:t>
            </a:r>
          </a:p>
        </p:txBody>
      </p:sp>
      <p:sp>
        <p:nvSpPr>
          <p:cNvPr id="47" name="TextBox 46">
            <a:extLst>
              <a:ext uri="{FF2B5EF4-FFF2-40B4-BE49-F238E27FC236}">
                <a16:creationId xmlns:a16="http://schemas.microsoft.com/office/drawing/2014/main" id="{3DFB78CD-D0BD-84F3-DC0E-72FAB817E092}"/>
              </a:ext>
            </a:extLst>
          </p:cNvPr>
          <p:cNvSpPr txBox="1"/>
          <p:nvPr/>
        </p:nvSpPr>
        <p:spPr>
          <a:xfrm>
            <a:off x="3156888" y="3507947"/>
            <a:ext cx="618926"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Blister</a:t>
            </a:r>
          </a:p>
        </p:txBody>
      </p:sp>
      <p:sp>
        <p:nvSpPr>
          <p:cNvPr id="48" name="TextBox 47">
            <a:extLst>
              <a:ext uri="{FF2B5EF4-FFF2-40B4-BE49-F238E27FC236}">
                <a16:creationId xmlns:a16="http://schemas.microsoft.com/office/drawing/2014/main" id="{DA7BD8F4-A9B1-19AD-8296-1BA6A348B396}"/>
              </a:ext>
            </a:extLst>
          </p:cNvPr>
          <p:cNvSpPr txBox="1"/>
          <p:nvPr/>
        </p:nvSpPr>
        <p:spPr>
          <a:xfrm>
            <a:off x="7013949" y="3507947"/>
            <a:ext cx="49078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Foil</a:t>
            </a:r>
          </a:p>
        </p:txBody>
      </p:sp>
      <p:pic>
        <p:nvPicPr>
          <p:cNvPr id="1040" name="Picture 16" descr="Bullion, gold, ingot, meta, metal, nugget, precious icon - Download on  Iconfinder">
            <a:extLst>
              <a:ext uri="{FF2B5EF4-FFF2-40B4-BE49-F238E27FC236}">
                <a16:creationId xmlns:a16="http://schemas.microsoft.com/office/drawing/2014/main" id="{D8362D47-AE30-6E2B-FD25-93513567575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5932" y="3689069"/>
            <a:ext cx="470979" cy="50379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luminum foil icon 37133487 Vector Art at Vecteezy">
            <a:extLst>
              <a:ext uri="{FF2B5EF4-FFF2-40B4-BE49-F238E27FC236}">
                <a16:creationId xmlns:a16="http://schemas.microsoft.com/office/drawing/2014/main" id="{9B9337D4-ED7C-98FE-E650-6FFAC6A1447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07158" y="3792741"/>
            <a:ext cx="441208" cy="29591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0" descr="ev battery outline icon Stock Vector | Adobe Stock">
            <a:extLst>
              <a:ext uri="{FF2B5EF4-FFF2-40B4-BE49-F238E27FC236}">
                <a16:creationId xmlns:a16="http://schemas.microsoft.com/office/drawing/2014/main" id="{743C1BA9-72C0-CC3A-C909-743E3BC0D90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8710249" y="3798790"/>
            <a:ext cx="412986" cy="386086"/>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Electric car - Free transport icons">
            <a:extLst>
              <a:ext uri="{FF2B5EF4-FFF2-40B4-BE49-F238E27FC236}">
                <a16:creationId xmlns:a16="http://schemas.microsoft.com/office/drawing/2014/main" id="{9C13B3ED-C911-0BEE-E0B0-41E77D4BD95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521484" y="3661304"/>
            <a:ext cx="508111" cy="543513"/>
          </a:xfrm>
          <a:prstGeom prst="rect">
            <a:avLst/>
          </a:prstGeom>
          <a:noFill/>
          <a:extLst>
            <a:ext uri="{909E8E84-426E-40DD-AFC4-6F175D3DCCD1}">
              <a14:hiddenFill xmlns:a14="http://schemas.microsoft.com/office/drawing/2010/main">
                <a:solidFill>
                  <a:srgbClr val="FFFFFF"/>
                </a:solidFill>
              </a14:hiddenFill>
            </a:ext>
          </a:extLst>
        </p:spPr>
      </p:pic>
      <p:sp>
        <p:nvSpPr>
          <p:cNvPr id="132" name="TextBox 131">
            <a:extLst>
              <a:ext uri="{FF2B5EF4-FFF2-40B4-BE49-F238E27FC236}">
                <a16:creationId xmlns:a16="http://schemas.microsoft.com/office/drawing/2014/main" id="{EE300B3A-78D5-1E63-A9E0-A1EDCD8E5DE8}"/>
              </a:ext>
            </a:extLst>
          </p:cNvPr>
          <p:cNvSpPr txBox="1"/>
          <p:nvPr/>
        </p:nvSpPr>
        <p:spPr>
          <a:xfrm>
            <a:off x="1095182" y="4109407"/>
            <a:ext cx="112374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Consignment ID</a:t>
            </a:r>
          </a:p>
        </p:txBody>
      </p:sp>
      <p:sp>
        <p:nvSpPr>
          <p:cNvPr id="133" name="TextBox 132">
            <a:extLst>
              <a:ext uri="{FF2B5EF4-FFF2-40B4-BE49-F238E27FC236}">
                <a16:creationId xmlns:a16="http://schemas.microsoft.com/office/drawing/2014/main" id="{D0717FF7-2A05-A968-6C3A-DF11A0EB9A76}"/>
              </a:ext>
            </a:extLst>
          </p:cNvPr>
          <p:cNvSpPr txBox="1"/>
          <p:nvPr/>
        </p:nvSpPr>
        <p:spPr>
          <a:xfrm>
            <a:off x="3108069" y="4109407"/>
            <a:ext cx="67991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4" name="TextBox 133">
            <a:extLst>
              <a:ext uri="{FF2B5EF4-FFF2-40B4-BE49-F238E27FC236}">
                <a16:creationId xmlns:a16="http://schemas.microsoft.com/office/drawing/2014/main" id="{54DE5349-712B-143B-9F51-94154723004A}"/>
              </a:ext>
            </a:extLst>
          </p:cNvPr>
          <p:cNvSpPr txBox="1"/>
          <p:nvPr/>
        </p:nvSpPr>
        <p:spPr>
          <a:xfrm>
            <a:off x="4941602" y="4109407"/>
            <a:ext cx="67991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5" name="TextBox 134">
            <a:extLst>
              <a:ext uri="{FF2B5EF4-FFF2-40B4-BE49-F238E27FC236}">
                <a16:creationId xmlns:a16="http://schemas.microsoft.com/office/drawing/2014/main" id="{D151E41C-1C25-3C80-EC5D-DC077A066F94}"/>
              </a:ext>
            </a:extLst>
          </p:cNvPr>
          <p:cNvSpPr txBox="1"/>
          <p:nvPr/>
        </p:nvSpPr>
        <p:spPr>
          <a:xfrm>
            <a:off x="6849658" y="4109407"/>
            <a:ext cx="67991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6" name="TextBox 135">
            <a:extLst>
              <a:ext uri="{FF2B5EF4-FFF2-40B4-BE49-F238E27FC236}">
                <a16:creationId xmlns:a16="http://schemas.microsoft.com/office/drawing/2014/main" id="{923D28BB-E906-F8A7-BC56-63FD589D85CE}"/>
              </a:ext>
            </a:extLst>
          </p:cNvPr>
          <p:cNvSpPr txBox="1"/>
          <p:nvPr/>
        </p:nvSpPr>
        <p:spPr>
          <a:xfrm>
            <a:off x="8548683" y="4109407"/>
            <a:ext cx="75516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Serial No.</a:t>
            </a:r>
          </a:p>
        </p:txBody>
      </p:sp>
      <p:sp>
        <p:nvSpPr>
          <p:cNvPr id="137" name="TextBox 136">
            <a:extLst>
              <a:ext uri="{FF2B5EF4-FFF2-40B4-BE49-F238E27FC236}">
                <a16:creationId xmlns:a16="http://schemas.microsoft.com/office/drawing/2014/main" id="{323EE042-9872-CFB4-289B-E0881E1CF00A}"/>
              </a:ext>
            </a:extLst>
          </p:cNvPr>
          <p:cNvSpPr txBox="1"/>
          <p:nvPr/>
        </p:nvSpPr>
        <p:spPr>
          <a:xfrm>
            <a:off x="10465117" y="4120699"/>
            <a:ext cx="392767"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VIN</a:t>
            </a:r>
          </a:p>
        </p:txBody>
      </p:sp>
      <p:pic>
        <p:nvPicPr>
          <p:cNvPr id="140" name="Picture 28" descr="Vector Design Extrusion Icon Style | Premium Vector">
            <a:extLst>
              <a:ext uri="{FF2B5EF4-FFF2-40B4-BE49-F238E27FC236}">
                <a16:creationId xmlns:a16="http://schemas.microsoft.com/office/drawing/2014/main" id="{0EE2E691-0E88-55DE-D0D8-FC344603BE3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99833" y="2754885"/>
            <a:ext cx="560817" cy="599891"/>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35A97E26-9007-5F26-4B58-CC9E236F5D12}"/>
              </a:ext>
            </a:extLst>
          </p:cNvPr>
          <p:cNvSpPr/>
          <p:nvPr/>
        </p:nvSpPr>
        <p:spPr>
          <a:xfrm>
            <a:off x="8690662" y="1976515"/>
            <a:ext cx="384171"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5" name="TextBox 34">
            <a:extLst>
              <a:ext uri="{FF2B5EF4-FFF2-40B4-BE49-F238E27FC236}">
                <a16:creationId xmlns:a16="http://schemas.microsoft.com/office/drawing/2014/main" id="{4DA5CC01-CFA9-AB2E-AFDF-6953C71B419E}"/>
              </a:ext>
            </a:extLst>
          </p:cNvPr>
          <p:cNvSpPr txBox="1"/>
          <p:nvPr/>
        </p:nvSpPr>
        <p:spPr>
          <a:xfrm>
            <a:off x="1369698" y="3209613"/>
            <a:ext cx="5599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Site ID</a:t>
            </a:r>
          </a:p>
        </p:txBody>
      </p:sp>
      <p:sp>
        <p:nvSpPr>
          <p:cNvPr id="37" name="TextBox 36">
            <a:extLst>
              <a:ext uri="{FF2B5EF4-FFF2-40B4-BE49-F238E27FC236}">
                <a16:creationId xmlns:a16="http://schemas.microsoft.com/office/drawing/2014/main" id="{CF41DADE-AEC0-96B5-8C1A-9DAACF577373}"/>
              </a:ext>
            </a:extLst>
          </p:cNvPr>
          <p:cNvSpPr txBox="1"/>
          <p:nvPr/>
        </p:nvSpPr>
        <p:spPr>
          <a:xfrm>
            <a:off x="3193722" y="3275086"/>
            <a:ext cx="583738"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0" name="TextBox 39">
            <a:extLst>
              <a:ext uri="{FF2B5EF4-FFF2-40B4-BE49-F238E27FC236}">
                <a16:creationId xmlns:a16="http://schemas.microsoft.com/office/drawing/2014/main" id="{93F68806-1CA4-17D2-B89A-120AF1681E26}"/>
              </a:ext>
            </a:extLst>
          </p:cNvPr>
          <p:cNvSpPr txBox="1"/>
          <p:nvPr/>
        </p:nvSpPr>
        <p:spPr>
          <a:xfrm>
            <a:off x="8568016" y="3256173"/>
            <a:ext cx="59276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OSH ID</a:t>
            </a:r>
          </a:p>
        </p:txBody>
      </p:sp>
      <p:sp>
        <p:nvSpPr>
          <p:cNvPr id="41" name="TextBox 40">
            <a:extLst>
              <a:ext uri="{FF2B5EF4-FFF2-40B4-BE49-F238E27FC236}">
                <a16:creationId xmlns:a16="http://schemas.microsoft.com/office/drawing/2014/main" id="{83FA26C8-BD2E-C5AB-7B7B-4BE06635D467}"/>
              </a:ext>
            </a:extLst>
          </p:cNvPr>
          <p:cNvSpPr txBox="1"/>
          <p:nvPr/>
        </p:nvSpPr>
        <p:spPr>
          <a:xfrm>
            <a:off x="4951272" y="3261523"/>
            <a:ext cx="583738"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9" name="TextBox 48">
            <a:extLst>
              <a:ext uri="{FF2B5EF4-FFF2-40B4-BE49-F238E27FC236}">
                <a16:creationId xmlns:a16="http://schemas.microsoft.com/office/drawing/2014/main" id="{12D9E718-9AC4-6DBB-F29C-0772900AFEAD}"/>
              </a:ext>
            </a:extLst>
          </p:cNvPr>
          <p:cNvSpPr txBox="1"/>
          <p:nvPr/>
        </p:nvSpPr>
        <p:spPr>
          <a:xfrm>
            <a:off x="6951126" y="3293634"/>
            <a:ext cx="41833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GLN</a:t>
            </a:r>
          </a:p>
        </p:txBody>
      </p:sp>
      <p:sp>
        <p:nvSpPr>
          <p:cNvPr id="50" name="TextBox 49">
            <a:extLst>
              <a:ext uri="{FF2B5EF4-FFF2-40B4-BE49-F238E27FC236}">
                <a16:creationId xmlns:a16="http://schemas.microsoft.com/office/drawing/2014/main" id="{3D71FC5B-4735-6E39-67E4-6AEB6C8F0097}"/>
              </a:ext>
            </a:extLst>
          </p:cNvPr>
          <p:cNvSpPr txBox="1"/>
          <p:nvPr/>
        </p:nvSpPr>
        <p:spPr>
          <a:xfrm>
            <a:off x="10341823" y="3275085"/>
            <a:ext cx="93532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Company ID</a:t>
            </a:r>
          </a:p>
        </p:txBody>
      </p:sp>
      <p:sp>
        <p:nvSpPr>
          <p:cNvPr id="31" name="Rounded Rectangle 30">
            <a:extLst>
              <a:ext uri="{FF2B5EF4-FFF2-40B4-BE49-F238E27FC236}">
                <a16:creationId xmlns:a16="http://schemas.microsoft.com/office/drawing/2014/main" id="{71EB6C3B-D1B6-B3B3-5DAC-B2EC217027DD}"/>
              </a:ext>
            </a:extLst>
          </p:cNvPr>
          <p:cNvSpPr/>
          <p:nvPr/>
        </p:nvSpPr>
        <p:spPr>
          <a:xfrm>
            <a:off x="10578095" y="1976515"/>
            <a:ext cx="384171"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2" name="Rounded Rectangle 31">
            <a:extLst>
              <a:ext uri="{FF2B5EF4-FFF2-40B4-BE49-F238E27FC236}">
                <a16:creationId xmlns:a16="http://schemas.microsoft.com/office/drawing/2014/main" id="{03DC4110-2B44-1797-1946-23CE17667958}"/>
              </a:ext>
            </a:extLst>
          </p:cNvPr>
          <p:cNvSpPr/>
          <p:nvPr/>
        </p:nvSpPr>
        <p:spPr>
          <a:xfrm>
            <a:off x="6929717" y="1976515"/>
            <a:ext cx="384171"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3" name="Rounded Rectangle 32">
            <a:extLst>
              <a:ext uri="{FF2B5EF4-FFF2-40B4-BE49-F238E27FC236}">
                <a16:creationId xmlns:a16="http://schemas.microsoft.com/office/drawing/2014/main" id="{DDBC54BE-E45E-D34B-B6C1-6114E291908B}"/>
              </a:ext>
            </a:extLst>
          </p:cNvPr>
          <p:cNvSpPr/>
          <p:nvPr/>
        </p:nvSpPr>
        <p:spPr>
          <a:xfrm>
            <a:off x="5087081" y="1976515"/>
            <a:ext cx="384171"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8" name="Rounded Rectangle 37">
            <a:extLst>
              <a:ext uri="{FF2B5EF4-FFF2-40B4-BE49-F238E27FC236}">
                <a16:creationId xmlns:a16="http://schemas.microsoft.com/office/drawing/2014/main" id="{6E1FB84F-4725-F240-FE55-578AA73BB47D}"/>
              </a:ext>
            </a:extLst>
          </p:cNvPr>
          <p:cNvSpPr/>
          <p:nvPr/>
        </p:nvSpPr>
        <p:spPr>
          <a:xfrm>
            <a:off x="3295502" y="1976515"/>
            <a:ext cx="384171"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9" name="Rounded Rectangle 38">
            <a:extLst>
              <a:ext uri="{FF2B5EF4-FFF2-40B4-BE49-F238E27FC236}">
                <a16:creationId xmlns:a16="http://schemas.microsoft.com/office/drawing/2014/main" id="{41931E26-8888-EEC8-7610-3400B2EE9670}"/>
              </a:ext>
            </a:extLst>
          </p:cNvPr>
          <p:cNvSpPr/>
          <p:nvPr/>
        </p:nvSpPr>
        <p:spPr>
          <a:xfrm>
            <a:off x="1473288" y="1976515"/>
            <a:ext cx="384171"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cxnSp>
        <p:nvCxnSpPr>
          <p:cNvPr id="51" name="Straight Arrow Connector 50">
            <a:extLst>
              <a:ext uri="{FF2B5EF4-FFF2-40B4-BE49-F238E27FC236}">
                <a16:creationId xmlns:a16="http://schemas.microsoft.com/office/drawing/2014/main" id="{FA163231-FF26-4B6B-499D-B9398286CEC0}"/>
              </a:ext>
            </a:extLst>
          </p:cNvPr>
          <p:cNvCxnSpPr>
            <a:stCxn id="16" idx="1"/>
            <a:endCxn id="4" idx="3"/>
          </p:cNvCxnSpPr>
          <p:nvPr/>
        </p:nvCxnSpPr>
        <p:spPr>
          <a:xfrm rot="10800000">
            <a:off x="9074833" y="2100189"/>
            <a:ext cx="1414622" cy="93000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50">
            <a:extLst>
              <a:ext uri="{FF2B5EF4-FFF2-40B4-BE49-F238E27FC236}">
                <a16:creationId xmlns:a16="http://schemas.microsoft.com/office/drawing/2014/main" id="{F8376DC2-137C-B4D1-F48B-D6B230366EC7}"/>
              </a:ext>
            </a:extLst>
          </p:cNvPr>
          <p:cNvCxnSpPr>
            <a:cxnSpLocks/>
            <a:stCxn id="15" idx="1"/>
            <a:endCxn id="32" idx="3"/>
          </p:cNvCxnSpPr>
          <p:nvPr/>
        </p:nvCxnSpPr>
        <p:spPr>
          <a:xfrm rot="10800000">
            <a:off x="7313888" y="2100189"/>
            <a:ext cx="1234795" cy="930150"/>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0">
            <a:extLst>
              <a:ext uri="{FF2B5EF4-FFF2-40B4-BE49-F238E27FC236}">
                <a16:creationId xmlns:a16="http://schemas.microsoft.com/office/drawing/2014/main" id="{24C7F5F9-97ED-2D93-81CE-8E1F2403C051}"/>
              </a:ext>
            </a:extLst>
          </p:cNvPr>
          <p:cNvCxnSpPr>
            <a:cxnSpLocks/>
            <a:stCxn id="140" idx="1"/>
            <a:endCxn id="33" idx="3"/>
          </p:cNvCxnSpPr>
          <p:nvPr/>
        </p:nvCxnSpPr>
        <p:spPr>
          <a:xfrm rot="10800000">
            <a:off x="5471253" y="2100189"/>
            <a:ext cx="1428581" cy="954642"/>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0">
            <a:extLst>
              <a:ext uri="{FF2B5EF4-FFF2-40B4-BE49-F238E27FC236}">
                <a16:creationId xmlns:a16="http://schemas.microsoft.com/office/drawing/2014/main" id="{4831B077-2B91-D566-EFFD-C57649F2AE96}"/>
              </a:ext>
            </a:extLst>
          </p:cNvPr>
          <p:cNvCxnSpPr>
            <a:cxnSpLocks/>
            <a:stCxn id="31" idx="2"/>
            <a:endCxn id="10" idx="0"/>
          </p:cNvCxnSpPr>
          <p:nvPr/>
        </p:nvCxnSpPr>
        <p:spPr>
          <a:xfrm>
            <a:off x="10770181" y="2223863"/>
            <a:ext cx="5358" cy="260398"/>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50">
            <a:extLst>
              <a:ext uri="{FF2B5EF4-FFF2-40B4-BE49-F238E27FC236}">
                <a16:creationId xmlns:a16="http://schemas.microsoft.com/office/drawing/2014/main" id="{0F095C7C-13A2-C299-7761-0C0CBC63AE5C}"/>
              </a:ext>
            </a:extLst>
          </p:cNvPr>
          <p:cNvCxnSpPr>
            <a:cxnSpLocks/>
            <a:stCxn id="4" idx="2"/>
            <a:endCxn id="8" idx="0"/>
          </p:cNvCxnSpPr>
          <p:nvPr/>
        </p:nvCxnSpPr>
        <p:spPr>
          <a:xfrm>
            <a:off x="8882748" y="2223863"/>
            <a:ext cx="128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5" name="Straight Arrow Connector 50">
            <a:extLst>
              <a:ext uri="{FF2B5EF4-FFF2-40B4-BE49-F238E27FC236}">
                <a16:creationId xmlns:a16="http://schemas.microsoft.com/office/drawing/2014/main" id="{9E654417-FED5-55DA-1BA0-090CDA7B5DCB}"/>
              </a:ext>
            </a:extLst>
          </p:cNvPr>
          <p:cNvCxnSpPr>
            <a:cxnSpLocks/>
            <a:stCxn id="32" idx="2"/>
            <a:endCxn id="36" idx="0"/>
          </p:cNvCxnSpPr>
          <p:nvPr/>
        </p:nvCxnSpPr>
        <p:spPr>
          <a:xfrm>
            <a:off x="7121803" y="2223863"/>
            <a:ext cx="544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9" name="Straight Arrow Connector 50">
            <a:extLst>
              <a:ext uri="{FF2B5EF4-FFF2-40B4-BE49-F238E27FC236}">
                <a16:creationId xmlns:a16="http://schemas.microsoft.com/office/drawing/2014/main" id="{858EC8C1-F049-BD7A-2857-CB72C20849FA}"/>
              </a:ext>
            </a:extLst>
          </p:cNvPr>
          <p:cNvCxnSpPr>
            <a:cxnSpLocks/>
            <a:stCxn id="33" idx="2"/>
            <a:endCxn id="9" idx="0"/>
          </p:cNvCxnSpPr>
          <p:nvPr/>
        </p:nvCxnSpPr>
        <p:spPr>
          <a:xfrm>
            <a:off x="5279167" y="2223863"/>
            <a:ext cx="141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4" name="Straight Arrow Connector 50">
            <a:extLst>
              <a:ext uri="{FF2B5EF4-FFF2-40B4-BE49-F238E27FC236}">
                <a16:creationId xmlns:a16="http://schemas.microsoft.com/office/drawing/2014/main" id="{2C1E1F0E-9345-7104-0F8D-0ED9AF95CD3A}"/>
              </a:ext>
            </a:extLst>
          </p:cNvPr>
          <p:cNvCxnSpPr>
            <a:cxnSpLocks/>
            <a:stCxn id="38" idx="2"/>
            <a:endCxn id="34" idx="0"/>
          </p:cNvCxnSpPr>
          <p:nvPr/>
        </p:nvCxnSpPr>
        <p:spPr>
          <a:xfrm>
            <a:off x="3487588" y="2223863"/>
            <a:ext cx="5348"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7" name="Straight Arrow Connector 50">
            <a:extLst>
              <a:ext uri="{FF2B5EF4-FFF2-40B4-BE49-F238E27FC236}">
                <a16:creationId xmlns:a16="http://schemas.microsoft.com/office/drawing/2014/main" id="{160D4ACE-1E89-7BDD-8164-A4FDB0539A24}"/>
              </a:ext>
            </a:extLst>
          </p:cNvPr>
          <p:cNvCxnSpPr>
            <a:cxnSpLocks/>
            <a:stCxn id="39" idx="2"/>
            <a:endCxn id="7" idx="0"/>
          </p:cNvCxnSpPr>
          <p:nvPr/>
        </p:nvCxnSpPr>
        <p:spPr>
          <a:xfrm flipH="1">
            <a:off x="1658831" y="2223863"/>
            <a:ext cx="654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1" name="Straight Arrow Connector 50">
            <a:extLst>
              <a:ext uri="{FF2B5EF4-FFF2-40B4-BE49-F238E27FC236}">
                <a16:creationId xmlns:a16="http://schemas.microsoft.com/office/drawing/2014/main" id="{0F6EE320-C247-2199-FA74-66FA5ABC9A9F}"/>
              </a:ext>
            </a:extLst>
          </p:cNvPr>
          <p:cNvCxnSpPr>
            <a:cxnSpLocks/>
            <a:stCxn id="2" idx="1"/>
            <a:endCxn id="38" idx="3"/>
          </p:cNvCxnSpPr>
          <p:nvPr/>
        </p:nvCxnSpPr>
        <p:spPr>
          <a:xfrm rot="10800000">
            <a:off x="3679673" y="2100190"/>
            <a:ext cx="1263514" cy="93418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5" name="Straight Arrow Connector 50">
            <a:extLst>
              <a:ext uri="{FF2B5EF4-FFF2-40B4-BE49-F238E27FC236}">
                <a16:creationId xmlns:a16="http://schemas.microsoft.com/office/drawing/2014/main" id="{1C48222D-F2B7-754B-60F4-FFAC7834BBD7}"/>
              </a:ext>
            </a:extLst>
          </p:cNvPr>
          <p:cNvCxnSpPr>
            <a:cxnSpLocks/>
            <a:stCxn id="1026" idx="1"/>
            <a:endCxn id="39" idx="3"/>
          </p:cNvCxnSpPr>
          <p:nvPr/>
        </p:nvCxnSpPr>
        <p:spPr>
          <a:xfrm rot="10800000">
            <a:off x="1857459" y="2100189"/>
            <a:ext cx="1384122" cy="94154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834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2E81A-6CF2-BEEC-6C4A-2874AE1D44E2}"/>
            </a:ext>
          </a:extLst>
        </p:cNvPr>
        <p:cNvGrpSpPr/>
        <p:nvPr/>
      </p:nvGrpSpPr>
      <p:grpSpPr>
        <a:xfrm>
          <a:off x="0" y="0"/>
          <a:ext cx="0" cy="0"/>
          <a:chOff x="0" y="0"/>
          <a:chExt cx="0" cy="0"/>
        </a:xfrm>
      </p:grpSpPr>
      <p:sp>
        <p:nvSpPr>
          <p:cNvPr id="1070" name="Rounded Rectangle 1069">
            <a:extLst>
              <a:ext uri="{FF2B5EF4-FFF2-40B4-BE49-F238E27FC236}">
                <a16:creationId xmlns:a16="http://schemas.microsoft.com/office/drawing/2014/main" id="{07ABC5E2-B63C-E4CA-4658-0830776ABE8B}"/>
              </a:ext>
            </a:extLst>
          </p:cNvPr>
          <p:cNvSpPr/>
          <p:nvPr/>
        </p:nvSpPr>
        <p:spPr>
          <a:xfrm>
            <a:off x="1423976" y="2169500"/>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1" name="Rounded Rectangle 1070">
            <a:extLst>
              <a:ext uri="{FF2B5EF4-FFF2-40B4-BE49-F238E27FC236}">
                <a16:creationId xmlns:a16="http://schemas.microsoft.com/office/drawing/2014/main" id="{A396CF10-FB3F-849F-8729-1A9A6486F4FA}"/>
              </a:ext>
            </a:extLst>
          </p:cNvPr>
          <p:cNvSpPr/>
          <p:nvPr/>
        </p:nvSpPr>
        <p:spPr>
          <a:xfrm>
            <a:off x="3278910" y="2176938"/>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2" name="Rounded Rectangle 1071">
            <a:extLst>
              <a:ext uri="{FF2B5EF4-FFF2-40B4-BE49-F238E27FC236}">
                <a16:creationId xmlns:a16="http://schemas.microsoft.com/office/drawing/2014/main" id="{600924EA-1D72-FDF2-7BBE-42152DCD3F45}"/>
              </a:ext>
            </a:extLst>
          </p:cNvPr>
          <p:cNvSpPr/>
          <p:nvPr/>
        </p:nvSpPr>
        <p:spPr>
          <a:xfrm>
            <a:off x="5092444" y="2185402"/>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3" name="Rounded Rectangle 1072">
            <a:extLst>
              <a:ext uri="{FF2B5EF4-FFF2-40B4-BE49-F238E27FC236}">
                <a16:creationId xmlns:a16="http://schemas.microsoft.com/office/drawing/2014/main" id="{3359730F-D098-9D8D-6F7A-93B49E91F597}"/>
              </a:ext>
            </a:extLst>
          </p:cNvPr>
          <p:cNvSpPr/>
          <p:nvPr/>
        </p:nvSpPr>
        <p:spPr>
          <a:xfrm>
            <a:off x="6957662" y="2181557"/>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4" name="Rounded Rectangle 1073">
            <a:extLst>
              <a:ext uri="{FF2B5EF4-FFF2-40B4-BE49-F238E27FC236}">
                <a16:creationId xmlns:a16="http://schemas.microsoft.com/office/drawing/2014/main" id="{57B95E6A-9870-BD22-6829-F7B63981D12C}"/>
              </a:ext>
            </a:extLst>
          </p:cNvPr>
          <p:cNvSpPr/>
          <p:nvPr/>
        </p:nvSpPr>
        <p:spPr>
          <a:xfrm>
            <a:off x="8740186" y="2181557"/>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5" name="Rounded Rectangle 1074">
            <a:extLst>
              <a:ext uri="{FF2B5EF4-FFF2-40B4-BE49-F238E27FC236}">
                <a16:creationId xmlns:a16="http://schemas.microsoft.com/office/drawing/2014/main" id="{F40C0512-0963-B73B-2138-FF38C3A96AE0}"/>
              </a:ext>
            </a:extLst>
          </p:cNvPr>
          <p:cNvSpPr/>
          <p:nvPr/>
        </p:nvSpPr>
        <p:spPr>
          <a:xfrm>
            <a:off x="10639962" y="2176937"/>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pic>
        <p:nvPicPr>
          <p:cNvPr id="1026" name="Picture 2" descr="Smelting - Free construction and tools icons">
            <a:extLst>
              <a:ext uri="{FF2B5EF4-FFF2-40B4-BE49-F238E27FC236}">
                <a16:creationId xmlns:a16="http://schemas.microsoft.com/office/drawing/2014/main" id="{2CCBDC86-F629-B0C1-F105-98915E2E10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4641" y="3177103"/>
            <a:ext cx="476751" cy="5037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Chemical Plant 2 icon - Free vector (SVG) - Free PNG - Copyicon.com">
            <a:extLst>
              <a:ext uri="{FF2B5EF4-FFF2-40B4-BE49-F238E27FC236}">
                <a16:creationId xmlns:a16="http://schemas.microsoft.com/office/drawing/2014/main" id="{4F2EA520-D342-287F-5741-1E67238284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7100" y="3142148"/>
            <a:ext cx="635775" cy="5589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70CE897-DFC3-B19E-18EC-A2D1F5931BE2}"/>
              </a:ext>
            </a:extLst>
          </p:cNvPr>
          <p:cNvPicPr>
            <a:picLocks noChangeAspect="1"/>
          </p:cNvPicPr>
          <p:nvPr/>
        </p:nvPicPr>
        <p:blipFill>
          <a:blip r:embed="rId5"/>
          <a:stretch>
            <a:fillRect/>
          </a:stretch>
        </p:blipFill>
        <p:spPr>
          <a:xfrm>
            <a:off x="1343329" y="3068173"/>
            <a:ext cx="820805" cy="721655"/>
          </a:xfrm>
          <a:prstGeom prst="rect">
            <a:avLst/>
          </a:prstGeom>
        </p:spPr>
      </p:pic>
      <p:sp>
        <p:nvSpPr>
          <p:cNvPr id="7" name="TextBox 6">
            <a:extLst>
              <a:ext uri="{FF2B5EF4-FFF2-40B4-BE49-F238E27FC236}">
                <a16:creationId xmlns:a16="http://schemas.microsoft.com/office/drawing/2014/main" id="{30B9BC98-E039-9A19-A5DF-10D0AB3A1BFE}"/>
              </a:ext>
            </a:extLst>
          </p:cNvPr>
          <p:cNvSpPr txBox="1"/>
          <p:nvPr/>
        </p:nvSpPr>
        <p:spPr>
          <a:xfrm>
            <a:off x="1490642" y="2852523"/>
            <a:ext cx="54370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Mine</a:t>
            </a:r>
          </a:p>
        </p:txBody>
      </p:sp>
      <p:sp>
        <p:nvSpPr>
          <p:cNvPr id="8" name="TextBox 7">
            <a:extLst>
              <a:ext uri="{FF2B5EF4-FFF2-40B4-BE49-F238E27FC236}">
                <a16:creationId xmlns:a16="http://schemas.microsoft.com/office/drawing/2014/main" id="{FCBC05E3-556E-BCB9-FFD5-69CA57CB6358}"/>
              </a:ext>
            </a:extLst>
          </p:cNvPr>
          <p:cNvSpPr txBox="1"/>
          <p:nvPr/>
        </p:nvSpPr>
        <p:spPr>
          <a:xfrm>
            <a:off x="8446694" y="2852523"/>
            <a:ext cx="1259087"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Manufacturer</a:t>
            </a:r>
          </a:p>
        </p:txBody>
      </p:sp>
      <p:sp>
        <p:nvSpPr>
          <p:cNvPr id="9" name="TextBox 8">
            <a:extLst>
              <a:ext uri="{FF2B5EF4-FFF2-40B4-BE49-F238E27FC236}">
                <a16:creationId xmlns:a16="http://schemas.microsoft.com/office/drawing/2014/main" id="{D54E4276-11EF-977E-2C10-93911B6A14E5}"/>
              </a:ext>
            </a:extLst>
          </p:cNvPr>
          <p:cNvSpPr txBox="1"/>
          <p:nvPr/>
        </p:nvSpPr>
        <p:spPr>
          <a:xfrm>
            <a:off x="5085599" y="2852523"/>
            <a:ext cx="686056"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Refiner</a:t>
            </a:r>
          </a:p>
        </p:txBody>
      </p:sp>
      <p:sp>
        <p:nvSpPr>
          <p:cNvPr id="10" name="TextBox 9">
            <a:extLst>
              <a:ext uri="{FF2B5EF4-FFF2-40B4-BE49-F238E27FC236}">
                <a16:creationId xmlns:a16="http://schemas.microsoft.com/office/drawing/2014/main" id="{48ECA7EA-EB00-9A8F-01E3-3147166D78A7}"/>
              </a:ext>
            </a:extLst>
          </p:cNvPr>
          <p:cNvSpPr txBox="1"/>
          <p:nvPr/>
        </p:nvSpPr>
        <p:spPr>
          <a:xfrm>
            <a:off x="10347069" y="2871524"/>
            <a:ext cx="1287712"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OEM</a:t>
            </a:r>
          </a:p>
        </p:txBody>
      </p:sp>
      <p:pic>
        <p:nvPicPr>
          <p:cNvPr id="15" name="Picture 6" descr="Factory Icon in Material Design">
            <a:extLst>
              <a:ext uri="{FF2B5EF4-FFF2-40B4-BE49-F238E27FC236}">
                <a16:creationId xmlns:a16="http://schemas.microsoft.com/office/drawing/2014/main" id="{0AE22CD9-53C3-2DB1-D02A-AEF42687DE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36780" y="3134078"/>
            <a:ext cx="644954" cy="56704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4" descr="Car manufacturing - Free industry icons">
            <a:extLst>
              <a:ext uri="{FF2B5EF4-FFF2-40B4-BE49-F238E27FC236}">
                <a16:creationId xmlns:a16="http://schemas.microsoft.com/office/drawing/2014/main" id="{F6CBCE2F-F601-1D95-2A72-AF4C3C2CE2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01335" y="3177103"/>
            <a:ext cx="546759" cy="480713"/>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805A9133-5A08-EB8B-EE40-E65032757D38}"/>
              </a:ext>
            </a:extLst>
          </p:cNvPr>
          <p:cNvSpPr txBox="1"/>
          <p:nvPr/>
        </p:nvSpPr>
        <p:spPr>
          <a:xfrm>
            <a:off x="3256169" y="2852523"/>
            <a:ext cx="725813"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Smelter</a:t>
            </a:r>
          </a:p>
        </p:txBody>
      </p:sp>
      <p:sp>
        <p:nvSpPr>
          <p:cNvPr id="36" name="TextBox 35">
            <a:extLst>
              <a:ext uri="{FF2B5EF4-FFF2-40B4-BE49-F238E27FC236}">
                <a16:creationId xmlns:a16="http://schemas.microsoft.com/office/drawing/2014/main" id="{7C3829F3-E38A-F139-8817-3A828ABC0CF7}"/>
              </a:ext>
            </a:extLst>
          </p:cNvPr>
          <p:cNvSpPr txBox="1"/>
          <p:nvPr/>
        </p:nvSpPr>
        <p:spPr>
          <a:xfrm>
            <a:off x="6769727" y="2852523"/>
            <a:ext cx="1056389"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Fabricator</a:t>
            </a:r>
          </a:p>
        </p:txBody>
      </p:sp>
      <p:pic>
        <p:nvPicPr>
          <p:cNvPr id="1030" name="Picture 6" descr="2,500+ Gravel Icon Stock Illustrations, Royalty-Free Vector Graphics &amp; Clip  Art - iStock">
            <a:extLst>
              <a:ext uri="{FF2B5EF4-FFF2-40B4-BE49-F238E27FC236}">
                <a16:creationId xmlns:a16="http://schemas.microsoft.com/office/drawing/2014/main" id="{76BAC790-4EBA-1807-752A-0207A073156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114" t="15270" r="15934" b="16995"/>
          <a:stretch/>
        </p:blipFill>
        <p:spPr bwMode="auto">
          <a:xfrm>
            <a:off x="1585807" y="4113296"/>
            <a:ext cx="375193" cy="3952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got - Free business icons">
            <a:extLst>
              <a:ext uri="{FF2B5EF4-FFF2-40B4-BE49-F238E27FC236}">
                <a16:creationId xmlns:a16="http://schemas.microsoft.com/office/drawing/2014/main" id="{82C92509-516E-C5BE-6483-A012C660EE9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59921" y="4127104"/>
            <a:ext cx="412857" cy="436275"/>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7065B178-6839-AACE-87C4-305B19A936B1}"/>
              </a:ext>
            </a:extLst>
          </p:cNvPr>
          <p:cNvSpPr txBox="1"/>
          <p:nvPr/>
        </p:nvSpPr>
        <p:spPr>
          <a:xfrm>
            <a:off x="1335784" y="3895210"/>
            <a:ext cx="103547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Concentrate</a:t>
            </a:r>
          </a:p>
        </p:txBody>
      </p:sp>
      <p:sp>
        <p:nvSpPr>
          <p:cNvPr id="43" name="TextBox 42">
            <a:extLst>
              <a:ext uri="{FF2B5EF4-FFF2-40B4-BE49-F238E27FC236}">
                <a16:creationId xmlns:a16="http://schemas.microsoft.com/office/drawing/2014/main" id="{9026C0F1-D688-7DF5-C2D7-9A748C6B3971}"/>
              </a:ext>
            </a:extLst>
          </p:cNvPr>
          <p:cNvSpPr txBox="1"/>
          <p:nvPr/>
        </p:nvSpPr>
        <p:spPr>
          <a:xfrm>
            <a:off x="8741776" y="3895210"/>
            <a:ext cx="860527"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Battery</a:t>
            </a:r>
          </a:p>
        </p:txBody>
      </p:sp>
      <p:sp>
        <p:nvSpPr>
          <p:cNvPr id="44" name="TextBox 43">
            <a:extLst>
              <a:ext uri="{FF2B5EF4-FFF2-40B4-BE49-F238E27FC236}">
                <a16:creationId xmlns:a16="http://schemas.microsoft.com/office/drawing/2014/main" id="{C0007517-4EE8-0F61-A1C5-FF80CA3211B3}"/>
              </a:ext>
            </a:extLst>
          </p:cNvPr>
          <p:cNvSpPr txBox="1"/>
          <p:nvPr/>
        </p:nvSpPr>
        <p:spPr>
          <a:xfrm>
            <a:off x="5073884" y="3895210"/>
            <a:ext cx="834372"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Cathodes</a:t>
            </a:r>
          </a:p>
        </p:txBody>
      </p:sp>
      <p:sp>
        <p:nvSpPr>
          <p:cNvPr id="45" name="TextBox 44">
            <a:extLst>
              <a:ext uri="{FF2B5EF4-FFF2-40B4-BE49-F238E27FC236}">
                <a16:creationId xmlns:a16="http://schemas.microsoft.com/office/drawing/2014/main" id="{D3709E33-4FD6-FCE2-9B3E-918EB880607E}"/>
              </a:ext>
            </a:extLst>
          </p:cNvPr>
          <p:cNvSpPr txBox="1"/>
          <p:nvPr/>
        </p:nvSpPr>
        <p:spPr>
          <a:xfrm>
            <a:off x="10551894" y="3859657"/>
            <a:ext cx="893958"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EV</a:t>
            </a:r>
          </a:p>
        </p:txBody>
      </p:sp>
      <p:sp>
        <p:nvSpPr>
          <p:cNvPr id="47" name="TextBox 46">
            <a:extLst>
              <a:ext uri="{FF2B5EF4-FFF2-40B4-BE49-F238E27FC236}">
                <a16:creationId xmlns:a16="http://schemas.microsoft.com/office/drawing/2014/main" id="{EB2D15E6-953E-798A-7980-B203867897FC}"/>
              </a:ext>
            </a:extLst>
          </p:cNvPr>
          <p:cNvSpPr txBox="1"/>
          <p:nvPr/>
        </p:nvSpPr>
        <p:spPr>
          <a:xfrm>
            <a:off x="3278910" y="3895210"/>
            <a:ext cx="626510"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Blister</a:t>
            </a:r>
          </a:p>
        </p:txBody>
      </p:sp>
      <p:sp>
        <p:nvSpPr>
          <p:cNvPr id="48" name="TextBox 47">
            <a:extLst>
              <a:ext uri="{FF2B5EF4-FFF2-40B4-BE49-F238E27FC236}">
                <a16:creationId xmlns:a16="http://schemas.microsoft.com/office/drawing/2014/main" id="{9B481A5D-A881-49D7-86EE-1114726581D9}"/>
              </a:ext>
            </a:extLst>
          </p:cNvPr>
          <p:cNvSpPr txBox="1"/>
          <p:nvPr/>
        </p:nvSpPr>
        <p:spPr>
          <a:xfrm>
            <a:off x="7183239" y="3895210"/>
            <a:ext cx="43974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Foil</a:t>
            </a:r>
          </a:p>
        </p:txBody>
      </p:sp>
      <p:pic>
        <p:nvPicPr>
          <p:cNvPr id="1040" name="Picture 16" descr="Bullion, gold, ingot, meta, metal, nugget, precious icon - Download on  Iconfinder">
            <a:extLst>
              <a:ext uri="{FF2B5EF4-FFF2-40B4-BE49-F238E27FC236}">
                <a16:creationId xmlns:a16="http://schemas.microsoft.com/office/drawing/2014/main" id="{62535D71-2C6A-A7FD-084A-7D5D9CD6A26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9413" y="4076332"/>
            <a:ext cx="476751" cy="50379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luminum foil icon 37133487 Vector Art at Vecteezy">
            <a:extLst>
              <a:ext uri="{FF2B5EF4-FFF2-40B4-BE49-F238E27FC236}">
                <a16:creationId xmlns:a16="http://schemas.microsoft.com/office/drawing/2014/main" id="{1E86E85A-7325-58D6-1958-E4CD34566C0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76364" y="4180004"/>
            <a:ext cx="446615" cy="29591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0" descr="ev battery outline icon Stock Vector | Adobe Stock">
            <a:extLst>
              <a:ext uri="{FF2B5EF4-FFF2-40B4-BE49-F238E27FC236}">
                <a16:creationId xmlns:a16="http://schemas.microsoft.com/office/drawing/2014/main" id="{1B836FE8-8D24-4ECA-5596-A02CE8634D9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8902856" y="4183687"/>
            <a:ext cx="412986" cy="390818"/>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Electric car - Free transport icons">
            <a:extLst>
              <a:ext uri="{FF2B5EF4-FFF2-40B4-BE49-F238E27FC236}">
                <a16:creationId xmlns:a16="http://schemas.microsoft.com/office/drawing/2014/main" id="{C0DBAACA-86FA-1195-06D3-ADAB5EA6C30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733757" y="4048567"/>
            <a:ext cx="514338" cy="543513"/>
          </a:xfrm>
          <a:prstGeom prst="rect">
            <a:avLst/>
          </a:prstGeom>
          <a:noFill/>
          <a:extLst>
            <a:ext uri="{909E8E84-426E-40DD-AFC4-6F175D3DCCD1}">
              <a14:hiddenFill xmlns:a14="http://schemas.microsoft.com/office/drawing/2010/main">
                <a:solidFill>
                  <a:srgbClr val="FFFFFF"/>
                </a:solidFill>
              </a14:hiddenFill>
            </a:ext>
          </a:extLst>
        </p:spPr>
      </p:pic>
      <p:sp>
        <p:nvSpPr>
          <p:cNvPr id="132" name="TextBox 131">
            <a:extLst>
              <a:ext uri="{FF2B5EF4-FFF2-40B4-BE49-F238E27FC236}">
                <a16:creationId xmlns:a16="http://schemas.microsoft.com/office/drawing/2014/main" id="{D003C088-F249-5269-85E8-B71181AACD21}"/>
              </a:ext>
            </a:extLst>
          </p:cNvPr>
          <p:cNvSpPr txBox="1"/>
          <p:nvPr/>
        </p:nvSpPr>
        <p:spPr>
          <a:xfrm>
            <a:off x="1191939" y="4496670"/>
            <a:ext cx="11375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Consignment ID</a:t>
            </a:r>
          </a:p>
        </p:txBody>
      </p:sp>
      <p:sp>
        <p:nvSpPr>
          <p:cNvPr id="133" name="TextBox 132">
            <a:extLst>
              <a:ext uri="{FF2B5EF4-FFF2-40B4-BE49-F238E27FC236}">
                <a16:creationId xmlns:a16="http://schemas.microsoft.com/office/drawing/2014/main" id="{818C5D7D-612F-CF67-23CC-28AE2B569762}"/>
              </a:ext>
            </a:extLst>
          </p:cNvPr>
          <p:cNvSpPr txBox="1"/>
          <p:nvPr/>
        </p:nvSpPr>
        <p:spPr>
          <a:xfrm>
            <a:off x="3229493" y="4496670"/>
            <a:ext cx="688247"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4" name="TextBox 133">
            <a:extLst>
              <a:ext uri="{FF2B5EF4-FFF2-40B4-BE49-F238E27FC236}">
                <a16:creationId xmlns:a16="http://schemas.microsoft.com/office/drawing/2014/main" id="{745A1CD2-9110-B3FA-B69E-3C317A3C7F73}"/>
              </a:ext>
            </a:extLst>
          </p:cNvPr>
          <p:cNvSpPr txBox="1"/>
          <p:nvPr/>
        </p:nvSpPr>
        <p:spPr>
          <a:xfrm>
            <a:off x="5085496" y="4496670"/>
            <a:ext cx="688247"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5" name="TextBox 134">
            <a:extLst>
              <a:ext uri="{FF2B5EF4-FFF2-40B4-BE49-F238E27FC236}">
                <a16:creationId xmlns:a16="http://schemas.microsoft.com/office/drawing/2014/main" id="{BDB3C762-36F0-6BA8-0B65-D39DAE5C2EDB}"/>
              </a:ext>
            </a:extLst>
          </p:cNvPr>
          <p:cNvSpPr txBox="1"/>
          <p:nvPr/>
        </p:nvSpPr>
        <p:spPr>
          <a:xfrm>
            <a:off x="7016934" y="4496670"/>
            <a:ext cx="688247"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6" name="TextBox 135">
            <a:extLst>
              <a:ext uri="{FF2B5EF4-FFF2-40B4-BE49-F238E27FC236}">
                <a16:creationId xmlns:a16="http://schemas.microsoft.com/office/drawing/2014/main" id="{D3CC7919-CA97-5759-4BD8-AF87ADE6C02E}"/>
              </a:ext>
            </a:extLst>
          </p:cNvPr>
          <p:cNvSpPr txBox="1"/>
          <p:nvPr/>
        </p:nvSpPr>
        <p:spPr>
          <a:xfrm>
            <a:off x="8736780" y="4496670"/>
            <a:ext cx="76441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Serial No.</a:t>
            </a:r>
          </a:p>
        </p:txBody>
      </p:sp>
      <p:sp>
        <p:nvSpPr>
          <p:cNvPr id="137" name="TextBox 136">
            <a:extLst>
              <a:ext uri="{FF2B5EF4-FFF2-40B4-BE49-F238E27FC236}">
                <a16:creationId xmlns:a16="http://schemas.microsoft.com/office/drawing/2014/main" id="{FD7CC294-2419-D724-EF1B-FC7C8726B13F}"/>
              </a:ext>
            </a:extLst>
          </p:cNvPr>
          <p:cNvSpPr txBox="1"/>
          <p:nvPr/>
        </p:nvSpPr>
        <p:spPr>
          <a:xfrm>
            <a:off x="10676699" y="4507962"/>
            <a:ext cx="39758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VIN</a:t>
            </a:r>
          </a:p>
        </p:txBody>
      </p:sp>
      <p:pic>
        <p:nvPicPr>
          <p:cNvPr id="140" name="Picture 28" descr="Vector Design Extrusion Icon Style | Premium Vector">
            <a:extLst>
              <a:ext uri="{FF2B5EF4-FFF2-40B4-BE49-F238E27FC236}">
                <a16:creationId xmlns:a16="http://schemas.microsoft.com/office/drawing/2014/main" id="{F7B7694F-D71E-3B63-0CDF-BE4585D8CF6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67724" y="3142148"/>
            <a:ext cx="567689" cy="599891"/>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687A79A2-9C21-95B4-3DDD-EC18771B99B3}"/>
              </a:ext>
            </a:extLst>
          </p:cNvPr>
          <p:cNvSpPr/>
          <p:nvPr/>
        </p:nvSpPr>
        <p:spPr>
          <a:xfrm>
            <a:off x="8880499" y="2363778"/>
            <a:ext cx="388879"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5" name="TextBox 34">
            <a:extLst>
              <a:ext uri="{FF2B5EF4-FFF2-40B4-BE49-F238E27FC236}">
                <a16:creationId xmlns:a16="http://schemas.microsoft.com/office/drawing/2014/main" id="{F9498E71-3D92-B592-D087-46DA8D0B134A}"/>
              </a:ext>
            </a:extLst>
          </p:cNvPr>
          <p:cNvSpPr txBox="1"/>
          <p:nvPr/>
        </p:nvSpPr>
        <p:spPr>
          <a:xfrm>
            <a:off x="1469819" y="3596876"/>
            <a:ext cx="56678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Site ID</a:t>
            </a:r>
          </a:p>
        </p:txBody>
      </p:sp>
      <p:sp>
        <p:nvSpPr>
          <p:cNvPr id="37" name="TextBox 36">
            <a:extLst>
              <a:ext uri="{FF2B5EF4-FFF2-40B4-BE49-F238E27FC236}">
                <a16:creationId xmlns:a16="http://schemas.microsoft.com/office/drawing/2014/main" id="{D65BDA39-C211-2F82-EF80-22E9D021DD6C}"/>
              </a:ext>
            </a:extLst>
          </p:cNvPr>
          <p:cNvSpPr txBox="1"/>
          <p:nvPr/>
        </p:nvSpPr>
        <p:spPr>
          <a:xfrm>
            <a:off x="3316196" y="3662349"/>
            <a:ext cx="59089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0" name="TextBox 39">
            <a:extLst>
              <a:ext uri="{FF2B5EF4-FFF2-40B4-BE49-F238E27FC236}">
                <a16:creationId xmlns:a16="http://schemas.microsoft.com/office/drawing/2014/main" id="{1379DBA3-CB54-0D8A-AAB5-B747C3FA6FFB}"/>
              </a:ext>
            </a:extLst>
          </p:cNvPr>
          <p:cNvSpPr txBox="1"/>
          <p:nvPr/>
        </p:nvSpPr>
        <p:spPr>
          <a:xfrm>
            <a:off x="8756349" y="3643436"/>
            <a:ext cx="60002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OSH ID</a:t>
            </a:r>
          </a:p>
        </p:txBody>
      </p:sp>
      <p:sp>
        <p:nvSpPr>
          <p:cNvPr id="41" name="TextBox 40">
            <a:extLst>
              <a:ext uri="{FF2B5EF4-FFF2-40B4-BE49-F238E27FC236}">
                <a16:creationId xmlns:a16="http://schemas.microsoft.com/office/drawing/2014/main" id="{B452888C-1EF5-5E7C-7B67-04C1B8C94907}"/>
              </a:ext>
            </a:extLst>
          </p:cNvPr>
          <p:cNvSpPr txBox="1"/>
          <p:nvPr/>
        </p:nvSpPr>
        <p:spPr>
          <a:xfrm>
            <a:off x="5095284" y="3648786"/>
            <a:ext cx="59089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9" name="TextBox 48">
            <a:extLst>
              <a:ext uri="{FF2B5EF4-FFF2-40B4-BE49-F238E27FC236}">
                <a16:creationId xmlns:a16="http://schemas.microsoft.com/office/drawing/2014/main" id="{ECE65976-96ED-72AD-A4E1-8139FE69128F}"/>
              </a:ext>
            </a:extLst>
          </p:cNvPr>
          <p:cNvSpPr txBox="1"/>
          <p:nvPr/>
        </p:nvSpPr>
        <p:spPr>
          <a:xfrm>
            <a:off x="7119645" y="3680897"/>
            <a:ext cx="423458"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GLN</a:t>
            </a:r>
          </a:p>
        </p:txBody>
      </p:sp>
      <p:sp>
        <p:nvSpPr>
          <p:cNvPr id="50" name="TextBox 49">
            <a:extLst>
              <a:ext uri="{FF2B5EF4-FFF2-40B4-BE49-F238E27FC236}">
                <a16:creationId xmlns:a16="http://schemas.microsoft.com/office/drawing/2014/main" id="{9B70D990-888A-930D-6ED1-20A7AEAFD77A}"/>
              </a:ext>
            </a:extLst>
          </p:cNvPr>
          <p:cNvSpPr txBox="1"/>
          <p:nvPr/>
        </p:nvSpPr>
        <p:spPr>
          <a:xfrm>
            <a:off x="10547215" y="3673500"/>
            <a:ext cx="93532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Company ID</a:t>
            </a:r>
          </a:p>
        </p:txBody>
      </p:sp>
      <p:sp>
        <p:nvSpPr>
          <p:cNvPr id="31" name="Rounded Rectangle 30">
            <a:extLst>
              <a:ext uri="{FF2B5EF4-FFF2-40B4-BE49-F238E27FC236}">
                <a16:creationId xmlns:a16="http://schemas.microsoft.com/office/drawing/2014/main" id="{4905D053-4271-08C1-B5C2-AB22D96CC98B}"/>
              </a:ext>
            </a:extLst>
          </p:cNvPr>
          <p:cNvSpPr/>
          <p:nvPr/>
        </p:nvSpPr>
        <p:spPr>
          <a:xfrm>
            <a:off x="10791062" y="2363778"/>
            <a:ext cx="388879"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2" name="Rounded Rectangle 31">
            <a:extLst>
              <a:ext uri="{FF2B5EF4-FFF2-40B4-BE49-F238E27FC236}">
                <a16:creationId xmlns:a16="http://schemas.microsoft.com/office/drawing/2014/main" id="{E04B9838-2771-2DCB-980C-D2AA16494E5B}"/>
              </a:ext>
            </a:extLst>
          </p:cNvPr>
          <p:cNvSpPr/>
          <p:nvPr/>
        </p:nvSpPr>
        <p:spPr>
          <a:xfrm>
            <a:off x="7097975" y="2363778"/>
            <a:ext cx="388879"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3" name="Rounded Rectangle 32">
            <a:extLst>
              <a:ext uri="{FF2B5EF4-FFF2-40B4-BE49-F238E27FC236}">
                <a16:creationId xmlns:a16="http://schemas.microsoft.com/office/drawing/2014/main" id="{ABC783A4-CAB9-EABA-D077-4D8A9D336B9D}"/>
              </a:ext>
            </a:extLst>
          </p:cNvPr>
          <p:cNvSpPr/>
          <p:nvPr/>
        </p:nvSpPr>
        <p:spPr>
          <a:xfrm>
            <a:off x="5232757" y="2363778"/>
            <a:ext cx="388879"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8" name="Rounded Rectangle 37">
            <a:extLst>
              <a:ext uri="{FF2B5EF4-FFF2-40B4-BE49-F238E27FC236}">
                <a16:creationId xmlns:a16="http://schemas.microsoft.com/office/drawing/2014/main" id="{56B7805F-D8EF-7C2C-A401-CC4A08ECF00C}"/>
              </a:ext>
            </a:extLst>
          </p:cNvPr>
          <p:cNvSpPr/>
          <p:nvPr/>
        </p:nvSpPr>
        <p:spPr>
          <a:xfrm>
            <a:off x="3419223" y="2363778"/>
            <a:ext cx="388879"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9" name="Rounded Rectangle 38">
            <a:extLst>
              <a:ext uri="{FF2B5EF4-FFF2-40B4-BE49-F238E27FC236}">
                <a16:creationId xmlns:a16="http://schemas.microsoft.com/office/drawing/2014/main" id="{998A18FB-748A-5AF8-C999-19F0DF95AF32}"/>
              </a:ext>
            </a:extLst>
          </p:cNvPr>
          <p:cNvSpPr/>
          <p:nvPr/>
        </p:nvSpPr>
        <p:spPr>
          <a:xfrm>
            <a:off x="1574679" y="2363778"/>
            <a:ext cx="388879"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cxnSp>
        <p:nvCxnSpPr>
          <p:cNvPr id="51" name="Straight Arrow Connector 50">
            <a:extLst>
              <a:ext uri="{FF2B5EF4-FFF2-40B4-BE49-F238E27FC236}">
                <a16:creationId xmlns:a16="http://schemas.microsoft.com/office/drawing/2014/main" id="{D4CEEDD9-58BE-0B04-2EE4-ABBF4CCB3D18}"/>
              </a:ext>
            </a:extLst>
          </p:cNvPr>
          <p:cNvCxnSpPr>
            <a:stCxn id="16" idx="1"/>
            <a:endCxn id="4" idx="3"/>
          </p:cNvCxnSpPr>
          <p:nvPr/>
        </p:nvCxnSpPr>
        <p:spPr>
          <a:xfrm rot="10800000">
            <a:off x="9269378" y="2487452"/>
            <a:ext cx="1431957" cy="93000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50">
            <a:extLst>
              <a:ext uri="{FF2B5EF4-FFF2-40B4-BE49-F238E27FC236}">
                <a16:creationId xmlns:a16="http://schemas.microsoft.com/office/drawing/2014/main" id="{9A90F2B4-8591-80D7-7DA7-FBC0D1E425B8}"/>
              </a:ext>
            </a:extLst>
          </p:cNvPr>
          <p:cNvCxnSpPr>
            <a:cxnSpLocks/>
            <a:stCxn id="15" idx="1"/>
            <a:endCxn id="32" idx="3"/>
          </p:cNvCxnSpPr>
          <p:nvPr/>
        </p:nvCxnSpPr>
        <p:spPr>
          <a:xfrm rot="10800000">
            <a:off x="7486853" y="2487452"/>
            <a:ext cx="1249927" cy="930150"/>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0">
            <a:extLst>
              <a:ext uri="{FF2B5EF4-FFF2-40B4-BE49-F238E27FC236}">
                <a16:creationId xmlns:a16="http://schemas.microsoft.com/office/drawing/2014/main" id="{F26F13C3-412A-8426-87EB-171E93BD875C}"/>
              </a:ext>
            </a:extLst>
          </p:cNvPr>
          <p:cNvCxnSpPr>
            <a:cxnSpLocks/>
            <a:stCxn id="140" idx="1"/>
            <a:endCxn id="33" idx="3"/>
          </p:cNvCxnSpPr>
          <p:nvPr/>
        </p:nvCxnSpPr>
        <p:spPr>
          <a:xfrm rot="10800000">
            <a:off x="5621637" y="2487452"/>
            <a:ext cx="1446088" cy="954642"/>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0">
            <a:extLst>
              <a:ext uri="{FF2B5EF4-FFF2-40B4-BE49-F238E27FC236}">
                <a16:creationId xmlns:a16="http://schemas.microsoft.com/office/drawing/2014/main" id="{01C37181-52D9-DB38-2E45-72B04CD5F33D}"/>
              </a:ext>
            </a:extLst>
          </p:cNvPr>
          <p:cNvCxnSpPr>
            <a:cxnSpLocks/>
            <a:stCxn id="31" idx="2"/>
            <a:endCxn id="10" idx="0"/>
          </p:cNvCxnSpPr>
          <p:nvPr/>
        </p:nvCxnSpPr>
        <p:spPr>
          <a:xfrm>
            <a:off x="10985502" y="2611126"/>
            <a:ext cx="5424" cy="260398"/>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50">
            <a:extLst>
              <a:ext uri="{FF2B5EF4-FFF2-40B4-BE49-F238E27FC236}">
                <a16:creationId xmlns:a16="http://schemas.microsoft.com/office/drawing/2014/main" id="{AEE7FEA3-C6D5-7CF4-B83C-07420B285FE2}"/>
              </a:ext>
            </a:extLst>
          </p:cNvPr>
          <p:cNvCxnSpPr>
            <a:cxnSpLocks/>
            <a:stCxn id="4" idx="2"/>
            <a:endCxn id="8" idx="0"/>
          </p:cNvCxnSpPr>
          <p:nvPr/>
        </p:nvCxnSpPr>
        <p:spPr>
          <a:xfrm>
            <a:off x="9074939" y="2611126"/>
            <a:ext cx="1299"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5" name="Straight Arrow Connector 50">
            <a:extLst>
              <a:ext uri="{FF2B5EF4-FFF2-40B4-BE49-F238E27FC236}">
                <a16:creationId xmlns:a16="http://schemas.microsoft.com/office/drawing/2014/main" id="{4C8C1405-8A41-040A-F4DC-9B322A4F897B}"/>
              </a:ext>
            </a:extLst>
          </p:cNvPr>
          <p:cNvCxnSpPr>
            <a:cxnSpLocks/>
            <a:stCxn id="32" idx="2"/>
            <a:endCxn id="36" idx="0"/>
          </p:cNvCxnSpPr>
          <p:nvPr/>
        </p:nvCxnSpPr>
        <p:spPr>
          <a:xfrm>
            <a:off x="7292414" y="2611126"/>
            <a:ext cx="5507"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9" name="Straight Arrow Connector 50">
            <a:extLst>
              <a:ext uri="{FF2B5EF4-FFF2-40B4-BE49-F238E27FC236}">
                <a16:creationId xmlns:a16="http://schemas.microsoft.com/office/drawing/2014/main" id="{DCC833B1-AECB-7AE6-EAD6-B376E897C0E9}"/>
              </a:ext>
            </a:extLst>
          </p:cNvPr>
          <p:cNvCxnSpPr>
            <a:cxnSpLocks/>
            <a:stCxn id="33" idx="2"/>
            <a:endCxn id="9" idx="0"/>
          </p:cNvCxnSpPr>
          <p:nvPr/>
        </p:nvCxnSpPr>
        <p:spPr>
          <a:xfrm>
            <a:off x="5427197" y="2611126"/>
            <a:ext cx="1430"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4" name="Straight Arrow Connector 50">
            <a:extLst>
              <a:ext uri="{FF2B5EF4-FFF2-40B4-BE49-F238E27FC236}">
                <a16:creationId xmlns:a16="http://schemas.microsoft.com/office/drawing/2014/main" id="{C9865957-F1BF-69CF-73EF-3A60AAD38B64}"/>
              </a:ext>
            </a:extLst>
          </p:cNvPr>
          <p:cNvCxnSpPr>
            <a:cxnSpLocks/>
            <a:stCxn id="38" idx="2"/>
            <a:endCxn id="34" idx="0"/>
          </p:cNvCxnSpPr>
          <p:nvPr/>
        </p:nvCxnSpPr>
        <p:spPr>
          <a:xfrm>
            <a:off x="3613663" y="2611126"/>
            <a:ext cx="541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7" name="Straight Arrow Connector 50">
            <a:extLst>
              <a:ext uri="{FF2B5EF4-FFF2-40B4-BE49-F238E27FC236}">
                <a16:creationId xmlns:a16="http://schemas.microsoft.com/office/drawing/2014/main" id="{896C9C7C-1312-D48E-543B-8587D92BC8FC}"/>
              </a:ext>
            </a:extLst>
          </p:cNvPr>
          <p:cNvCxnSpPr>
            <a:cxnSpLocks/>
            <a:stCxn id="39" idx="2"/>
            <a:endCxn id="7" idx="0"/>
          </p:cNvCxnSpPr>
          <p:nvPr/>
        </p:nvCxnSpPr>
        <p:spPr>
          <a:xfrm flipH="1">
            <a:off x="1762495" y="2611126"/>
            <a:ext cx="662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1" name="Straight Arrow Connector 50">
            <a:extLst>
              <a:ext uri="{FF2B5EF4-FFF2-40B4-BE49-F238E27FC236}">
                <a16:creationId xmlns:a16="http://schemas.microsoft.com/office/drawing/2014/main" id="{26FEEF42-3FAE-DF3F-B5FC-268CB38D6F90}"/>
              </a:ext>
            </a:extLst>
          </p:cNvPr>
          <p:cNvCxnSpPr>
            <a:cxnSpLocks/>
            <a:stCxn id="2" idx="1"/>
            <a:endCxn id="38" idx="3"/>
          </p:cNvCxnSpPr>
          <p:nvPr/>
        </p:nvCxnSpPr>
        <p:spPr>
          <a:xfrm rot="10800000">
            <a:off x="3808102" y="2487453"/>
            <a:ext cx="1278998" cy="93418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5" name="Straight Arrow Connector 50">
            <a:extLst>
              <a:ext uri="{FF2B5EF4-FFF2-40B4-BE49-F238E27FC236}">
                <a16:creationId xmlns:a16="http://schemas.microsoft.com/office/drawing/2014/main" id="{169D0678-BBFF-02FA-9897-67532FEFACB9}"/>
              </a:ext>
            </a:extLst>
          </p:cNvPr>
          <p:cNvCxnSpPr>
            <a:cxnSpLocks/>
            <a:stCxn id="1026" idx="1"/>
            <a:endCxn id="39" idx="3"/>
          </p:cNvCxnSpPr>
          <p:nvPr/>
        </p:nvCxnSpPr>
        <p:spPr>
          <a:xfrm rot="10800000">
            <a:off x="1963558" y="2487452"/>
            <a:ext cx="1401084" cy="94154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8807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0BE22-7FB2-09FA-1C9D-D36460DCE215}"/>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90D69ECA-7A61-F869-071D-DF57532504A3}"/>
              </a:ext>
            </a:extLst>
          </p:cNvPr>
          <p:cNvSpPr/>
          <p:nvPr/>
        </p:nvSpPr>
        <p:spPr>
          <a:xfrm>
            <a:off x="2331352" y="4125999"/>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1" name="Rounded Rectangle 10">
            <a:extLst>
              <a:ext uri="{FF2B5EF4-FFF2-40B4-BE49-F238E27FC236}">
                <a16:creationId xmlns:a16="http://schemas.microsoft.com/office/drawing/2014/main" id="{B1794ADD-4E92-A49E-5720-4266FEF72C4C}"/>
              </a:ext>
            </a:extLst>
          </p:cNvPr>
          <p:cNvSpPr/>
          <p:nvPr/>
        </p:nvSpPr>
        <p:spPr>
          <a:xfrm>
            <a:off x="4186286" y="4133437"/>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2" name="Rounded Rectangle 11">
            <a:extLst>
              <a:ext uri="{FF2B5EF4-FFF2-40B4-BE49-F238E27FC236}">
                <a16:creationId xmlns:a16="http://schemas.microsoft.com/office/drawing/2014/main" id="{7D9A1559-6843-4AF9-D3F3-21A847ACC7EE}"/>
              </a:ext>
            </a:extLst>
          </p:cNvPr>
          <p:cNvSpPr/>
          <p:nvPr/>
        </p:nvSpPr>
        <p:spPr>
          <a:xfrm>
            <a:off x="5999820" y="4141901"/>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3" name="Rounded Rectangle 12">
            <a:extLst>
              <a:ext uri="{FF2B5EF4-FFF2-40B4-BE49-F238E27FC236}">
                <a16:creationId xmlns:a16="http://schemas.microsoft.com/office/drawing/2014/main" id="{80EB0B1E-E17F-BDF5-D18C-17D99CDF1290}"/>
              </a:ext>
            </a:extLst>
          </p:cNvPr>
          <p:cNvSpPr/>
          <p:nvPr/>
        </p:nvSpPr>
        <p:spPr>
          <a:xfrm>
            <a:off x="7865038" y="4138056"/>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4" name="Rounded Rectangle 13">
            <a:extLst>
              <a:ext uri="{FF2B5EF4-FFF2-40B4-BE49-F238E27FC236}">
                <a16:creationId xmlns:a16="http://schemas.microsoft.com/office/drawing/2014/main" id="{E3D1EDD1-0573-A1CE-2502-31BAC5C9188F}"/>
              </a:ext>
            </a:extLst>
          </p:cNvPr>
          <p:cNvSpPr/>
          <p:nvPr/>
        </p:nvSpPr>
        <p:spPr>
          <a:xfrm>
            <a:off x="9647562" y="4138056"/>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49" name="TextBox 1048">
            <a:extLst>
              <a:ext uri="{FF2B5EF4-FFF2-40B4-BE49-F238E27FC236}">
                <a16:creationId xmlns:a16="http://schemas.microsoft.com/office/drawing/2014/main" id="{EAA58C2A-5128-7CCD-FECB-5230FDBA4CC0}"/>
              </a:ext>
            </a:extLst>
          </p:cNvPr>
          <p:cNvSpPr txBox="1"/>
          <p:nvPr/>
        </p:nvSpPr>
        <p:spPr>
          <a:xfrm>
            <a:off x="7268463" y="4723289"/>
            <a:ext cx="4307841" cy="338554"/>
          </a:xfrm>
          <a:prstGeom prst="rect">
            <a:avLst/>
          </a:prstGeom>
          <a:noFill/>
        </p:spPr>
        <p:txBody>
          <a:bodyPr wrap="square" rtlCol="0">
            <a:spAutoFit/>
          </a:bodyPr>
          <a:lstStyle/>
          <a:p>
            <a:r>
              <a:rPr lang="en-AU" sz="1600" dirty="0"/>
              <a:t>.</a:t>
            </a:r>
          </a:p>
        </p:txBody>
      </p:sp>
      <p:sp>
        <p:nvSpPr>
          <p:cNvPr id="1077" name="Rounded Rectangle 1076">
            <a:extLst>
              <a:ext uri="{FF2B5EF4-FFF2-40B4-BE49-F238E27FC236}">
                <a16:creationId xmlns:a16="http://schemas.microsoft.com/office/drawing/2014/main" id="{B059CCEC-281C-CAED-5CCC-B8FE3731FA70}"/>
              </a:ext>
            </a:extLst>
          </p:cNvPr>
          <p:cNvSpPr/>
          <p:nvPr/>
        </p:nvSpPr>
        <p:spPr>
          <a:xfrm>
            <a:off x="1428955" y="1913266"/>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8" name="Rounded Rectangle 1077">
            <a:extLst>
              <a:ext uri="{FF2B5EF4-FFF2-40B4-BE49-F238E27FC236}">
                <a16:creationId xmlns:a16="http://schemas.microsoft.com/office/drawing/2014/main" id="{B994A610-3755-9861-6D24-F584A0397543}"/>
              </a:ext>
            </a:extLst>
          </p:cNvPr>
          <p:cNvSpPr/>
          <p:nvPr/>
        </p:nvSpPr>
        <p:spPr>
          <a:xfrm>
            <a:off x="3272362" y="1920704"/>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9" name="Rounded Rectangle 1078">
            <a:extLst>
              <a:ext uri="{FF2B5EF4-FFF2-40B4-BE49-F238E27FC236}">
                <a16:creationId xmlns:a16="http://schemas.microsoft.com/office/drawing/2014/main" id="{8418FC58-0BF8-6B87-9180-4172498FBD08}"/>
              </a:ext>
            </a:extLst>
          </p:cNvPr>
          <p:cNvSpPr/>
          <p:nvPr/>
        </p:nvSpPr>
        <p:spPr>
          <a:xfrm>
            <a:off x="5074625" y="1929168"/>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0" name="Rounded Rectangle 1079">
            <a:extLst>
              <a:ext uri="{FF2B5EF4-FFF2-40B4-BE49-F238E27FC236}">
                <a16:creationId xmlns:a16="http://schemas.microsoft.com/office/drawing/2014/main" id="{70D7734A-D345-B5EA-B43F-D93404EF2607}"/>
              </a:ext>
            </a:extLst>
          </p:cNvPr>
          <p:cNvSpPr/>
          <p:nvPr/>
        </p:nvSpPr>
        <p:spPr>
          <a:xfrm>
            <a:off x="6928251" y="192532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1" name="Rounded Rectangle 1080">
            <a:extLst>
              <a:ext uri="{FF2B5EF4-FFF2-40B4-BE49-F238E27FC236}">
                <a16:creationId xmlns:a16="http://schemas.microsoft.com/office/drawing/2014/main" id="{D594B7A0-4800-47B1-FB6F-2484ECA05A1A}"/>
              </a:ext>
            </a:extLst>
          </p:cNvPr>
          <p:cNvSpPr/>
          <p:nvPr/>
        </p:nvSpPr>
        <p:spPr>
          <a:xfrm>
            <a:off x="8699698" y="192532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2" name="Rounded Rectangle 1081">
            <a:extLst>
              <a:ext uri="{FF2B5EF4-FFF2-40B4-BE49-F238E27FC236}">
                <a16:creationId xmlns:a16="http://schemas.microsoft.com/office/drawing/2014/main" id="{5FFB152C-1364-379B-6907-C4D90F09826C}"/>
              </a:ext>
            </a:extLst>
          </p:cNvPr>
          <p:cNvSpPr/>
          <p:nvPr/>
        </p:nvSpPr>
        <p:spPr>
          <a:xfrm>
            <a:off x="10587668" y="192070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pic>
        <p:nvPicPr>
          <p:cNvPr id="1026" name="Picture 2" descr="Smelting - Free construction and tools icons">
            <a:extLst>
              <a:ext uri="{FF2B5EF4-FFF2-40B4-BE49-F238E27FC236}">
                <a16:creationId xmlns:a16="http://schemas.microsoft.com/office/drawing/2014/main" id="{6CBCEDAC-FFBD-BEDC-69CB-F2EFB83D9D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7560" y="2920869"/>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Chemical Plant 2 icon - Free vector (SVG) - Free PNG - Copyicon.com">
            <a:extLst>
              <a:ext uri="{FF2B5EF4-FFF2-40B4-BE49-F238E27FC236}">
                <a16:creationId xmlns:a16="http://schemas.microsoft.com/office/drawing/2014/main" id="{79C3CE72-C5FD-225E-2C02-55EA0F372A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9314" y="2885914"/>
            <a:ext cx="631824" cy="5589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1375B47-27BC-BD15-A006-989C10BB47FF}"/>
              </a:ext>
            </a:extLst>
          </p:cNvPr>
          <p:cNvPicPr>
            <a:picLocks noChangeAspect="1"/>
          </p:cNvPicPr>
          <p:nvPr/>
        </p:nvPicPr>
        <p:blipFill>
          <a:blip r:embed="rId5"/>
          <a:stretch>
            <a:fillRect/>
          </a:stretch>
        </p:blipFill>
        <p:spPr>
          <a:xfrm>
            <a:off x="1348809" y="2811939"/>
            <a:ext cx="815704" cy="721655"/>
          </a:xfrm>
          <a:prstGeom prst="rect">
            <a:avLst/>
          </a:prstGeom>
        </p:spPr>
      </p:pic>
      <p:sp>
        <p:nvSpPr>
          <p:cNvPr id="7" name="TextBox 6">
            <a:extLst>
              <a:ext uri="{FF2B5EF4-FFF2-40B4-BE49-F238E27FC236}">
                <a16:creationId xmlns:a16="http://schemas.microsoft.com/office/drawing/2014/main" id="{3E1B840E-A851-6883-620C-5831EACD732D}"/>
              </a:ext>
            </a:extLst>
          </p:cNvPr>
          <p:cNvSpPr txBox="1"/>
          <p:nvPr/>
        </p:nvSpPr>
        <p:spPr>
          <a:xfrm>
            <a:off x="1495206" y="2596289"/>
            <a:ext cx="540327"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Mine</a:t>
            </a:r>
          </a:p>
        </p:txBody>
      </p:sp>
      <p:sp>
        <p:nvSpPr>
          <p:cNvPr id="8" name="TextBox 7">
            <a:extLst>
              <a:ext uri="{FF2B5EF4-FFF2-40B4-BE49-F238E27FC236}">
                <a16:creationId xmlns:a16="http://schemas.microsoft.com/office/drawing/2014/main" id="{B423F591-C7B2-07E6-3E40-EBF7265ED361}"/>
              </a:ext>
            </a:extLst>
          </p:cNvPr>
          <p:cNvSpPr txBox="1"/>
          <p:nvPr/>
        </p:nvSpPr>
        <p:spPr>
          <a:xfrm>
            <a:off x="8408029" y="2596289"/>
            <a:ext cx="125126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Manufacturer</a:t>
            </a:r>
          </a:p>
        </p:txBody>
      </p:sp>
      <p:sp>
        <p:nvSpPr>
          <p:cNvPr id="9" name="TextBox 8">
            <a:extLst>
              <a:ext uri="{FF2B5EF4-FFF2-40B4-BE49-F238E27FC236}">
                <a16:creationId xmlns:a16="http://schemas.microsoft.com/office/drawing/2014/main" id="{CAD39465-3773-485D-9B6D-170F731439D7}"/>
              </a:ext>
            </a:extLst>
          </p:cNvPr>
          <p:cNvSpPr txBox="1"/>
          <p:nvPr/>
        </p:nvSpPr>
        <p:spPr>
          <a:xfrm>
            <a:off x="5067823" y="2596289"/>
            <a:ext cx="681792"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Refiner</a:t>
            </a:r>
          </a:p>
        </p:txBody>
      </p:sp>
      <p:sp>
        <p:nvSpPr>
          <p:cNvPr id="10" name="TextBox 9">
            <a:extLst>
              <a:ext uri="{FF2B5EF4-FFF2-40B4-BE49-F238E27FC236}">
                <a16:creationId xmlns:a16="http://schemas.microsoft.com/office/drawing/2014/main" id="{67F78837-3E77-C770-0DC0-63AD5C861ECC}"/>
              </a:ext>
            </a:extLst>
          </p:cNvPr>
          <p:cNvSpPr txBox="1"/>
          <p:nvPr/>
        </p:nvSpPr>
        <p:spPr>
          <a:xfrm>
            <a:off x="10296594" y="2615290"/>
            <a:ext cx="127971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OEM</a:t>
            </a:r>
          </a:p>
        </p:txBody>
      </p:sp>
      <p:pic>
        <p:nvPicPr>
          <p:cNvPr id="15" name="Picture 6" descr="Factory Icon in Material Design">
            <a:extLst>
              <a:ext uri="{FF2B5EF4-FFF2-40B4-BE49-F238E27FC236}">
                <a16:creationId xmlns:a16="http://schemas.microsoft.com/office/drawing/2014/main" id="{EF2594CC-EDCC-6E96-5DAB-48683DE7FD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6313" y="2877844"/>
            <a:ext cx="640946" cy="56704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4" descr="Car manufacturing - Free industry icons">
            <a:extLst>
              <a:ext uri="{FF2B5EF4-FFF2-40B4-BE49-F238E27FC236}">
                <a16:creationId xmlns:a16="http://schemas.microsoft.com/office/drawing/2014/main" id="{554A8A36-C691-E2B9-1F2E-353B365623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48659" y="2920869"/>
            <a:ext cx="543362" cy="480713"/>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0F791885-7DCF-99C9-5D25-73511EDB996D}"/>
              </a:ext>
            </a:extLst>
          </p:cNvPr>
          <p:cNvSpPr txBox="1"/>
          <p:nvPr/>
        </p:nvSpPr>
        <p:spPr>
          <a:xfrm>
            <a:off x="3249762" y="2596289"/>
            <a:ext cx="721303"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Smelter</a:t>
            </a:r>
          </a:p>
        </p:txBody>
      </p:sp>
      <p:sp>
        <p:nvSpPr>
          <p:cNvPr id="36" name="TextBox 35">
            <a:extLst>
              <a:ext uri="{FF2B5EF4-FFF2-40B4-BE49-F238E27FC236}">
                <a16:creationId xmlns:a16="http://schemas.microsoft.com/office/drawing/2014/main" id="{F3AC769D-C1C5-E75B-2BAF-AEA77BD0DBA2}"/>
              </a:ext>
            </a:extLst>
          </p:cNvPr>
          <p:cNvSpPr txBox="1"/>
          <p:nvPr/>
        </p:nvSpPr>
        <p:spPr>
          <a:xfrm>
            <a:off x="6741484" y="2596289"/>
            <a:ext cx="1049824"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Fabricator</a:t>
            </a:r>
          </a:p>
        </p:txBody>
      </p:sp>
      <p:pic>
        <p:nvPicPr>
          <p:cNvPr id="1030" name="Picture 6" descr="2,500+ Gravel Icon Stock Illustrations, Royalty-Free Vector Graphics &amp; Clip  Art - iStock">
            <a:extLst>
              <a:ext uri="{FF2B5EF4-FFF2-40B4-BE49-F238E27FC236}">
                <a16:creationId xmlns:a16="http://schemas.microsoft.com/office/drawing/2014/main" id="{A65C15B8-62F1-933B-8033-9C24FB00F926}"/>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114" t="15270" r="15934" b="16995"/>
          <a:stretch/>
        </p:blipFill>
        <p:spPr bwMode="auto">
          <a:xfrm>
            <a:off x="1589780" y="3857062"/>
            <a:ext cx="372861" cy="3952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got - Free business icons">
            <a:extLst>
              <a:ext uri="{FF2B5EF4-FFF2-40B4-BE49-F238E27FC236}">
                <a16:creationId xmlns:a16="http://schemas.microsoft.com/office/drawing/2014/main" id="{28039E01-454B-FA1E-D62F-0B03756B042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41061" y="3870870"/>
            <a:ext cx="410291" cy="436275"/>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C6AEA575-DBB4-5EAD-CA32-F2367C58AC2D}"/>
              </a:ext>
            </a:extLst>
          </p:cNvPr>
          <p:cNvSpPr txBox="1"/>
          <p:nvPr/>
        </p:nvSpPr>
        <p:spPr>
          <a:xfrm>
            <a:off x="1341311" y="3638976"/>
            <a:ext cx="102904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Concentrate</a:t>
            </a:r>
          </a:p>
        </p:txBody>
      </p:sp>
      <p:sp>
        <p:nvSpPr>
          <p:cNvPr id="43" name="TextBox 42">
            <a:extLst>
              <a:ext uri="{FF2B5EF4-FFF2-40B4-BE49-F238E27FC236}">
                <a16:creationId xmlns:a16="http://schemas.microsoft.com/office/drawing/2014/main" id="{F5A33DE3-88DF-E359-D6EF-701F024B9E47}"/>
              </a:ext>
            </a:extLst>
          </p:cNvPr>
          <p:cNvSpPr txBox="1"/>
          <p:nvPr/>
        </p:nvSpPr>
        <p:spPr>
          <a:xfrm>
            <a:off x="8701277" y="3638976"/>
            <a:ext cx="79153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Battery</a:t>
            </a:r>
          </a:p>
        </p:txBody>
      </p:sp>
      <p:sp>
        <p:nvSpPr>
          <p:cNvPr id="44" name="TextBox 43">
            <a:extLst>
              <a:ext uri="{FF2B5EF4-FFF2-40B4-BE49-F238E27FC236}">
                <a16:creationId xmlns:a16="http://schemas.microsoft.com/office/drawing/2014/main" id="{14560E63-7F9B-5B69-5289-00C7FA24589E}"/>
              </a:ext>
            </a:extLst>
          </p:cNvPr>
          <p:cNvSpPr txBox="1"/>
          <p:nvPr/>
        </p:nvSpPr>
        <p:spPr>
          <a:xfrm>
            <a:off x="5056180" y="3638976"/>
            <a:ext cx="82918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Cathodes</a:t>
            </a:r>
          </a:p>
        </p:txBody>
      </p:sp>
      <p:sp>
        <p:nvSpPr>
          <p:cNvPr id="45" name="TextBox 44">
            <a:extLst>
              <a:ext uri="{FF2B5EF4-FFF2-40B4-BE49-F238E27FC236}">
                <a16:creationId xmlns:a16="http://schemas.microsoft.com/office/drawing/2014/main" id="{295F8BCA-2281-F744-8CCE-CF07DD4B53B3}"/>
              </a:ext>
            </a:extLst>
          </p:cNvPr>
          <p:cNvSpPr txBox="1"/>
          <p:nvPr/>
        </p:nvSpPr>
        <p:spPr>
          <a:xfrm>
            <a:off x="10500147" y="3603423"/>
            <a:ext cx="888402"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EV</a:t>
            </a:r>
          </a:p>
        </p:txBody>
      </p:sp>
      <p:sp>
        <p:nvSpPr>
          <p:cNvPr id="47" name="TextBox 46">
            <a:extLst>
              <a:ext uri="{FF2B5EF4-FFF2-40B4-BE49-F238E27FC236}">
                <a16:creationId xmlns:a16="http://schemas.microsoft.com/office/drawing/2014/main" id="{C9823A5C-BDAE-1D47-832C-9E80F7457831}"/>
              </a:ext>
            </a:extLst>
          </p:cNvPr>
          <p:cNvSpPr txBox="1"/>
          <p:nvPr/>
        </p:nvSpPr>
        <p:spPr>
          <a:xfrm>
            <a:off x="3272362" y="3638976"/>
            <a:ext cx="62261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Blister</a:t>
            </a:r>
          </a:p>
        </p:txBody>
      </p:sp>
      <p:sp>
        <p:nvSpPr>
          <p:cNvPr id="48" name="TextBox 47">
            <a:extLst>
              <a:ext uri="{FF2B5EF4-FFF2-40B4-BE49-F238E27FC236}">
                <a16:creationId xmlns:a16="http://schemas.microsoft.com/office/drawing/2014/main" id="{65298BAE-99F2-B629-710E-2FD93C9F9934}"/>
              </a:ext>
            </a:extLst>
          </p:cNvPr>
          <p:cNvSpPr txBox="1"/>
          <p:nvPr/>
        </p:nvSpPr>
        <p:spPr>
          <a:xfrm>
            <a:off x="7152425" y="3638976"/>
            <a:ext cx="56416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Foil</a:t>
            </a:r>
          </a:p>
        </p:txBody>
      </p:sp>
      <p:pic>
        <p:nvPicPr>
          <p:cNvPr id="1040" name="Picture 16" descr="Bullion, gold, ingot, meta, metal, nugget, precious icon - Download on  Iconfinder">
            <a:extLst>
              <a:ext uri="{FF2B5EF4-FFF2-40B4-BE49-F238E27FC236}">
                <a16:creationId xmlns:a16="http://schemas.microsoft.com/office/drawing/2014/main" id="{6845ADAD-E3FE-2502-E050-139A47FA258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2115" y="3820098"/>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luminum foil icon 37133487 Vector Art at Vecteezy">
            <a:extLst>
              <a:ext uri="{FF2B5EF4-FFF2-40B4-BE49-F238E27FC236}">
                <a16:creationId xmlns:a16="http://schemas.microsoft.com/office/drawing/2014/main" id="{D29838F4-0C6F-1E0A-2997-E23C480B180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45594" y="3923770"/>
            <a:ext cx="443840" cy="29591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0" descr="ev battery outline icon Stock Vector | Adobe Stock">
            <a:extLst>
              <a:ext uri="{FF2B5EF4-FFF2-40B4-BE49-F238E27FC236}">
                <a16:creationId xmlns:a16="http://schemas.microsoft.com/office/drawing/2014/main" id="{ED36F324-9497-F77B-8260-62FB7BBF9D6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8860074" y="3928668"/>
            <a:ext cx="412986" cy="38838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Electric car - Free transport icons">
            <a:extLst>
              <a:ext uri="{FF2B5EF4-FFF2-40B4-BE49-F238E27FC236}">
                <a16:creationId xmlns:a16="http://schemas.microsoft.com/office/drawing/2014/main" id="{2AA98CEF-FC80-3304-7211-429B4E1CA22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680879" y="3792333"/>
            <a:ext cx="511142" cy="543513"/>
          </a:xfrm>
          <a:prstGeom prst="rect">
            <a:avLst/>
          </a:prstGeom>
          <a:noFill/>
          <a:extLst>
            <a:ext uri="{909E8E84-426E-40DD-AFC4-6F175D3DCCD1}">
              <a14:hiddenFill xmlns:a14="http://schemas.microsoft.com/office/drawing/2010/main">
                <a:solidFill>
                  <a:srgbClr val="FFFFFF"/>
                </a:solidFill>
              </a14:hiddenFill>
            </a:ext>
          </a:extLst>
        </p:spPr>
      </p:pic>
      <p:sp>
        <p:nvSpPr>
          <p:cNvPr id="132" name="TextBox 131">
            <a:extLst>
              <a:ext uri="{FF2B5EF4-FFF2-40B4-BE49-F238E27FC236}">
                <a16:creationId xmlns:a16="http://schemas.microsoft.com/office/drawing/2014/main" id="{37254992-08C6-87B9-83D8-4885A6262B4E}"/>
              </a:ext>
            </a:extLst>
          </p:cNvPr>
          <p:cNvSpPr txBox="1"/>
          <p:nvPr/>
        </p:nvSpPr>
        <p:spPr>
          <a:xfrm>
            <a:off x="1198360" y="4240436"/>
            <a:ext cx="113045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Consignment ID</a:t>
            </a:r>
          </a:p>
        </p:txBody>
      </p:sp>
      <p:sp>
        <p:nvSpPr>
          <p:cNvPr id="133" name="TextBox 132">
            <a:extLst>
              <a:ext uri="{FF2B5EF4-FFF2-40B4-BE49-F238E27FC236}">
                <a16:creationId xmlns:a16="http://schemas.microsoft.com/office/drawing/2014/main" id="{61C6D353-1620-5986-028D-2A8F8868F8B1}"/>
              </a:ext>
            </a:extLst>
          </p:cNvPr>
          <p:cNvSpPr txBox="1"/>
          <p:nvPr/>
        </p:nvSpPr>
        <p:spPr>
          <a:xfrm>
            <a:off x="3223251" y="4240436"/>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4" name="TextBox 133">
            <a:extLst>
              <a:ext uri="{FF2B5EF4-FFF2-40B4-BE49-F238E27FC236}">
                <a16:creationId xmlns:a16="http://schemas.microsoft.com/office/drawing/2014/main" id="{FF4BD2DC-78B0-0623-DF18-4EFD7620B351}"/>
              </a:ext>
            </a:extLst>
          </p:cNvPr>
          <p:cNvSpPr txBox="1"/>
          <p:nvPr/>
        </p:nvSpPr>
        <p:spPr>
          <a:xfrm>
            <a:off x="5067720" y="4240436"/>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5" name="TextBox 134">
            <a:extLst>
              <a:ext uri="{FF2B5EF4-FFF2-40B4-BE49-F238E27FC236}">
                <a16:creationId xmlns:a16="http://schemas.microsoft.com/office/drawing/2014/main" id="{498BBDE8-4FD7-4F9D-1BAE-2CB10CFA56BA}"/>
              </a:ext>
            </a:extLst>
          </p:cNvPr>
          <p:cNvSpPr txBox="1"/>
          <p:nvPr/>
        </p:nvSpPr>
        <p:spPr>
          <a:xfrm>
            <a:off x="6987155" y="4240436"/>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6" name="TextBox 135">
            <a:extLst>
              <a:ext uri="{FF2B5EF4-FFF2-40B4-BE49-F238E27FC236}">
                <a16:creationId xmlns:a16="http://schemas.microsoft.com/office/drawing/2014/main" id="{17DBCA37-DD17-0BEB-113B-74A95C90BFF7}"/>
              </a:ext>
            </a:extLst>
          </p:cNvPr>
          <p:cNvSpPr txBox="1"/>
          <p:nvPr/>
        </p:nvSpPr>
        <p:spPr>
          <a:xfrm>
            <a:off x="8696313" y="4240436"/>
            <a:ext cx="75966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Serial No.</a:t>
            </a:r>
          </a:p>
        </p:txBody>
      </p:sp>
      <p:sp>
        <p:nvSpPr>
          <p:cNvPr id="137" name="TextBox 136">
            <a:extLst>
              <a:ext uri="{FF2B5EF4-FFF2-40B4-BE49-F238E27FC236}">
                <a16:creationId xmlns:a16="http://schemas.microsoft.com/office/drawing/2014/main" id="{289F8195-B0EF-90C2-D75D-C135D67608C6}"/>
              </a:ext>
            </a:extLst>
          </p:cNvPr>
          <p:cNvSpPr txBox="1"/>
          <p:nvPr/>
        </p:nvSpPr>
        <p:spPr>
          <a:xfrm>
            <a:off x="10624176" y="4251728"/>
            <a:ext cx="39511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VIN</a:t>
            </a:r>
          </a:p>
        </p:txBody>
      </p:sp>
      <p:pic>
        <p:nvPicPr>
          <p:cNvPr id="140" name="Picture 28" descr="Vector Design Extrusion Icon Style | Premium Vector">
            <a:extLst>
              <a:ext uri="{FF2B5EF4-FFF2-40B4-BE49-F238E27FC236}">
                <a16:creationId xmlns:a16="http://schemas.microsoft.com/office/drawing/2014/main" id="{49DC419A-9685-621F-BF08-63DC91D1246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37629" y="2885914"/>
            <a:ext cx="564161" cy="599891"/>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66D3F5E4-00D0-FD6F-69D0-F5884CA92BE9}"/>
              </a:ext>
            </a:extLst>
          </p:cNvPr>
          <p:cNvSpPr/>
          <p:nvPr/>
        </p:nvSpPr>
        <p:spPr>
          <a:xfrm>
            <a:off x="8839139" y="2107544"/>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5" name="TextBox 34">
            <a:extLst>
              <a:ext uri="{FF2B5EF4-FFF2-40B4-BE49-F238E27FC236}">
                <a16:creationId xmlns:a16="http://schemas.microsoft.com/office/drawing/2014/main" id="{9E27A9A7-C588-0879-C5DD-E68800EE9DB6}"/>
              </a:ext>
            </a:extLst>
          </p:cNvPr>
          <p:cNvSpPr txBox="1"/>
          <p:nvPr/>
        </p:nvSpPr>
        <p:spPr>
          <a:xfrm>
            <a:off x="1474513" y="3340642"/>
            <a:ext cx="56325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Site ID</a:t>
            </a:r>
          </a:p>
        </p:txBody>
      </p:sp>
      <p:sp>
        <p:nvSpPr>
          <p:cNvPr id="37" name="TextBox 36">
            <a:extLst>
              <a:ext uri="{FF2B5EF4-FFF2-40B4-BE49-F238E27FC236}">
                <a16:creationId xmlns:a16="http://schemas.microsoft.com/office/drawing/2014/main" id="{A3A13DBD-B1ED-84CE-AE5E-106BB19383BC}"/>
              </a:ext>
            </a:extLst>
          </p:cNvPr>
          <p:cNvSpPr txBox="1"/>
          <p:nvPr/>
        </p:nvSpPr>
        <p:spPr>
          <a:xfrm>
            <a:off x="3309416" y="3406115"/>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0" name="TextBox 39">
            <a:extLst>
              <a:ext uri="{FF2B5EF4-FFF2-40B4-BE49-F238E27FC236}">
                <a16:creationId xmlns:a16="http://schemas.microsoft.com/office/drawing/2014/main" id="{491736F6-DB6D-467C-CB56-D0A9C3CF45F5}"/>
              </a:ext>
            </a:extLst>
          </p:cNvPr>
          <p:cNvSpPr txBox="1"/>
          <p:nvPr/>
        </p:nvSpPr>
        <p:spPr>
          <a:xfrm>
            <a:off x="8715761" y="3387202"/>
            <a:ext cx="59629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OSH ID</a:t>
            </a:r>
          </a:p>
        </p:txBody>
      </p:sp>
      <p:sp>
        <p:nvSpPr>
          <p:cNvPr id="41" name="TextBox 40">
            <a:extLst>
              <a:ext uri="{FF2B5EF4-FFF2-40B4-BE49-F238E27FC236}">
                <a16:creationId xmlns:a16="http://schemas.microsoft.com/office/drawing/2014/main" id="{46944078-CCD0-273F-2C5E-21A28C234C38}"/>
              </a:ext>
            </a:extLst>
          </p:cNvPr>
          <p:cNvSpPr txBox="1"/>
          <p:nvPr/>
        </p:nvSpPr>
        <p:spPr>
          <a:xfrm>
            <a:off x="5077447" y="3392552"/>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9" name="TextBox 48">
            <a:extLst>
              <a:ext uri="{FF2B5EF4-FFF2-40B4-BE49-F238E27FC236}">
                <a16:creationId xmlns:a16="http://schemas.microsoft.com/office/drawing/2014/main" id="{D9F03DAC-004F-4565-377F-583761B8E7DD}"/>
              </a:ext>
            </a:extLst>
          </p:cNvPr>
          <p:cNvSpPr txBox="1"/>
          <p:nvPr/>
        </p:nvSpPr>
        <p:spPr>
          <a:xfrm>
            <a:off x="7089228" y="3424663"/>
            <a:ext cx="42082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GLN</a:t>
            </a:r>
          </a:p>
        </p:txBody>
      </p:sp>
      <p:sp>
        <p:nvSpPr>
          <p:cNvPr id="50" name="TextBox 49">
            <a:extLst>
              <a:ext uri="{FF2B5EF4-FFF2-40B4-BE49-F238E27FC236}">
                <a16:creationId xmlns:a16="http://schemas.microsoft.com/office/drawing/2014/main" id="{03C1596A-BCD9-1945-6D77-1EF8AB287B05}"/>
              </a:ext>
            </a:extLst>
          </p:cNvPr>
          <p:cNvSpPr txBox="1"/>
          <p:nvPr/>
        </p:nvSpPr>
        <p:spPr>
          <a:xfrm>
            <a:off x="10476687" y="3417484"/>
            <a:ext cx="93532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Company ID</a:t>
            </a:r>
          </a:p>
        </p:txBody>
      </p:sp>
      <p:sp>
        <p:nvSpPr>
          <p:cNvPr id="31" name="Rounded Rectangle 30">
            <a:extLst>
              <a:ext uri="{FF2B5EF4-FFF2-40B4-BE49-F238E27FC236}">
                <a16:creationId xmlns:a16="http://schemas.microsoft.com/office/drawing/2014/main" id="{91AF81FF-2704-C38F-A7FA-FED897E2B379}"/>
              </a:ext>
            </a:extLst>
          </p:cNvPr>
          <p:cNvSpPr/>
          <p:nvPr/>
        </p:nvSpPr>
        <p:spPr>
          <a:xfrm>
            <a:off x="10737829" y="2107544"/>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2" name="Rounded Rectangle 31">
            <a:extLst>
              <a:ext uri="{FF2B5EF4-FFF2-40B4-BE49-F238E27FC236}">
                <a16:creationId xmlns:a16="http://schemas.microsoft.com/office/drawing/2014/main" id="{81BF2B37-B761-C469-A31F-589756374EA6}"/>
              </a:ext>
            </a:extLst>
          </p:cNvPr>
          <p:cNvSpPr/>
          <p:nvPr/>
        </p:nvSpPr>
        <p:spPr>
          <a:xfrm>
            <a:off x="7067692" y="2107544"/>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3" name="Rounded Rectangle 32">
            <a:extLst>
              <a:ext uri="{FF2B5EF4-FFF2-40B4-BE49-F238E27FC236}">
                <a16:creationId xmlns:a16="http://schemas.microsoft.com/office/drawing/2014/main" id="{9934DDFA-3F6C-FFA8-4A11-942E064BA62F}"/>
              </a:ext>
            </a:extLst>
          </p:cNvPr>
          <p:cNvSpPr/>
          <p:nvPr/>
        </p:nvSpPr>
        <p:spPr>
          <a:xfrm>
            <a:off x="5214066" y="2107544"/>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8" name="Rounded Rectangle 37">
            <a:extLst>
              <a:ext uri="{FF2B5EF4-FFF2-40B4-BE49-F238E27FC236}">
                <a16:creationId xmlns:a16="http://schemas.microsoft.com/office/drawing/2014/main" id="{D374AAB8-B32F-EB07-7910-F81244081B3A}"/>
              </a:ext>
            </a:extLst>
          </p:cNvPr>
          <p:cNvSpPr/>
          <p:nvPr/>
        </p:nvSpPr>
        <p:spPr>
          <a:xfrm>
            <a:off x="3411803" y="2107544"/>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9" name="Rounded Rectangle 38">
            <a:extLst>
              <a:ext uri="{FF2B5EF4-FFF2-40B4-BE49-F238E27FC236}">
                <a16:creationId xmlns:a16="http://schemas.microsoft.com/office/drawing/2014/main" id="{9BC25FCA-F23E-767B-A803-7EE611B443EB}"/>
              </a:ext>
            </a:extLst>
          </p:cNvPr>
          <p:cNvSpPr/>
          <p:nvPr/>
        </p:nvSpPr>
        <p:spPr>
          <a:xfrm>
            <a:off x="1578721" y="2107544"/>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cxnSp>
        <p:nvCxnSpPr>
          <p:cNvPr id="51" name="Straight Arrow Connector 50">
            <a:extLst>
              <a:ext uri="{FF2B5EF4-FFF2-40B4-BE49-F238E27FC236}">
                <a16:creationId xmlns:a16="http://schemas.microsoft.com/office/drawing/2014/main" id="{E9251379-5484-6DAB-A2F4-F895F21B6036}"/>
              </a:ext>
            </a:extLst>
          </p:cNvPr>
          <p:cNvCxnSpPr>
            <a:cxnSpLocks/>
          </p:cNvCxnSpPr>
          <p:nvPr/>
        </p:nvCxnSpPr>
        <p:spPr>
          <a:xfrm rot="10800000">
            <a:off x="9225601" y="2234302"/>
            <a:ext cx="1423058" cy="845462"/>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50">
            <a:extLst>
              <a:ext uri="{FF2B5EF4-FFF2-40B4-BE49-F238E27FC236}">
                <a16:creationId xmlns:a16="http://schemas.microsoft.com/office/drawing/2014/main" id="{37B8561E-A927-6166-F8DB-4A4184160D0E}"/>
              </a:ext>
            </a:extLst>
          </p:cNvPr>
          <p:cNvCxnSpPr>
            <a:cxnSpLocks/>
          </p:cNvCxnSpPr>
          <p:nvPr/>
        </p:nvCxnSpPr>
        <p:spPr>
          <a:xfrm rot="10800000">
            <a:off x="7454154" y="2234309"/>
            <a:ext cx="1242159" cy="845591"/>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0">
            <a:extLst>
              <a:ext uri="{FF2B5EF4-FFF2-40B4-BE49-F238E27FC236}">
                <a16:creationId xmlns:a16="http://schemas.microsoft.com/office/drawing/2014/main" id="{5E3F3F99-AD44-397B-9389-83FB5846C2FA}"/>
              </a:ext>
            </a:extLst>
          </p:cNvPr>
          <p:cNvCxnSpPr>
            <a:cxnSpLocks/>
          </p:cNvCxnSpPr>
          <p:nvPr/>
        </p:nvCxnSpPr>
        <p:spPr>
          <a:xfrm rot="10800000">
            <a:off x="5600529" y="2235422"/>
            <a:ext cx="1437101" cy="867856"/>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0">
            <a:extLst>
              <a:ext uri="{FF2B5EF4-FFF2-40B4-BE49-F238E27FC236}">
                <a16:creationId xmlns:a16="http://schemas.microsoft.com/office/drawing/2014/main" id="{069D0568-E5F2-5B19-3ACB-DAD94C384A76}"/>
              </a:ext>
            </a:extLst>
          </p:cNvPr>
          <p:cNvCxnSpPr>
            <a:cxnSpLocks/>
            <a:stCxn id="31" idx="2"/>
            <a:endCxn id="10" idx="0"/>
          </p:cNvCxnSpPr>
          <p:nvPr/>
        </p:nvCxnSpPr>
        <p:spPr>
          <a:xfrm>
            <a:off x="10931060" y="2354892"/>
            <a:ext cx="5390" cy="260398"/>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50">
            <a:extLst>
              <a:ext uri="{FF2B5EF4-FFF2-40B4-BE49-F238E27FC236}">
                <a16:creationId xmlns:a16="http://schemas.microsoft.com/office/drawing/2014/main" id="{8C47156D-5D75-E2B6-1652-E55B32DD395A}"/>
              </a:ext>
            </a:extLst>
          </p:cNvPr>
          <p:cNvCxnSpPr>
            <a:cxnSpLocks/>
            <a:stCxn id="4" idx="2"/>
            <a:endCxn id="8" idx="0"/>
          </p:cNvCxnSpPr>
          <p:nvPr/>
        </p:nvCxnSpPr>
        <p:spPr>
          <a:xfrm>
            <a:off x="9032370" y="2354892"/>
            <a:ext cx="129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1" name="Straight Arrow Connector 50">
            <a:extLst>
              <a:ext uri="{FF2B5EF4-FFF2-40B4-BE49-F238E27FC236}">
                <a16:creationId xmlns:a16="http://schemas.microsoft.com/office/drawing/2014/main" id="{9C7E4D4D-9C9B-B67F-2D3F-F96EBBAD0E6F}"/>
              </a:ext>
            </a:extLst>
          </p:cNvPr>
          <p:cNvCxnSpPr>
            <a:cxnSpLocks/>
          </p:cNvCxnSpPr>
          <p:nvPr/>
        </p:nvCxnSpPr>
        <p:spPr>
          <a:xfrm rot="10800000">
            <a:off x="3798265" y="2221430"/>
            <a:ext cx="1271050" cy="849259"/>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5" name="Straight Arrow Connector 50">
            <a:extLst>
              <a:ext uri="{FF2B5EF4-FFF2-40B4-BE49-F238E27FC236}">
                <a16:creationId xmlns:a16="http://schemas.microsoft.com/office/drawing/2014/main" id="{36119577-0C60-366D-2BEE-1884369A4852}"/>
              </a:ext>
            </a:extLst>
          </p:cNvPr>
          <p:cNvCxnSpPr>
            <a:cxnSpLocks/>
          </p:cNvCxnSpPr>
          <p:nvPr/>
        </p:nvCxnSpPr>
        <p:spPr>
          <a:xfrm rot="10800000">
            <a:off x="1965183" y="2247890"/>
            <a:ext cx="1392377" cy="855953"/>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 name="Straight Arrow Connector 50">
            <a:extLst>
              <a:ext uri="{FF2B5EF4-FFF2-40B4-BE49-F238E27FC236}">
                <a16:creationId xmlns:a16="http://schemas.microsoft.com/office/drawing/2014/main" id="{18A28C02-115B-6641-CBC4-3679B8989645}"/>
              </a:ext>
            </a:extLst>
          </p:cNvPr>
          <p:cNvCxnSpPr>
            <a:cxnSpLocks/>
          </p:cNvCxnSpPr>
          <p:nvPr/>
        </p:nvCxnSpPr>
        <p:spPr>
          <a:xfrm rot="10800000" flipV="1">
            <a:off x="1962641" y="3238977"/>
            <a:ext cx="1394919" cy="80172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0">
            <a:extLst>
              <a:ext uri="{FF2B5EF4-FFF2-40B4-BE49-F238E27FC236}">
                <a16:creationId xmlns:a16="http://schemas.microsoft.com/office/drawing/2014/main" id="{750DEFDE-1C75-5E4B-8144-D77CD5291D85}"/>
              </a:ext>
            </a:extLst>
          </p:cNvPr>
          <p:cNvCxnSpPr>
            <a:cxnSpLocks/>
          </p:cNvCxnSpPr>
          <p:nvPr/>
        </p:nvCxnSpPr>
        <p:spPr>
          <a:xfrm rot="10800000" flipV="1">
            <a:off x="3865904" y="3245801"/>
            <a:ext cx="1203411" cy="82417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0" name="Straight Arrow Connector 50">
            <a:extLst>
              <a:ext uri="{FF2B5EF4-FFF2-40B4-BE49-F238E27FC236}">
                <a16:creationId xmlns:a16="http://schemas.microsoft.com/office/drawing/2014/main" id="{FC8B7C25-B708-D88D-0E26-4F1972B4BF63}"/>
              </a:ext>
            </a:extLst>
          </p:cNvPr>
          <p:cNvCxnSpPr>
            <a:cxnSpLocks/>
          </p:cNvCxnSpPr>
          <p:nvPr/>
        </p:nvCxnSpPr>
        <p:spPr>
          <a:xfrm rot="10800000" flipV="1">
            <a:off x="5651352" y="3279164"/>
            <a:ext cx="1386277" cy="821044"/>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4" name="Straight Arrow Connector 50">
            <a:extLst>
              <a:ext uri="{FF2B5EF4-FFF2-40B4-BE49-F238E27FC236}">
                <a16:creationId xmlns:a16="http://schemas.microsoft.com/office/drawing/2014/main" id="{CA605F72-3D67-F7E8-464A-A7DB6C6CE58F}"/>
              </a:ext>
            </a:extLst>
          </p:cNvPr>
          <p:cNvCxnSpPr>
            <a:cxnSpLocks/>
          </p:cNvCxnSpPr>
          <p:nvPr/>
        </p:nvCxnSpPr>
        <p:spPr>
          <a:xfrm rot="10800000" flipV="1">
            <a:off x="7589434" y="3254999"/>
            <a:ext cx="1106879" cy="827597"/>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1" name="Straight Arrow Connector 50">
            <a:extLst>
              <a:ext uri="{FF2B5EF4-FFF2-40B4-BE49-F238E27FC236}">
                <a16:creationId xmlns:a16="http://schemas.microsoft.com/office/drawing/2014/main" id="{19D99037-5099-0EC3-2C55-0E304CD18176}"/>
              </a:ext>
            </a:extLst>
          </p:cNvPr>
          <p:cNvCxnSpPr>
            <a:cxnSpLocks/>
          </p:cNvCxnSpPr>
          <p:nvPr/>
        </p:nvCxnSpPr>
        <p:spPr>
          <a:xfrm rot="10800000" flipV="1">
            <a:off x="9260761" y="3231063"/>
            <a:ext cx="1387898" cy="87421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36" name="Rounded Rectangle 1035">
            <a:extLst>
              <a:ext uri="{FF2B5EF4-FFF2-40B4-BE49-F238E27FC236}">
                <a16:creationId xmlns:a16="http://schemas.microsoft.com/office/drawing/2014/main" id="{4C6C2696-53BC-D8CE-8591-4C55F30C0A86}"/>
              </a:ext>
            </a:extLst>
          </p:cNvPr>
          <p:cNvSpPr/>
          <p:nvPr/>
        </p:nvSpPr>
        <p:spPr>
          <a:xfrm>
            <a:off x="3924491" y="3954229"/>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38" name="Rounded Rectangle 1037">
            <a:extLst>
              <a:ext uri="{FF2B5EF4-FFF2-40B4-BE49-F238E27FC236}">
                <a16:creationId xmlns:a16="http://schemas.microsoft.com/office/drawing/2014/main" id="{37988932-E9C6-0A41-A541-BC3633A3D6A1}"/>
              </a:ext>
            </a:extLst>
          </p:cNvPr>
          <p:cNvSpPr/>
          <p:nvPr/>
        </p:nvSpPr>
        <p:spPr>
          <a:xfrm>
            <a:off x="2164513" y="3954229"/>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39" name="Rounded Rectangle 1038">
            <a:extLst>
              <a:ext uri="{FF2B5EF4-FFF2-40B4-BE49-F238E27FC236}">
                <a16:creationId xmlns:a16="http://schemas.microsoft.com/office/drawing/2014/main" id="{D858E855-89A0-D2AB-4B4B-FB0C5A7BE0AD}"/>
              </a:ext>
            </a:extLst>
          </p:cNvPr>
          <p:cNvSpPr/>
          <p:nvPr/>
        </p:nvSpPr>
        <p:spPr>
          <a:xfrm>
            <a:off x="5848467" y="3954229"/>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43" name="Rounded Rectangle 1042">
            <a:extLst>
              <a:ext uri="{FF2B5EF4-FFF2-40B4-BE49-F238E27FC236}">
                <a16:creationId xmlns:a16="http://schemas.microsoft.com/office/drawing/2014/main" id="{7C37600A-0F55-59E7-CEEB-3C60B5359FBE}"/>
              </a:ext>
            </a:extLst>
          </p:cNvPr>
          <p:cNvSpPr/>
          <p:nvPr/>
        </p:nvSpPr>
        <p:spPr>
          <a:xfrm>
            <a:off x="7642188" y="3954229"/>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44" name="Rounded Rectangle 1043">
            <a:extLst>
              <a:ext uri="{FF2B5EF4-FFF2-40B4-BE49-F238E27FC236}">
                <a16:creationId xmlns:a16="http://schemas.microsoft.com/office/drawing/2014/main" id="{BB0987E8-7E08-0203-F96E-0C74BA68362F}"/>
              </a:ext>
            </a:extLst>
          </p:cNvPr>
          <p:cNvSpPr/>
          <p:nvPr/>
        </p:nvSpPr>
        <p:spPr>
          <a:xfrm>
            <a:off x="9472707" y="3954229"/>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cxnSp>
        <p:nvCxnSpPr>
          <p:cNvPr id="142" name="Straight Arrow Connector 50">
            <a:extLst>
              <a:ext uri="{FF2B5EF4-FFF2-40B4-BE49-F238E27FC236}">
                <a16:creationId xmlns:a16="http://schemas.microsoft.com/office/drawing/2014/main" id="{64436C6C-97DF-2C13-377D-0DB7006B2521}"/>
              </a:ext>
            </a:extLst>
          </p:cNvPr>
          <p:cNvCxnSpPr>
            <a:cxnSpLocks/>
          </p:cNvCxnSpPr>
          <p:nvPr/>
        </p:nvCxnSpPr>
        <p:spPr>
          <a:xfrm>
            <a:off x="7253501" y="2362526"/>
            <a:ext cx="544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3" name="Straight Arrow Connector 50">
            <a:extLst>
              <a:ext uri="{FF2B5EF4-FFF2-40B4-BE49-F238E27FC236}">
                <a16:creationId xmlns:a16="http://schemas.microsoft.com/office/drawing/2014/main" id="{D99F39C6-B354-F7A2-26C5-BAEB15001E3E}"/>
              </a:ext>
            </a:extLst>
          </p:cNvPr>
          <p:cNvCxnSpPr>
            <a:cxnSpLocks/>
          </p:cNvCxnSpPr>
          <p:nvPr/>
        </p:nvCxnSpPr>
        <p:spPr>
          <a:xfrm>
            <a:off x="5410865" y="2362526"/>
            <a:ext cx="141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4" name="Straight Arrow Connector 50">
            <a:extLst>
              <a:ext uri="{FF2B5EF4-FFF2-40B4-BE49-F238E27FC236}">
                <a16:creationId xmlns:a16="http://schemas.microsoft.com/office/drawing/2014/main" id="{A330EA95-34D9-FAF6-1703-A4708919D5EB}"/>
              </a:ext>
            </a:extLst>
          </p:cNvPr>
          <p:cNvCxnSpPr>
            <a:cxnSpLocks/>
          </p:cNvCxnSpPr>
          <p:nvPr/>
        </p:nvCxnSpPr>
        <p:spPr>
          <a:xfrm>
            <a:off x="3619286" y="2362526"/>
            <a:ext cx="5348"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5" name="Straight Arrow Connector 50">
            <a:extLst>
              <a:ext uri="{FF2B5EF4-FFF2-40B4-BE49-F238E27FC236}">
                <a16:creationId xmlns:a16="http://schemas.microsoft.com/office/drawing/2014/main" id="{758A80A6-9DA0-DBAB-6A3B-AEA763189B98}"/>
              </a:ext>
            </a:extLst>
          </p:cNvPr>
          <p:cNvCxnSpPr>
            <a:cxnSpLocks/>
          </p:cNvCxnSpPr>
          <p:nvPr/>
        </p:nvCxnSpPr>
        <p:spPr>
          <a:xfrm flipH="1">
            <a:off x="1790529" y="2362526"/>
            <a:ext cx="654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4804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1BF4-A0F2-B2E8-C2F8-7EA7D86DAFCC}"/>
            </a:ext>
          </a:extLst>
        </p:cNvPr>
        <p:cNvGrpSpPr/>
        <p:nvPr/>
      </p:nvGrpSpPr>
      <p:grpSpPr>
        <a:xfrm>
          <a:off x="0" y="0"/>
          <a:ext cx="0" cy="0"/>
          <a:chOff x="0" y="0"/>
          <a:chExt cx="0" cy="0"/>
        </a:xfrm>
      </p:grpSpPr>
      <p:sp>
        <p:nvSpPr>
          <p:cNvPr id="180" name="Rounded Rectangle 179">
            <a:extLst>
              <a:ext uri="{FF2B5EF4-FFF2-40B4-BE49-F238E27FC236}">
                <a16:creationId xmlns:a16="http://schemas.microsoft.com/office/drawing/2014/main" id="{FB0F203F-B282-919F-8DCE-75D523C00B8A}"/>
              </a:ext>
            </a:extLst>
          </p:cNvPr>
          <p:cNvSpPr/>
          <p:nvPr/>
        </p:nvSpPr>
        <p:spPr>
          <a:xfrm>
            <a:off x="2519042" y="4215667"/>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81" name="Rounded Rectangle 180">
            <a:extLst>
              <a:ext uri="{FF2B5EF4-FFF2-40B4-BE49-F238E27FC236}">
                <a16:creationId xmlns:a16="http://schemas.microsoft.com/office/drawing/2014/main" id="{595B29BD-ECC1-4F7C-26B6-995E7EBAB14D}"/>
              </a:ext>
            </a:extLst>
          </p:cNvPr>
          <p:cNvSpPr/>
          <p:nvPr/>
        </p:nvSpPr>
        <p:spPr>
          <a:xfrm>
            <a:off x="4268370" y="4215667"/>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82" name="Rounded Rectangle 181">
            <a:extLst>
              <a:ext uri="{FF2B5EF4-FFF2-40B4-BE49-F238E27FC236}">
                <a16:creationId xmlns:a16="http://schemas.microsoft.com/office/drawing/2014/main" id="{3C8BAB5F-87DB-60C7-EEA3-B40CF2A9FE6C}"/>
              </a:ext>
            </a:extLst>
          </p:cNvPr>
          <p:cNvSpPr/>
          <p:nvPr/>
        </p:nvSpPr>
        <p:spPr>
          <a:xfrm>
            <a:off x="6164712" y="4231569"/>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83" name="Rounded Rectangle 182">
            <a:extLst>
              <a:ext uri="{FF2B5EF4-FFF2-40B4-BE49-F238E27FC236}">
                <a16:creationId xmlns:a16="http://schemas.microsoft.com/office/drawing/2014/main" id="{DF6C0944-3782-E793-255B-6928FF8A4C7F}"/>
              </a:ext>
            </a:extLst>
          </p:cNvPr>
          <p:cNvSpPr/>
          <p:nvPr/>
        </p:nvSpPr>
        <p:spPr>
          <a:xfrm>
            <a:off x="8018338" y="4227724"/>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84" name="Rounded Rectangle 183">
            <a:extLst>
              <a:ext uri="{FF2B5EF4-FFF2-40B4-BE49-F238E27FC236}">
                <a16:creationId xmlns:a16="http://schemas.microsoft.com/office/drawing/2014/main" id="{39E7E170-3F92-9BBA-33AF-B87FDF0B0BE8}"/>
              </a:ext>
            </a:extLst>
          </p:cNvPr>
          <p:cNvSpPr/>
          <p:nvPr/>
        </p:nvSpPr>
        <p:spPr>
          <a:xfrm>
            <a:off x="9789785" y="4227724"/>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7" name="Rounded Rectangle 1076">
            <a:extLst>
              <a:ext uri="{FF2B5EF4-FFF2-40B4-BE49-F238E27FC236}">
                <a16:creationId xmlns:a16="http://schemas.microsoft.com/office/drawing/2014/main" id="{198C3135-9EE1-D36C-2B27-A6B6B5322CD4}"/>
              </a:ext>
            </a:extLst>
          </p:cNvPr>
          <p:cNvSpPr/>
          <p:nvPr/>
        </p:nvSpPr>
        <p:spPr>
          <a:xfrm>
            <a:off x="1415299" y="2035761"/>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8" name="Rounded Rectangle 1077">
            <a:extLst>
              <a:ext uri="{FF2B5EF4-FFF2-40B4-BE49-F238E27FC236}">
                <a16:creationId xmlns:a16="http://schemas.microsoft.com/office/drawing/2014/main" id="{EFC98869-7FB9-A995-258B-A1E730D2A503}"/>
              </a:ext>
            </a:extLst>
          </p:cNvPr>
          <p:cNvSpPr/>
          <p:nvPr/>
        </p:nvSpPr>
        <p:spPr>
          <a:xfrm>
            <a:off x="3258706" y="2043199"/>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9" name="Rounded Rectangle 1078">
            <a:extLst>
              <a:ext uri="{FF2B5EF4-FFF2-40B4-BE49-F238E27FC236}">
                <a16:creationId xmlns:a16="http://schemas.microsoft.com/office/drawing/2014/main" id="{49F0A6C7-2D55-9164-F773-940DDD57C442}"/>
              </a:ext>
            </a:extLst>
          </p:cNvPr>
          <p:cNvSpPr/>
          <p:nvPr/>
        </p:nvSpPr>
        <p:spPr>
          <a:xfrm>
            <a:off x="5060969" y="205166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0" name="Rounded Rectangle 1079">
            <a:extLst>
              <a:ext uri="{FF2B5EF4-FFF2-40B4-BE49-F238E27FC236}">
                <a16:creationId xmlns:a16="http://schemas.microsoft.com/office/drawing/2014/main" id="{156A921B-7610-047A-A446-32DE8039F2C2}"/>
              </a:ext>
            </a:extLst>
          </p:cNvPr>
          <p:cNvSpPr/>
          <p:nvPr/>
        </p:nvSpPr>
        <p:spPr>
          <a:xfrm>
            <a:off x="6914595" y="2047818"/>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1" name="Rounded Rectangle 1080">
            <a:extLst>
              <a:ext uri="{FF2B5EF4-FFF2-40B4-BE49-F238E27FC236}">
                <a16:creationId xmlns:a16="http://schemas.microsoft.com/office/drawing/2014/main" id="{031C972A-987B-9435-B423-D1C036FD66E0}"/>
              </a:ext>
            </a:extLst>
          </p:cNvPr>
          <p:cNvSpPr/>
          <p:nvPr/>
        </p:nvSpPr>
        <p:spPr>
          <a:xfrm>
            <a:off x="8686042" y="2047818"/>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2" name="Rounded Rectangle 1081">
            <a:extLst>
              <a:ext uri="{FF2B5EF4-FFF2-40B4-BE49-F238E27FC236}">
                <a16:creationId xmlns:a16="http://schemas.microsoft.com/office/drawing/2014/main" id="{9BCC6192-A2B4-7813-385F-24B49D91E252}"/>
              </a:ext>
            </a:extLst>
          </p:cNvPr>
          <p:cNvSpPr/>
          <p:nvPr/>
        </p:nvSpPr>
        <p:spPr>
          <a:xfrm>
            <a:off x="10642320" y="2033748"/>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pic>
        <p:nvPicPr>
          <p:cNvPr id="1026" name="Picture 2" descr="Smelting - Free construction and tools icons">
            <a:extLst>
              <a:ext uri="{FF2B5EF4-FFF2-40B4-BE49-F238E27FC236}">
                <a16:creationId xmlns:a16="http://schemas.microsoft.com/office/drawing/2014/main" id="{275DFB60-29B4-AACD-01FC-7F70DC4ABB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1072" y="3001256"/>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Chemical Plant 2 icon - Free vector (SVG) - Free PNG - Copyicon.com">
            <a:extLst>
              <a:ext uri="{FF2B5EF4-FFF2-40B4-BE49-F238E27FC236}">
                <a16:creationId xmlns:a16="http://schemas.microsoft.com/office/drawing/2014/main" id="{B57A3763-9553-2388-DBCF-E27A9755A3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2826" y="2966301"/>
            <a:ext cx="631824" cy="5589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0EE45D0-A0B7-D1BC-3DD4-A95B7FDDF722}"/>
              </a:ext>
            </a:extLst>
          </p:cNvPr>
          <p:cNvPicPr>
            <a:picLocks noChangeAspect="1"/>
          </p:cNvPicPr>
          <p:nvPr/>
        </p:nvPicPr>
        <p:blipFill>
          <a:blip r:embed="rId5"/>
          <a:stretch>
            <a:fillRect/>
          </a:stretch>
        </p:blipFill>
        <p:spPr>
          <a:xfrm>
            <a:off x="1512321" y="2892326"/>
            <a:ext cx="815704" cy="721655"/>
          </a:xfrm>
          <a:prstGeom prst="rect">
            <a:avLst/>
          </a:prstGeom>
        </p:spPr>
      </p:pic>
      <p:sp>
        <p:nvSpPr>
          <p:cNvPr id="7" name="TextBox 6">
            <a:extLst>
              <a:ext uri="{FF2B5EF4-FFF2-40B4-BE49-F238E27FC236}">
                <a16:creationId xmlns:a16="http://schemas.microsoft.com/office/drawing/2014/main" id="{BFDD549A-2A5C-BD4E-4434-9E95F34111D0}"/>
              </a:ext>
            </a:extLst>
          </p:cNvPr>
          <p:cNvSpPr txBox="1"/>
          <p:nvPr/>
        </p:nvSpPr>
        <p:spPr>
          <a:xfrm>
            <a:off x="1658718" y="2676676"/>
            <a:ext cx="540327"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Mine</a:t>
            </a:r>
          </a:p>
        </p:txBody>
      </p:sp>
      <p:sp>
        <p:nvSpPr>
          <p:cNvPr id="8" name="TextBox 7">
            <a:extLst>
              <a:ext uri="{FF2B5EF4-FFF2-40B4-BE49-F238E27FC236}">
                <a16:creationId xmlns:a16="http://schemas.microsoft.com/office/drawing/2014/main" id="{176681B1-3026-436B-495B-B4FBCD3C5D45}"/>
              </a:ext>
            </a:extLst>
          </p:cNvPr>
          <p:cNvSpPr txBox="1"/>
          <p:nvPr/>
        </p:nvSpPr>
        <p:spPr>
          <a:xfrm>
            <a:off x="8571541" y="2676676"/>
            <a:ext cx="125126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Manufacturer</a:t>
            </a:r>
          </a:p>
        </p:txBody>
      </p:sp>
      <p:sp>
        <p:nvSpPr>
          <p:cNvPr id="9" name="TextBox 8">
            <a:extLst>
              <a:ext uri="{FF2B5EF4-FFF2-40B4-BE49-F238E27FC236}">
                <a16:creationId xmlns:a16="http://schemas.microsoft.com/office/drawing/2014/main" id="{24274E29-788E-956A-3201-CD6670B4E7EA}"/>
              </a:ext>
            </a:extLst>
          </p:cNvPr>
          <p:cNvSpPr txBox="1"/>
          <p:nvPr/>
        </p:nvSpPr>
        <p:spPr>
          <a:xfrm>
            <a:off x="5231335" y="2676676"/>
            <a:ext cx="681792"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Refiner</a:t>
            </a:r>
          </a:p>
        </p:txBody>
      </p:sp>
      <p:sp>
        <p:nvSpPr>
          <p:cNvPr id="10" name="TextBox 9">
            <a:extLst>
              <a:ext uri="{FF2B5EF4-FFF2-40B4-BE49-F238E27FC236}">
                <a16:creationId xmlns:a16="http://schemas.microsoft.com/office/drawing/2014/main" id="{D478FFC2-2451-BFE8-8329-747095A3F16C}"/>
              </a:ext>
            </a:extLst>
          </p:cNvPr>
          <p:cNvSpPr txBox="1"/>
          <p:nvPr/>
        </p:nvSpPr>
        <p:spPr>
          <a:xfrm>
            <a:off x="10460106" y="2695677"/>
            <a:ext cx="127971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OEM</a:t>
            </a:r>
          </a:p>
        </p:txBody>
      </p:sp>
      <p:pic>
        <p:nvPicPr>
          <p:cNvPr id="15" name="Picture 6" descr="Factory Icon in Material Design">
            <a:extLst>
              <a:ext uri="{FF2B5EF4-FFF2-40B4-BE49-F238E27FC236}">
                <a16:creationId xmlns:a16="http://schemas.microsoft.com/office/drawing/2014/main" id="{8EEE21AF-1FEE-E8E7-CA8E-D5CA5075D7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59825" y="2958231"/>
            <a:ext cx="640946" cy="56704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4" descr="Car manufacturing - Free industry icons">
            <a:extLst>
              <a:ext uri="{FF2B5EF4-FFF2-40B4-BE49-F238E27FC236}">
                <a16:creationId xmlns:a16="http://schemas.microsoft.com/office/drawing/2014/main" id="{797EB13E-7AEF-C207-5EDC-97FFC31D3D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12171" y="3001256"/>
            <a:ext cx="543362" cy="480713"/>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125DFA85-6A1A-8BF9-DFD5-E67D3E45F55B}"/>
              </a:ext>
            </a:extLst>
          </p:cNvPr>
          <p:cNvSpPr txBox="1"/>
          <p:nvPr/>
        </p:nvSpPr>
        <p:spPr>
          <a:xfrm>
            <a:off x="3413274" y="2676676"/>
            <a:ext cx="721303"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Smelter</a:t>
            </a:r>
          </a:p>
        </p:txBody>
      </p:sp>
      <p:sp>
        <p:nvSpPr>
          <p:cNvPr id="36" name="TextBox 35">
            <a:extLst>
              <a:ext uri="{FF2B5EF4-FFF2-40B4-BE49-F238E27FC236}">
                <a16:creationId xmlns:a16="http://schemas.microsoft.com/office/drawing/2014/main" id="{B0889EDD-F93B-225F-E5A7-84E1528B3A03}"/>
              </a:ext>
            </a:extLst>
          </p:cNvPr>
          <p:cNvSpPr txBox="1"/>
          <p:nvPr/>
        </p:nvSpPr>
        <p:spPr>
          <a:xfrm>
            <a:off x="6904996" y="2676676"/>
            <a:ext cx="1049824"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Fabricator</a:t>
            </a:r>
          </a:p>
        </p:txBody>
      </p:sp>
      <p:pic>
        <p:nvPicPr>
          <p:cNvPr id="1030" name="Picture 6" descr="2,500+ Gravel Icon Stock Illustrations, Royalty-Free Vector Graphics &amp; Clip  Art - iStock">
            <a:extLst>
              <a:ext uri="{FF2B5EF4-FFF2-40B4-BE49-F238E27FC236}">
                <a16:creationId xmlns:a16="http://schemas.microsoft.com/office/drawing/2014/main" id="{B55188BB-A733-0012-1D34-DFC1661AAE2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114" t="15270" r="15934" b="16995"/>
          <a:stretch/>
        </p:blipFill>
        <p:spPr bwMode="auto">
          <a:xfrm>
            <a:off x="1753292" y="3937449"/>
            <a:ext cx="372861" cy="3952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got - Free business icons">
            <a:extLst>
              <a:ext uri="{FF2B5EF4-FFF2-40B4-BE49-F238E27FC236}">
                <a16:creationId xmlns:a16="http://schemas.microsoft.com/office/drawing/2014/main" id="{7000F05E-80FC-3159-DC99-B95EDF7FDAB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04573" y="3951257"/>
            <a:ext cx="410291" cy="436275"/>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CCABAD6D-14B9-4B4C-F241-1C757E0E3BCF}"/>
              </a:ext>
            </a:extLst>
          </p:cNvPr>
          <p:cNvSpPr txBox="1"/>
          <p:nvPr/>
        </p:nvSpPr>
        <p:spPr>
          <a:xfrm>
            <a:off x="1504823" y="3719363"/>
            <a:ext cx="102904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Concentrate</a:t>
            </a:r>
          </a:p>
        </p:txBody>
      </p:sp>
      <p:sp>
        <p:nvSpPr>
          <p:cNvPr id="43" name="TextBox 42">
            <a:extLst>
              <a:ext uri="{FF2B5EF4-FFF2-40B4-BE49-F238E27FC236}">
                <a16:creationId xmlns:a16="http://schemas.microsoft.com/office/drawing/2014/main" id="{1363D794-CE4C-58D4-858A-CD558052DCEB}"/>
              </a:ext>
            </a:extLst>
          </p:cNvPr>
          <p:cNvSpPr txBox="1"/>
          <p:nvPr/>
        </p:nvSpPr>
        <p:spPr>
          <a:xfrm>
            <a:off x="8864790" y="3719363"/>
            <a:ext cx="75470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Battery</a:t>
            </a:r>
          </a:p>
        </p:txBody>
      </p:sp>
      <p:sp>
        <p:nvSpPr>
          <p:cNvPr id="44" name="TextBox 43">
            <a:extLst>
              <a:ext uri="{FF2B5EF4-FFF2-40B4-BE49-F238E27FC236}">
                <a16:creationId xmlns:a16="http://schemas.microsoft.com/office/drawing/2014/main" id="{A537FFBC-E08F-AB7A-D65A-8AFD272608D2}"/>
              </a:ext>
            </a:extLst>
          </p:cNvPr>
          <p:cNvSpPr txBox="1"/>
          <p:nvPr/>
        </p:nvSpPr>
        <p:spPr>
          <a:xfrm>
            <a:off x="5219692" y="3719363"/>
            <a:ext cx="82918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Cathodes</a:t>
            </a:r>
          </a:p>
        </p:txBody>
      </p:sp>
      <p:sp>
        <p:nvSpPr>
          <p:cNvPr id="45" name="TextBox 44">
            <a:extLst>
              <a:ext uri="{FF2B5EF4-FFF2-40B4-BE49-F238E27FC236}">
                <a16:creationId xmlns:a16="http://schemas.microsoft.com/office/drawing/2014/main" id="{84F75A99-A1C7-FF3B-413A-E1C749697712}"/>
              </a:ext>
            </a:extLst>
          </p:cNvPr>
          <p:cNvSpPr txBox="1"/>
          <p:nvPr/>
        </p:nvSpPr>
        <p:spPr>
          <a:xfrm>
            <a:off x="10663659" y="3683810"/>
            <a:ext cx="888402"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EV</a:t>
            </a:r>
          </a:p>
        </p:txBody>
      </p:sp>
      <p:sp>
        <p:nvSpPr>
          <p:cNvPr id="47" name="TextBox 46">
            <a:extLst>
              <a:ext uri="{FF2B5EF4-FFF2-40B4-BE49-F238E27FC236}">
                <a16:creationId xmlns:a16="http://schemas.microsoft.com/office/drawing/2014/main" id="{A63104BA-5DAF-D5A3-0667-B442DB78ADB2}"/>
              </a:ext>
            </a:extLst>
          </p:cNvPr>
          <p:cNvSpPr txBox="1"/>
          <p:nvPr/>
        </p:nvSpPr>
        <p:spPr>
          <a:xfrm>
            <a:off x="3435874" y="3719363"/>
            <a:ext cx="62261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Blister</a:t>
            </a:r>
          </a:p>
        </p:txBody>
      </p:sp>
      <p:sp>
        <p:nvSpPr>
          <p:cNvPr id="48" name="TextBox 47">
            <a:extLst>
              <a:ext uri="{FF2B5EF4-FFF2-40B4-BE49-F238E27FC236}">
                <a16:creationId xmlns:a16="http://schemas.microsoft.com/office/drawing/2014/main" id="{03C78271-84C9-6C20-C412-240F8EC80016}"/>
              </a:ext>
            </a:extLst>
          </p:cNvPr>
          <p:cNvSpPr txBox="1"/>
          <p:nvPr/>
        </p:nvSpPr>
        <p:spPr>
          <a:xfrm>
            <a:off x="7315938" y="3719363"/>
            <a:ext cx="516388"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Foil</a:t>
            </a:r>
          </a:p>
        </p:txBody>
      </p:sp>
      <p:pic>
        <p:nvPicPr>
          <p:cNvPr id="1040" name="Picture 16" descr="Bullion, gold, ingot, meta, metal, nugget, precious icon - Download on  Iconfinder">
            <a:extLst>
              <a:ext uri="{FF2B5EF4-FFF2-40B4-BE49-F238E27FC236}">
                <a16:creationId xmlns:a16="http://schemas.microsoft.com/office/drawing/2014/main" id="{B354E6C4-D2A8-D101-B2F1-61A7C830406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55627" y="3900485"/>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luminum foil icon 37133487 Vector Art at Vecteezy">
            <a:extLst>
              <a:ext uri="{FF2B5EF4-FFF2-40B4-BE49-F238E27FC236}">
                <a16:creationId xmlns:a16="http://schemas.microsoft.com/office/drawing/2014/main" id="{59050084-9B6B-6851-66AB-D8AC141648C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09106" y="4004157"/>
            <a:ext cx="443840" cy="29591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0" descr="ev battery outline icon Stock Vector | Adobe Stock">
            <a:extLst>
              <a:ext uri="{FF2B5EF4-FFF2-40B4-BE49-F238E27FC236}">
                <a16:creationId xmlns:a16="http://schemas.microsoft.com/office/drawing/2014/main" id="{234FFCDB-31E1-B096-7D8E-A881399B322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9023586" y="4009055"/>
            <a:ext cx="412986" cy="38838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Electric car - Free transport icons">
            <a:extLst>
              <a:ext uri="{FF2B5EF4-FFF2-40B4-BE49-F238E27FC236}">
                <a16:creationId xmlns:a16="http://schemas.microsoft.com/office/drawing/2014/main" id="{7F458577-2220-B590-2BF3-EA81AA6E5D5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44391" y="3872720"/>
            <a:ext cx="511142" cy="543513"/>
          </a:xfrm>
          <a:prstGeom prst="rect">
            <a:avLst/>
          </a:prstGeom>
          <a:noFill/>
          <a:extLst>
            <a:ext uri="{909E8E84-426E-40DD-AFC4-6F175D3DCCD1}">
              <a14:hiddenFill xmlns:a14="http://schemas.microsoft.com/office/drawing/2010/main">
                <a:solidFill>
                  <a:srgbClr val="FFFFFF"/>
                </a:solidFill>
              </a14:hiddenFill>
            </a:ext>
          </a:extLst>
        </p:spPr>
      </p:pic>
      <p:sp>
        <p:nvSpPr>
          <p:cNvPr id="132" name="TextBox 131">
            <a:extLst>
              <a:ext uri="{FF2B5EF4-FFF2-40B4-BE49-F238E27FC236}">
                <a16:creationId xmlns:a16="http://schemas.microsoft.com/office/drawing/2014/main" id="{C00F2AC4-17E5-A9E0-0201-8F62AE221374}"/>
              </a:ext>
            </a:extLst>
          </p:cNvPr>
          <p:cNvSpPr txBox="1"/>
          <p:nvPr/>
        </p:nvSpPr>
        <p:spPr>
          <a:xfrm>
            <a:off x="1263797" y="4320823"/>
            <a:ext cx="113045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Consignment ID</a:t>
            </a:r>
          </a:p>
        </p:txBody>
      </p:sp>
      <p:sp>
        <p:nvSpPr>
          <p:cNvPr id="133" name="TextBox 132">
            <a:extLst>
              <a:ext uri="{FF2B5EF4-FFF2-40B4-BE49-F238E27FC236}">
                <a16:creationId xmlns:a16="http://schemas.microsoft.com/office/drawing/2014/main" id="{1C6BB7DF-2A80-A066-8C69-70826E4D10E1}"/>
              </a:ext>
            </a:extLst>
          </p:cNvPr>
          <p:cNvSpPr txBox="1"/>
          <p:nvPr/>
        </p:nvSpPr>
        <p:spPr>
          <a:xfrm>
            <a:off x="3386763" y="4320823"/>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4" name="TextBox 133">
            <a:extLst>
              <a:ext uri="{FF2B5EF4-FFF2-40B4-BE49-F238E27FC236}">
                <a16:creationId xmlns:a16="http://schemas.microsoft.com/office/drawing/2014/main" id="{E26BE8C0-3E26-15DB-E3E4-29CDEFC81592}"/>
              </a:ext>
            </a:extLst>
          </p:cNvPr>
          <p:cNvSpPr txBox="1"/>
          <p:nvPr/>
        </p:nvSpPr>
        <p:spPr>
          <a:xfrm>
            <a:off x="5231232" y="4320823"/>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5" name="TextBox 134">
            <a:extLst>
              <a:ext uri="{FF2B5EF4-FFF2-40B4-BE49-F238E27FC236}">
                <a16:creationId xmlns:a16="http://schemas.microsoft.com/office/drawing/2014/main" id="{2AA7B1DC-AE5B-CF21-AE58-919C728BF013}"/>
              </a:ext>
            </a:extLst>
          </p:cNvPr>
          <p:cNvSpPr txBox="1"/>
          <p:nvPr/>
        </p:nvSpPr>
        <p:spPr>
          <a:xfrm>
            <a:off x="7150667" y="4320823"/>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6" name="TextBox 135">
            <a:extLst>
              <a:ext uri="{FF2B5EF4-FFF2-40B4-BE49-F238E27FC236}">
                <a16:creationId xmlns:a16="http://schemas.microsoft.com/office/drawing/2014/main" id="{DFC2E474-7484-D250-3F41-E9CCBFDA8985}"/>
              </a:ext>
            </a:extLst>
          </p:cNvPr>
          <p:cNvSpPr txBox="1"/>
          <p:nvPr/>
        </p:nvSpPr>
        <p:spPr>
          <a:xfrm>
            <a:off x="8859825" y="4320823"/>
            <a:ext cx="75966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Serial No.</a:t>
            </a:r>
          </a:p>
        </p:txBody>
      </p:sp>
      <p:sp>
        <p:nvSpPr>
          <p:cNvPr id="137" name="TextBox 136">
            <a:extLst>
              <a:ext uri="{FF2B5EF4-FFF2-40B4-BE49-F238E27FC236}">
                <a16:creationId xmlns:a16="http://schemas.microsoft.com/office/drawing/2014/main" id="{E9564F52-77E6-2A98-9349-6AC4A50560D5}"/>
              </a:ext>
            </a:extLst>
          </p:cNvPr>
          <p:cNvSpPr txBox="1"/>
          <p:nvPr/>
        </p:nvSpPr>
        <p:spPr>
          <a:xfrm>
            <a:off x="10787688" y="4332115"/>
            <a:ext cx="39511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VIN</a:t>
            </a:r>
          </a:p>
        </p:txBody>
      </p:sp>
      <p:pic>
        <p:nvPicPr>
          <p:cNvPr id="140" name="Picture 28" descr="Vector Design Extrusion Icon Style | Premium Vector">
            <a:extLst>
              <a:ext uri="{FF2B5EF4-FFF2-40B4-BE49-F238E27FC236}">
                <a16:creationId xmlns:a16="http://schemas.microsoft.com/office/drawing/2014/main" id="{A71CD8C0-CAB8-AA67-44D8-057CD26FF98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01141" y="2966301"/>
            <a:ext cx="564161" cy="599891"/>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17D28E96-42F0-BC1B-FC8C-27E3F255C797}"/>
              </a:ext>
            </a:extLst>
          </p:cNvPr>
          <p:cNvSpPr/>
          <p:nvPr/>
        </p:nvSpPr>
        <p:spPr>
          <a:xfrm>
            <a:off x="9002651" y="2187931"/>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5" name="TextBox 34">
            <a:extLst>
              <a:ext uri="{FF2B5EF4-FFF2-40B4-BE49-F238E27FC236}">
                <a16:creationId xmlns:a16="http://schemas.microsoft.com/office/drawing/2014/main" id="{BF5FC506-C5C7-A37E-01CE-52218620D83C}"/>
              </a:ext>
            </a:extLst>
          </p:cNvPr>
          <p:cNvSpPr txBox="1"/>
          <p:nvPr/>
        </p:nvSpPr>
        <p:spPr>
          <a:xfrm>
            <a:off x="1638025" y="3421029"/>
            <a:ext cx="56325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Site ID</a:t>
            </a:r>
          </a:p>
        </p:txBody>
      </p:sp>
      <p:sp>
        <p:nvSpPr>
          <p:cNvPr id="37" name="TextBox 36">
            <a:extLst>
              <a:ext uri="{FF2B5EF4-FFF2-40B4-BE49-F238E27FC236}">
                <a16:creationId xmlns:a16="http://schemas.microsoft.com/office/drawing/2014/main" id="{F9438124-2B42-C992-B991-983AF7A2564B}"/>
              </a:ext>
            </a:extLst>
          </p:cNvPr>
          <p:cNvSpPr txBox="1"/>
          <p:nvPr/>
        </p:nvSpPr>
        <p:spPr>
          <a:xfrm>
            <a:off x="3472928" y="3486502"/>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0" name="TextBox 39">
            <a:extLst>
              <a:ext uri="{FF2B5EF4-FFF2-40B4-BE49-F238E27FC236}">
                <a16:creationId xmlns:a16="http://schemas.microsoft.com/office/drawing/2014/main" id="{66EBA329-973F-0FAA-A5C7-594F684D67D8}"/>
              </a:ext>
            </a:extLst>
          </p:cNvPr>
          <p:cNvSpPr txBox="1"/>
          <p:nvPr/>
        </p:nvSpPr>
        <p:spPr>
          <a:xfrm>
            <a:off x="8879273" y="3467589"/>
            <a:ext cx="59629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OSH ID</a:t>
            </a:r>
          </a:p>
        </p:txBody>
      </p:sp>
      <p:sp>
        <p:nvSpPr>
          <p:cNvPr id="41" name="TextBox 40">
            <a:extLst>
              <a:ext uri="{FF2B5EF4-FFF2-40B4-BE49-F238E27FC236}">
                <a16:creationId xmlns:a16="http://schemas.microsoft.com/office/drawing/2014/main" id="{94606E28-A354-EA44-23B7-2BCBA1657322}"/>
              </a:ext>
            </a:extLst>
          </p:cNvPr>
          <p:cNvSpPr txBox="1"/>
          <p:nvPr/>
        </p:nvSpPr>
        <p:spPr>
          <a:xfrm>
            <a:off x="5240959" y="3472939"/>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9" name="TextBox 48">
            <a:extLst>
              <a:ext uri="{FF2B5EF4-FFF2-40B4-BE49-F238E27FC236}">
                <a16:creationId xmlns:a16="http://schemas.microsoft.com/office/drawing/2014/main" id="{C43C9AAA-A313-3883-6270-6B644364B36A}"/>
              </a:ext>
            </a:extLst>
          </p:cNvPr>
          <p:cNvSpPr txBox="1"/>
          <p:nvPr/>
        </p:nvSpPr>
        <p:spPr>
          <a:xfrm>
            <a:off x="7252740" y="3505050"/>
            <a:ext cx="42082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GLN</a:t>
            </a:r>
          </a:p>
        </p:txBody>
      </p:sp>
      <p:sp>
        <p:nvSpPr>
          <p:cNvPr id="50" name="TextBox 49">
            <a:extLst>
              <a:ext uri="{FF2B5EF4-FFF2-40B4-BE49-F238E27FC236}">
                <a16:creationId xmlns:a16="http://schemas.microsoft.com/office/drawing/2014/main" id="{E4F352D2-A141-7AF9-473C-1C3B52333EEB}"/>
              </a:ext>
            </a:extLst>
          </p:cNvPr>
          <p:cNvSpPr txBox="1"/>
          <p:nvPr/>
        </p:nvSpPr>
        <p:spPr>
          <a:xfrm>
            <a:off x="10655197" y="3475481"/>
            <a:ext cx="93532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Company ID</a:t>
            </a:r>
          </a:p>
        </p:txBody>
      </p:sp>
      <p:sp>
        <p:nvSpPr>
          <p:cNvPr id="31" name="Rounded Rectangle 30">
            <a:extLst>
              <a:ext uri="{FF2B5EF4-FFF2-40B4-BE49-F238E27FC236}">
                <a16:creationId xmlns:a16="http://schemas.microsoft.com/office/drawing/2014/main" id="{54FC0A6E-AE4A-DA0A-DEF5-A10773776D6A}"/>
              </a:ext>
            </a:extLst>
          </p:cNvPr>
          <p:cNvSpPr/>
          <p:nvPr/>
        </p:nvSpPr>
        <p:spPr>
          <a:xfrm>
            <a:off x="10901341" y="2187931"/>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2" name="Rounded Rectangle 31">
            <a:extLst>
              <a:ext uri="{FF2B5EF4-FFF2-40B4-BE49-F238E27FC236}">
                <a16:creationId xmlns:a16="http://schemas.microsoft.com/office/drawing/2014/main" id="{DE4C8BAB-FF01-C970-C2E3-677705F38514}"/>
              </a:ext>
            </a:extLst>
          </p:cNvPr>
          <p:cNvSpPr/>
          <p:nvPr/>
        </p:nvSpPr>
        <p:spPr>
          <a:xfrm>
            <a:off x="7231204" y="2187931"/>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3" name="Rounded Rectangle 32">
            <a:extLst>
              <a:ext uri="{FF2B5EF4-FFF2-40B4-BE49-F238E27FC236}">
                <a16:creationId xmlns:a16="http://schemas.microsoft.com/office/drawing/2014/main" id="{89A9E5D0-15BA-615F-EBE2-A920600EFF5E}"/>
              </a:ext>
            </a:extLst>
          </p:cNvPr>
          <p:cNvSpPr/>
          <p:nvPr/>
        </p:nvSpPr>
        <p:spPr>
          <a:xfrm>
            <a:off x="5377578" y="2187931"/>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8" name="Rounded Rectangle 37">
            <a:extLst>
              <a:ext uri="{FF2B5EF4-FFF2-40B4-BE49-F238E27FC236}">
                <a16:creationId xmlns:a16="http://schemas.microsoft.com/office/drawing/2014/main" id="{96765675-4E9A-F148-C6D3-5E2981D2A65D}"/>
              </a:ext>
            </a:extLst>
          </p:cNvPr>
          <p:cNvSpPr/>
          <p:nvPr/>
        </p:nvSpPr>
        <p:spPr>
          <a:xfrm>
            <a:off x="3575315" y="2187931"/>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9" name="Rounded Rectangle 38">
            <a:extLst>
              <a:ext uri="{FF2B5EF4-FFF2-40B4-BE49-F238E27FC236}">
                <a16:creationId xmlns:a16="http://schemas.microsoft.com/office/drawing/2014/main" id="{B1C0B65C-22D4-430A-7DEB-4C0C1323FD67}"/>
              </a:ext>
            </a:extLst>
          </p:cNvPr>
          <p:cNvSpPr/>
          <p:nvPr/>
        </p:nvSpPr>
        <p:spPr>
          <a:xfrm>
            <a:off x="1742233" y="2187931"/>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cxnSp>
        <p:nvCxnSpPr>
          <p:cNvPr id="51" name="Straight Arrow Connector 50">
            <a:extLst>
              <a:ext uri="{FF2B5EF4-FFF2-40B4-BE49-F238E27FC236}">
                <a16:creationId xmlns:a16="http://schemas.microsoft.com/office/drawing/2014/main" id="{4E7481D1-92E2-743B-2C02-614E8990937C}"/>
              </a:ext>
            </a:extLst>
          </p:cNvPr>
          <p:cNvCxnSpPr>
            <a:cxnSpLocks/>
          </p:cNvCxnSpPr>
          <p:nvPr/>
        </p:nvCxnSpPr>
        <p:spPr>
          <a:xfrm rot="10800000">
            <a:off x="9389113" y="2314689"/>
            <a:ext cx="1423058" cy="845462"/>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50">
            <a:extLst>
              <a:ext uri="{FF2B5EF4-FFF2-40B4-BE49-F238E27FC236}">
                <a16:creationId xmlns:a16="http://schemas.microsoft.com/office/drawing/2014/main" id="{90C5C5FB-9B52-0ED2-D09E-F7A2AB9940C0}"/>
              </a:ext>
            </a:extLst>
          </p:cNvPr>
          <p:cNvCxnSpPr>
            <a:cxnSpLocks/>
          </p:cNvCxnSpPr>
          <p:nvPr/>
        </p:nvCxnSpPr>
        <p:spPr>
          <a:xfrm rot="10800000">
            <a:off x="7617666" y="2314696"/>
            <a:ext cx="1242159" cy="845591"/>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0">
            <a:extLst>
              <a:ext uri="{FF2B5EF4-FFF2-40B4-BE49-F238E27FC236}">
                <a16:creationId xmlns:a16="http://schemas.microsoft.com/office/drawing/2014/main" id="{CA3FFCF7-D7F2-91EB-5424-6B60ACC3CD44}"/>
              </a:ext>
            </a:extLst>
          </p:cNvPr>
          <p:cNvCxnSpPr>
            <a:cxnSpLocks/>
          </p:cNvCxnSpPr>
          <p:nvPr/>
        </p:nvCxnSpPr>
        <p:spPr>
          <a:xfrm rot="10800000">
            <a:off x="5764041" y="2315809"/>
            <a:ext cx="1437101" cy="867856"/>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0">
            <a:extLst>
              <a:ext uri="{FF2B5EF4-FFF2-40B4-BE49-F238E27FC236}">
                <a16:creationId xmlns:a16="http://schemas.microsoft.com/office/drawing/2014/main" id="{DA3E39BA-FFEE-8B40-8090-61F3595750A9}"/>
              </a:ext>
            </a:extLst>
          </p:cNvPr>
          <p:cNvCxnSpPr>
            <a:cxnSpLocks/>
            <a:stCxn id="31" idx="2"/>
            <a:endCxn id="10" idx="0"/>
          </p:cNvCxnSpPr>
          <p:nvPr/>
        </p:nvCxnSpPr>
        <p:spPr>
          <a:xfrm>
            <a:off x="11094572" y="2435279"/>
            <a:ext cx="5390" cy="260398"/>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50">
            <a:extLst>
              <a:ext uri="{FF2B5EF4-FFF2-40B4-BE49-F238E27FC236}">
                <a16:creationId xmlns:a16="http://schemas.microsoft.com/office/drawing/2014/main" id="{4CF967F9-7D82-AFD0-B01F-153F849618D8}"/>
              </a:ext>
            </a:extLst>
          </p:cNvPr>
          <p:cNvCxnSpPr>
            <a:cxnSpLocks/>
            <a:stCxn id="4" idx="2"/>
            <a:endCxn id="8" idx="0"/>
          </p:cNvCxnSpPr>
          <p:nvPr/>
        </p:nvCxnSpPr>
        <p:spPr>
          <a:xfrm>
            <a:off x="9195882" y="2435279"/>
            <a:ext cx="129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5" name="Straight Arrow Connector 50">
            <a:extLst>
              <a:ext uri="{FF2B5EF4-FFF2-40B4-BE49-F238E27FC236}">
                <a16:creationId xmlns:a16="http://schemas.microsoft.com/office/drawing/2014/main" id="{C114E6FC-921F-B0DE-1E6A-43BD6F80705D}"/>
              </a:ext>
            </a:extLst>
          </p:cNvPr>
          <p:cNvCxnSpPr>
            <a:cxnSpLocks/>
            <a:stCxn id="32" idx="2"/>
            <a:endCxn id="36" idx="0"/>
          </p:cNvCxnSpPr>
          <p:nvPr/>
        </p:nvCxnSpPr>
        <p:spPr>
          <a:xfrm>
            <a:off x="7424435" y="2435279"/>
            <a:ext cx="547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9" name="Straight Arrow Connector 50">
            <a:extLst>
              <a:ext uri="{FF2B5EF4-FFF2-40B4-BE49-F238E27FC236}">
                <a16:creationId xmlns:a16="http://schemas.microsoft.com/office/drawing/2014/main" id="{49260E28-8AB4-C6D1-3C05-A240D843DDDA}"/>
              </a:ext>
            </a:extLst>
          </p:cNvPr>
          <p:cNvCxnSpPr>
            <a:cxnSpLocks/>
            <a:stCxn id="33" idx="2"/>
            <a:endCxn id="9" idx="0"/>
          </p:cNvCxnSpPr>
          <p:nvPr/>
        </p:nvCxnSpPr>
        <p:spPr>
          <a:xfrm>
            <a:off x="5570809" y="2435279"/>
            <a:ext cx="142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4" name="Straight Arrow Connector 50">
            <a:extLst>
              <a:ext uri="{FF2B5EF4-FFF2-40B4-BE49-F238E27FC236}">
                <a16:creationId xmlns:a16="http://schemas.microsoft.com/office/drawing/2014/main" id="{E53C4805-A455-ED69-47E6-6EF91F046A14}"/>
              </a:ext>
            </a:extLst>
          </p:cNvPr>
          <p:cNvCxnSpPr>
            <a:cxnSpLocks/>
            <a:stCxn id="38" idx="2"/>
            <a:endCxn id="34" idx="0"/>
          </p:cNvCxnSpPr>
          <p:nvPr/>
        </p:nvCxnSpPr>
        <p:spPr>
          <a:xfrm>
            <a:off x="3768546" y="2435279"/>
            <a:ext cx="5380"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7" name="Straight Arrow Connector 50">
            <a:extLst>
              <a:ext uri="{FF2B5EF4-FFF2-40B4-BE49-F238E27FC236}">
                <a16:creationId xmlns:a16="http://schemas.microsoft.com/office/drawing/2014/main" id="{0ED4CB06-9C28-2821-62F2-5B4AA87D2BB3}"/>
              </a:ext>
            </a:extLst>
          </p:cNvPr>
          <p:cNvCxnSpPr>
            <a:cxnSpLocks/>
            <a:stCxn id="39" idx="2"/>
            <a:endCxn id="7" idx="0"/>
          </p:cNvCxnSpPr>
          <p:nvPr/>
        </p:nvCxnSpPr>
        <p:spPr>
          <a:xfrm flipH="1">
            <a:off x="1928882" y="2435279"/>
            <a:ext cx="6582"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1" name="Straight Arrow Connector 50">
            <a:extLst>
              <a:ext uri="{FF2B5EF4-FFF2-40B4-BE49-F238E27FC236}">
                <a16:creationId xmlns:a16="http://schemas.microsoft.com/office/drawing/2014/main" id="{D2CF62CF-9195-E1B0-064D-9D01EDE3C78C}"/>
              </a:ext>
            </a:extLst>
          </p:cNvPr>
          <p:cNvCxnSpPr>
            <a:cxnSpLocks/>
          </p:cNvCxnSpPr>
          <p:nvPr/>
        </p:nvCxnSpPr>
        <p:spPr>
          <a:xfrm rot="10800000">
            <a:off x="3961777" y="2301817"/>
            <a:ext cx="1271050" cy="849259"/>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5" name="Straight Arrow Connector 50">
            <a:extLst>
              <a:ext uri="{FF2B5EF4-FFF2-40B4-BE49-F238E27FC236}">
                <a16:creationId xmlns:a16="http://schemas.microsoft.com/office/drawing/2014/main" id="{ABEE26D8-05DF-0934-3034-DAA364706F9D}"/>
              </a:ext>
            </a:extLst>
          </p:cNvPr>
          <p:cNvCxnSpPr>
            <a:cxnSpLocks/>
          </p:cNvCxnSpPr>
          <p:nvPr/>
        </p:nvCxnSpPr>
        <p:spPr>
          <a:xfrm rot="10800000">
            <a:off x="2128695" y="2328277"/>
            <a:ext cx="1392377" cy="855953"/>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 name="Straight Arrow Connector 50">
            <a:extLst>
              <a:ext uri="{FF2B5EF4-FFF2-40B4-BE49-F238E27FC236}">
                <a16:creationId xmlns:a16="http://schemas.microsoft.com/office/drawing/2014/main" id="{88251F1B-39BA-EC85-5184-6364A6A54E90}"/>
              </a:ext>
            </a:extLst>
          </p:cNvPr>
          <p:cNvCxnSpPr>
            <a:cxnSpLocks/>
          </p:cNvCxnSpPr>
          <p:nvPr/>
        </p:nvCxnSpPr>
        <p:spPr>
          <a:xfrm rot="10800000" flipV="1">
            <a:off x="2126153" y="3319364"/>
            <a:ext cx="1394919" cy="80172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0">
            <a:extLst>
              <a:ext uri="{FF2B5EF4-FFF2-40B4-BE49-F238E27FC236}">
                <a16:creationId xmlns:a16="http://schemas.microsoft.com/office/drawing/2014/main" id="{462495D9-0469-4E79-4458-00A1C92DB89F}"/>
              </a:ext>
            </a:extLst>
          </p:cNvPr>
          <p:cNvCxnSpPr>
            <a:cxnSpLocks/>
          </p:cNvCxnSpPr>
          <p:nvPr/>
        </p:nvCxnSpPr>
        <p:spPr>
          <a:xfrm rot="10800000" flipV="1">
            <a:off x="4029416" y="3326188"/>
            <a:ext cx="1203411" cy="82417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0" name="Straight Arrow Connector 50">
            <a:extLst>
              <a:ext uri="{FF2B5EF4-FFF2-40B4-BE49-F238E27FC236}">
                <a16:creationId xmlns:a16="http://schemas.microsoft.com/office/drawing/2014/main" id="{65A6A504-DF7F-3253-6826-733405961A3A}"/>
              </a:ext>
            </a:extLst>
          </p:cNvPr>
          <p:cNvCxnSpPr>
            <a:cxnSpLocks/>
          </p:cNvCxnSpPr>
          <p:nvPr/>
        </p:nvCxnSpPr>
        <p:spPr>
          <a:xfrm rot="10800000" flipV="1">
            <a:off x="5814864" y="3359551"/>
            <a:ext cx="1386277" cy="821044"/>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4" name="Straight Arrow Connector 50">
            <a:extLst>
              <a:ext uri="{FF2B5EF4-FFF2-40B4-BE49-F238E27FC236}">
                <a16:creationId xmlns:a16="http://schemas.microsoft.com/office/drawing/2014/main" id="{793C5C37-2F0C-D712-B331-811F149E31A9}"/>
              </a:ext>
            </a:extLst>
          </p:cNvPr>
          <p:cNvCxnSpPr>
            <a:cxnSpLocks/>
          </p:cNvCxnSpPr>
          <p:nvPr/>
        </p:nvCxnSpPr>
        <p:spPr>
          <a:xfrm rot="10800000" flipV="1">
            <a:off x="7752946" y="3335386"/>
            <a:ext cx="1106879" cy="827597"/>
          </a:xfrm>
          <a:prstGeom prst="bentConnector3">
            <a:avLst>
              <a:gd name="adj1" fmla="val 54917"/>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1" name="Straight Arrow Connector 50">
            <a:extLst>
              <a:ext uri="{FF2B5EF4-FFF2-40B4-BE49-F238E27FC236}">
                <a16:creationId xmlns:a16="http://schemas.microsoft.com/office/drawing/2014/main" id="{DABA3530-D872-44E4-9617-C43346F8A079}"/>
              </a:ext>
            </a:extLst>
          </p:cNvPr>
          <p:cNvCxnSpPr>
            <a:cxnSpLocks/>
          </p:cNvCxnSpPr>
          <p:nvPr/>
        </p:nvCxnSpPr>
        <p:spPr>
          <a:xfrm rot="10800000" flipV="1">
            <a:off x="9424273" y="3311450"/>
            <a:ext cx="1387898" cy="87421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36" name="Rounded Rectangle 1035">
            <a:extLst>
              <a:ext uri="{FF2B5EF4-FFF2-40B4-BE49-F238E27FC236}">
                <a16:creationId xmlns:a16="http://schemas.microsoft.com/office/drawing/2014/main" id="{E5869D62-6D76-3192-CF66-ABD6DD5ABE3E}"/>
              </a:ext>
            </a:extLst>
          </p:cNvPr>
          <p:cNvSpPr/>
          <p:nvPr/>
        </p:nvSpPr>
        <p:spPr>
          <a:xfrm>
            <a:off x="3959023" y="4032580"/>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38" name="Rounded Rectangle 1037">
            <a:extLst>
              <a:ext uri="{FF2B5EF4-FFF2-40B4-BE49-F238E27FC236}">
                <a16:creationId xmlns:a16="http://schemas.microsoft.com/office/drawing/2014/main" id="{46B45416-6AAA-4157-8597-29D1B926A5CC}"/>
              </a:ext>
            </a:extLst>
          </p:cNvPr>
          <p:cNvSpPr/>
          <p:nvPr/>
        </p:nvSpPr>
        <p:spPr>
          <a:xfrm>
            <a:off x="2199045" y="4032580"/>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39" name="Rounded Rectangle 1038">
            <a:extLst>
              <a:ext uri="{FF2B5EF4-FFF2-40B4-BE49-F238E27FC236}">
                <a16:creationId xmlns:a16="http://schemas.microsoft.com/office/drawing/2014/main" id="{D70E63E7-253B-CC43-CFF3-BA25C8B044EF}"/>
              </a:ext>
            </a:extLst>
          </p:cNvPr>
          <p:cNvSpPr/>
          <p:nvPr/>
        </p:nvSpPr>
        <p:spPr>
          <a:xfrm>
            <a:off x="5882999" y="4032580"/>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43" name="Rounded Rectangle 1042">
            <a:extLst>
              <a:ext uri="{FF2B5EF4-FFF2-40B4-BE49-F238E27FC236}">
                <a16:creationId xmlns:a16="http://schemas.microsoft.com/office/drawing/2014/main" id="{15108F3F-54CE-0468-0697-A6CA13BD7832}"/>
              </a:ext>
            </a:extLst>
          </p:cNvPr>
          <p:cNvSpPr/>
          <p:nvPr/>
        </p:nvSpPr>
        <p:spPr>
          <a:xfrm>
            <a:off x="7799893" y="4066565"/>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44" name="Rounded Rectangle 1043">
            <a:extLst>
              <a:ext uri="{FF2B5EF4-FFF2-40B4-BE49-F238E27FC236}">
                <a16:creationId xmlns:a16="http://schemas.microsoft.com/office/drawing/2014/main" id="{B0CE9A43-7252-7573-C572-154C2406A84C}"/>
              </a:ext>
            </a:extLst>
          </p:cNvPr>
          <p:cNvSpPr/>
          <p:nvPr/>
        </p:nvSpPr>
        <p:spPr>
          <a:xfrm>
            <a:off x="9507239" y="4032580"/>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57" name="Rounded Rectangle 56">
            <a:extLst>
              <a:ext uri="{FF2B5EF4-FFF2-40B4-BE49-F238E27FC236}">
                <a16:creationId xmlns:a16="http://schemas.microsoft.com/office/drawing/2014/main" id="{F0E1F37B-E45C-E242-B9C1-FE4930DA4458}"/>
              </a:ext>
            </a:extLst>
          </p:cNvPr>
          <p:cNvSpPr/>
          <p:nvPr/>
        </p:nvSpPr>
        <p:spPr>
          <a:xfrm>
            <a:off x="6358421" y="2450335"/>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58" name="Rounded Rectangle 57">
            <a:extLst>
              <a:ext uri="{FF2B5EF4-FFF2-40B4-BE49-F238E27FC236}">
                <a16:creationId xmlns:a16="http://schemas.microsoft.com/office/drawing/2014/main" id="{B75CF403-5F92-7D19-4955-C7D79CC6FF17}"/>
              </a:ext>
            </a:extLst>
          </p:cNvPr>
          <p:cNvSpPr/>
          <p:nvPr/>
        </p:nvSpPr>
        <p:spPr>
          <a:xfrm>
            <a:off x="6387662" y="3703909"/>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61" name="Rounded Rectangle 60">
            <a:extLst>
              <a:ext uri="{FF2B5EF4-FFF2-40B4-BE49-F238E27FC236}">
                <a16:creationId xmlns:a16="http://schemas.microsoft.com/office/drawing/2014/main" id="{D7E4123D-8145-C733-2828-DF9E4912411E}"/>
              </a:ext>
            </a:extLst>
          </p:cNvPr>
          <p:cNvSpPr/>
          <p:nvPr/>
        </p:nvSpPr>
        <p:spPr>
          <a:xfrm>
            <a:off x="8099814" y="240621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63" name="Rounded Rectangle 62">
            <a:extLst>
              <a:ext uri="{FF2B5EF4-FFF2-40B4-BE49-F238E27FC236}">
                <a16:creationId xmlns:a16="http://schemas.microsoft.com/office/drawing/2014/main" id="{B978F088-4D4C-86EA-4B98-91F96177F92A}"/>
              </a:ext>
            </a:extLst>
          </p:cNvPr>
          <p:cNvSpPr/>
          <p:nvPr/>
        </p:nvSpPr>
        <p:spPr>
          <a:xfrm>
            <a:off x="8179461" y="3686804"/>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27" name="Rounded Rectangle 1026">
            <a:extLst>
              <a:ext uri="{FF2B5EF4-FFF2-40B4-BE49-F238E27FC236}">
                <a16:creationId xmlns:a16="http://schemas.microsoft.com/office/drawing/2014/main" id="{B25B10B8-9F67-93F8-865B-EAC71AF18F0E}"/>
              </a:ext>
            </a:extLst>
          </p:cNvPr>
          <p:cNvSpPr/>
          <p:nvPr/>
        </p:nvSpPr>
        <p:spPr>
          <a:xfrm>
            <a:off x="10015851" y="2373764"/>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28" name="Rounded Rectangle 1027">
            <a:extLst>
              <a:ext uri="{FF2B5EF4-FFF2-40B4-BE49-F238E27FC236}">
                <a16:creationId xmlns:a16="http://schemas.microsoft.com/office/drawing/2014/main" id="{6ED21636-A91B-3072-DCCD-ED3B46EE9C81}"/>
              </a:ext>
            </a:extLst>
          </p:cNvPr>
          <p:cNvSpPr/>
          <p:nvPr/>
        </p:nvSpPr>
        <p:spPr>
          <a:xfrm>
            <a:off x="10067217" y="3654352"/>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33" name="Rounded Rectangle 1032">
            <a:extLst>
              <a:ext uri="{FF2B5EF4-FFF2-40B4-BE49-F238E27FC236}">
                <a16:creationId xmlns:a16="http://schemas.microsoft.com/office/drawing/2014/main" id="{1B0B28EF-8795-7DFC-3EF2-01C2E2A9FDA0}"/>
              </a:ext>
            </a:extLst>
          </p:cNvPr>
          <p:cNvSpPr/>
          <p:nvPr/>
        </p:nvSpPr>
        <p:spPr>
          <a:xfrm>
            <a:off x="4529556" y="2414502"/>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35" name="Rounded Rectangle 1034">
            <a:extLst>
              <a:ext uri="{FF2B5EF4-FFF2-40B4-BE49-F238E27FC236}">
                <a16:creationId xmlns:a16="http://schemas.microsoft.com/office/drawing/2014/main" id="{2ED253FB-1351-6927-BD78-6F2F1A00C40C}"/>
              </a:ext>
            </a:extLst>
          </p:cNvPr>
          <p:cNvSpPr/>
          <p:nvPr/>
        </p:nvSpPr>
        <p:spPr>
          <a:xfrm>
            <a:off x="4552742" y="3698028"/>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51" name="Rounded Rectangle 1050">
            <a:extLst>
              <a:ext uri="{FF2B5EF4-FFF2-40B4-BE49-F238E27FC236}">
                <a16:creationId xmlns:a16="http://schemas.microsoft.com/office/drawing/2014/main" id="{5D2A1C33-A76C-E051-3B77-4BF6A26C19AA}"/>
              </a:ext>
            </a:extLst>
          </p:cNvPr>
          <p:cNvSpPr/>
          <p:nvPr/>
        </p:nvSpPr>
        <p:spPr>
          <a:xfrm>
            <a:off x="2731338" y="2414502"/>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52" name="Rounded Rectangle 1051">
            <a:extLst>
              <a:ext uri="{FF2B5EF4-FFF2-40B4-BE49-F238E27FC236}">
                <a16:creationId xmlns:a16="http://schemas.microsoft.com/office/drawing/2014/main" id="{3B0CFD79-F031-5781-E57E-0166D60D3A39}"/>
              </a:ext>
            </a:extLst>
          </p:cNvPr>
          <p:cNvSpPr/>
          <p:nvPr/>
        </p:nvSpPr>
        <p:spPr>
          <a:xfrm>
            <a:off x="2684461" y="3665032"/>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cxnSp>
        <p:nvCxnSpPr>
          <p:cNvPr id="1053" name="Straight Arrow Connector 50">
            <a:extLst>
              <a:ext uri="{FF2B5EF4-FFF2-40B4-BE49-F238E27FC236}">
                <a16:creationId xmlns:a16="http://schemas.microsoft.com/office/drawing/2014/main" id="{101EF367-C0D4-42EE-FF35-873CB85247A7}"/>
              </a:ext>
            </a:extLst>
          </p:cNvPr>
          <p:cNvCxnSpPr>
            <a:cxnSpLocks/>
            <a:stCxn id="32" idx="0"/>
            <a:endCxn id="1027" idx="0"/>
          </p:cNvCxnSpPr>
          <p:nvPr/>
        </p:nvCxnSpPr>
        <p:spPr>
          <a:xfrm rot="16200000" flipH="1">
            <a:off x="8723841" y="888524"/>
            <a:ext cx="185833" cy="2784647"/>
          </a:xfrm>
          <a:prstGeom prst="bentConnector3">
            <a:avLst>
              <a:gd name="adj1" fmla="val -123014"/>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2" name="Straight Arrow Connector 50">
            <a:extLst>
              <a:ext uri="{FF2B5EF4-FFF2-40B4-BE49-F238E27FC236}">
                <a16:creationId xmlns:a16="http://schemas.microsoft.com/office/drawing/2014/main" id="{2700393F-6B96-A9E5-EBA4-4598761032B5}"/>
              </a:ext>
            </a:extLst>
          </p:cNvPr>
          <p:cNvCxnSpPr>
            <a:cxnSpLocks/>
            <a:stCxn id="1043" idx="2"/>
            <a:endCxn id="1028" idx="2"/>
          </p:cNvCxnSpPr>
          <p:nvPr/>
        </p:nvCxnSpPr>
        <p:spPr>
          <a:xfrm rot="5400000" flipH="1" flipV="1">
            <a:off x="8923527" y="2983903"/>
            <a:ext cx="419123" cy="2254717"/>
          </a:xfrm>
          <a:prstGeom prst="bentConnector3">
            <a:avLst>
              <a:gd name="adj1" fmla="val -54542"/>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2" name="Straight Arrow Connector 50">
            <a:extLst>
              <a:ext uri="{FF2B5EF4-FFF2-40B4-BE49-F238E27FC236}">
                <a16:creationId xmlns:a16="http://schemas.microsoft.com/office/drawing/2014/main" id="{F9E3F3F8-A751-7611-F2AA-A86E748A7093}"/>
              </a:ext>
            </a:extLst>
          </p:cNvPr>
          <p:cNvCxnSpPr>
            <a:cxnSpLocks/>
            <a:stCxn id="33" idx="0"/>
            <a:endCxn id="61" idx="0"/>
          </p:cNvCxnSpPr>
          <p:nvPr/>
        </p:nvCxnSpPr>
        <p:spPr>
          <a:xfrm rot="16200000" flipH="1">
            <a:off x="6822784" y="935955"/>
            <a:ext cx="218285" cy="2722236"/>
          </a:xfrm>
          <a:prstGeom prst="bentConnector3">
            <a:avLst>
              <a:gd name="adj1" fmla="val -179531"/>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6" name="Straight Arrow Connector 50">
            <a:extLst>
              <a:ext uri="{FF2B5EF4-FFF2-40B4-BE49-F238E27FC236}">
                <a16:creationId xmlns:a16="http://schemas.microsoft.com/office/drawing/2014/main" id="{150D9E4B-CEF1-61F3-AC4A-EE7F3CB944A9}"/>
              </a:ext>
            </a:extLst>
          </p:cNvPr>
          <p:cNvCxnSpPr>
            <a:cxnSpLocks/>
            <a:stCxn id="1039" idx="2"/>
            <a:endCxn id="63" idx="2"/>
          </p:cNvCxnSpPr>
          <p:nvPr/>
        </p:nvCxnSpPr>
        <p:spPr>
          <a:xfrm rot="5400000" flipH="1" flipV="1">
            <a:off x="7054421" y="2968567"/>
            <a:ext cx="352686" cy="2283855"/>
          </a:xfrm>
          <a:prstGeom prst="bentConnector3">
            <a:avLst>
              <a:gd name="adj1" fmla="val -142330"/>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0" name="Straight Arrow Connector 50">
            <a:extLst>
              <a:ext uri="{FF2B5EF4-FFF2-40B4-BE49-F238E27FC236}">
                <a16:creationId xmlns:a16="http://schemas.microsoft.com/office/drawing/2014/main" id="{5097D2B9-CAC6-172D-9379-002461041F3D}"/>
              </a:ext>
            </a:extLst>
          </p:cNvPr>
          <p:cNvCxnSpPr>
            <a:cxnSpLocks/>
            <a:stCxn id="38" idx="0"/>
            <a:endCxn id="57" idx="0"/>
          </p:cNvCxnSpPr>
          <p:nvPr/>
        </p:nvCxnSpPr>
        <p:spPr>
          <a:xfrm rot="16200000" flipH="1">
            <a:off x="5028897" y="927580"/>
            <a:ext cx="262404" cy="2783106"/>
          </a:xfrm>
          <a:prstGeom prst="bentConnector3">
            <a:avLst>
              <a:gd name="adj1" fmla="val -87118"/>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3" name="Straight Arrow Connector 50">
            <a:extLst>
              <a:ext uri="{FF2B5EF4-FFF2-40B4-BE49-F238E27FC236}">
                <a16:creationId xmlns:a16="http://schemas.microsoft.com/office/drawing/2014/main" id="{9C93E108-896F-C0C7-88D3-4FCAA25027D0}"/>
              </a:ext>
            </a:extLst>
          </p:cNvPr>
          <p:cNvCxnSpPr>
            <a:cxnSpLocks/>
            <a:stCxn id="1036" idx="2"/>
            <a:endCxn id="58" idx="2"/>
          </p:cNvCxnSpPr>
          <p:nvPr/>
        </p:nvCxnSpPr>
        <p:spPr>
          <a:xfrm rot="5400000" flipH="1" flipV="1">
            <a:off x="5205086" y="2911032"/>
            <a:ext cx="335581" cy="2416032"/>
          </a:xfrm>
          <a:prstGeom prst="bentConnector3">
            <a:avLst>
              <a:gd name="adj1" fmla="val -100560"/>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9" name="Straight Arrow Connector 50">
            <a:extLst>
              <a:ext uri="{FF2B5EF4-FFF2-40B4-BE49-F238E27FC236}">
                <a16:creationId xmlns:a16="http://schemas.microsoft.com/office/drawing/2014/main" id="{F3C80E47-5086-110A-D482-811D2DE78154}"/>
              </a:ext>
            </a:extLst>
          </p:cNvPr>
          <p:cNvCxnSpPr>
            <a:cxnSpLocks/>
            <a:stCxn id="39" idx="0"/>
            <a:endCxn id="1033" idx="0"/>
          </p:cNvCxnSpPr>
          <p:nvPr/>
        </p:nvCxnSpPr>
        <p:spPr>
          <a:xfrm rot="16200000" flipH="1">
            <a:off x="3215839" y="907555"/>
            <a:ext cx="226571" cy="2787323"/>
          </a:xfrm>
          <a:prstGeom prst="bentConnector3">
            <a:avLst>
              <a:gd name="adj1" fmla="val -168160"/>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63" name="Straight Arrow Connector 50">
            <a:extLst>
              <a:ext uri="{FF2B5EF4-FFF2-40B4-BE49-F238E27FC236}">
                <a16:creationId xmlns:a16="http://schemas.microsoft.com/office/drawing/2014/main" id="{25185D04-9BCD-5182-24FC-9FC0FC2EA596}"/>
              </a:ext>
            </a:extLst>
          </p:cNvPr>
          <p:cNvCxnSpPr>
            <a:cxnSpLocks/>
            <a:stCxn id="1038" idx="2"/>
            <a:endCxn id="1035" idx="2"/>
          </p:cNvCxnSpPr>
          <p:nvPr/>
        </p:nvCxnSpPr>
        <p:spPr>
          <a:xfrm rot="5400000" flipH="1" flipV="1">
            <a:off x="3404697" y="2945562"/>
            <a:ext cx="341462" cy="2341090"/>
          </a:xfrm>
          <a:prstGeom prst="bentConnector3">
            <a:avLst>
              <a:gd name="adj1" fmla="val -146646"/>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812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5F5AD-EF93-3A76-4934-6D7D4202EAEE}"/>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FB1FA896-A380-F79C-4E48-C8BFC41B655B}"/>
              </a:ext>
            </a:extLst>
          </p:cNvPr>
          <p:cNvSpPr/>
          <p:nvPr/>
        </p:nvSpPr>
        <p:spPr>
          <a:xfrm>
            <a:off x="9082552" y="3038492"/>
            <a:ext cx="2122027" cy="2236347"/>
          </a:xfrm>
          <a:prstGeom prst="roundRect">
            <a:avLst>
              <a:gd name="adj" fmla="val 4449"/>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a:p>
        </p:txBody>
      </p:sp>
      <p:sp>
        <p:nvSpPr>
          <p:cNvPr id="13" name="Rounded Rectangle 12">
            <a:extLst>
              <a:ext uri="{FF2B5EF4-FFF2-40B4-BE49-F238E27FC236}">
                <a16:creationId xmlns:a16="http://schemas.microsoft.com/office/drawing/2014/main" id="{1EC7FF55-D49C-27ED-AD14-F33AD686F62C}"/>
              </a:ext>
            </a:extLst>
          </p:cNvPr>
          <p:cNvSpPr/>
          <p:nvPr/>
        </p:nvSpPr>
        <p:spPr>
          <a:xfrm>
            <a:off x="9249843" y="5058811"/>
            <a:ext cx="1254132" cy="164212"/>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Party ID</a:t>
            </a:r>
          </a:p>
        </p:txBody>
      </p:sp>
      <p:sp>
        <p:nvSpPr>
          <p:cNvPr id="14" name="Rounded Rectangle 13">
            <a:extLst>
              <a:ext uri="{FF2B5EF4-FFF2-40B4-BE49-F238E27FC236}">
                <a16:creationId xmlns:a16="http://schemas.microsoft.com/office/drawing/2014/main" id="{4D4D10C1-2564-A060-0F98-BD61260A1E73}"/>
              </a:ext>
            </a:extLst>
          </p:cNvPr>
          <p:cNvSpPr/>
          <p:nvPr/>
        </p:nvSpPr>
        <p:spPr>
          <a:xfrm>
            <a:off x="9242303" y="4614319"/>
            <a:ext cx="1263460" cy="164212"/>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Product ID</a:t>
            </a:r>
          </a:p>
        </p:txBody>
      </p:sp>
      <p:sp>
        <p:nvSpPr>
          <p:cNvPr id="17" name="Rounded Rectangle 16">
            <a:extLst>
              <a:ext uri="{FF2B5EF4-FFF2-40B4-BE49-F238E27FC236}">
                <a16:creationId xmlns:a16="http://schemas.microsoft.com/office/drawing/2014/main" id="{14171A10-0F0E-8212-0766-FA3727B5B044}"/>
              </a:ext>
            </a:extLst>
          </p:cNvPr>
          <p:cNvSpPr/>
          <p:nvPr/>
        </p:nvSpPr>
        <p:spPr>
          <a:xfrm>
            <a:off x="9249843" y="4836566"/>
            <a:ext cx="1263460" cy="164212"/>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Location ID</a:t>
            </a:r>
          </a:p>
        </p:txBody>
      </p:sp>
      <p:sp>
        <p:nvSpPr>
          <p:cNvPr id="18" name="TextBox 17">
            <a:extLst>
              <a:ext uri="{FF2B5EF4-FFF2-40B4-BE49-F238E27FC236}">
                <a16:creationId xmlns:a16="http://schemas.microsoft.com/office/drawing/2014/main" id="{D5AF9BE2-3698-08FA-B659-9D5532503507}"/>
              </a:ext>
            </a:extLst>
          </p:cNvPr>
          <p:cNvSpPr txBox="1"/>
          <p:nvPr/>
        </p:nvSpPr>
        <p:spPr>
          <a:xfrm>
            <a:off x="9329184" y="3018743"/>
            <a:ext cx="1684551" cy="278200"/>
          </a:xfrm>
          <a:prstGeom prst="rect">
            <a:avLst/>
          </a:prstGeom>
          <a:noFill/>
        </p:spPr>
        <p:txBody>
          <a:bodyPr wrap="none" rtlCol="0">
            <a:spAutoFit/>
          </a:bodyPr>
          <a:lstStyle/>
          <a:p>
            <a:pPr algn="ctr"/>
            <a:r>
              <a:rPr lang="en-AU" sz="1200" b="1" dirty="0">
                <a:solidFill>
                  <a:schemeClr val="bg1"/>
                </a:solidFill>
              </a:rPr>
              <a:t>Digital Traceability Event</a:t>
            </a:r>
          </a:p>
        </p:txBody>
      </p:sp>
      <p:cxnSp>
        <p:nvCxnSpPr>
          <p:cNvPr id="19" name="Elbow Connector 18">
            <a:extLst>
              <a:ext uri="{FF2B5EF4-FFF2-40B4-BE49-F238E27FC236}">
                <a16:creationId xmlns:a16="http://schemas.microsoft.com/office/drawing/2014/main" id="{CEC1DB99-699E-73FC-E02B-B8A614A63F0F}"/>
              </a:ext>
            </a:extLst>
          </p:cNvPr>
          <p:cNvCxnSpPr>
            <a:cxnSpLocks/>
            <a:stCxn id="17" idx="3"/>
          </p:cNvCxnSpPr>
          <p:nvPr/>
        </p:nvCxnSpPr>
        <p:spPr>
          <a:xfrm flipV="1">
            <a:off x="10513303" y="4520111"/>
            <a:ext cx="314264" cy="398560"/>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0D3E2FCA-BBA7-7E1E-53CD-D6CEFFB5E0EE}"/>
              </a:ext>
            </a:extLst>
          </p:cNvPr>
          <p:cNvCxnSpPr>
            <a:cxnSpLocks/>
            <a:stCxn id="14" idx="3"/>
          </p:cNvCxnSpPr>
          <p:nvPr/>
        </p:nvCxnSpPr>
        <p:spPr>
          <a:xfrm flipV="1">
            <a:off x="10505764" y="4531553"/>
            <a:ext cx="215837" cy="164872"/>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CCB86C96-1637-B9F9-F339-F1A41CD42EA0}"/>
              </a:ext>
            </a:extLst>
          </p:cNvPr>
          <p:cNvSpPr/>
          <p:nvPr/>
        </p:nvSpPr>
        <p:spPr>
          <a:xfrm>
            <a:off x="9205976" y="3560582"/>
            <a:ext cx="1908062" cy="995703"/>
          </a:xfrm>
          <a:prstGeom prst="roundRect">
            <a:avLst>
              <a:gd name="adj" fmla="val 3899"/>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t"/>
          <a:lstStyle/>
          <a:p>
            <a:pPr algn="ctr"/>
            <a:r>
              <a:rPr lang="en-AU" sz="800" b="1" dirty="0">
                <a:solidFill>
                  <a:schemeClr val="accent6">
                    <a:lumMod val="50000"/>
                  </a:schemeClr>
                </a:solidFill>
              </a:rPr>
              <a:t>Event types</a:t>
            </a:r>
          </a:p>
        </p:txBody>
      </p:sp>
      <p:pic>
        <p:nvPicPr>
          <p:cNvPr id="22" name="Picture 6" descr="Digital Certificate Icon Vector Images (over 8,400)">
            <a:extLst>
              <a:ext uri="{FF2B5EF4-FFF2-40B4-BE49-F238E27FC236}">
                <a16:creationId xmlns:a16="http://schemas.microsoft.com/office/drawing/2014/main" id="{CD5E5AA0-A112-E28F-B054-44AA1F02B51F}"/>
              </a:ext>
            </a:extLst>
          </p:cNvPr>
          <p:cNvPicPr>
            <a:picLocks noChangeAspect="1" noChangeArrowheads="1"/>
          </p:cNvPicPr>
          <p:nvPr/>
        </p:nvPicPr>
        <p:blipFill rotWithShape="1">
          <a:blip r:embed="rId3" cstate="print">
            <a:duotone>
              <a:schemeClr val="accent4">
                <a:shade val="45000"/>
                <a:satMod val="135000"/>
              </a:schemeClr>
              <a:prstClr val="white"/>
            </a:duotone>
            <a:extLst>
              <a:ext uri="{28A0092B-C50C-407E-A947-70E740481C1C}">
                <a14:useLocalDpi xmlns:a14="http://schemas.microsoft.com/office/drawing/2010/main"/>
              </a:ext>
            </a:extLst>
          </a:blip>
          <a:srcRect/>
          <a:stretch/>
        </p:blipFill>
        <p:spPr bwMode="auto">
          <a:xfrm>
            <a:off x="11067381" y="5126930"/>
            <a:ext cx="311663" cy="271904"/>
          </a:xfrm>
          <a:prstGeom prst="ellipse">
            <a:avLst/>
          </a:prstGeom>
          <a:noFill/>
          <a:extLst>
            <a:ext uri="{909E8E84-426E-40DD-AFC4-6F175D3DCCD1}">
              <a14:hiddenFill xmlns:a14="http://schemas.microsoft.com/office/drawing/2010/main">
                <a:solidFill>
                  <a:srgbClr val="FFFFFF"/>
                </a:solidFill>
              </a14:hiddenFill>
            </a:ext>
          </a:extLst>
        </p:spPr>
      </p:pic>
      <p:cxnSp>
        <p:nvCxnSpPr>
          <p:cNvPr id="23" name="Elbow Connector 22">
            <a:extLst>
              <a:ext uri="{FF2B5EF4-FFF2-40B4-BE49-F238E27FC236}">
                <a16:creationId xmlns:a16="http://schemas.microsoft.com/office/drawing/2014/main" id="{18F98459-D434-6868-62D8-D660676B3B43}"/>
              </a:ext>
            </a:extLst>
          </p:cNvPr>
          <p:cNvCxnSpPr>
            <a:cxnSpLocks/>
            <a:stCxn id="13" idx="3"/>
          </p:cNvCxnSpPr>
          <p:nvPr/>
        </p:nvCxnSpPr>
        <p:spPr>
          <a:xfrm flipV="1">
            <a:off x="10503975" y="4531553"/>
            <a:ext cx="442843" cy="609363"/>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DB3CAB5C-875F-1705-D52C-49056EF1DF41}"/>
              </a:ext>
            </a:extLst>
          </p:cNvPr>
          <p:cNvSpPr/>
          <p:nvPr/>
        </p:nvSpPr>
        <p:spPr>
          <a:xfrm>
            <a:off x="9268209" y="4094302"/>
            <a:ext cx="1780249" cy="127232"/>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r>
              <a:rPr lang="en-AU" sz="900" b="1" dirty="0">
                <a:solidFill>
                  <a:schemeClr val="accent6">
                    <a:lumMod val="50000"/>
                  </a:schemeClr>
                </a:solidFill>
              </a:rPr>
              <a:t>Transformation</a:t>
            </a:r>
            <a:r>
              <a:rPr lang="en-AU" sz="900" dirty="0">
                <a:solidFill>
                  <a:schemeClr val="accent6">
                    <a:lumMod val="50000"/>
                  </a:schemeClr>
                </a:solidFill>
              </a:rPr>
              <a:t> </a:t>
            </a:r>
            <a:r>
              <a:rPr lang="en-AU" sz="900" i="1" dirty="0">
                <a:solidFill>
                  <a:schemeClr val="accent6">
                    <a:lumMod val="50000"/>
                  </a:schemeClr>
                </a:solidFill>
              </a:rPr>
              <a:t>(manufacture,..)</a:t>
            </a:r>
          </a:p>
        </p:txBody>
      </p:sp>
      <p:sp>
        <p:nvSpPr>
          <p:cNvPr id="29" name="Rounded Rectangle 28">
            <a:extLst>
              <a:ext uri="{FF2B5EF4-FFF2-40B4-BE49-F238E27FC236}">
                <a16:creationId xmlns:a16="http://schemas.microsoft.com/office/drawing/2014/main" id="{7C246184-19D8-17CD-C3BE-6F2403641E3E}"/>
              </a:ext>
            </a:extLst>
          </p:cNvPr>
          <p:cNvSpPr/>
          <p:nvPr/>
        </p:nvSpPr>
        <p:spPr>
          <a:xfrm>
            <a:off x="9271863" y="3943587"/>
            <a:ext cx="1780249" cy="127232"/>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r>
              <a:rPr lang="en-AU" sz="900" b="1" dirty="0">
                <a:solidFill>
                  <a:schemeClr val="accent6">
                    <a:lumMod val="50000"/>
                  </a:schemeClr>
                </a:solidFill>
              </a:rPr>
              <a:t>Transaction</a:t>
            </a:r>
            <a:r>
              <a:rPr lang="en-AU" sz="900" dirty="0">
                <a:solidFill>
                  <a:schemeClr val="accent6">
                    <a:lumMod val="50000"/>
                  </a:schemeClr>
                </a:solidFill>
              </a:rPr>
              <a:t> (sell, ship, transfer,..)</a:t>
            </a:r>
          </a:p>
        </p:txBody>
      </p:sp>
      <p:sp>
        <p:nvSpPr>
          <p:cNvPr id="30" name="Rounded Rectangle 29">
            <a:extLst>
              <a:ext uri="{FF2B5EF4-FFF2-40B4-BE49-F238E27FC236}">
                <a16:creationId xmlns:a16="http://schemas.microsoft.com/office/drawing/2014/main" id="{10B98754-5DDF-D7F3-D25C-2EE9CBE5520B}"/>
              </a:ext>
            </a:extLst>
          </p:cNvPr>
          <p:cNvSpPr/>
          <p:nvPr/>
        </p:nvSpPr>
        <p:spPr>
          <a:xfrm>
            <a:off x="9267902" y="3792873"/>
            <a:ext cx="1780250" cy="127232"/>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r>
              <a:rPr lang="en-AU" sz="900" b="1" dirty="0">
                <a:solidFill>
                  <a:schemeClr val="accent6">
                    <a:lumMod val="50000"/>
                  </a:schemeClr>
                </a:solidFill>
              </a:rPr>
              <a:t>Object</a:t>
            </a:r>
            <a:r>
              <a:rPr lang="en-AU" sz="900" dirty="0">
                <a:solidFill>
                  <a:schemeClr val="accent6">
                    <a:lumMod val="50000"/>
                  </a:schemeClr>
                </a:solidFill>
              </a:rPr>
              <a:t> </a:t>
            </a:r>
            <a:r>
              <a:rPr lang="en-AU" sz="900" i="1" dirty="0">
                <a:solidFill>
                  <a:schemeClr val="accent6">
                    <a:lumMod val="50000"/>
                  </a:schemeClr>
                </a:solidFill>
              </a:rPr>
              <a:t>(inspect, test, ..)</a:t>
            </a:r>
          </a:p>
        </p:txBody>
      </p:sp>
      <p:sp>
        <p:nvSpPr>
          <p:cNvPr id="46" name="Rounded Rectangle 45">
            <a:extLst>
              <a:ext uri="{FF2B5EF4-FFF2-40B4-BE49-F238E27FC236}">
                <a16:creationId xmlns:a16="http://schemas.microsoft.com/office/drawing/2014/main" id="{63860C3C-8441-5569-0E8C-AE765B6CD282}"/>
              </a:ext>
            </a:extLst>
          </p:cNvPr>
          <p:cNvSpPr/>
          <p:nvPr/>
        </p:nvSpPr>
        <p:spPr>
          <a:xfrm>
            <a:off x="9271862" y="4245016"/>
            <a:ext cx="1780249" cy="127232"/>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r>
              <a:rPr lang="en-AU" sz="900" b="1" dirty="0">
                <a:solidFill>
                  <a:schemeClr val="accent6">
                    <a:lumMod val="50000"/>
                  </a:schemeClr>
                </a:solidFill>
              </a:rPr>
              <a:t>Aggregation</a:t>
            </a:r>
            <a:r>
              <a:rPr lang="en-AU" sz="900" dirty="0">
                <a:solidFill>
                  <a:schemeClr val="accent6">
                    <a:lumMod val="50000"/>
                  </a:schemeClr>
                </a:solidFill>
              </a:rPr>
              <a:t> </a:t>
            </a:r>
            <a:r>
              <a:rPr lang="en-AU" sz="900" i="1" dirty="0">
                <a:solidFill>
                  <a:schemeClr val="accent6">
                    <a:lumMod val="50000"/>
                  </a:schemeClr>
                </a:solidFill>
              </a:rPr>
              <a:t>(consolidate, ..)</a:t>
            </a:r>
          </a:p>
        </p:txBody>
      </p:sp>
      <p:sp>
        <p:nvSpPr>
          <p:cNvPr id="54" name="Rounded Rectangle 53">
            <a:extLst>
              <a:ext uri="{FF2B5EF4-FFF2-40B4-BE49-F238E27FC236}">
                <a16:creationId xmlns:a16="http://schemas.microsoft.com/office/drawing/2014/main" id="{DC14972E-46B3-5B11-80F0-FA49C93EBF69}"/>
              </a:ext>
            </a:extLst>
          </p:cNvPr>
          <p:cNvSpPr/>
          <p:nvPr/>
        </p:nvSpPr>
        <p:spPr>
          <a:xfrm>
            <a:off x="9271862" y="4395730"/>
            <a:ext cx="1776633" cy="121792"/>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r>
              <a:rPr lang="en-AU" sz="900" b="1" dirty="0">
                <a:solidFill>
                  <a:schemeClr val="accent6">
                    <a:lumMod val="50000"/>
                  </a:schemeClr>
                </a:solidFill>
              </a:rPr>
              <a:t>Association </a:t>
            </a:r>
            <a:r>
              <a:rPr lang="en-AU" sz="900" i="1" dirty="0">
                <a:solidFill>
                  <a:schemeClr val="accent6">
                    <a:lumMod val="50000"/>
                  </a:schemeClr>
                </a:solidFill>
              </a:rPr>
              <a:t>(assemble, package,.)</a:t>
            </a:r>
          </a:p>
        </p:txBody>
      </p:sp>
      <p:cxnSp>
        <p:nvCxnSpPr>
          <p:cNvPr id="25" name="Elbow Connector 24">
            <a:extLst>
              <a:ext uri="{FF2B5EF4-FFF2-40B4-BE49-F238E27FC236}">
                <a16:creationId xmlns:a16="http://schemas.microsoft.com/office/drawing/2014/main" id="{01251ACB-DCF6-AA4A-BAED-CD425F163A07}"/>
              </a:ext>
            </a:extLst>
          </p:cNvPr>
          <p:cNvCxnSpPr>
            <a:cxnSpLocks/>
            <a:endCxn id="26" idx="3"/>
          </p:cNvCxnSpPr>
          <p:nvPr/>
        </p:nvCxnSpPr>
        <p:spPr>
          <a:xfrm rot="16200000" flipV="1">
            <a:off x="10515631" y="3359822"/>
            <a:ext cx="188012" cy="205219"/>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2AEEAA0B-DEA7-A3B8-14BA-8FCFE1F94E20}"/>
              </a:ext>
            </a:extLst>
          </p:cNvPr>
          <p:cNvSpPr/>
          <p:nvPr/>
        </p:nvSpPr>
        <p:spPr>
          <a:xfrm>
            <a:off x="9336699" y="3292621"/>
            <a:ext cx="1170329" cy="151610"/>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800" dirty="0">
                <a:solidFill>
                  <a:schemeClr val="accent6">
                    <a:lumMod val="50000"/>
                  </a:schemeClr>
                </a:solidFill>
              </a:rPr>
              <a:t>Sensor Data</a:t>
            </a:r>
          </a:p>
        </p:txBody>
      </p:sp>
      <p:sp>
        <p:nvSpPr>
          <p:cNvPr id="27" name="Rounded Rectangle 26">
            <a:extLst>
              <a:ext uri="{FF2B5EF4-FFF2-40B4-BE49-F238E27FC236}">
                <a16:creationId xmlns:a16="http://schemas.microsoft.com/office/drawing/2014/main" id="{95F9ACF6-6059-C3F3-A654-B8BFC3B91163}"/>
              </a:ext>
            </a:extLst>
          </p:cNvPr>
          <p:cNvSpPr/>
          <p:nvPr/>
        </p:nvSpPr>
        <p:spPr>
          <a:xfrm>
            <a:off x="9269656" y="3332472"/>
            <a:ext cx="1170329" cy="151610"/>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Sensor data</a:t>
            </a:r>
          </a:p>
        </p:txBody>
      </p:sp>
      <p:grpSp>
        <p:nvGrpSpPr>
          <p:cNvPr id="6" name="Group 5">
            <a:extLst>
              <a:ext uri="{FF2B5EF4-FFF2-40B4-BE49-F238E27FC236}">
                <a16:creationId xmlns:a16="http://schemas.microsoft.com/office/drawing/2014/main" id="{1EE3D0BF-1A02-7B5A-C9C1-0C879A06504D}"/>
              </a:ext>
            </a:extLst>
          </p:cNvPr>
          <p:cNvGrpSpPr/>
          <p:nvPr/>
        </p:nvGrpSpPr>
        <p:grpSpPr>
          <a:xfrm>
            <a:off x="6492639" y="3023629"/>
            <a:ext cx="2153572" cy="2302454"/>
            <a:chOff x="4145910" y="2023079"/>
            <a:chExt cx="3329772" cy="4321874"/>
          </a:xfrm>
        </p:grpSpPr>
        <p:sp>
          <p:nvSpPr>
            <p:cNvPr id="11" name="Rounded Rectangle 10">
              <a:extLst>
                <a:ext uri="{FF2B5EF4-FFF2-40B4-BE49-F238E27FC236}">
                  <a16:creationId xmlns:a16="http://schemas.microsoft.com/office/drawing/2014/main" id="{4C269B2A-BA14-B70E-4CC6-57413A585061}"/>
                </a:ext>
              </a:extLst>
            </p:cNvPr>
            <p:cNvSpPr/>
            <p:nvPr/>
          </p:nvSpPr>
          <p:spPr>
            <a:xfrm>
              <a:off x="4145910" y="2023079"/>
              <a:ext cx="3096417" cy="4135160"/>
            </a:xfrm>
            <a:prstGeom prst="roundRect">
              <a:avLst>
                <a:gd name="adj" fmla="val 4449"/>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a:p>
          </p:txBody>
        </p:sp>
        <p:sp>
          <p:nvSpPr>
            <p:cNvPr id="24" name="Rounded Rectangle 23">
              <a:extLst>
                <a:ext uri="{FF2B5EF4-FFF2-40B4-BE49-F238E27FC236}">
                  <a16:creationId xmlns:a16="http://schemas.microsoft.com/office/drawing/2014/main" id="{7D7C1C99-C96C-9AA0-5814-0830363E3665}"/>
                </a:ext>
              </a:extLst>
            </p:cNvPr>
            <p:cNvSpPr/>
            <p:nvPr/>
          </p:nvSpPr>
          <p:spPr>
            <a:xfrm>
              <a:off x="4529551" y="3425298"/>
              <a:ext cx="2328814" cy="32954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Product Information</a:t>
              </a:r>
            </a:p>
          </p:txBody>
        </p:sp>
        <p:sp>
          <p:nvSpPr>
            <p:cNvPr id="1047" name="Rounded Rectangle 1046">
              <a:extLst>
                <a:ext uri="{FF2B5EF4-FFF2-40B4-BE49-F238E27FC236}">
                  <a16:creationId xmlns:a16="http://schemas.microsoft.com/office/drawing/2014/main" id="{B41210BC-FA26-6D0C-3AAF-D4090B64A6BE}"/>
                </a:ext>
              </a:extLst>
            </p:cNvPr>
            <p:cNvSpPr/>
            <p:nvPr/>
          </p:nvSpPr>
          <p:spPr>
            <a:xfrm>
              <a:off x="4867526" y="3836048"/>
              <a:ext cx="1990839" cy="329548"/>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Provenance Data</a:t>
              </a:r>
            </a:p>
          </p:txBody>
        </p:sp>
        <p:sp>
          <p:nvSpPr>
            <p:cNvPr id="1048" name="Rounded Rectangle 1047">
              <a:extLst>
                <a:ext uri="{FF2B5EF4-FFF2-40B4-BE49-F238E27FC236}">
                  <a16:creationId xmlns:a16="http://schemas.microsoft.com/office/drawing/2014/main" id="{F382006F-CFB8-5A4B-D392-811059011D03}"/>
                </a:ext>
              </a:extLst>
            </p:cNvPr>
            <p:cNvSpPr/>
            <p:nvPr/>
          </p:nvSpPr>
          <p:spPr>
            <a:xfrm>
              <a:off x="4541959" y="5212873"/>
              <a:ext cx="2328813" cy="329548"/>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Item/Batch Data</a:t>
              </a:r>
            </a:p>
          </p:txBody>
        </p:sp>
        <p:sp>
          <p:nvSpPr>
            <p:cNvPr id="1050" name="Rounded Rectangle 1049">
              <a:extLst>
                <a:ext uri="{FF2B5EF4-FFF2-40B4-BE49-F238E27FC236}">
                  <a16:creationId xmlns:a16="http://schemas.microsoft.com/office/drawing/2014/main" id="{0DA3E689-89E9-4AE8-5949-B02504B81516}"/>
                </a:ext>
              </a:extLst>
            </p:cNvPr>
            <p:cNvSpPr/>
            <p:nvPr/>
          </p:nvSpPr>
          <p:spPr>
            <a:xfrm>
              <a:off x="4877718" y="2541928"/>
              <a:ext cx="1980648" cy="32954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Organisation</a:t>
              </a:r>
            </a:p>
          </p:txBody>
        </p:sp>
        <p:sp>
          <p:nvSpPr>
            <p:cNvPr id="1054" name="Rounded Rectangle 1053">
              <a:extLst>
                <a:ext uri="{FF2B5EF4-FFF2-40B4-BE49-F238E27FC236}">
                  <a16:creationId xmlns:a16="http://schemas.microsoft.com/office/drawing/2014/main" id="{CC964708-5604-39FD-BCD4-970767053E91}"/>
                </a:ext>
              </a:extLst>
            </p:cNvPr>
            <p:cNvSpPr/>
            <p:nvPr/>
          </p:nvSpPr>
          <p:spPr>
            <a:xfrm>
              <a:off x="4877717" y="2981484"/>
              <a:ext cx="1980648" cy="32954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Facility Data</a:t>
              </a:r>
            </a:p>
          </p:txBody>
        </p:sp>
        <p:sp>
          <p:nvSpPr>
            <p:cNvPr id="1055" name="TextBox 1054">
              <a:extLst>
                <a:ext uri="{FF2B5EF4-FFF2-40B4-BE49-F238E27FC236}">
                  <a16:creationId xmlns:a16="http://schemas.microsoft.com/office/drawing/2014/main" id="{BB1A206D-8A7C-1227-FBA2-429E33AFEF60}"/>
                </a:ext>
              </a:extLst>
            </p:cNvPr>
            <p:cNvSpPr txBox="1"/>
            <p:nvPr/>
          </p:nvSpPr>
          <p:spPr>
            <a:xfrm>
              <a:off x="4533246" y="2043493"/>
              <a:ext cx="2265330" cy="402602"/>
            </a:xfrm>
            <a:prstGeom prst="rect">
              <a:avLst/>
            </a:prstGeom>
            <a:noFill/>
          </p:spPr>
          <p:txBody>
            <a:bodyPr wrap="none" rtlCol="0">
              <a:spAutoFit/>
            </a:bodyPr>
            <a:lstStyle/>
            <a:p>
              <a:pPr algn="ctr"/>
              <a:r>
                <a:rPr lang="en-AU" sz="1100" b="1" dirty="0">
                  <a:solidFill>
                    <a:schemeClr val="bg1"/>
                  </a:solidFill>
                </a:rPr>
                <a:t>Digital Product Passport</a:t>
              </a:r>
            </a:p>
          </p:txBody>
        </p:sp>
        <p:cxnSp>
          <p:nvCxnSpPr>
            <p:cNvPr id="1056" name="Elbow Connector 1055">
              <a:extLst>
                <a:ext uri="{FF2B5EF4-FFF2-40B4-BE49-F238E27FC236}">
                  <a16:creationId xmlns:a16="http://schemas.microsoft.com/office/drawing/2014/main" id="{B295314C-3343-96C4-19CE-0140A6B1958C}"/>
                </a:ext>
              </a:extLst>
            </p:cNvPr>
            <p:cNvCxnSpPr>
              <a:cxnSpLocks/>
              <a:stCxn id="1050" idx="1"/>
            </p:cNvCxnSpPr>
            <p:nvPr/>
          </p:nvCxnSpPr>
          <p:spPr>
            <a:xfrm rot="10800000" flipV="1">
              <a:off x="4681167" y="2706702"/>
              <a:ext cx="196552" cy="718593"/>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7" name="Elbow Connector 1056">
              <a:extLst>
                <a:ext uri="{FF2B5EF4-FFF2-40B4-BE49-F238E27FC236}">
                  <a16:creationId xmlns:a16="http://schemas.microsoft.com/office/drawing/2014/main" id="{16DB4FF0-F760-450B-59AF-874EA372A9FB}"/>
                </a:ext>
              </a:extLst>
            </p:cNvPr>
            <p:cNvCxnSpPr>
              <a:cxnSpLocks/>
              <a:stCxn id="1054" idx="1"/>
            </p:cNvCxnSpPr>
            <p:nvPr/>
          </p:nvCxnSpPr>
          <p:spPr>
            <a:xfrm rot="10800000" flipV="1">
              <a:off x="4681165" y="3146259"/>
              <a:ext cx="196552" cy="329549"/>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8" name="Elbow Connector 1057">
              <a:extLst>
                <a:ext uri="{FF2B5EF4-FFF2-40B4-BE49-F238E27FC236}">
                  <a16:creationId xmlns:a16="http://schemas.microsoft.com/office/drawing/2014/main" id="{58FD4BEB-0C87-442E-3336-EA0CBEA73730}"/>
                </a:ext>
              </a:extLst>
            </p:cNvPr>
            <p:cNvCxnSpPr>
              <a:cxnSpLocks/>
              <a:stCxn id="1047" idx="1"/>
            </p:cNvCxnSpPr>
            <p:nvPr/>
          </p:nvCxnSpPr>
          <p:spPr>
            <a:xfrm rot="10800000">
              <a:off x="4666389" y="3673283"/>
              <a:ext cx="201136" cy="327540"/>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9" name="Elbow Connector 1058">
              <a:extLst>
                <a:ext uri="{FF2B5EF4-FFF2-40B4-BE49-F238E27FC236}">
                  <a16:creationId xmlns:a16="http://schemas.microsoft.com/office/drawing/2014/main" id="{5F2BA31D-8206-25A5-03FF-FA3FDC60A19A}"/>
                </a:ext>
              </a:extLst>
            </p:cNvPr>
            <p:cNvCxnSpPr>
              <a:cxnSpLocks/>
              <a:stCxn id="1048" idx="1"/>
              <a:endCxn id="24" idx="1"/>
            </p:cNvCxnSpPr>
            <p:nvPr/>
          </p:nvCxnSpPr>
          <p:spPr>
            <a:xfrm rot="10800000">
              <a:off x="4529551" y="3590072"/>
              <a:ext cx="12408" cy="1787576"/>
            </a:xfrm>
            <a:prstGeom prst="bentConnector3">
              <a:avLst>
                <a:gd name="adj1" fmla="val 2224865"/>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0" name="Elbow Connector 1059">
              <a:extLst>
                <a:ext uri="{FF2B5EF4-FFF2-40B4-BE49-F238E27FC236}">
                  <a16:creationId xmlns:a16="http://schemas.microsoft.com/office/drawing/2014/main" id="{098355C3-7D86-A040-03F9-91597A097B38}"/>
                </a:ext>
              </a:extLst>
            </p:cNvPr>
            <p:cNvCxnSpPr>
              <a:cxnSpLocks/>
              <a:stCxn id="1065" idx="1"/>
            </p:cNvCxnSpPr>
            <p:nvPr/>
          </p:nvCxnSpPr>
          <p:spPr>
            <a:xfrm rot="10800000">
              <a:off x="4690808" y="5460318"/>
              <a:ext cx="201534" cy="329546"/>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1" name="Elbow Connector 1060">
              <a:extLst>
                <a:ext uri="{FF2B5EF4-FFF2-40B4-BE49-F238E27FC236}">
                  <a16:creationId xmlns:a16="http://schemas.microsoft.com/office/drawing/2014/main" id="{D6AA941F-90A0-98D7-892E-F07385506F21}"/>
                </a:ext>
              </a:extLst>
            </p:cNvPr>
            <p:cNvCxnSpPr>
              <a:cxnSpLocks/>
              <a:stCxn id="1067" idx="1"/>
            </p:cNvCxnSpPr>
            <p:nvPr/>
          </p:nvCxnSpPr>
          <p:spPr>
            <a:xfrm rot="10800000">
              <a:off x="4695589" y="4656874"/>
              <a:ext cx="201135" cy="249931"/>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3" name="Elbow Connector 1062">
              <a:extLst>
                <a:ext uri="{FF2B5EF4-FFF2-40B4-BE49-F238E27FC236}">
                  <a16:creationId xmlns:a16="http://schemas.microsoft.com/office/drawing/2014/main" id="{2B4316F0-8195-CC40-EB6D-546132E931CD}"/>
                </a:ext>
              </a:extLst>
            </p:cNvPr>
            <p:cNvCxnSpPr>
              <a:cxnSpLocks/>
              <a:stCxn id="1069" idx="1"/>
              <a:endCxn id="24" idx="1"/>
            </p:cNvCxnSpPr>
            <p:nvPr/>
          </p:nvCxnSpPr>
          <p:spPr>
            <a:xfrm rot="10800000">
              <a:off x="4529552" y="3590072"/>
              <a:ext cx="26994" cy="854932"/>
            </a:xfrm>
            <a:prstGeom prst="bentConnector3">
              <a:avLst>
                <a:gd name="adj1" fmla="val 1072559"/>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64" name="Rounded Rectangle 1063">
              <a:extLst>
                <a:ext uri="{FF2B5EF4-FFF2-40B4-BE49-F238E27FC236}">
                  <a16:creationId xmlns:a16="http://schemas.microsoft.com/office/drawing/2014/main" id="{66E96A9A-74B3-8E00-AFD0-FD0989B57ACB}"/>
                </a:ext>
              </a:extLst>
            </p:cNvPr>
            <p:cNvSpPr/>
            <p:nvPr/>
          </p:nvSpPr>
          <p:spPr>
            <a:xfrm>
              <a:off x="4961345" y="5685379"/>
              <a:ext cx="1978431" cy="329548"/>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AU" sz="900" i="1" dirty="0">
                <a:solidFill>
                  <a:schemeClr val="accent6">
                    <a:lumMod val="50000"/>
                  </a:schemeClr>
                </a:solidFill>
              </a:endParaRPr>
            </a:p>
          </p:txBody>
        </p:sp>
        <p:sp>
          <p:nvSpPr>
            <p:cNvPr id="1065" name="Rounded Rectangle 1064">
              <a:extLst>
                <a:ext uri="{FF2B5EF4-FFF2-40B4-BE49-F238E27FC236}">
                  <a16:creationId xmlns:a16="http://schemas.microsoft.com/office/drawing/2014/main" id="{24DC6015-7DF3-E985-F5D2-21B6A703E3B7}"/>
                </a:ext>
              </a:extLst>
            </p:cNvPr>
            <p:cNvSpPr/>
            <p:nvPr/>
          </p:nvSpPr>
          <p:spPr>
            <a:xfrm>
              <a:off x="4892341" y="5625089"/>
              <a:ext cx="1978431" cy="329548"/>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Traceability Events</a:t>
              </a:r>
            </a:p>
          </p:txBody>
        </p:sp>
        <p:sp>
          <p:nvSpPr>
            <p:cNvPr id="1066" name="Rounded Rectangle 1065">
              <a:extLst>
                <a:ext uri="{FF2B5EF4-FFF2-40B4-BE49-F238E27FC236}">
                  <a16:creationId xmlns:a16="http://schemas.microsoft.com/office/drawing/2014/main" id="{9B649CBF-0376-140C-C4B9-A5BABE576D0A}"/>
                </a:ext>
              </a:extLst>
            </p:cNvPr>
            <p:cNvSpPr/>
            <p:nvPr/>
          </p:nvSpPr>
          <p:spPr>
            <a:xfrm>
              <a:off x="4959639" y="4812474"/>
              <a:ext cx="1978431" cy="329548"/>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AU" sz="900" i="1" dirty="0">
                <a:solidFill>
                  <a:schemeClr val="accent6">
                    <a:lumMod val="50000"/>
                  </a:schemeClr>
                </a:solidFill>
              </a:endParaRPr>
            </a:p>
          </p:txBody>
        </p:sp>
        <p:sp>
          <p:nvSpPr>
            <p:cNvPr id="1067" name="Rounded Rectangle 1066">
              <a:extLst>
                <a:ext uri="{FF2B5EF4-FFF2-40B4-BE49-F238E27FC236}">
                  <a16:creationId xmlns:a16="http://schemas.microsoft.com/office/drawing/2014/main" id="{DE1C7524-D18A-6C99-9242-87E1F18832CD}"/>
                </a:ext>
              </a:extLst>
            </p:cNvPr>
            <p:cNvSpPr/>
            <p:nvPr/>
          </p:nvSpPr>
          <p:spPr>
            <a:xfrm>
              <a:off x="4896723" y="4742030"/>
              <a:ext cx="1978431" cy="329548"/>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ESG Metric Value</a:t>
              </a:r>
            </a:p>
          </p:txBody>
        </p:sp>
        <p:sp>
          <p:nvSpPr>
            <p:cNvPr id="1068" name="Rounded Rectangle 1067">
              <a:extLst>
                <a:ext uri="{FF2B5EF4-FFF2-40B4-BE49-F238E27FC236}">
                  <a16:creationId xmlns:a16="http://schemas.microsoft.com/office/drawing/2014/main" id="{0FEBED0A-F93F-A4C5-86DB-181080DD6BFD}"/>
                </a:ext>
              </a:extLst>
            </p:cNvPr>
            <p:cNvSpPr/>
            <p:nvPr/>
          </p:nvSpPr>
          <p:spPr>
            <a:xfrm>
              <a:off x="4617734" y="4346152"/>
              <a:ext cx="2314227" cy="329548"/>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AU" sz="900" i="1" dirty="0">
                <a:solidFill>
                  <a:schemeClr val="accent6">
                    <a:lumMod val="50000"/>
                  </a:schemeClr>
                </a:solidFill>
              </a:endParaRPr>
            </a:p>
          </p:txBody>
        </p:sp>
        <p:sp>
          <p:nvSpPr>
            <p:cNvPr id="1069" name="Rounded Rectangle 1068">
              <a:extLst>
                <a:ext uri="{FF2B5EF4-FFF2-40B4-BE49-F238E27FC236}">
                  <a16:creationId xmlns:a16="http://schemas.microsoft.com/office/drawing/2014/main" id="{8A3F19E0-028A-251D-F70B-F99D60AC1FD7}"/>
                </a:ext>
              </a:extLst>
            </p:cNvPr>
            <p:cNvSpPr/>
            <p:nvPr/>
          </p:nvSpPr>
          <p:spPr>
            <a:xfrm>
              <a:off x="4556545" y="4280229"/>
              <a:ext cx="2314227" cy="32954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1000" dirty="0">
                  <a:solidFill>
                    <a:schemeClr val="accent6">
                      <a:lumMod val="50000"/>
                    </a:schemeClr>
                  </a:solidFill>
                </a:rPr>
                <a:t>Sustainability Claims</a:t>
              </a:r>
            </a:p>
          </p:txBody>
        </p:sp>
        <p:cxnSp>
          <p:nvCxnSpPr>
            <p:cNvPr id="1070" name="Elbow Connector 1069">
              <a:extLst>
                <a:ext uri="{FF2B5EF4-FFF2-40B4-BE49-F238E27FC236}">
                  <a16:creationId xmlns:a16="http://schemas.microsoft.com/office/drawing/2014/main" id="{A50C87C6-CBA4-48CF-CE9C-BB340F720A85}"/>
                </a:ext>
              </a:extLst>
            </p:cNvPr>
            <p:cNvCxnSpPr>
              <a:cxnSpLocks/>
            </p:cNvCxnSpPr>
            <p:nvPr/>
          </p:nvCxnSpPr>
          <p:spPr>
            <a:xfrm>
              <a:off x="6865055" y="3182491"/>
              <a:ext cx="66906" cy="1240606"/>
            </a:xfrm>
            <a:prstGeom prst="bentConnector3">
              <a:avLst>
                <a:gd name="adj1" fmla="val 382031"/>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1084" name="Picture 6" descr="Digital Certificate Icon Vector Images (over 8,400)">
              <a:extLst>
                <a:ext uri="{FF2B5EF4-FFF2-40B4-BE49-F238E27FC236}">
                  <a16:creationId xmlns:a16="http://schemas.microsoft.com/office/drawing/2014/main" id="{DD195801-8800-8394-D09B-906BC4CC7A91}"/>
                </a:ext>
              </a:extLst>
            </p:cNvPr>
            <p:cNvPicPr>
              <a:picLocks noChangeAspect="1" noChangeArrowheads="1"/>
            </p:cNvPicPr>
            <p:nvPr/>
          </p:nvPicPr>
          <p:blipFill rotWithShape="1">
            <a:blip r:embed="rId4" cstate="print">
              <a:duotone>
                <a:schemeClr val="accent6">
                  <a:shade val="45000"/>
                  <a:satMod val="135000"/>
                </a:schemeClr>
                <a:prstClr val="white"/>
              </a:duotone>
              <a:extLst>
                <a:ext uri="{28A0092B-C50C-407E-A947-70E740481C1C}">
                  <a14:useLocalDpi xmlns:a14="http://schemas.microsoft.com/office/drawing/2010/main"/>
                </a:ext>
              </a:extLst>
            </a:blip>
            <a:srcRect/>
            <a:stretch/>
          </p:blipFill>
          <p:spPr bwMode="auto">
            <a:xfrm>
              <a:off x="6955167" y="5823987"/>
              <a:ext cx="520515" cy="520966"/>
            </a:xfrm>
            <a:prstGeom prst="ellipse">
              <a:avLst/>
            </a:prstGeom>
            <a:noFill/>
            <a:extLst>
              <a:ext uri="{909E8E84-426E-40DD-AFC4-6F175D3DCCD1}">
                <a14:hiddenFill xmlns:a14="http://schemas.microsoft.com/office/drawing/2010/main">
                  <a:solidFill>
                    <a:srgbClr val="FFFFFF"/>
                  </a:solidFill>
                </a14:hiddenFill>
              </a:ext>
            </a:extLst>
          </p:spPr>
        </p:pic>
      </p:grpSp>
      <p:grpSp>
        <p:nvGrpSpPr>
          <p:cNvPr id="1085" name="Group 1084">
            <a:extLst>
              <a:ext uri="{FF2B5EF4-FFF2-40B4-BE49-F238E27FC236}">
                <a16:creationId xmlns:a16="http://schemas.microsoft.com/office/drawing/2014/main" id="{4694F3BA-F005-65A5-4440-665F2FA13DBE}"/>
              </a:ext>
            </a:extLst>
          </p:cNvPr>
          <p:cNvGrpSpPr/>
          <p:nvPr/>
        </p:nvGrpSpPr>
        <p:grpSpPr>
          <a:xfrm>
            <a:off x="3843014" y="3021147"/>
            <a:ext cx="2179013" cy="2157625"/>
            <a:chOff x="4499238" y="2013998"/>
            <a:chExt cx="3268658" cy="4269810"/>
          </a:xfrm>
        </p:grpSpPr>
        <p:sp>
          <p:nvSpPr>
            <p:cNvPr id="1086" name="Rounded Rectangle 1085">
              <a:extLst>
                <a:ext uri="{FF2B5EF4-FFF2-40B4-BE49-F238E27FC236}">
                  <a16:creationId xmlns:a16="http://schemas.microsoft.com/office/drawing/2014/main" id="{5428E009-91F5-8650-06D3-24B929453B4E}"/>
                </a:ext>
              </a:extLst>
            </p:cNvPr>
            <p:cNvSpPr/>
            <p:nvPr/>
          </p:nvSpPr>
          <p:spPr>
            <a:xfrm>
              <a:off x="4499238" y="2013998"/>
              <a:ext cx="3268658" cy="4269810"/>
            </a:xfrm>
            <a:prstGeom prst="roundRect">
              <a:avLst>
                <a:gd name="adj" fmla="val 4449"/>
              </a:avLst>
            </a:prstGeom>
            <a:solidFill>
              <a:srgbClr val="FFC000">
                <a:lumMod val="75000"/>
              </a:srgbClr>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87" name="Rounded Rectangle 1086">
              <a:extLst>
                <a:ext uri="{FF2B5EF4-FFF2-40B4-BE49-F238E27FC236}">
                  <a16:creationId xmlns:a16="http://schemas.microsoft.com/office/drawing/2014/main" id="{E8DDC413-A278-1A15-F230-292B922ED371}"/>
                </a:ext>
              </a:extLst>
            </p:cNvPr>
            <p:cNvSpPr/>
            <p:nvPr/>
          </p:nvSpPr>
          <p:spPr>
            <a:xfrm>
              <a:off x="4937432" y="3550868"/>
              <a:ext cx="2328814" cy="329549"/>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70AD47">
                      <a:lumMod val="50000"/>
                    </a:srgbClr>
                  </a:solidFill>
                  <a:effectLst/>
                  <a:uLnTx/>
                  <a:uFillTx/>
                  <a:latin typeface="Calibri" panose="020F0502020204030204"/>
                  <a:ea typeface="+mn-ea"/>
                  <a:cs typeface="+mn-cs"/>
                </a:rPr>
                <a:t>Conformity Attestation</a:t>
              </a:r>
            </a:p>
          </p:txBody>
        </p:sp>
        <p:sp>
          <p:nvSpPr>
            <p:cNvPr id="128" name="Rounded Rectangle 127">
              <a:extLst>
                <a:ext uri="{FF2B5EF4-FFF2-40B4-BE49-F238E27FC236}">
                  <a16:creationId xmlns:a16="http://schemas.microsoft.com/office/drawing/2014/main" id="{85B23736-E3BC-8474-EB1E-70E4647C78CA}"/>
                </a:ext>
              </a:extLst>
            </p:cNvPr>
            <p:cNvSpPr/>
            <p:nvPr/>
          </p:nvSpPr>
          <p:spPr>
            <a:xfrm>
              <a:off x="5275407" y="3961618"/>
              <a:ext cx="1990839" cy="329548"/>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70AD47">
                      <a:lumMod val="50000"/>
                    </a:srgbClr>
                  </a:solidFill>
                  <a:effectLst/>
                  <a:uLnTx/>
                  <a:uFillTx/>
                  <a:latin typeface="Calibri" panose="020F0502020204030204"/>
                  <a:ea typeface="+mn-ea"/>
                  <a:cs typeface="+mn-cs"/>
                </a:rPr>
                <a:t>Assessment Body</a:t>
              </a:r>
            </a:p>
          </p:txBody>
        </p:sp>
        <p:sp>
          <p:nvSpPr>
            <p:cNvPr id="129" name="Rounded Rectangle 128">
              <a:extLst>
                <a:ext uri="{FF2B5EF4-FFF2-40B4-BE49-F238E27FC236}">
                  <a16:creationId xmlns:a16="http://schemas.microsoft.com/office/drawing/2014/main" id="{8FD84168-2840-02FA-B0F5-3D42A709F769}"/>
                </a:ext>
              </a:extLst>
            </p:cNvPr>
            <p:cNvSpPr/>
            <p:nvPr/>
          </p:nvSpPr>
          <p:spPr>
            <a:xfrm>
              <a:off x="5285599" y="2667498"/>
              <a:ext cx="1980648" cy="329549"/>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70AD47">
                      <a:lumMod val="50000"/>
                    </a:srgbClr>
                  </a:solidFill>
                  <a:effectLst/>
                  <a:uLnTx/>
                  <a:uFillTx/>
                  <a:latin typeface="Calibri" panose="020F0502020204030204"/>
                  <a:ea typeface="+mn-ea"/>
                  <a:cs typeface="+mn-cs"/>
                </a:rPr>
                <a:t>Accreditation</a:t>
              </a:r>
            </a:p>
          </p:txBody>
        </p:sp>
        <p:sp>
          <p:nvSpPr>
            <p:cNvPr id="130" name="Rounded Rectangle 129">
              <a:extLst>
                <a:ext uri="{FF2B5EF4-FFF2-40B4-BE49-F238E27FC236}">
                  <a16:creationId xmlns:a16="http://schemas.microsoft.com/office/drawing/2014/main" id="{1394826B-A09D-F669-61DA-F49D89523C2C}"/>
                </a:ext>
              </a:extLst>
            </p:cNvPr>
            <p:cNvSpPr/>
            <p:nvPr/>
          </p:nvSpPr>
          <p:spPr>
            <a:xfrm>
              <a:off x="5285598" y="3107054"/>
              <a:ext cx="1980648" cy="329549"/>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70AD47">
                      <a:lumMod val="50000"/>
                    </a:srgbClr>
                  </a:solidFill>
                  <a:effectLst/>
                  <a:uLnTx/>
                  <a:uFillTx/>
                  <a:latin typeface="Calibri" panose="020F0502020204030204"/>
                  <a:ea typeface="+mn-ea"/>
                  <a:cs typeface="+mn-cs"/>
                </a:rPr>
                <a:t>Scheme or Regulation</a:t>
              </a:r>
            </a:p>
          </p:txBody>
        </p:sp>
        <p:sp>
          <p:nvSpPr>
            <p:cNvPr id="131" name="TextBox 130">
              <a:extLst>
                <a:ext uri="{FF2B5EF4-FFF2-40B4-BE49-F238E27FC236}">
                  <a16:creationId xmlns:a16="http://schemas.microsoft.com/office/drawing/2014/main" id="{2E15B21F-23ED-6549-1188-D0B8F81DA590}"/>
                </a:ext>
              </a:extLst>
            </p:cNvPr>
            <p:cNvSpPr txBox="1"/>
            <p:nvPr/>
          </p:nvSpPr>
          <p:spPr>
            <a:xfrm>
              <a:off x="4902410" y="2076335"/>
              <a:ext cx="2478973" cy="409391"/>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100" b="1" i="0" u="none" strike="noStrike" kern="0" cap="none" spc="0" normalizeH="0" baseline="0" noProof="0" dirty="0">
                  <a:ln>
                    <a:noFill/>
                  </a:ln>
                  <a:solidFill>
                    <a:prstClr val="white"/>
                  </a:solidFill>
                  <a:effectLst/>
                  <a:uLnTx/>
                  <a:uFillTx/>
                  <a:latin typeface="Calibri" panose="020F0502020204030204"/>
                </a:rPr>
                <a:t>Digital Conformity Credential</a:t>
              </a:r>
            </a:p>
          </p:txBody>
        </p:sp>
        <p:cxnSp>
          <p:nvCxnSpPr>
            <p:cNvPr id="138" name="Elbow Connector 137">
              <a:extLst>
                <a:ext uri="{FF2B5EF4-FFF2-40B4-BE49-F238E27FC236}">
                  <a16:creationId xmlns:a16="http://schemas.microsoft.com/office/drawing/2014/main" id="{A525914A-A1FC-83A6-54EA-B501EA54EC1F}"/>
                </a:ext>
              </a:extLst>
            </p:cNvPr>
            <p:cNvCxnSpPr>
              <a:cxnSpLocks/>
              <a:stCxn id="129" idx="1"/>
            </p:cNvCxnSpPr>
            <p:nvPr/>
          </p:nvCxnSpPr>
          <p:spPr>
            <a:xfrm rot="10800000" flipV="1">
              <a:off x="5089048" y="2832272"/>
              <a:ext cx="196552" cy="718593"/>
            </a:xfrm>
            <a:prstGeom prst="bentConnector2">
              <a:avLst/>
            </a:prstGeom>
            <a:noFill/>
            <a:ln w="19050" cap="flat" cmpd="sng" algn="ctr">
              <a:solidFill>
                <a:sysClr val="window" lastClr="FFFFFF"/>
              </a:solidFill>
              <a:prstDash val="solid"/>
              <a:miter lim="800000"/>
            </a:ln>
            <a:effectLst/>
          </p:spPr>
        </p:cxnSp>
        <p:cxnSp>
          <p:nvCxnSpPr>
            <p:cNvPr id="139" name="Elbow Connector 138">
              <a:extLst>
                <a:ext uri="{FF2B5EF4-FFF2-40B4-BE49-F238E27FC236}">
                  <a16:creationId xmlns:a16="http://schemas.microsoft.com/office/drawing/2014/main" id="{DA1CA41F-2C1E-4186-ABC5-F2282CF332D9}"/>
                </a:ext>
              </a:extLst>
            </p:cNvPr>
            <p:cNvCxnSpPr>
              <a:cxnSpLocks/>
              <a:stCxn id="130" idx="1"/>
            </p:cNvCxnSpPr>
            <p:nvPr/>
          </p:nvCxnSpPr>
          <p:spPr>
            <a:xfrm rot="10800000" flipV="1">
              <a:off x="5089046" y="3271829"/>
              <a:ext cx="196552" cy="329549"/>
            </a:xfrm>
            <a:prstGeom prst="bentConnector2">
              <a:avLst/>
            </a:prstGeom>
            <a:noFill/>
            <a:ln w="19050" cap="flat" cmpd="sng" algn="ctr">
              <a:solidFill>
                <a:sysClr val="window" lastClr="FFFFFF"/>
              </a:solidFill>
              <a:prstDash val="solid"/>
              <a:miter lim="800000"/>
            </a:ln>
            <a:effectLst/>
          </p:spPr>
        </p:cxnSp>
        <p:cxnSp>
          <p:nvCxnSpPr>
            <p:cNvPr id="141" name="Elbow Connector 140">
              <a:extLst>
                <a:ext uri="{FF2B5EF4-FFF2-40B4-BE49-F238E27FC236}">
                  <a16:creationId xmlns:a16="http://schemas.microsoft.com/office/drawing/2014/main" id="{81C332B5-38BF-2181-E7EB-A3F995A40050}"/>
                </a:ext>
              </a:extLst>
            </p:cNvPr>
            <p:cNvCxnSpPr>
              <a:cxnSpLocks/>
              <a:stCxn id="128" idx="1"/>
            </p:cNvCxnSpPr>
            <p:nvPr/>
          </p:nvCxnSpPr>
          <p:spPr>
            <a:xfrm rot="10800000">
              <a:off x="5074270" y="3798853"/>
              <a:ext cx="201136" cy="327540"/>
            </a:xfrm>
            <a:prstGeom prst="bentConnector2">
              <a:avLst/>
            </a:prstGeom>
            <a:noFill/>
            <a:ln w="19050" cap="flat" cmpd="sng" algn="ctr">
              <a:solidFill>
                <a:sysClr val="window" lastClr="FFFFFF"/>
              </a:solidFill>
              <a:prstDash val="solid"/>
              <a:miter lim="800000"/>
            </a:ln>
            <a:effectLst/>
          </p:spPr>
        </p:cxnSp>
        <p:cxnSp>
          <p:nvCxnSpPr>
            <p:cNvPr id="143" name="Elbow Connector 142">
              <a:extLst>
                <a:ext uri="{FF2B5EF4-FFF2-40B4-BE49-F238E27FC236}">
                  <a16:creationId xmlns:a16="http://schemas.microsoft.com/office/drawing/2014/main" id="{815250E1-84D7-129B-DE2A-D020A54DC91A}"/>
                </a:ext>
              </a:extLst>
            </p:cNvPr>
            <p:cNvCxnSpPr>
              <a:cxnSpLocks/>
              <a:stCxn id="148" idx="1"/>
            </p:cNvCxnSpPr>
            <p:nvPr/>
          </p:nvCxnSpPr>
          <p:spPr>
            <a:xfrm rot="10800000">
              <a:off x="5074270" y="4816549"/>
              <a:ext cx="225953" cy="1098885"/>
            </a:xfrm>
            <a:prstGeom prst="bentConnector2">
              <a:avLst/>
            </a:prstGeom>
            <a:noFill/>
            <a:ln w="19050" cap="flat" cmpd="sng" algn="ctr">
              <a:solidFill>
                <a:sysClr val="window" lastClr="FFFFFF"/>
              </a:solidFill>
              <a:prstDash val="solid"/>
              <a:miter lim="800000"/>
            </a:ln>
            <a:effectLst/>
          </p:spPr>
        </p:cxnSp>
        <p:cxnSp>
          <p:nvCxnSpPr>
            <p:cNvPr id="144" name="Elbow Connector 143">
              <a:extLst>
                <a:ext uri="{FF2B5EF4-FFF2-40B4-BE49-F238E27FC236}">
                  <a16:creationId xmlns:a16="http://schemas.microsoft.com/office/drawing/2014/main" id="{97EF4D2A-7D20-ABB8-1639-22244F902EE0}"/>
                </a:ext>
              </a:extLst>
            </p:cNvPr>
            <p:cNvCxnSpPr>
              <a:cxnSpLocks/>
              <a:stCxn id="151" idx="1"/>
            </p:cNvCxnSpPr>
            <p:nvPr/>
          </p:nvCxnSpPr>
          <p:spPr>
            <a:xfrm rot="10800000">
              <a:off x="5103470" y="4782444"/>
              <a:ext cx="201135" cy="249931"/>
            </a:xfrm>
            <a:prstGeom prst="bentConnector2">
              <a:avLst/>
            </a:prstGeom>
            <a:noFill/>
            <a:ln w="19050" cap="flat" cmpd="sng" algn="ctr">
              <a:solidFill>
                <a:sysClr val="window" lastClr="FFFFFF"/>
              </a:solidFill>
              <a:prstDash val="solid"/>
              <a:miter lim="800000"/>
            </a:ln>
            <a:effectLst/>
          </p:spPr>
        </p:cxnSp>
        <p:cxnSp>
          <p:nvCxnSpPr>
            <p:cNvPr id="145" name="Elbow Connector 144">
              <a:extLst>
                <a:ext uri="{FF2B5EF4-FFF2-40B4-BE49-F238E27FC236}">
                  <a16:creationId xmlns:a16="http://schemas.microsoft.com/office/drawing/2014/main" id="{30292E3F-EC73-837A-692A-0A7311E009CB}"/>
                </a:ext>
              </a:extLst>
            </p:cNvPr>
            <p:cNvCxnSpPr>
              <a:cxnSpLocks/>
              <a:stCxn id="154" idx="1"/>
              <a:endCxn id="1087" idx="1"/>
            </p:cNvCxnSpPr>
            <p:nvPr/>
          </p:nvCxnSpPr>
          <p:spPr>
            <a:xfrm rot="10800000">
              <a:off x="4937433" y="3715642"/>
              <a:ext cx="26994" cy="854932"/>
            </a:xfrm>
            <a:prstGeom prst="bentConnector3">
              <a:avLst>
                <a:gd name="adj1" fmla="val 1072559"/>
              </a:avLst>
            </a:prstGeom>
            <a:noFill/>
            <a:ln w="19050" cap="flat" cmpd="sng" algn="ctr">
              <a:solidFill>
                <a:sysClr val="window" lastClr="FFFFFF"/>
              </a:solidFill>
              <a:prstDash val="solid"/>
              <a:miter lim="800000"/>
            </a:ln>
            <a:effectLst/>
          </p:spPr>
        </p:cxnSp>
        <p:sp>
          <p:nvSpPr>
            <p:cNvPr id="147" name="Rounded Rectangle 146">
              <a:extLst>
                <a:ext uri="{FF2B5EF4-FFF2-40B4-BE49-F238E27FC236}">
                  <a16:creationId xmlns:a16="http://schemas.microsoft.com/office/drawing/2014/main" id="{E0636699-C573-268C-EFB2-3F2B74F65922}"/>
                </a:ext>
              </a:extLst>
            </p:cNvPr>
            <p:cNvSpPr/>
            <p:nvPr/>
          </p:nvSpPr>
          <p:spPr>
            <a:xfrm>
              <a:off x="5369226" y="5810949"/>
              <a:ext cx="1978431" cy="329548"/>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900" b="0" i="1" u="none" strike="noStrike" kern="0" cap="none" spc="0" normalizeH="0" baseline="0" noProof="0" dirty="0">
                <a:ln>
                  <a:noFill/>
                </a:ln>
                <a:solidFill>
                  <a:srgbClr val="70AD47">
                    <a:lumMod val="50000"/>
                  </a:srgbClr>
                </a:solidFill>
                <a:effectLst/>
                <a:uLnTx/>
                <a:uFillTx/>
                <a:latin typeface="Calibri" panose="020F0502020204030204"/>
                <a:ea typeface="+mn-ea"/>
                <a:cs typeface="+mn-cs"/>
              </a:endParaRPr>
            </a:p>
          </p:txBody>
        </p:sp>
        <p:sp>
          <p:nvSpPr>
            <p:cNvPr id="148" name="Rounded Rectangle 147">
              <a:extLst>
                <a:ext uri="{FF2B5EF4-FFF2-40B4-BE49-F238E27FC236}">
                  <a16:creationId xmlns:a16="http://schemas.microsoft.com/office/drawing/2014/main" id="{B3099DC9-5E3D-152B-E609-7F52D06F84F1}"/>
                </a:ext>
              </a:extLst>
            </p:cNvPr>
            <p:cNvSpPr/>
            <p:nvPr/>
          </p:nvSpPr>
          <p:spPr>
            <a:xfrm>
              <a:off x="5300222" y="5750659"/>
              <a:ext cx="1978431" cy="329548"/>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70AD47">
                      <a:lumMod val="50000"/>
                    </a:srgbClr>
                  </a:solidFill>
                  <a:effectLst/>
                  <a:uLnTx/>
                  <a:uFillTx/>
                  <a:latin typeface="Calibri" panose="020F0502020204030204"/>
                  <a:ea typeface="+mn-ea"/>
                  <a:cs typeface="+mn-cs"/>
                </a:rPr>
                <a:t>Assessed values</a:t>
              </a:r>
            </a:p>
          </p:txBody>
        </p:sp>
        <p:sp>
          <p:nvSpPr>
            <p:cNvPr id="149" name="Rounded Rectangle 148">
              <a:extLst>
                <a:ext uri="{FF2B5EF4-FFF2-40B4-BE49-F238E27FC236}">
                  <a16:creationId xmlns:a16="http://schemas.microsoft.com/office/drawing/2014/main" id="{B0C560F4-4FBB-4510-6F0A-F0B3B236B05D}"/>
                </a:ext>
              </a:extLst>
            </p:cNvPr>
            <p:cNvSpPr/>
            <p:nvPr/>
          </p:nvSpPr>
          <p:spPr>
            <a:xfrm>
              <a:off x="5367520" y="4938044"/>
              <a:ext cx="1978431" cy="329548"/>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900" b="0" i="1" u="none" strike="noStrike" kern="0" cap="none" spc="0" normalizeH="0" baseline="0" noProof="0" dirty="0">
                <a:ln>
                  <a:noFill/>
                </a:ln>
                <a:solidFill>
                  <a:srgbClr val="70AD47">
                    <a:lumMod val="50000"/>
                  </a:srgbClr>
                </a:solidFill>
                <a:effectLst/>
                <a:uLnTx/>
                <a:uFillTx/>
                <a:latin typeface="Calibri" panose="020F0502020204030204"/>
                <a:ea typeface="+mn-ea"/>
                <a:cs typeface="+mn-cs"/>
              </a:endParaRPr>
            </a:p>
          </p:txBody>
        </p:sp>
        <p:sp>
          <p:nvSpPr>
            <p:cNvPr id="151" name="Rounded Rectangle 150">
              <a:extLst>
                <a:ext uri="{FF2B5EF4-FFF2-40B4-BE49-F238E27FC236}">
                  <a16:creationId xmlns:a16="http://schemas.microsoft.com/office/drawing/2014/main" id="{804FE433-292B-602E-D685-98B4363D9B05}"/>
                </a:ext>
              </a:extLst>
            </p:cNvPr>
            <p:cNvSpPr/>
            <p:nvPr/>
          </p:nvSpPr>
          <p:spPr>
            <a:xfrm>
              <a:off x="5304604" y="4867600"/>
              <a:ext cx="1978431" cy="329548"/>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70AD47">
                      <a:lumMod val="50000"/>
                    </a:srgbClr>
                  </a:solidFill>
                  <a:effectLst/>
                  <a:uLnTx/>
                  <a:uFillTx/>
                  <a:latin typeface="Calibri" panose="020F0502020204030204"/>
                  <a:ea typeface="+mn-ea"/>
                  <a:cs typeface="+mn-cs"/>
                </a:rPr>
                <a:t>Products / Facilities</a:t>
              </a:r>
            </a:p>
          </p:txBody>
        </p:sp>
        <p:sp>
          <p:nvSpPr>
            <p:cNvPr id="152" name="Rounded Rectangle 151">
              <a:extLst>
                <a:ext uri="{FF2B5EF4-FFF2-40B4-BE49-F238E27FC236}">
                  <a16:creationId xmlns:a16="http://schemas.microsoft.com/office/drawing/2014/main" id="{B7C9126B-6E56-B643-2F61-30745D6FD68E}"/>
                </a:ext>
              </a:extLst>
            </p:cNvPr>
            <p:cNvSpPr/>
            <p:nvPr/>
          </p:nvSpPr>
          <p:spPr>
            <a:xfrm>
              <a:off x="5025615" y="4471722"/>
              <a:ext cx="2314227" cy="329548"/>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900" b="0" i="1" u="none" strike="noStrike" kern="0" cap="none" spc="0" normalizeH="0" baseline="0" noProof="0" dirty="0">
                <a:ln>
                  <a:noFill/>
                </a:ln>
                <a:solidFill>
                  <a:srgbClr val="70AD47">
                    <a:lumMod val="50000"/>
                  </a:srgbClr>
                </a:solidFill>
                <a:effectLst/>
                <a:uLnTx/>
                <a:uFillTx/>
                <a:latin typeface="Calibri" panose="020F0502020204030204"/>
                <a:ea typeface="+mn-ea"/>
                <a:cs typeface="+mn-cs"/>
              </a:endParaRPr>
            </a:p>
          </p:txBody>
        </p:sp>
        <p:sp>
          <p:nvSpPr>
            <p:cNvPr id="154" name="Rounded Rectangle 153">
              <a:extLst>
                <a:ext uri="{FF2B5EF4-FFF2-40B4-BE49-F238E27FC236}">
                  <a16:creationId xmlns:a16="http://schemas.microsoft.com/office/drawing/2014/main" id="{E26EE93F-959E-63BA-48D7-D58B93A67164}"/>
                </a:ext>
              </a:extLst>
            </p:cNvPr>
            <p:cNvSpPr/>
            <p:nvPr/>
          </p:nvSpPr>
          <p:spPr>
            <a:xfrm>
              <a:off x="4964426" y="4405799"/>
              <a:ext cx="2314227" cy="329549"/>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70AD47">
                      <a:lumMod val="50000"/>
                    </a:srgbClr>
                  </a:solidFill>
                  <a:effectLst/>
                  <a:uLnTx/>
                  <a:uFillTx/>
                  <a:latin typeface="Calibri" panose="020F0502020204030204"/>
                  <a:ea typeface="+mn-ea"/>
                  <a:cs typeface="+mn-cs"/>
                </a:rPr>
                <a:t>Conformity Assessment</a:t>
              </a:r>
            </a:p>
          </p:txBody>
        </p:sp>
        <p:cxnSp>
          <p:nvCxnSpPr>
            <p:cNvPr id="155" name="Elbow Connector 154">
              <a:extLst>
                <a:ext uri="{FF2B5EF4-FFF2-40B4-BE49-F238E27FC236}">
                  <a16:creationId xmlns:a16="http://schemas.microsoft.com/office/drawing/2014/main" id="{A309F2B4-D0F8-E494-A2AB-A70D53D10582}"/>
                </a:ext>
              </a:extLst>
            </p:cNvPr>
            <p:cNvCxnSpPr>
              <a:cxnSpLocks/>
              <a:stCxn id="130" idx="3"/>
              <a:endCxn id="157" idx="3"/>
            </p:cNvCxnSpPr>
            <p:nvPr/>
          </p:nvCxnSpPr>
          <p:spPr>
            <a:xfrm>
              <a:off x="7266246" y="3271829"/>
              <a:ext cx="19925" cy="2206611"/>
            </a:xfrm>
            <a:prstGeom prst="bentConnector3">
              <a:avLst>
                <a:gd name="adj1" fmla="val 1247302"/>
              </a:avLst>
            </a:prstGeom>
            <a:noFill/>
            <a:ln w="19050" cap="flat" cmpd="sng" algn="ctr">
              <a:solidFill>
                <a:sysClr val="window" lastClr="FFFFFF"/>
              </a:solidFill>
              <a:prstDash val="solid"/>
              <a:miter lim="800000"/>
            </a:ln>
            <a:effectLst/>
          </p:spPr>
        </p:cxnSp>
        <p:sp>
          <p:nvSpPr>
            <p:cNvPr id="156" name="Rounded Rectangle 155">
              <a:extLst>
                <a:ext uri="{FF2B5EF4-FFF2-40B4-BE49-F238E27FC236}">
                  <a16:creationId xmlns:a16="http://schemas.microsoft.com/office/drawing/2014/main" id="{D5C574C4-28A6-48C3-946C-046FA92790DD}"/>
                </a:ext>
              </a:extLst>
            </p:cNvPr>
            <p:cNvSpPr/>
            <p:nvPr/>
          </p:nvSpPr>
          <p:spPr>
            <a:xfrm>
              <a:off x="5370656" y="5384110"/>
              <a:ext cx="1978431" cy="329548"/>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900" b="0" i="1" u="none" strike="noStrike" kern="0" cap="none" spc="0" normalizeH="0" baseline="0" noProof="0" dirty="0">
                <a:ln>
                  <a:noFill/>
                </a:ln>
                <a:solidFill>
                  <a:srgbClr val="70AD47">
                    <a:lumMod val="50000"/>
                  </a:srgbClr>
                </a:solidFill>
                <a:effectLst/>
                <a:uLnTx/>
                <a:uFillTx/>
                <a:latin typeface="Calibri" panose="020F0502020204030204"/>
                <a:ea typeface="+mn-ea"/>
                <a:cs typeface="+mn-cs"/>
              </a:endParaRPr>
            </a:p>
          </p:txBody>
        </p:sp>
        <p:sp>
          <p:nvSpPr>
            <p:cNvPr id="157" name="Rounded Rectangle 156">
              <a:extLst>
                <a:ext uri="{FF2B5EF4-FFF2-40B4-BE49-F238E27FC236}">
                  <a16:creationId xmlns:a16="http://schemas.microsoft.com/office/drawing/2014/main" id="{E4438545-4AE5-8605-EDF2-04467C479B8A}"/>
                </a:ext>
              </a:extLst>
            </p:cNvPr>
            <p:cNvSpPr/>
            <p:nvPr/>
          </p:nvSpPr>
          <p:spPr>
            <a:xfrm>
              <a:off x="5307740" y="5313666"/>
              <a:ext cx="1978431" cy="329548"/>
            </a:xfrm>
            <a:prstGeom prst="roundRect">
              <a:avLst>
                <a:gd name="adj" fmla="val 7046"/>
              </a:avLst>
            </a:prstGeom>
            <a:solidFill>
              <a:sysClr val="window" lastClr="FFFFFF"/>
            </a:solidFill>
            <a:ln w="12700" cap="flat" cmpd="sng" algn="ctr">
              <a:noFill/>
              <a:prstDash val="solid"/>
              <a:miter lim="800000"/>
            </a:ln>
            <a:effectLst>
              <a:outerShdw blurRad="50800" dist="38100" dir="2700000" algn="tl"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000" b="0" i="0" u="none" strike="noStrike" kern="0" cap="none" spc="0" normalizeH="0" baseline="0" noProof="0" dirty="0">
                  <a:ln>
                    <a:noFill/>
                  </a:ln>
                  <a:solidFill>
                    <a:srgbClr val="70AD47">
                      <a:lumMod val="50000"/>
                    </a:srgbClr>
                  </a:solidFill>
                  <a:effectLst/>
                  <a:uLnTx/>
                  <a:uFillTx/>
                  <a:latin typeface="Calibri" panose="020F0502020204030204"/>
                  <a:ea typeface="+mn-ea"/>
                  <a:cs typeface="+mn-cs"/>
                </a:rPr>
                <a:t>Criteria / Metrics</a:t>
              </a:r>
            </a:p>
          </p:txBody>
        </p:sp>
        <p:cxnSp>
          <p:nvCxnSpPr>
            <p:cNvPr id="158" name="Elbow Connector 157">
              <a:extLst>
                <a:ext uri="{FF2B5EF4-FFF2-40B4-BE49-F238E27FC236}">
                  <a16:creationId xmlns:a16="http://schemas.microsoft.com/office/drawing/2014/main" id="{A25B45DD-FFBF-4C94-C9A7-E74762E9EE5A}"/>
                </a:ext>
              </a:extLst>
            </p:cNvPr>
            <p:cNvCxnSpPr>
              <a:cxnSpLocks/>
              <a:stCxn id="157" idx="1"/>
            </p:cNvCxnSpPr>
            <p:nvPr/>
          </p:nvCxnSpPr>
          <p:spPr>
            <a:xfrm rot="10800000">
              <a:off x="5092280" y="4756362"/>
              <a:ext cx="215460" cy="722079"/>
            </a:xfrm>
            <a:prstGeom prst="bentConnector2">
              <a:avLst/>
            </a:prstGeom>
            <a:noFill/>
            <a:ln w="19050" cap="flat" cmpd="sng" algn="ctr">
              <a:solidFill>
                <a:sysClr val="window" lastClr="FFFFFF"/>
              </a:solidFill>
              <a:prstDash val="solid"/>
              <a:miter lim="800000"/>
            </a:ln>
            <a:effectLst/>
          </p:spPr>
        </p:cxnSp>
      </p:grpSp>
      <p:sp>
        <p:nvSpPr>
          <p:cNvPr id="160" name="Rounded Rectangle 159">
            <a:extLst>
              <a:ext uri="{FF2B5EF4-FFF2-40B4-BE49-F238E27FC236}">
                <a16:creationId xmlns:a16="http://schemas.microsoft.com/office/drawing/2014/main" id="{E128E46E-893C-5D30-DB7B-8E75D227EE44}"/>
              </a:ext>
            </a:extLst>
          </p:cNvPr>
          <p:cNvSpPr/>
          <p:nvPr/>
        </p:nvSpPr>
        <p:spPr>
          <a:xfrm>
            <a:off x="1371920" y="3023629"/>
            <a:ext cx="2004041" cy="2044428"/>
          </a:xfrm>
          <a:prstGeom prst="roundRect">
            <a:avLst>
              <a:gd name="adj" fmla="val 4449"/>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50"/>
          </a:p>
        </p:txBody>
      </p:sp>
      <p:sp>
        <p:nvSpPr>
          <p:cNvPr id="161" name="Rounded Rectangle 160">
            <a:extLst>
              <a:ext uri="{FF2B5EF4-FFF2-40B4-BE49-F238E27FC236}">
                <a16:creationId xmlns:a16="http://schemas.microsoft.com/office/drawing/2014/main" id="{E493412E-6C72-A641-1C81-C644D1B737ED}"/>
              </a:ext>
            </a:extLst>
          </p:cNvPr>
          <p:cNvSpPr/>
          <p:nvPr/>
        </p:nvSpPr>
        <p:spPr>
          <a:xfrm>
            <a:off x="1612356" y="3542715"/>
            <a:ext cx="1507238"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Facility Information</a:t>
            </a:r>
          </a:p>
        </p:txBody>
      </p:sp>
      <p:sp>
        <p:nvSpPr>
          <p:cNvPr id="162" name="Rounded Rectangle 161">
            <a:extLst>
              <a:ext uri="{FF2B5EF4-FFF2-40B4-BE49-F238E27FC236}">
                <a16:creationId xmlns:a16="http://schemas.microsoft.com/office/drawing/2014/main" id="{8F95083D-52B5-DFD2-A33B-F761621C8BFC}"/>
              </a:ext>
            </a:extLst>
          </p:cNvPr>
          <p:cNvSpPr/>
          <p:nvPr/>
        </p:nvSpPr>
        <p:spPr>
          <a:xfrm>
            <a:off x="1831097" y="3774956"/>
            <a:ext cx="1288496"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Geospatial  Data</a:t>
            </a:r>
          </a:p>
        </p:txBody>
      </p:sp>
      <p:sp>
        <p:nvSpPr>
          <p:cNvPr id="164" name="Rounded Rectangle 163">
            <a:extLst>
              <a:ext uri="{FF2B5EF4-FFF2-40B4-BE49-F238E27FC236}">
                <a16:creationId xmlns:a16="http://schemas.microsoft.com/office/drawing/2014/main" id="{3BA77664-3D7B-059A-B298-D6A9EBB87F07}"/>
              </a:ext>
            </a:extLst>
          </p:cNvPr>
          <p:cNvSpPr/>
          <p:nvPr/>
        </p:nvSpPr>
        <p:spPr>
          <a:xfrm>
            <a:off x="1651360" y="4578536"/>
            <a:ext cx="1507238"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Chain of custody data</a:t>
            </a:r>
          </a:p>
        </p:txBody>
      </p:sp>
      <p:sp>
        <p:nvSpPr>
          <p:cNvPr id="165" name="Rounded Rectangle 164">
            <a:extLst>
              <a:ext uri="{FF2B5EF4-FFF2-40B4-BE49-F238E27FC236}">
                <a16:creationId xmlns:a16="http://schemas.microsoft.com/office/drawing/2014/main" id="{EB3EEC0D-AACD-1ED4-44F3-7B9A0A0E179C}"/>
              </a:ext>
            </a:extLst>
          </p:cNvPr>
          <p:cNvSpPr/>
          <p:nvPr/>
        </p:nvSpPr>
        <p:spPr>
          <a:xfrm>
            <a:off x="1845555" y="3280149"/>
            <a:ext cx="1281901"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Organisation</a:t>
            </a:r>
          </a:p>
        </p:txBody>
      </p:sp>
      <p:sp>
        <p:nvSpPr>
          <p:cNvPr id="166" name="TextBox 165">
            <a:extLst>
              <a:ext uri="{FF2B5EF4-FFF2-40B4-BE49-F238E27FC236}">
                <a16:creationId xmlns:a16="http://schemas.microsoft.com/office/drawing/2014/main" id="{3B166F41-10E4-8A03-BB2D-82A7712E3CF0}"/>
              </a:ext>
            </a:extLst>
          </p:cNvPr>
          <p:cNvSpPr txBox="1"/>
          <p:nvPr/>
        </p:nvSpPr>
        <p:spPr>
          <a:xfrm>
            <a:off x="1530798" y="3033722"/>
            <a:ext cx="1649776" cy="253916"/>
          </a:xfrm>
          <a:prstGeom prst="rect">
            <a:avLst/>
          </a:prstGeom>
          <a:noFill/>
        </p:spPr>
        <p:txBody>
          <a:bodyPr wrap="none" rtlCol="0">
            <a:spAutoFit/>
          </a:bodyPr>
          <a:lstStyle/>
          <a:p>
            <a:pPr algn="ctr"/>
            <a:r>
              <a:rPr lang="en-AU" sz="1050" b="1" dirty="0">
                <a:solidFill>
                  <a:schemeClr val="bg1"/>
                </a:solidFill>
              </a:rPr>
              <a:t>Digital Facility Record</a:t>
            </a:r>
          </a:p>
        </p:txBody>
      </p:sp>
      <p:cxnSp>
        <p:nvCxnSpPr>
          <p:cNvPr id="167" name="Elbow Connector 166">
            <a:extLst>
              <a:ext uri="{FF2B5EF4-FFF2-40B4-BE49-F238E27FC236}">
                <a16:creationId xmlns:a16="http://schemas.microsoft.com/office/drawing/2014/main" id="{8B060B26-E727-294A-34ED-0B73700033A4}"/>
              </a:ext>
            </a:extLst>
          </p:cNvPr>
          <p:cNvCxnSpPr>
            <a:cxnSpLocks/>
            <a:stCxn id="165" idx="1"/>
          </p:cNvCxnSpPr>
          <p:nvPr/>
        </p:nvCxnSpPr>
        <p:spPr>
          <a:xfrm rot="10800000" flipV="1">
            <a:off x="1737054" y="3361613"/>
            <a:ext cx="108503" cy="253811"/>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8" name="Elbow Connector 167">
            <a:extLst>
              <a:ext uri="{FF2B5EF4-FFF2-40B4-BE49-F238E27FC236}">
                <a16:creationId xmlns:a16="http://schemas.microsoft.com/office/drawing/2014/main" id="{C14AE9CC-9DB9-7902-B777-AFED68BC3EFF}"/>
              </a:ext>
            </a:extLst>
          </p:cNvPr>
          <p:cNvCxnSpPr>
            <a:cxnSpLocks/>
            <a:stCxn id="162" idx="1"/>
          </p:cNvCxnSpPr>
          <p:nvPr/>
        </p:nvCxnSpPr>
        <p:spPr>
          <a:xfrm rot="10800000">
            <a:off x="1700918" y="3694486"/>
            <a:ext cx="130177" cy="161936"/>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9" name="Elbow Connector 168">
            <a:extLst>
              <a:ext uri="{FF2B5EF4-FFF2-40B4-BE49-F238E27FC236}">
                <a16:creationId xmlns:a16="http://schemas.microsoft.com/office/drawing/2014/main" id="{3F263EE2-15E5-7E85-9237-B5F7DC4F1D4C}"/>
              </a:ext>
            </a:extLst>
          </p:cNvPr>
          <p:cNvCxnSpPr>
            <a:cxnSpLocks/>
            <a:stCxn id="164" idx="1"/>
            <a:endCxn id="161" idx="1"/>
          </p:cNvCxnSpPr>
          <p:nvPr/>
        </p:nvCxnSpPr>
        <p:spPr>
          <a:xfrm rot="10800000">
            <a:off x="1612356" y="3624180"/>
            <a:ext cx="39004" cy="1035821"/>
          </a:xfrm>
          <a:prstGeom prst="bentConnector3">
            <a:avLst>
              <a:gd name="adj1" fmla="val 593513"/>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0" name="Elbow Connector 169">
            <a:extLst>
              <a:ext uri="{FF2B5EF4-FFF2-40B4-BE49-F238E27FC236}">
                <a16:creationId xmlns:a16="http://schemas.microsoft.com/office/drawing/2014/main" id="{9B774471-DAE2-2E60-933E-25BE77BC1A63}"/>
              </a:ext>
            </a:extLst>
          </p:cNvPr>
          <p:cNvCxnSpPr>
            <a:cxnSpLocks/>
            <a:stCxn id="174" idx="1"/>
          </p:cNvCxnSpPr>
          <p:nvPr/>
        </p:nvCxnSpPr>
        <p:spPr>
          <a:xfrm rot="10800000">
            <a:off x="1724585" y="4723004"/>
            <a:ext cx="130435" cy="162928"/>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1" name="Elbow Connector 170">
            <a:extLst>
              <a:ext uri="{FF2B5EF4-FFF2-40B4-BE49-F238E27FC236}">
                <a16:creationId xmlns:a16="http://schemas.microsoft.com/office/drawing/2014/main" id="{EE5DA4B3-B288-8C34-3F58-BB5384FCD0E8}"/>
              </a:ext>
            </a:extLst>
          </p:cNvPr>
          <p:cNvCxnSpPr>
            <a:cxnSpLocks/>
            <a:stCxn id="176" idx="1"/>
          </p:cNvCxnSpPr>
          <p:nvPr/>
        </p:nvCxnSpPr>
        <p:spPr>
          <a:xfrm rot="10800000">
            <a:off x="1708952" y="4258808"/>
            <a:ext cx="130177" cy="123566"/>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2" name="Elbow Connector 171">
            <a:extLst>
              <a:ext uri="{FF2B5EF4-FFF2-40B4-BE49-F238E27FC236}">
                <a16:creationId xmlns:a16="http://schemas.microsoft.com/office/drawing/2014/main" id="{2EAB9FE7-7849-F239-0690-1B28EAF1B179}"/>
              </a:ext>
            </a:extLst>
          </p:cNvPr>
          <p:cNvCxnSpPr>
            <a:cxnSpLocks/>
            <a:stCxn id="178" idx="1"/>
            <a:endCxn id="161" idx="1"/>
          </p:cNvCxnSpPr>
          <p:nvPr/>
        </p:nvCxnSpPr>
        <p:spPr>
          <a:xfrm rot="10800000">
            <a:off x="1612356" y="3624180"/>
            <a:ext cx="23986" cy="480098"/>
          </a:xfrm>
          <a:prstGeom prst="bentConnector3">
            <a:avLst>
              <a:gd name="adj1" fmla="val 902528"/>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Rounded Rectangle 172">
            <a:extLst>
              <a:ext uri="{FF2B5EF4-FFF2-40B4-BE49-F238E27FC236}">
                <a16:creationId xmlns:a16="http://schemas.microsoft.com/office/drawing/2014/main" id="{2F2A672C-AAEB-3351-E9FD-8C37E3C452A6}"/>
              </a:ext>
            </a:extLst>
          </p:cNvPr>
          <p:cNvSpPr/>
          <p:nvPr/>
        </p:nvSpPr>
        <p:spPr>
          <a:xfrm>
            <a:off x="1899680" y="4834275"/>
            <a:ext cx="1280466"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AU" sz="800" i="1" dirty="0">
              <a:solidFill>
                <a:schemeClr val="accent6">
                  <a:lumMod val="50000"/>
                </a:schemeClr>
              </a:solidFill>
            </a:endParaRPr>
          </a:p>
        </p:txBody>
      </p:sp>
      <p:sp>
        <p:nvSpPr>
          <p:cNvPr id="174" name="Rounded Rectangle 173">
            <a:extLst>
              <a:ext uri="{FF2B5EF4-FFF2-40B4-BE49-F238E27FC236}">
                <a16:creationId xmlns:a16="http://schemas.microsoft.com/office/drawing/2014/main" id="{8EB98941-1880-B118-1FD4-C1CA1A962920}"/>
              </a:ext>
            </a:extLst>
          </p:cNvPr>
          <p:cNvSpPr/>
          <p:nvPr/>
        </p:nvSpPr>
        <p:spPr>
          <a:xfrm>
            <a:off x="1855020" y="4804467"/>
            <a:ext cx="1280466"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Material mass balance</a:t>
            </a:r>
          </a:p>
        </p:txBody>
      </p:sp>
      <p:sp>
        <p:nvSpPr>
          <p:cNvPr id="175" name="Rounded Rectangle 174">
            <a:extLst>
              <a:ext uri="{FF2B5EF4-FFF2-40B4-BE49-F238E27FC236}">
                <a16:creationId xmlns:a16="http://schemas.microsoft.com/office/drawing/2014/main" id="{96D60B90-6E84-2EF6-5A9C-B9FF2D82334A}"/>
              </a:ext>
            </a:extLst>
          </p:cNvPr>
          <p:cNvSpPr/>
          <p:nvPr/>
        </p:nvSpPr>
        <p:spPr>
          <a:xfrm>
            <a:off x="1873640" y="4362156"/>
            <a:ext cx="1280466"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AU" sz="800" i="1" dirty="0">
              <a:solidFill>
                <a:schemeClr val="accent6">
                  <a:lumMod val="50000"/>
                </a:schemeClr>
              </a:solidFill>
            </a:endParaRPr>
          </a:p>
        </p:txBody>
      </p:sp>
      <p:sp>
        <p:nvSpPr>
          <p:cNvPr id="176" name="Rounded Rectangle 175">
            <a:extLst>
              <a:ext uri="{FF2B5EF4-FFF2-40B4-BE49-F238E27FC236}">
                <a16:creationId xmlns:a16="http://schemas.microsoft.com/office/drawing/2014/main" id="{295A7D95-53B1-62D1-FC87-7DE5AB0E7E74}"/>
              </a:ext>
            </a:extLst>
          </p:cNvPr>
          <p:cNvSpPr/>
          <p:nvPr/>
        </p:nvSpPr>
        <p:spPr>
          <a:xfrm>
            <a:off x="1839128" y="4300908"/>
            <a:ext cx="1280466"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ESG Metric Value</a:t>
            </a:r>
          </a:p>
        </p:txBody>
      </p:sp>
      <p:sp>
        <p:nvSpPr>
          <p:cNvPr id="177" name="Rounded Rectangle 176">
            <a:extLst>
              <a:ext uri="{FF2B5EF4-FFF2-40B4-BE49-F238E27FC236}">
                <a16:creationId xmlns:a16="http://schemas.microsoft.com/office/drawing/2014/main" id="{CF5765FD-1AC4-36C1-33AC-0C0EA7CDA03F}"/>
              </a:ext>
            </a:extLst>
          </p:cNvPr>
          <p:cNvSpPr/>
          <p:nvPr/>
        </p:nvSpPr>
        <p:spPr>
          <a:xfrm>
            <a:off x="1666054" y="4079565"/>
            <a:ext cx="1497797"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AU" sz="800" i="1" dirty="0">
              <a:solidFill>
                <a:schemeClr val="accent6">
                  <a:lumMod val="50000"/>
                </a:schemeClr>
              </a:solidFill>
            </a:endParaRPr>
          </a:p>
        </p:txBody>
      </p:sp>
      <p:sp>
        <p:nvSpPr>
          <p:cNvPr id="178" name="Rounded Rectangle 177">
            <a:extLst>
              <a:ext uri="{FF2B5EF4-FFF2-40B4-BE49-F238E27FC236}">
                <a16:creationId xmlns:a16="http://schemas.microsoft.com/office/drawing/2014/main" id="{070B9E63-644E-2E5E-795E-15D7DF257E30}"/>
              </a:ext>
            </a:extLst>
          </p:cNvPr>
          <p:cNvSpPr/>
          <p:nvPr/>
        </p:nvSpPr>
        <p:spPr>
          <a:xfrm>
            <a:off x="1636341" y="4022813"/>
            <a:ext cx="1497797"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Sustainability Claims</a:t>
            </a:r>
          </a:p>
        </p:txBody>
      </p:sp>
      <p:pic>
        <p:nvPicPr>
          <p:cNvPr id="179" name="Picture 6" descr="Digital Certificate Icon Vector Images (over 8,400)">
            <a:extLst>
              <a:ext uri="{FF2B5EF4-FFF2-40B4-BE49-F238E27FC236}">
                <a16:creationId xmlns:a16="http://schemas.microsoft.com/office/drawing/2014/main" id="{060AF162-204E-CD91-CAD5-D9E47B406FDB}"/>
              </a:ext>
            </a:extLst>
          </p:cNvPr>
          <p:cNvPicPr>
            <a:picLocks noChangeAspect="1" noChangeArrowheads="1"/>
          </p:cNvPicPr>
          <p:nvPr/>
        </p:nvPicPr>
        <p:blipFill rotWithShape="1">
          <a:blip r:embed="rId4" cstate="print">
            <a:duotone>
              <a:schemeClr val="accent6">
                <a:shade val="45000"/>
                <a:satMod val="135000"/>
              </a:schemeClr>
              <a:prstClr val="white"/>
            </a:duotone>
            <a:extLst>
              <a:ext uri="{28A0092B-C50C-407E-A947-70E740481C1C}">
                <a14:useLocalDpi xmlns:a14="http://schemas.microsoft.com/office/drawing/2010/main"/>
              </a:ext>
            </a:extLst>
          </a:blip>
          <a:srcRect/>
          <a:stretch/>
        </p:blipFill>
        <p:spPr bwMode="auto">
          <a:xfrm>
            <a:off x="3190107" y="4902803"/>
            <a:ext cx="336884" cy="257566"/>
          </a:xfrm>
          <a:prstGeom prst="ellipse">
            <a:avLst/>
          </a:prstGeom>
          <a:noFill/>
          <a:extLst>
            <a:ext uri="{909E8E84-426E-40DD-AFC4-6F175D3DCCD1}">
              <a14:hiddenFill xmlns:a14="http://schemas.microsoft.com/office/drawing/2010/main">
                <a:solidFill>
                  <a:srgbClr val="FFFFFF"/>
                </a:solidFill>
              </a14:hiddenFill>
            </a:ext>
          </a:extLst>
        </p:spPr>
      </p:pic>
      <p:pic>
        <p:nvPicPr>
          <p:cNvPr id="187" name="Picture 6" descr="Digital Certificate Icon Vector Images (over 8,400)">
            <a:extLst>
              <a:ext uri="{FF2B5EF4-FFF2-40B4-BE49-F238E27FC236}">
                <a16:creationId xmlns:a16="http://schemas.microsoft.com/office/drawing/2014/main" id="{D8258A91-55C1-0D53-A911-0DAAD136A021}"/>
              </a:ext>
            </a:extLst>
          </p:cNvPr>
          <p:cNvPicPr>
            <a:picLocks noChangeAspect="1" noChangeArrowheads="1"/>
          </p:cNvPicPr>
          <p:nvPr/>
        </p:nvPicPr>
        <p:blipFill rotWithShape="1">
          <a:blip r:embed="rId4" cstate="print">
            <a:duotone>
              <a:srgbClr val="FFC000">
                <a:shade val="45000"/>
                <a:satMod val="135000"/>
              </a:srgbClr>
              <a:prstClr val="white"/>
            </a:duotone>
            <a:extLst>
              <a:ext uri="{28A0092B-C50C-407E-A947-70E740481C1C}">
                <a14:useLocalDpi xmlns:a14="http://schemas.microsoft.com/office/drawing/2010/main"/>
              </a:ext>
            </a:extLst>
          </a:blip>
          <a:srcRect/>
          <a:stretch/>
        </p:blipFill>
        <p:spPr bwMode="auto">
          <a:xfrm>
            <a:off x="5837275" y="5031586"/>
            <a:ext cx="311664" cy="276743"/>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47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70D8E-1A8D-7775-A1C6-503EF10CC696}"/>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49BBA9B-D533-D6D5-D913-A4B171267CAC}"/>
              </a:ext>
            </a:extLst>
          </p:cNvPr>
          <p:cNvSpPr/>
          <p:nvPr/>
        </p:nvSpPr>
        <p:spPr>
          <a:xfrm>
            <a:off x="1698171" y="2481943"/>
            <a:ext cx="2522137" cy="9470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600" dirty="0">
                <a:solidFill>
                  <a:schemeClr val="bg1"/>
                </a:solidFill>
                <a:latin typeface="Calibri" panose="020F0502020204030204" pitchFamily="34" charset="0"/>
                <a:cs typeface="Calibri" panose="020F0502020204030204" pitchFamily="34" charset="0"/>
              </a:rPr>
              <a:t>Facility</a:t>
            </a:r>
          </a:p>
          <a:p>
            <a:pPr algn="ctr"/>
            <a:r>
              <a:rPr lang="en-AU" sz="1200" dirty="0">
                <a:solidFill>
                  <a:schemeClr val="bg1"/>
                </a:solidFill>
                <a:latin typeface="Calibri" panose="020F0502020204030204" pitchFamily="34" charset="0"/>
                <a:cs typeface="Calibri" panose="020F0502020204030204" pitchFamily="34" charset="0"/>
              </a:rPr>
              <a:t>Copper Mine 7</a:t>
            </a:r>
          </a:p>
          <a:p>
            <a:pPr algn="ctr"/>
            <a:r>
              <a:rPr lang="en-AU" sz="800" dirty="0">
                <a:solidFill>
                  <a:schemeClr val="bg1"/>
                </a:solidFill>
                <a:latin typeface="Calibri" panose="020F0502020204030204" pitchFamily="34" charset="0"/>
                <a:cs typeface="Calibri" panose="020F0502020204030204" pitchFamily="34" charset="0"/>
              </a:rPr>
              <a:t>https://</a:t>
            </a:r>
            <a:r>
              <a:rPr lang="en-AU" sz="800" dirty="0" err="1">
                <a:solidFill>
                  <a:schemeClr val="bg1"/>
                </a:solidFill>
                <a:latin typeface="Calibri" panose="020F0502020204030204" pitchFamily="34" charset="0"/>
                <a:cs typeface="Calibri" panose="020F0502020204030204" pitchFamily="34" charset="0"/>
              </a:rPr>
              <a:t>someregistrar.com</a:t>
            </a:r>
            <a:r>
              <a:rPr lang="en-AU" sz="800" dirty="0">
                <a:solidFill>
                  <a:schemeClr val="bg1"/>
                </a:solidFill>
                <a:latin typeface="Calibri" panose="020F0502020204030204" pitchFamily="34" charset="0"/>
                <a:cs typeface="Calibri" panose="020F0502020204030204" pitchFamily="34" charset="0"/>
              </a:rPr>
              <a:t>/facility/9468240000012</a:t>
            </a:r>
            <a:endParaRPr lang="en-AU" sz="1600" dirty="0">
              <a:solidFill>
                <a:schemeClr val="bg1"/>
              </a:solidFill>
              <a:latin typeface="Calibri" panose="020F0502020204030204" pitchFamily="34" charset="0"/>
              <a:cs typeface="Calibri" panose="020F0502020204030204" pitchFamily="34" charset="0"/>
            </a:endParaRPr>
          </a:p>
        </p:txBody>
      </p:sp>
      <p:sp>
        <p:nvSpPr>
          <p:cNvPr id="3" name="Oval 2">
            <a:extLst>
              <a:ext uri="{FF2B5EF4-FFF2-40B4-BE49-F238E27FC236}">
                <a16:creationId xmlns:a16="http://schemas.microsoft.com/office/drawing/2014/main" id="{383AFDDE-4B40-2B2E-1AA9-66F525B02769}"/>
              </a:ext>
            </a:extLst>
          </p:cNvPr>
          <p:cNvSpPr/>
          <p:nvPr/>
        </p:nvSpPr>
        <p:spPr>
          <a:xfrm>
            <a:off x="4834931" y="1679750"/>
            <a:ext cx="2522137" cy="9470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600" dirty="0" err="1">
                <a:solidFill>
                  <a:schemeClr val="bg1"/>
                </a:solidFill>
                <a:latin typeface="Calibri" panose="020F0502020204030204" pitchFamily="34" charset="0"/>
                <a:cs typeface="Calibri" panose="020F0502020204030204" pitchFamily="34" charset="0"/>
              </a:rPr>
              <a:t>IdentifierScheme</a:t>
            </a:r>
            <a:endParaRPr lang="en-AU" sz="1600" dirty="0">
              <a:solidFill>
                <a:schemeClr val="bg1"/>
              </a:solidFill>
              <a:latin typeface="Calibri" panose="020F0502020204030204" pitchFamily="34" charset="0"/>
              <a:cs typeface="Calibri" panose="020F0502020204030204" pitchFamily="34" charset="0"/>
            </a:endParaRPr>
          </a:p>
          <a:p>
            <a:pPr algn="ctr"/>
            <a:r>
              <a:rPr lang="en-AU" sz="1200" dirty="0">
                <a:solidFill>
                  <a:schemeClr val="bg1"/>
                </a:solidFill>
                <a:effectLst/>
                <a:latin typeface="Calibri" panose="020F0502020204030204" pitchFamily="34" charset="0"/>
                <a:cs typeface="Calibri" panose="020F0502020204030204" pitchFamily="34" charset="0"/>
              </a:rPr>
              <a:t>Global Facility Number</a:t>
            </a:r>
          </a:p>
          <a:p>
            <a:pPr algn="ctr"/>
            <a:r>
              <a:rPr lang="en-AU" sz="800" dirty="0">
                <a:solidFill>
                  <a:schemeClr val="bg1"/>
                </a:solidFill>
                <a:effectLst/>
                <a:latin typeface="Calibri" panose="020F0502020204030204" pitchFamily="34" charset="0"/>
                <a:cs typeface="Calibri" panose="020F0502020204030204" pitchFamily="34" charset="0"/>
              </a:rPr>
              <a:t>https://</a:t>
            </a:r>
            <a:r>
              <a:rPr lang="en-AU" sz="800" dirty="0" err="1">
                <a:solidFill>
                  <a:schemeClr val="bg1"/>
                </a:solidFill>
                <a:effectLst/>
                <a:latin typeface="Calibri" panose="020F0502020204030204" pitchFamily="34" charset="0"/>
                <a:cs typeface="Calibri" panose="020F0502020204030204" pitchFamily="34" charset="0"/>
              </a:rPr>
              <a:t>facilities.someregister.com</a:t>
            </a:r>
            <a:endParaRPr lang="en-AU" sz="800" dirty="0">
              <a:solidFill>
                <a:schemeClr val="bg1"/>
              </a:solidFill>
              <a:effectLst/>
              <a:latin typeface="Calibri" panose="020F0502020204030204" pitchFamily="34" charset="0"/>
              <a:cs typeface="Calibri" panose="020F0502020204030204" pitchFamily="34" charset="0"/>
            </a:endParaRPr>
          </a:p>
        </p:txBody>
      </p:sp>
      <p:cxnSp>
        <p:nvCxnSpPr>
          <p:cNvPr id="5" name="Straight Arrow Connector 4">
            <a:extLst>
              <a:ext uri="{FF2B5EF4-FFF2-40B4-BE49-F238E27FC236}">
                <a16:creationId xmlns:a16="http://schemas.microsoft.com/office/drawing/2014/main" id="{52604677-E3F8-39C4-50D7-B839AEFF11C9}"/>
              </a:ext>
            </a:extLst>
          </p:cNvPr>
          <p:cNvCxnSpPr>
            <a:cxnSpLocks/>
            <a:stCxn id="2" idx="7"/>
            <a:endCxn id="3" idx="2"/>
          </p:cNvCxnSpPr>
          <p:nvPr/>
        </p:nvCxnSpPr>
        <p:spPr>
          <a:xfrm flipV="1">
            <a:off x="3850950" y="2153279"/>
            <a:ext cx="983981" cy="467357"/>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7B1B964-B6BA-0E62-FE47-6B7532B05F6F}"/>
              </a:ext>
            </a:extLst>
          </p:cNvPr>
          <p:cNvSpPr txBox="1"/>
          <p:nvPr/>
        </p:nvSpPr>
        <p:spPr>
          <a:xfrm>
            <a:off x="3629679" y="2079180"/>
            <a:ext cx="854721" cy="276999"/>
          </a:xfrm>
          <a:prstGeom prst="rect">
            <a:avLst/>
          </a:prstGeom>
          <a:noFill/>
        </p:spPr>
        <p:txBody>
          <a:bodyPr wrap="none" rtlCol="0">
            <a:spAutoFit/>
          </a:bodyPr>
          <a:lstStyle/>
          <a:p>
            <a:r>
              <a:rPr lang="en-AU" sz="1200" dirty="0" err="1"/>
              <a:t>idScheme</a:t>
            </a:r>
            <a:endParaRPr lang="en-AU" sz="1200" dirty="0"/>
          </a:p>
        </p:txBody>
      </p:sp>
      <p:sp>
        <p:nvSpPr>
          <p:cNvPr id="9" name="Oval 8">
            <a:extLst>
              <a:ext uri="{FF2B5EF4-FFF2-40B4-BE49-F238E27FC236}">
                <a16:creationId xmlns:a16="http://schemas.microsoft.com/office/drawing/2014/main" id="{EC3A0B33-4F07-FF32-5E27-9A41DB4B8FC2}"/>
              </a:ext>
            </a:extLst>
          </p:cNvPr>
          <p:cNvSpPr/>
          <p:nvPr/>
        </p:nvSpPr>
        <p:spPr>
          <a:xfrm>
            <a:off x="4932841" y="3334014"/>
            <a:ext cx="2522137" cy="9470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600" dirty="0">
                <a:solidFill>
                  <a:schemeClr val="bg1"/>
                </a:solidFill>
                <a:latin typeface="Calibri" panose="020F0502020204030204" pitchFamily="34" charset="0"/>
                <a:cs typeface="Calibri" panose="020F0502020204030204" pitchFamily="34" charset="0"/>
              </a:rPr>
              <a:t>Claim</a:t>
            </a:r>
          </a:p>
          <a:p>
            <a:pPr algn="ctr"/>
            <a:r>
              <a:rPr lang="en-AU" sz="1200" dirty="0">
                <a:solidFill>
                  <a:schemeClr val="bg1"/>
                </a:solidFill>
                <a:effectLst/>
                <a:latin typeface="Calibri" panose="020F0502020204030204" pitchFamily="34" charset="0"/>
                <a:cs typeface="Calibri" panose="020F0502020204030204" pitchFamily="34" charset="0"/>
              </a:rPr>
              <a:t>Environmental Mgt Plan</a:t>
            </a:r>
          </a:p>
          <a:p>
            <a:pPr algn="ctr"/>
            <a:r>
              <a:rPr lang="en-AU" sz="800" dirty="0">
                <a:solidFill>
                  <a:schemeClr val="bg1"/>
                </a:solidFill>
                <a:effectLst/>
                <a:latin typeface="Calibri" panose="020F0502020204030204" pitchFamily="34" charset="0"/>
                <a:cs typeface="Calibri" panose="020F0502020204030204" pitchFamily="34" charset="0"/>
              </a:rPr>
              <a:t>https://</a:t>
            </a:r>
            <a:r>
              <a:rPr lang="en-AU" sz="800" dirty="0" err="1">
                <a:solidFill>
                  <a:schemeClr val="bg1"/>
                </a:solidFill>
                <a:effectLst/>
                <a:latin typeface="Calibri" panose="020F0502020204030204" pitchFamily="34" charset="0"/>
                <a:cs typeface="Calibri" panose="020F0502020204030204" pitchFamily="34" charset="0"/>
              </a:rPr>
              <a:t>somefacility.com</a:t>
            </a:r>
            <a:r>
              <a:rPr lang="en-AU" sz="800" dirty="0">
                <a:solidFill>
                  <a:schemeClr val="bg1"/>
                </a:solidFill>
                <a:effectLst/>
                <a:latin typeface="Calibri" panose="020F0502020204030204" pitchFamily="34" charset="0"/>
                <a:cs typeface="Calibri" panose="020F0502020204030204" pitchFamily="34" charset="0"/>
              </a:rPr>
              <a:t>/claims/ABC12345</a:t>
            </a:r>
          </a:p>
        </p:txBody>
      </p:sp>
      <p:cxnSp>
        <p:nvCxnSpPr>
          <p:cNvPr id="10" name="Straight Arrow Connector 9">
            <a:extLst>
              <a:ext uri="{FF2B5EF4-FFF2-40B4-BE49-F238E27FC236}">
                <a16:creationId xmlns:a16="http://schemas.microsoft.com/office/drawing/2014/main" id="{2ADF3E7B-7647-04CB-E13E-B02BEACC2145}"/>
              </a:ext>
            </a:extLst>
          </p:cNvPr>
          <p:cNvCxnSpPr>
            <a:cxnSpLocks/>
            <a:stCxn id="2" idx="5"/>
            <a:endCxn id="9" idx="2"/>
          </p:cNvCxnSpPr>
          <p:nvPr/>
        </p:nvCxnSpPr>
        <p:spPr>
          <a:xfrm>
            <a:off x="3850950" y="3290307"/>
            <a:ext cx="1081891" cy="517236"/>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CD487729-41A7-EAF3-9E0B-20D716C1DC0A}"/>
              </a:ext>
            </a:extLst>
          </p:cNvPr>
          <p:cNvSpPr txBox="1"/>
          <p:nvPr/>
        </p:nvSpPr>
        <p:spPr>
          <a:xfrm>
            <a:off x="3278143" y="3568685"/>
            <a:ext cx="1298432" cy="276999"/>
          </a:xfrm>
          <a:prstGeom prst="rect">
            <a:avLst/>
          </a:prstGeom>
          <a:noFill/>
        </p:spPr>
        <p:txBody>
          <a:bodyPr wrap="none" rtlCol="0">
            <a:spAutoFit/>
          </a:bodyPr>
          <a:lstStyle>
            <a:defPPr>
              <a:defRPr lang="en-US"/>
            </a:defPPr>
            <a:lvl1pPr>
              <a:defRPr sz="1200"/>
            </a:lvl1pPr>
          </a:lstStyle>
          <a:p>
            <a:r>
              <a:rPr lang="en-AU" dirty="0" err="1"/>
              <a:t>conformityClaim</a:t>
            </a:r>
            <a:endParaRPr lang="en-AU" dirty="0"/>
          </a:p>
        </p:txBody>
      </p:sp>
      <p:sp>
        <p:nvSpPr>
          <p:cNvPr id="34" name="TextBox 33">
            <a:extLst>
              <a:ext uri="{FF2B5EF4-FFF2-40B4-BE49-F238E27FC236}">
                <a16:creationId xmlns:a16="http://schemas.microsoft.com/office/drawing/2014/main" id="{F0DFAFF2-E836-3A9A-2F5C-9BF2B88B9983}"/>
              </a:ext>
            </a:extLst>
          </p:cNvPr>
          <p:cNvSpPr txBox="1"/>
          <p:nvPr/>
        </p:nvSpPr>
        <p:spPr>
          <a:xfrm>
            <a:off x="6406066" y="2935272"/>
            <a:ext cx="1491947" cy="276999"/>
          </a:xfrm>
          <a:prstGeom prst="rect">
            <a:avLst/>
          </a:prstGeom>
          <a:noFill/>
        </p:spPr>
        <p:txBody>
          <a:bodyPr wrap="none" rtlCol="0">
            <a:spAutoFit/>
          </a:bodyPr>
          <a:lstStyle>
            <a:defPPr>
              <a:defRPr lang="en-US"/>
            </a:defPPr>
            <a:lvl1pPr>
              <a:defRPr sz="1200"/>
            </a:lvl1pPr>
          </a:lstStyle>
          <a:p>
            <a:r>
              <a:rPr lang="en-AU" dirty="0" err="1"/>
              <a:t>assessmentCriteria</a:t>
            </a:r>
            <a:endParaRPr lang="en-AU" dirty="0"/>
          </a:p>
        </p:txBody>
      </p:sp>
      <p:sp>
        <p:nvSpPr>
          <p:cNvPr id="36" name="Oval 35">
            <a:extLst>
              <a:ext uri="{FF2B5EF4-FFF2-40B4-BE49-F238E27FC236}">
                <a16:creationId xmlns:a16="http://schemas.microsoft.com/office/drawing/2014/main" id="{BE61E4CE-E107-7E78-9DBA-0FC830B3A0DF}"/>
              </a:ext>
            </a:extLst>
          </p:cNvPr>
          <p:cNvSpPr/>
          <p:nvPr/>
        </p:nvSpPr>
        <p:spPr>
          <a:xfrm>
            <a:off x="8341049" y="2488307"/>
            <a:ext cx="2522137" cy="9470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600" dirty="0">
                <a:solidFill>
                  <a:schemeClr val="bg1"/>
                </a:solidFill>
                <a:latin typeface="Calibri" panose="020F0502020204030204" pitchFamily="34" charset="0"/>
                <a:cs typeface="Calibri" panose="020F0502020204030204" pitchFamily="34" charset="0"/>
              </a:rPr>
              <a:t>Criterion</a:t>
            </a:r>
          </a:p>
          <a:p>
            <a:pPr algn="ctr"/>
            <a:r>
              <a:rPr lang="en-AU" sz="1200" dirty="0">
                <a:solidFill>
                  <a:schemeClr val="bg1"/>
                </a:solidFill>
                <a:effectLst/>
                <a:latin typeface="Calibri" panose="020F0502020204030204" pitchFamily="34" charset="0"/>
                <a:cs typeface="Calibri" panose="020F0502020204030204" pitchFamily="34" charset="0"/>
              </a:rPr>
              <a:t>EMS Standard 2017</a:t>
            </a:r>
          </a:p>
          <a:p>
            <a:pPr algn="ctr"/>
            <a:r>
              <a:rPr lang="en-AU" sz="800" dirty="0" err="1">
                <a:solidFill>
                  <a:schemeClr val="bg1"/>
                </a:solidFill>
                <a:effectLst/>
                <a:latin typeface="Calibri" panose="020F0502020204030204" pitchFamily="34" charset="0"/>
                <a:cs typeface="Calibri" panose="020F0502020204030204" pitchFamily="34" charset="0"/>
              </a:rPr>
              <a:t>ttps</a:t>
            </a:r>
            <a:r>
              <a:rPr lang="en-AU" sz="800" dirty="0">
                <a:solidFill>
                  <a:schemeClr val="bg1"/>
                </a:solidFill>
                <a:effectLst/>
                <a:latin typeface="Calibri" panose="020F0502020204030204" pitchFamily="34" charset="0"/>
                <a:cs typeface="Calibri" panose="020F0502020204030204" pitchFamily="34" charset="0"/>
              </a:rPr>
              <a:t>://some-conformity-scheme/criteria/ems-2017</a:t>
            </a:r>
          </a:p>
        </p:txBody>
      </p:sp>
      <p:cxnSp>
        <p:nvCxnSpPr>
          <p:cNvPr id="37" name="Straight Arrow Connector 36">
            <a:extLst>
              <a:ext uri="{FF2B5EF4-FFF2-40B4-BE49-F238E27FC236}">
                <a16:creationId xmlns:a16="http://schemas.microsoft.com/office/drawing/2014/main" id="{CBFC74FA-75FB-1DB2-C5E7-D459CD0D6011}"/>
              </a:ext>
            </a:extLst>
          </p:cNvPr>
          <p:cNvCxnSpPr>
            <a:cxnSpLocks/>
            <a:stCxn id="9" idx="7"/>
            <a:endCxn id="36" idx="2"/>
          </p:cNvCxnSpPr>
          <p:nvPr/>
        </p:nvCxnSpPr>
        <p:spPr>
          <a:xfrm flipV="1">
            <a:off x="7085620" y="2961836"/>
            <a:ext cx="1255429" cy="510871"/>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4356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9B16F-5992-6E97-4CB9-FDD878A63B2D}"/>
            </a:ext>
          </a:extLst>
        </p:cNvPr>
        <p:cNvGrpSpPr/>
        <p:nvPr/>
      </p:nvGrpSpPr>
      <p:grpSpPr>
        <a:xfrm>
          <a:off x="0" y="0"/>
          <a:ext cx="0" cy="0"/>
          <a:chOff x="0" y="0"/>
          <a:chExt cx="0" cy="0"/>
        </a:xfrm>
      </p:grpSpPr>
      <p:sp>
        <p:nvSpPr>
          <p:cNvPr id="28" name="Rounded Rectangle 27">
            <a:extLst>
              <a:ext uri="{FF2B5EF4-FFF2-40B4-BE49-F238E27FC236}">
                <a16:creationId xmlns:a16="http://schemas.microsoft.com/office/drawing/2014/main" id="{FEDE10F5-8234-6415-144E-DB26E1363C69}"/>
              </a:ext>
            </a:extLst>
          </p:cNvPr>
          <p:cNvSpPr/>
          <p:nvPr/>
        </p:nvSpPr>
        <p:spPr>
          <a:xfrm>
            <a:off x="4835471" y="1272746"/>
            <a:ext cx="1640917" cy="317507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ounded Rectangle 28">
            <a:extLst>
              <a:ext uri="{FF2B5EF4-FFF2-40B4-BE49-F238E27FC236}">
                <a16:creationId xmlns:a16="http://schemas.microsoft.com/office/drawing/2014/main" id="{7D88F19F-A908-A8AD-A409-CA89DB63BEAD}"/>
              </a:ext>
            </a:extLst>
          </p:cNvPr>
          <p:cNvSpPr/>
          <p:nvPr/>
        </p:nvSpPr>
        <p:spPr>
          <a:xfrm>
            <a:off x="1117629" y="1272746"/>
            <a:ext cx="1651689" cy="314517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ounded Rectangle 18">
            <a:extLst>
              <a:ext uri="{FF2B5EF4-FFF2-40B4-BE49-F238E27FC236}">
                <a16:creationId xmlns:a16="http://schemas.microsoft.com/office/drawing/2014/main" id="{02401CB4-B7E1-2AF2-F0B1-FD2178B13E1D}"/>
              </a:ext>
            </a:extLst>
          </p:cNvPr>
          <p:cNvSpPr/>
          <p:nvPr/>
        </p:nvSpPr>
        <p:spPr>
          <a:xfrm>
            <a:off x="4328749" y="3747030"/>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20" name="Rounded Rectangle 19">
            <a:extLst>
              <a:ext uri="{FF2B5EF4-FFF2-40B4-BE49-F238E27FC236}">
                <a16:creationId xmlns:a16="http://schemas.microsoft.com/office/drawing/2014/main" id="{F3DA5B5C-3B31-3DED-37D2-E4A161B5AB9B}"/>
              </a:ext>
            </a:extLst>
          </p:cNvPr>
          <p:cNvSpPr/>
          <p:nvPr/>
        </p:nvSpPr>
        <p:spPr>
          <a:xfrm>
            <a:off x="8141593" y="3761690"/>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21" name="Rounded Rectangle 20">
            <a:extLst>
              <a:ext uri="{FF2B5EF4-FFF2-40B4-BE49-F238E27FC236}">
                <a16:creationId xmlns:a16="http://schemas.microsoft.com/office/drawing/2014/main" id="{6FAA3E0E-7C2F-869A-D7F7-609E980D8142}"/>
              </a:ext>
            </a:extLst>
          </p:cNvPr>
          <p:cNvSpPr/>
          <p:nvPr/>
        </p:nvSpPr>
        <p:spPr>
          <a:xfrm>
            <a:off x="9835254" y="3749726"/>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8" name="Rounded Rectangle 1077">
            <a:extLst>
              <a:ext uri="{FF2B5EF4-FFF2-40B4-BE49-F238E27FC236}">
                <a16:creationId xmlns:a16="http://schemas.microsoft.com/office/drawing/2014/main" id="{439A9EB4-50DF-5315-15DC-63CD9C208307}"/>
              </a:ext>
            </a:extLst>
          </p:cNvPr>
          <p:cNvSpPr/>
          <p:nvPr/>
        </p:nvSpPr>
        <p:spPr>
          <a:xfrm>
            <a:off x="3339093" y="1574210"/>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0" name="Rounded Rectangle 1079">
            <a:extLst>
              <a:ext uri="{FF2B5EF4-FFF2-40B4-BE49-F238E27FC236}">
                <a16:creationId xmlns:a16="http://schemas.microsoft.com/office/drawing/2014/main" id="{6EB4816F-5CDF-A333-F7AD-9F736D133338}"/>
              </a:ext>
            </a:extLst>
          </p:cNvPr>
          <p:cNvSpPr/>
          <p:nvPr/>
        </p:nvSpPr>
        <p:spPr>
          <a:xfrm>
            <a:off x="6994982" y="1578829"/>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1" name="Rounded Rectangle 1080">
            <a:extLst>
              <a:ext uri="{FF2B5EF4-FFF2-40B4-BE49-F238E27FC236}">
                <a16:creationId xmlns:a16="http://schemas.microsoft.com/office/drawing/2014/main" id="{6C7FA702-85D9-013C-2909-3370D58BE8F3}"/>
              </a:ext>
            </a:extLst>
          </p:cNvPr>
          <p:cNvSpPr/>
          <p:nvPr/>
        </p:nvSpPr>
        <p:spPr>
          <a:xfrm>
            <a:off x="8766429" y="1578829"/>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2" name="Rounded Rectangle 1081">
            <a:extLst>
              <a:ext uri="{FF2B5EF4-FFF2-40B4-BE49-F238E27FC236}">
                <a16:creationId xmlns:a16="http://schemas.microsoft.com/office/drawing/2014/main" id="{03C93EE2-9740-2226-65C2-ADA3308C1895}"/>
              </a:ext>
            </a:extLst>
          </p:cNvPr>
          <p:cNvSpPr/>
          <p:nvPr/>
        </p:nvSpPr>
        <p:spPr>
          <a:xfrm>
            <a:off x="10722707" y="1564759"/>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pic>
        <p:nvPicPr>
          <p:cNvPr id="1026" name="Picture 2" descr="Smelting - Free construction and tools icons">
            <a:extLst>
              <a:ext uri="{FF2B5EF4-FFF2-40B4-BE49-F238E27FC236}">
                <a16:creationId xmlns:a16="http://schemas.microsoft.com/office/drawing/2014/main" id="{D5909AF6-E37F-A3D9-0DF3-CB1FB7CF9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1459" y="2532267"/>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Chemical Plant 2 icon - Free vector (SVG) - Free PNG - Copyicon.com">
            <a:extLst>
              <a:ext uri="{FF2B5EF4-FFF2-40B4-BE49-F238E27FC236}">
                <a16:creationId xmlns:a16="http://schemas.microsoft.com/office/drawing/2014/main" id="{DEC2254D-B7BC-BAEA-CAB4-F14B6B2A17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3213" y="2497312"/>
            <a:ext cx="631824" cy="5589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6900F02-336F-25DF-8FEA-C3203D446FEE}"/>
              </a:ext>
            </a:extLst>
          </p:cNvPr>
          <p:cNvPicPr>
            <a:picLocks noChangeAspect="1"/>
          </p:cNvPicPr>
          <p:nvPr/>
        </p:nvPicPr>
        <p:blipFill>
          <a:blip r:embed="rId5"/>
          <a:stretch>
            <a:fillRect/>
          </a:stretch>
        </p:blipFill>
        <p:spPr>
          <a:xfrm>
            <a:off x="1502713" y="2428453"/>
            <a:ext cx="815704" cy="721655"/>
          </a:xfrm>
          <a:prstGeom prst="rect">
            <a:avLst/>
          </a:prstGeom>
        </p:spPr>
      </p:pic>
      <p:sp>
        <p:nvSpPr>
          <p:cNvPr id="7" name="TextBox 6">
            <a:extLst>
              <a:ext uri="{FF2B5EF4-FFF2-40B4-BE49-F238E27FC236}">
                <a16:creationId xmlns:a16="http://schemas.microsoft.com/office/drawing/2014/main" id="{7D090DD0-667F-BAD8-2F4A-42FECCBD57F3}"/>
              </a:ext>
            </a:extLst>
          </p:cNvPr>
          <p:cNvSpPr txBox="1"/>
          <p:nvPr/>
        </p:nvSpPr>
        <p:spPr>
          <a:xfrm>
            <a:off x="1637835" y="2178928"/>
            <a:ext cx="572593"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prstClr val="black"/>
                </a:solidFill>
                <a:effectLst/>
                <a:uLnTx/>
                <a:uFillTx/>
                <a:latin typeface="Calibri" panose="020F0502020204030204"/>
                <a:ea typeface="+mn-ea"/>
                <a:cs typeface="+mn-cs"/>
              </a:rPr>
              <a:t>Mine</a:t>
            </a:r>
          </a:p>
        </p:txBody>
      </p:sp>
      <p:sp>
        <p:nvSpPr>
          <p:cNvPr id="8" name="TextBox 7">
            <a:extLst>
              <a:ext uri="{FF2B5EF4-FFF2-40B4-BE49-F238E27FC236}">
                <a16:creationId xmlns:a16="http://schemas.microsoft.com/office/drawing/2014/main" id="{5C867352-E46E-4526-092B-F3396B0956A9}"/>
              </a:ext>
            </a:extLst>
          </p:cNvPr>
          <p:cNvSpPr txBox="1"/>
          <p:nvPr/>
        </p:nvSpPr>
        <p:spPr>
          <a:xfrm>
            <a:off x="8651928" y="2207687"/>
            <a:ext cx="125126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Manufacturer</a:t>
            </a:r>
          </a:p>
        </p:txBody>
      </p:sp>
      <p:sp>
        <p:nvSpPr>
          <p:cNvPr id="9" name="TextBox 8">
            <a:extLst>
              <a:ext uri="{FF2B5EF4-FFF2-40B4-BE49-F238E27FC236}">
                <a16:creationId xmlns:a16="http://schemas.microsoft.com/office/drawing/2014/main" id="{DE75B44B-889F-BAAE-4494-EC72F3886C79}"/>
              </a:ext>
            </a:extLst>
          </p:cNvPr>
          <p:cNvSpPr txBox="1"/>
          <p:nvPr/>
        </p:nvSpPr>
        <p:spPr>
          <a:xfrm>
            <a:off x="5291365" y="2207687"/>
            <a:ext cx="722506"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prstClr val="black"/>
                </a:solidFill>
                <a:effectLst/>
                <a:uLnTx/>
                <a:uFillTx/>
                <a:latin typeface="Calibri" panose="020F0502020204030204"/>
                <a:ea typeface="+mn-ea"/>
                <a:cs typeface="+mn-cs"/>
              </a:rPr>
              <a:t>Refiner</a:t>
            </a:r>
          </a:p>
        </p:txBody>
      </p:sp>
      <p:sp>
        <p:nvSpPr>
          <p:cNvPr id="10" name="TextBox 9">
            <a:extLst>
              <a:ext uri="{FF2B5EF4-FFF2-40B4-BE49-F238E27FC236}">
                <a16:creationId xmlns:a16="http://schemas.microsoft.com/office/drawing/2014/main" id="{E8120C52-6DFC-FD33-060C-17E55A69943F}"/>
              </a:ext>
            </a:extLst>
          </p:cNvPr>
          <p:cNvSpPr txBox="1"/>
          <p:nvPr/>
        </p:nvSpPr>
        <p:spPr>
          <a:xfrm>
            <a:off x="10540493" y="2226688"/>
            <a:ext cx="127971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OEM</a:t>
            </a:r>
          </a:p>
        </p:txBody>
      </p:sp>
      <p:pic>
        <p:nvPicPr>
          <p:cNvPr id="15" name="Picture 6" descr="Factory Icon in Material Design">
            <a:extLst>
              <a:ext uri="{FF2B5EF4-FFF2-40B4-BE49-F238E27FC236}">
                <a16:creationId xmlns:a16="http://schemas.microsoft.com/office/drawing/2014/main" id="{FBF8542F-443F-2320-2E86-102CE3CC29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40212" y="2489242"/>
            <a:ext cx="640946" cy="56704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4" descr="Car manufacturing - Free industry icons">
            <a:extLst>
              <a:ext uri="{FF2B5EF4-FFF2-40B4-BE49-F238E27FC236}">
                <a16:creationId xmlns:a16="http://schemas.microsoft.com/office/drawing/2014/main" id="{1B9BB40F-6857-26D9-4052-1C9BDE71BF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92558" y="2532267"/>
            <a:ext cx="543362" cy="480713"/>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ED58E301-1567-37C0-483C-103EFFB014D4}"/>
              </a:ext>
            </a:extLst>
          </p:cNvPr>
          <p:cNvSpPr txBox="1"/>
          <p:nvPr/>
        </p:nvSpPr>
        <p:spPr>
          <a:xfrm>
            <a:off x="3493661" y="2207687"/>
            <a:ext cx="721303"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Smelter</a:t>
            </a:r>
          </a:p>
        </p:txBody>
      </p:sp>
      <p:sp>
        <p:nvSpPr>
          <p:cNvPr id="36" name="TextBox 35">
            <a:extLst>
              <a:ext uri="{FF2B5EF4-FFF2-40B4-BE49-F238E27FC236}">
                <a16:creationId xmlns:a16="http://schemas.microsoft.com/office/drawing/2014/main" id="{7F0CDD88-F188-4016-2E53-912281FD739F}"/>
              </a:ext>
            </a:extLst>
          </p:cNvPr>
          <p:cNvSpPr txBox="1"/>
          <p:nvPr/>
        </p:nvSpPr>
        <p:spPr>
          <a:xfrm>
            <a:off x="6985383" y="2207687"/>
            <a:ext cx="1049824"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Fabricator</a:t>
            </a:r>
          </a:p>
        </p:txBody>
      </p:sp>
      <p:pic>
        <p:nvPicPr>
          <p:cNvPr id="1030" name="Picture 6" descr="2,500+ Gravel Icon Stock Illustrations, Royalty-Free Vector Graphics &amp; Clip  Art - iStock">
            <a:extLst>
              <a:ext uri="{FF2B5EF4-FFF2-40B4-BE49-F238E27FC236}">
                <a16:creationId xmlns:a16="http://schemas.microsoft.com/office/drawing/2014/main" id="{1C5428B8-B5CC-0C34-604F-6461074874C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114" t="15270" r="15934" b="16995"/>
          <a:stretch/>
        </p:blipFill>
        <p:spPr bwMode="auto">
          <a:xfrm>
            <a:off x="1743684" y="3473576"/>
            <a:ext cx="372861" cy="3952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got - Free business icons">
            <a:extLst>
              <a:ext uri="{FF2B5EF4-FFF2-40B4-BE49-F238E27FC236}">
                <a16:creationId xmlns:a16="http://schemas.microsoft.com/office/drawing/2014/main" id="{900F00E8-75A5-B408-7CA0-85778701A7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84960" y="3482268"/>
            <a:ext cx="410291" cy="436275"/>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EFD3555D-549C-09FA-043D-8D43A09ECA71}"/>
              </a:ext>
            </a:extLst>
          </p:cNvPr>
          <p:cNvSpPr txBox="1"/>
          <p:nvPr/>
        </p:nvSpPr>
        <p:spPr>
          <a:xfrm>
            <a:off x="1495215" y="3255490"/>
            <a:ext cx="102904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Concentrate</a:t>
            </a:r>
          </a:p>
        </p:txBody>
      </p:sp>
      <p:sp>
        <p:nvSpPr>
          <p:cNvPr id="43" name="TextBox 42">
            <a:extLst>
              <a:ext uri="{FF2B5EF4-FFF2-40B4-BE49-F238E27FC236}">
                <a16:creationId xmlns:a16="http://schemas.microsoft.com/office/drawing/2014/main" id="{2DE89685-7090-5C72-8CA3-2BBF15079D38}"/>
              </a:ext>
            </a:extLst>
          </p:cNvPr>
          <p:cNvSpPr txBox="1"/>
          <p:nvPr/>
        </p:nvSpPr>
        <p:spPr>
          <a:xfrm>
            <a:off x="8945177" y="3250374"/>
            <a:ext cx="88840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Battery</a:t>
            </a:r>
          </a:p>
        </p:txBody>
      </p:sp>
      <p:sp>
        <p:nvSpPr>
          <p:cNvPr id="44" name="TextBox 43">
            <a:extLst>
              <a:ext uri="{FF2B5EF4-FFF2-40B4-BE49-F238E27FC236}">
                <a16:creationId xmlns:a16="http://schemas.microsoft.com/office/drawing/2014/main" id="{E83E7A6C-8246-978C-46EC-4312EA5E2EC4}"/>
              </a:ext>
            </a:extLst>
          </p:cNvPr>
          <p:cNvSpPr txBox="1"/>
          <p:nvPr/>
        </p:nvSpPr>
        <p:spPr>
          <a:xfrm>
            <a:off x="5300079" y="3250374"/>
            <a:ext cx="82918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Cathodes</a:t>
            </a:r>
          </a:p>
        </p:txBody>
      </p:sp>
      <p:sp>
        <p:nvSpPr>
          <p:cNvPr id="45" name="TextBox 44">
            <a:extLst>
              <a:ext uri="{FF2B5EF4-FFF2-40B4-BE49-F238E27FC236}">
                <a16:creationId xmlns:a16="http://schemas.microsoft.com/office/drawing/2014/main" id="{709DF0A2-DD0A-FEA2-1861-4A235C62BFEA}"/>
              </a:ext>
            </a:extLst>
          </p:cNvPr>
          <p:cNvSpPr txBox="1"/>
          <p:nvPr/>
        </p:nvSpPr>
        <p:spPr>
          <a:xfrm>
            <a:off x="10744046" y="3214821"/>
            <a:ext cx="888402"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EV</a:t>
            </a:r>
          </a:p>
        </p:txBody>
      </p:sp>
      <p:sp>
        <p:nvSpPr>
          <p:cNvPr id="47" name="TextBox 46">
            <a:extLst>
              <a:ext uri="{FF2B5EF4-FFF2-40B4-BE49-F238E27FC236}">
                <a16:creationId xmlns:a16="http://schemas.microsoft.com/office/drawing/2014/main" id="{A136FB45-41BB-F3B2-FCC8-7106A51281D9}"/>
              </a:ext>
            </a:extLst>
          </p:cNvPr>
          <p:cNvSpPr txBox="1"/>
          <p:nvPr/>
        </p:nvSpPr>
        <p:spPr>
          <a:xfrm>
            <a:off x="3516261" y="3250374"/>
            <a:ext cx="62261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Blister</a:t>
            </a:r>
          </a:p>
        </p:txBody>
      </p:sp>
      <p:sp>
        <p:nvSpPr>
          <p:cNvPr id="48" name="TextBox 47">
            <a:extLst>
              <a:ext uri="{FF2B5EF4-FFF2-40B4-BE49-F238E27FC236}">
                <a16:creationId xmlns:a16="http://schemas.microsoft.com/office/drawing/2014/main" id="{0F8205F2-664A-D83B-E423-43B51D8E6BDD}"/>
              </a:ext>
            </a:extLst>
          </p:cNvPr>
          <p:cNvSpPr txBox="1"/>
          <p:nvPr/>
        </p:nvSpPr>
        <p:spPr>
          <a:xfrm>
            <a:off x="7396324" y="3250374"/>
            <a:ext cx="54497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Foil</a:t>
            </a:r>
          </a:p>
        </p:txBody>
      </p:sp>
      <p:pic>
        <p:nvPicPr>
          <p:cNvPr id="1040" name="Picture 16" descr="Bullion, gold, ingot, meta, metal, nugget, precious icon - Download on  Iconfinder">
            <a:extLst>
              <a:ext uri="{FF2B5EF4-FFF2-40B4-BE49-F238E27FC236}">
                <a16:creationId xmlns:a16="http://schemas.microsoft.com/office/drawing/2014/main" id="{54075B7B-9610-79EC-CE39-FE7B8A655DA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6014" y="3431496"/>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luminum foil icon 37133487 Vector Art at Vecteezy">
            <a:extLst>
              <a:ext uri="{FF2B5EF4-FFF2-40B4-BE49-F238E27FC236}">
                <a16:creationId xmlns:a16="http://schemas.microsoft.com/office/drawing/2014/main" id="{5B705B0D-C2C3-746C-D33E-54C7C0EE795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89493" y="3535168"/>
            <a:ext cx="443840" cy="29591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0" descr="ev battery outline icon Stock Vector | Adobe Stock">
            <a:extLst>
              <a:ext uri="{FF2B5EF4-FFF2-40B4-BE49-F238E27FC236}">
                <a16:creationId xmlns:a16="http://schemas.microsoft.com/office/drawing/2014/main" id="{090D9F2C-298E-4367-F5B1-A9634C21DB8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9103973" y="3540066"/>
            <a:ext cx="412986" cy="38838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Electric car - Free transport icons">
            <a:extLst>
              <a:ext uri="{FF2B5EF4-FFF2-40B4-BE49-F238E27FC236}">
                <a16:creationId xmlns:a16="http://schemas.microsoft.com/office/drawing/2014/main" id="{6EFB5763-5E71-1712-7FA6-40ECEE1FCE2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24778" y="3403731"/>
            <a:ext cx="511142" cy="543513"/>
          </a:xfrm>
          <a:prstGeom prst="rect">
            <a:avLst/>
          </a:prstGeom>
          <a:noFill/>
          <a:extLst>
            <a:ext uri="{909E8E84-426E-40DD-AFC4-6F175D3DCCD1}">
              <a14:hiddenFill xmlns:a14="http://schemas.microsoft.com/office/drawing/2010/main">
                <a:solidFill>
                  <a:srgbClr val="FFFFFF"/>
                </a:solidFill>
              </a14:hiddenFill>
            </a:ext>
          </a:extLst>
        </p:spPr>
      </p:pic>
      <p:sp>
        <p:nvSpPr>
          <p:cNvPr id="132" name="TextBox 131">
            <a:extLst>
              <a:ext uri="{FF2B5EF4-FFF2-40B4-BE49-F238E27FC236}">
                <a16:creationId xmlns:a16="http://schemas.microsoft.com/office/drawing/2014/main" id="{9231D18D-8D90-D342-4055-8F4AD7EFCEEF}"/>
              </a:ext>
            </a:extLst>
          </p:cNvPr>
          <p:cNvSpPr txBox="1"/>
          <p:nvPr/>
        </p:nvSpPr>
        <p:spPr>
          <a:xfrm>
            <a:off x="1254189" y="3856950"/>
            <a:ext cx="113045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Consignment ID</a:t>
            </a:r>
          </a:p>
        </p:txBody>
      </p:sp>
      <p:sp>
        <p:nvSpPr>
          <p:cNvPr id="133" name="TextBox 132">
            <a:extLst>
              <a:ext uri="{FF2B5EF4-FFF2-40B4-BE49-F238E27FC236}">
                <a16:creationId xmlns:a16="http://schemas.microsoft.com/office/drawing/2014/main" id="{97C2E6D8-E693-3079-198A-77FF86A6E932}"/>
              </a:ext>
            </a:extLst>
          </p:cNvPr>
          <p:cNvSpPr txBox="1"/>
          <p:nvPr/>
        </p:nvSpPr>
        <p:spPr>
          <a:xfrm>
            <a:off x="3467150" y="3851834"/>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4" name="TextBox 133">
            <a:extLst>
              <a:ext uri="{FF2B5EF4-FFF2-40B4-BE49-F238E27FC236}">
                <a16:creationId xmlns:a16="http://schemas.microsoft.com/office/drawing/2014/main" id="{B9B90CFA-1D30-D73E-6EED-71D1D0B005B3}"/>
              </a:ext>
            </a:extLst>
          </p:cNvPr>
          <p:cNvSpPr txBox="1"/>
          <p:nvPr/>
        </p:nvSpPr>
        <p:spPr>
          <a:xfrm>
            <a:off x="5311619" y="3851834"/>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5" name="TextBox 134">
            <a:extLst>
              <a:ext uri="{FF2B5EF4-FFF2-40B4-BE49-F238E27FC236}">
                <a16:creationId xmlns:a16="http://schemas.microsoft.com/office/drawing/2014/main" id="{5DF08123-A906-96B7-DFD7-6087B08499EF}"/>
              </a:ext>
            </a:extLst>
          </p:cNvPr>
          <p:cNvSpPr txBox="1"/>
          <p:nvPr/>
        </p:nvSpPr>
        <p:spPr>
          <a:xfrm>
            <a:off x="7231054" y="3851834"/>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6" name="TextBox 135">
            <a:extLst>
              <a:ext uri="{FF2B5EF4-FFF2-40B4-BE49-F238E27FC236}">
                <a16:creationId xmlns:a16="http://schemas.microsoft.com/office/drawing/2014/main" id="{36FB9B47-5B68-6E42-EC23-E1730BBAD681}"/>
              </a:ext>
            </a:extLst>
          </p:cNvPr>
          <p:cNvSpPr txBox="1"/>
          <p:nvPr/>
        </p:nvSpPr>
        <p:spPr>
          <a:xfrm>
            <a:off x="8940407" y="3826602"/>
            <a:ext cx="75966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Serial No.</a:t>
            </a:r>
          </a:p>
        </p:txBody>
      </p:sp>
      <p:sp>
        <p:nvSpPr>
          <p:cNvPr id="137" name="TextBox 136">
            <a:extLst>
              <a:ext uri="{FF2B5EF4-FFF2-40B4-BE49-F238E27FC236}">
                <a16:creationId xmlns:a16="http://schemas.microsoft.com/office/drawing/2014/main" id="{D5BCBD47-10EC-2368-766E-969F1D71A89D}"/>
              </a:ext>
            </a:extLst>
          </p:cNvPr>
          <p:cNvSpPr txBox="1"/>
          <p:nvPr/>
        </p:nvSpPr>
        <p:spPr>
          <a:xfrm>
            <a:off x="10868075" y="3863126"/>
            <a:ext cx="39511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VIN</a:t>
            </a:r>
          </a:p>
        </p:txBody>
      </p:sp>
      <p:pic>
        <p:nvPicPr>
          <p:cNvPr id="140" name="Picture 28" descr="Vector Design Extrusion Icon Style | Premium Vector">
            <a:extLst>
              <a:ext uri="{FF2B5EF4-FFF2-40B4-BE49-F238E27FC236}">
                <a16:creationId xmlns:a16="http://schemas.microsoft.com/office/drawing/2014/main" id="{F78D05BA-58DB-76E8-CBD1-5B95EA0467E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81528" y="2497312"/>
            <a:ext cx="564161" cy="599891"/>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D1C5C2FE-AD4E-B6FD-009E-F479C2112F87}"/>
              </a:ext>
            </a:extLst>
          </p:cNvPr>
          <p:cNvSpPr/>
          <p:nvPr/>
        </p:nvSpPr>
        <p:spPr>
          <a:xfrm>
            <a:off x="9083038" y="1718942"/>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5" name="TextBox 34">
            <a:extLst>
              <a:ext uri="{FF2B5EF4-FFF2-40B4-BE49-F238E27FC236}">
                <a16:creationId xmlns:a16="http://schemas.microsoft.com/office/drawing/2014/main" id="{7821723A-96D0-C5CE-E80C-1C63A582E289}"/>
              </a:ext>
            </a:extLst>
          </p:cNvPr>
          <p:cNvSpPr txBox="1"/>
          <p:nvPr/>
        </p:nvSpPr>
        <p:spPr>
          <a:xfrm>
            <a:off x="1628417" y="2957156"/>
            <a:ext cx="56325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Site ID</a:t>
            </a:r>
          </a:p>
        </p:txBody>
      </p:sp>
      <p:sp>
        <p:nvSpPr>
          <p:cNvPr id="37" name="TextBox 36">
            <a:extLst>
              <a:ext uri="{FF2B5EF4-FFF2-40B4-BE49-F238E27FC236}">
                <a16:creationId xmlns:a16="http://schemas.microsoft.com/office/drawing/2014/main" id="{536C56B4-A44C-C649-DF54-513D10E8AD37}"/>
              </a:ext>
            </a:extLst>
          </p:cNvPr>
          <p:cNvSpPr txBox="1"/>
          <p:nvPr/>
        </p:nvSpPr>
        <p:spPr>
          <a:xfrm>
            <a:off x="3553315" y="3017513"/>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0" name="TextBox 39">
            <a:extLst>
              <a:ext uri="{FF2B5EF4-FFF2-40B4-BE49-F238E27FC236}">
                <a16:creationId xmlns:a16="http://schemas.microsoft.com/office/drawing/2014/main" id="{E966209E-F99F-6B7E-8BD5-66A6E0E34749}"/>
              </a:ext>
            </a:extLst>
          </p:cNvPr>
          <p:cNvSpPr txBox="1"/>
          <p:nvPr/>
        </p:nvSpPr>
        <p:spPr>
          <a:xfrm>
            <a:off x="8959660" y="2998600"/>
            <a:ext cx="59629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OSH ID</a:t>
            </a:r>
          </a:p>
        </p:txBody>
      </p:sp>
      <p:sp>
        <p:nvSpPr>
          <p:cNvPr id="41" name="TextBox 40">
            <a:extLst>
              <a:ext uri="{FF2B5EF4-FFF2-40B4-BE49-F238E27FC236}">
                <a16:creationId xmlns:a16="http://schemas.microsoft.com/office/drawing/2014/main" id="{8DAB5BA3-CB1B-28D1-90BB-51979E15A2B7}"/>
              </a:ext>
            </a:extLst>
          </p:cNvPr>
          <p:cNvSpPr txBox="1"/>
          <p:nvPr/>
        </p:nvSpPr>
        <p:spPr>
          <a:xfrm>
            <a:off x="5321346" y="3003950"/>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9" name="TextBox 48">
            <a:extLst>
              <a:ext uri="{FF2B5EF4-FFF2-40B4-BE49-F238E27FC236}">
                <a16:creationId xmlns:a16="http://schemas.microsoft.com/office/drawing/2014/main" id="{EDCA4E11-76C0-FADC-1B80-75B72E385EBF}"/>
              </a:ext>
            </a:extLst>
          </p:cNvPr>
          <p:cNvSpPr txBox="1"/>
          <p:nvPr/>
        </p:nvSpPr>
        <p:spPr>
          <a:xfrm>
            <a:off x="7333127" y="3036061"/>
            <a:ext cx="42082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GLN</a:t>
            </a:r>
          </a:p>
        </p:txBody>
      </p:sp>
      <p:sp>
        <p:nvSpPr>
          <p:cNvPr id="50" name="TextBox 49">
            <a:extLst>
              <a:ext uri="{FF2B5EF4-FFF2-40B4-BE49-F238E27FC236}">
                <a16:creationId xmlns:a16="http://schemas.microsoft.com/office/drawing/2014/main" id="{996FCD18-6FA0-56BF-A879-D6DE40D45DAE}"/>
              </a:ext>
            </a:extLst>
          </p:cNvPr>
          <p:cNvSpPr txBox="1"/>
          <p:nvPr/>
        </p:nvSpPr>
        <p:spPr>
          <a:xfrm>
            <a:off x="10769248" y="3006492"/>
            <a:ext cx="93532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Company ID</a:t>
            </a:r>
          </a:p>
        </p:txBody>
      </p:sp>
      <p:sp>
        <p:nvSpPr>
          <p:cNvPr id="31" name="Rounded Rectangle 30">
            <a:extLst>
              <a:ext uri="{FF2B5EF4-FFF2-40B4-BE49-F238E27FC236}">
                <a16:creationId xmlns:a16="http://schemas.microsoft.com/office/drawing/2014/main" id="{71985BE9-8338-2B62-2C9D-881898DD8959}"/>
              </a:ext>
            </a:extLst>
          </p:cNvPr>
          <p:cNvSpPr/>
          <p:nvPr/>
        </p:nvSpPr>
        <p:spPr>
          <a:xfrm>
            <a:off x="10981728" y="1718942"/>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2" name="Rounded Rectangle 31">
            <a:extLst>
              <a:ext uri="{FF2B5EF4-FFF2-40B4-BE49-F238E27FC236}">
                <a16:creationId xmlns:a16="http://schemas.microsoft.com/office/drawing/2014/main" id="{18F9BFBE-6442-7DAC-CE29-135BAA1E9690}"/>
              </a:ext>
            </a:extLst>
          </p:cNvPr>
          <p:cNvSpPr/>
          <p:nvPr/>
        </p:nvSpPr>
        <p:spPr>
          <a:xfrm>
            <a:off x="7311591" y="1718942"/>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8" name="Rounded Rectangle 37">
            <a:extLst>
              <a:ext uri="{FF2B5EF4-FFF2-40B4-BE49-F238E27FC236}">
                <a16:creationId xmlns:a16="http://schemas.microsoft.com/office/drawing/2014/main" id="{E4035D73-81C0-7D09-96B6-5C3D2CB26500}"/>
              </a:ext>
            </a:extLst>
          </p:cNvPr>
          <p:cNvSpPr/>
          <p:nvPr/>
        </p:nvSpPr>
        <p:spPr>
          <a:xfrm>
            <a:off x="3655702" y="1718942"/>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cxnSp>
        <p:nvCxnSpPr>
          <p:cNvPr id="51" name="Straight Arrow Connector 50">
            <a:extLst>
              <a:ext uri="{FF2B5EF4-FFF2-40B4-BE49-F238E27FC236}">
                <a16:creationId xmlns:a16="http://schemas.microsoft.com/office/drawing/2014/main" id="{B73C739B-689D-E88D-02D0-7AD235301900}"/>
              </a:ext>
            </a:extLst>
          </p:cNvPr>
          <p:cNvCxnSpPr>
            <a:cxnSpLocks/>
          </p:cNvCxnSpPr>
          <p:nvPr/>
        </p:nvCxnSpPr>
        <p:spPr>
          <a:xfrm rot="10800000">
            <a:off x="9469500" y="1845700"/>
            <a:ext cx="1423058" cy="845462"/>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50">
            <a:extLst>
              <a:ext uri="{FF2B5EF4-FFF2-40B4-BE49-F238E27FC236}">
                <a16:creationId xmlns:a16="http://schemas.microsoft.com/office/drawing/2014/main" id="{FB2A9AFE-B652-17F3-8083-5C3BAD968831}"/>
              </a:ext>
            </a:extLst>
          </p:cNvPr>
          <p:cNvCxnSpPr>
            <a:cxnSpLocks/>
          </p:cNvCxnSpPr>
          <p:nvPr/>
        </p:nvCxnSpPr>
        <p:spPr>
          <a:xfrm rot="10800000">
            <a:off x="7698053" y="1845707"/>
            <a:ext cx="1242159" cy="845591"/>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0">
            <a:extLst>
              <a:ext uri="{FF2B5EF4-FFF2-40B4-BE49-F238E27FC236}">
                <a16:creationId xmlns:a16="http://schemas.microsoft.com/office/drawing/2014/main" id="{218B9F6F-8EA5-BC1F-6137-AC5A994FCD5B}"/>
              </a:ext>
            </a:extLst>
          </p:cNvPr>
          <p:cNvCxnSpPr>
            <a:cxnSpLocks/>
          </p:cNvCxnSpPr>
          <p:nvPr/>
        </p:nvCxnSpPr>
        <p:spPr>
          <a:xfrm rot="10800000">
            <a:off x="5844428" y="1846820"/>
            <a:ext cx="1437101" cy="867856"/>
          </a:xfrm>
          <a:prstGeom prst="bentConnector3">
            <a:avLst>
              <a:gd name="adj1" fmla="val 40574"/>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0">
            <a:extLst>
              <a:ext uri="{FF2B5EF4-FFF2-40B4-BE49-F238E27FC236}">
                <a16:creationId xmlns:a16="http://schemas.microsoft.com/office/drawing/2014/main" id="{11998224-0BF2-EED5-03DE-D184EC77C33B}"/>
              </a:ext>
            </a:extLst>
          </p:cNvPr>
          <p:cNvCxnSpPr>
            <a:cxnSpLocks/>
            <a:stCxn id="31" idx="2"/>
            <a:endCxn id="10" idx="0"/>
          </p:cNvCxnSpPr>
          <p:nvPr/>
        </p:nvCxnSpPr>
        <p:spPr>
          <a:xfrm>
            <a:off x="11174959" y="1966290"/>
            <a:ext cx="5390" cy="260398"/>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50">
            <a:extLst>
              <a:ext uri="{FF2B5EF4-FFF2-40B4-BE49-F238E27FC236}">
                <a16:creationId xmlns:a16="http://schemas.microsoft.com/office/drawing/2014/main" id="{C8B98199-32C3-E84B-6B56-2B650EC5A564}"/>
              </a:ext>
            </a:extLst>
          </p:cNvPr>
          <p:cNvCxnSpPr>
            <a:cxnSpLocks/>
            <a:stCxn id="4" idx="2"/>
            <a:endCxn id="8" idx="0"/>
          </p:cNvCxnSpPr>
          <p:nvPr/>
        </p:nvCxnSpPr>
        <p:spPr>
          <a:xfrm>
            <a:off x="9276269" y="1966290"/>
            <a:ext cx="129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5" name="Straight Arrow Connector 50">
            <a:extLst>
              <a:ext uri="{FF2B5EF4-FFF2-40B4-BE49-F238E27FC236}">
                <a16:creationId xmlns:a16="http://schemas.microsoft.com/office/drawing/2014/main" id="{73EDE813-E586-3B62-6651-5D60989CA32F}"/>
              </a:ext>
            </a:extLst>
          </p:cNvPr>
          <p:cNvCxnSpPr>
            <a:cxnSpLocks/>
            <a:stCxn id="32" idx="2"/>
            <a:endCxn id="36" idx="0"/>
          </p:cNvCxnSpPr>
          <p:nvPr/>
        </p:nvCxnSpPr>
        <p:spPr>
          <a:xfrm>
            <a:off x="7504822" y="1966290"/>
            <a:ext cx="547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9" name="Straight Arrow Connector 50">
            <a:extLst>
              <a:ext uri="{FF2B5EF4-FFF2-40B4-BE49-F238E27FC236}">
                <a16:creationId xmlns:a16="http://schemas.microsoft.com/office/drawing/2014/main" id="{7FBB3971-2D47-3B0A-4642-ABBD875E5A3C}"/>
              </a:ext>
            </a:extLst>
          </p:cNvPr>
          <p:cNvCxnSpPr>
            <a:cxnSpLocks/>
            <a:endCxn id="9" idx="0"/>
          </p:cNvCxnSpPr>
          <p:nvPr/>
        </p:nvCxnSpPr>
        <p:spPr>
          <a:xfrm>
            <a:off x="5651196" y="1966290"/>
            <a:ext cx="1422"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4" name="Straight Arrow Connector 50">
            <a:extLst>
              <a:ext uri="{FF2B5EF4-FFF2-40B4-BE49-F238E27FC236}">
                <a16:creationId xmlns:a16="http://schemas.microsoft.com/office/drawing/2014/main" id="{70C014D1-573B-4B82-8DC2-2ED57AE61770}"/>
              </a:ext>
            </a:extLst>
          </p:cNvPr>
          <p:cNvCxnSpPr>
            <a:cxnSpLocks/>
            <a:stCxn id="38" idx="2"/>
            <a:endCxn id="34" idx="0"/>
          </p:cNvCxnSpPr>
          <p:nvPr/>
        </p:nvCxnSpPr>
        <p:spPr>
          <a:xfrm>
            <a:off x="3848933" y="1966290"/>
            <a:ext cx="5380"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7" name="Straight Arrow Connector 50">
            <a:extLst>
              <a:ext uri="{FF2B5EF4-FFF2-40B4-BE49-F238E27FC236}">
                <a16:creationId xmlns:a16="http://schemas.microsoft.com/office/drawing/2014/main" id="{D520D594-3439-C71D-DFDD-36E10D733EB5}"/>
              </a:ext>
            </a:extLst>
          </p:cNvPr>
          <p:cNvCxnSpPr>
            <a:cxnSpLocks/>
            <a:endCxn id="7" idx="0"/>
          </p:cNvCxnSpPr>
          <p:nvPr/>
        </p:nvCxnSpPr>
        <p:spPr>
          <a:xfrm>
            <a:off x="1914581" y="1937531"/>
            <a:ext cx="955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1" name="Straight Arrow Connector 50">
            <a:extLst>
              <a:ext uri="{FF2B5EF4-FFF2-40B4-BE49-F238E27FC236}">
                <a16:creationId xmlns:a16="http://schemas.microsoft.com/office/drawing/2014/main" id="{EDA05B6F-EBF5-5993-6229-C9CECB0AEADB}"/>
              </a:ext>
            </a:extLst>
          </p:cNvPr>
          <p:cNvCxnSpPr>
            <a:cxnSpLocks/>
          </p:cNvCxnSpPr>
          <p:nvPr/>
        </p:nvCxnSpPr>
        <p:spPr>
          <a:xfrm rot="10800000">
            <a:off x="4042164" y="1832828"/>
            <a:ext cx="1271050" cy="849259"/>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5" name="Straight Arrow Connector 50">
            <a:extLst>
              <a:ext uri="{FF2B5EF4-FFF2-40B4-BE49-F238E27FC236}">
                <a16:creationId xmlns:a16="http://schemas.microsoft.com/office/drawing/2014/main" id="{C62CA950-E335-CCF2-0695-2B16EE22D29A}"/>
              </a:ext>
            </a:extLst>
          </p:cNvPr>
          <p:cNvCxnSpPr>
            <a:cxnSpLocks/>
          </p:cNvCxnSpPr>
          <p:nvPr/>
        </p:nvCxnSpPr>
        <p:spPr>
          <a:xfrm rot="10800000">
            <a:off x="2209082" y="1859288"/>
            <a:ext cx="1392377" cy="855953"/>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 name="Straight Arrow Connector 50">
            <a:extLst>
              <a:ext uri="{FF2B5EF4-FFF2-40B4-BE49-F238E27FC236}">
                <a16:creationId xmlns:a16="http://schemas.microsoft.com/office/drawing/2014/main" id="{AB039E96-06EE-999D-E7D4-FF5A4643298B}"/>
              </a:ext>
            </a:extLst>
          </p:cNvPr>
          <p:cNvCxnSpPr>
            <a:cxnSpLocks/>
          </p:cNvCxnSpPr>
          <p:nvPr/>
        </p:nvCxnSpPr>
        <p:spPr>
          <a:xfrm rot="10800000" flipV="1">
            <a:off x="2206540" y="2850375"/>
            <a:ext cx="1394919" cy="80172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0">
            <a:extLst>
              <a:ext uri="{FF2B5EF4-FFF2-40B4-BE49-F238E27FC236}">
                <a16:creationId xmlns:a16="http://schemas.microsoft.com/office/drawing/2014/main" id="{A053D791-D78A-1A8E-A476-A0623B8207BA}"/>
              </a:ext>
            </a:extLst>
          </p:cNvPr>
          <p:cNvCxnSpPr>
            <a:cxnSpLocks/>
          </p:cNvCxnSpPr>
          <p:nvPr/>
        </p:nvCxnSpPr>
        <p:spPr>
          <a:xfrm rot="10800000" flipV="1">
            <a:off x="4109803" y="2857199"/>
            <a:ext cx="1203411" cy="82417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0" name="Straight Arrow Connector 50">
            <a:extLst>
              <a:ext uri="{FF2B5EF4-FFF2-40B4-BE49-F238E27FC236}">
                <a16:creationId xmlns:a16="http://schemas.microsoft.com/office/drawing/2014/main" id="{D331AC4B-B764-4240-4806-30D6D2356795}"/>
              </a:ext>
            </a:extLst>
          </p:cNvPr>
          <p:cNvCxnSpPr>
            <a:cxnSpLocks/>
          </p:cNvCxnSpPr>
          <p:nvPr/>
        </p:nvCxnSpPr>
        <p:spPr>
          <a:xfrm rot="10800000" flipV="1">
            <a:off x="5895251" y="2890562"/>
            <a:ext cx="1386277" cy="821044"/>
          </a:xfrm>
          <a:prstGeom prst="bentConnector3">
            <a:avLst>
              <a:gd name="adj1" fmla="val 41042"/>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4" name="Straight Arrow Connector 50">
            <a:extLst>
              <a:ext uri="{FF2B5EF4-FFF2-40B4-BE49-F238E27FC236}">
                <a16:creationId xmlns:a16="http://schemas.microsoft.com/office/drawing/2014/main" id="{2DB609F2-DAE9-7E0F-3A8E-553BD2C60EF5}"/>
              </a:ext>
            </a:extLst>
          </p:cNvPr>
          <p:cNvCxnSpPr>
            <a:cxnSpLocks/>
          </p:cNvCxnSpPr>
          <p:nvPr/>
        </p:nvCxnSpPr>
        <p:spPr>
          <a:xfrm rot="10800000" flipV="1">
            <a:off x="7833333" y="2866397"/>
            <a:ext cx="1106879" cy="827597"/>
          </a:xfrm>
          <a:prstGeom prst="bentConnector3">
            <a:avLst>
              <a:gd name="adj1" fmla="val 54917"/>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1" name="Straight Arrow Connector 50">
            <a:extLst>
              <a:ext uri="{FF2B5EF4-FFF2-40B4-BE49-F238E27FC236}">
                <a16:creationId xmlns:a16="http://schemas.microsoft.com/office/drawing/2014/main" id="{418700F1-65CE-8079-F866-1FC5013C84C4}"/>
              </a:ext>
            </a:extLst>
          </p:cNvPr>
          <p:cNvCxnSpPr>
            <a:cxnSpLocks/>
          </p:cNvCxnSpPr>
          <p:nvPr/>
        </p:nvCxnSpPr>
        <p:spPr>
          <a:xfrm rot="10800000" flipV="1">
            <a:off x="9504660" y="2842461"/>
            <a:ext cx="1387898" cy="87421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36" name="Rounded Rectangle 1035">
            <a:extLst>
              <a:ext uri="{FF2B5EF4-FFF2-40B4-BE49-F238E27FC236}">
                <a16:creationId xmlns:a16="http://schemas.microsoft.com/office/drawing/2014/main" id="{77ED80D0-ADC2-2B15-5198-71BA324DBD0B}"/>
              </a:ext>
            </a:extLst>
          </p:cNvPr>
          <p:cNvSpPr/>
          <p:nvPr/>
        </p:nvSpPr>
        <p:spPr>
          <a:xfrm>
            <a:off x="4039410" y="3563591"/>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43" name="Rounded Rectangle 1042">
            <a:extLst>
              <a:ext uri="{FF2B5EF4-FFF2-40B4-BE49-F238E27FC236}">
                <a16:creationId xmlns:a16="http://schemas.microsoft.com/office/drawing/2014/main" id="{B87ACAD4-D674-6464-876F-C3A1D0147B92}"/>
              </a:ext>
            </a:extLst>
          </p:cNvPr>
          <p:cNvSpPr/>
          <p:nvPr/>
        </p:nvSpPr>
        <p:spPr>
          <a:xfrm>
            <a:off x="7880280" y="3597576"/>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44" name="Rounded Rectangle 1043">
            <a:extLst>
              <a:ext uri="{FF2B5EF4-FFF2-40B4-BE49-F238E27FC236}">
                <a16:creationId xmlns:a16="http://schemas.microsoft.com/office/drawing/2014/main" id="{E20EF282-280C-4509-F566-67A015F10F18}"/>
              </a:ext>
            </a:extLst>
          </p:cNvPr>
          <p:cNvSpPr/>
          <p:nvPr/>
        </p:nvSpPr>
        <p:spPr>
          <a:xfrm>
            <a:off x="9587626" y="3563591"/>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27" name="Rounded Rectangle 1026">
            <a:extLst>
              <a:ext uri="{FF2B5EF4-FFF2-40B4-BE49-F238E27FC236}">
                <a16:creationId xmlns:a16="http://schemas.microsoft.com/office/drawing/2014/main" id="{31560005-E8FD-2C99-144A-D09231698E30}"/>
              </a:ext>
            </a:extLst>
          </p:cNvPr>
          <p:cNvSpPr/>
          <p:nvPr/>
        </p:nvSpPr>
        <p:spPr>
          <a:xfrm>
            <a:off x="10096238" y="1904775"/>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28" name="Rounded Rectangle 1027">
            <a:extLst>
              <a:ext uri="{FF2B5EF4-FFF2-40B4-BE49-F238E27FC236}">
                <a16:creationId xmlns:a16="http://schemas.microsoft.com/office/drawing/2014/main" id="{BEEE08B3-B336-F0BE-CDBC-EB9C8E91BE65}"/>
              </a:ext>
            </a:extLst>
          </p:cNvPr>
          <p:cNvSpPr/>
          <p:nvPr/>
        </p:nvSpPr>
        <p:spPr>
          <a:xfrm>
            <a:off x="10147604" y="3185363"/>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cxnSp>
        <p:nvCxnSpPr>
          <p:cNvPr id="1053" name="Straight Arrow Connector 50">
            <a:extLst>
              <a:ext uri="{FF2B5EF4-FFF2-40B4-BE49-F238E27FC236}">
                <a16:creationId xmlns:a16="http://schemas.microsoft.com/office/drawing/2014/main" id="{8A446C55-EB5F-77F4-8610-575AAED59916}"/>
              </a:ext>
            </a:extLst>
          </p:cNvPr>
          <p:cNvCxnSpPr>
            <a:cxnSpLocks/>
            <a:stCxn id="32" idx="0"/>
            <a:endCxn id="1027" idx="0"/>
          </p:cNvCxnSpPr>
          <p:nvPr/>
        </p:nvCxnSpPr>
        <p:spPr>
          <a:xfrm rot="16200000" flipH="1">
            <a:off x="8804228" y="419535"/>
            <a:ext cx="185833" cy="2784647"/>
          </a:xfrm>
          <a:prstGeom prst="bentConnector3">
            <a:avLst>
              <a:gd name="adj1" fmla="val -123014"/>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2" name="Straight Arrow Connector 50">
            <a:extLst>
              <a:ext uri="{FF2B5EF4-FFF2-40B4-BE49-F238E27FC236}">
                <a16:creationId xmlns:a16="http://schemas.microsoft.com/office/drawing/2014/main" id="{88042CF7-181B-E257-CD36-083A33679C05}"/>
              </a:ext>
            </a:extLst>
          </p:cNvPr>
          <p:cNvCxnSpPr>
            <a:cxnSpLocks/>
            <a:stCxn id="1043" idx="2"/>
            <a:endCxn id="1028" idx="2"/>
          </p:cNvCxnSpPr>
          <p:nvPr/>
        </p:nvCxnSpPr>
        <p:spPr>
          <a:xfrm rot="5400000" flipH="1" flipV="1">
            <a:off x="9003914" y="2514914"/>
            <a:ext cx="419123" cy="2254717"/>
          </a:xfrm>
          <a:prstGeom prst="bentConnector3">
            <a:avLst>
              <a:gd name="adj1" fmla="val -107611"/>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0" name="Straight Arrow Connector 50">
            <a:extLst>
              <a:ext uri="{FF2B5EF4-FFF2-40B4-BE49-F238E27FC236}">
                <a16:creationId xmlns:a16="http://schemas.microsoft.com/office/drawing/2014/main" id="{9D2FB413-284A-3D54-1008-45EECC3A28FA}"/>
              </a:ext>
            </a:extLst>
          </p:cNvPr>
          <p:cNvCxnSpPr>
            <a:cxnSpLocks/>
            <a:stCxn id="38" idx="0"/>
            <a:endCxn id="6" idx="0"/>
          </p:cNvCxnSpPr>
          <p:nvPr/>
        </p:nvCxnSpPr>
        <p:spPr>
          <a:xfrm rot="16200000" flipH="1">
            <a:off x="4943557" y="624318"/>
            <a:ext cx="817372" cy="3006621"/>
          </a:xfrm>
          <a:prstGeom prst="bentConnector3">
            <a:avLst>
              <a:gd name="adj1" fmla="val -27968"/>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3" name="Straight Arrow Connector 50">
            <a:extLst>
              <a:ext uri="{FF2B5EF4-FFF2-40B4-BE49-F238E27FC236}">
                <a16:creationId xmlns:a16="http://schemas.microsoft.com/office/drawing/2014/main" id="{AC072982-61C1-81C0-7EA3-F9F693CD7B31}"/>
              </a:ext>
            </a:extLst>
          </p:cNvPr>
          <p:cNvCxnSpPr>
            <a:cxnSpLocks/>
            <a:stCxn id="1036" idx="2"/>
            <a:endCxn id="6" idx="2"/>
          </p:cNvCxnSpPr>
          <p:nvPr/>
        </p:nvCxnSpPr>
        <p:spPr>
          <a:xfrm rot="5400000" flipH="1" flipV="1">
            <a:off x="5201204" y="2163500"/>
            <a:ext cx="698393" cy="2610306"/>
          </a:xfrm>
          <a:prstGeom prst="bentConnector3">
            <a:avLst>
              <a:gd name="adj1" fmla="val -61041"/>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6" name="Picture 2" descr="LLM or large language model with neural networks line art vector icon for  apps and websites Stock Vector | Adobe Stock">
            <a:extLst>
              <a:ext uri="{FF2B5EF4-FFF2-40B4-BE49-F238E27FC236}">
                <a16:creationId xmlns:a16="http://schemas.microsoft.com/office/drawing/2014/main" id="{E35B5606-8904-8403-21F6-F81782B451F5}"/>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6296"/>
          <a:stretch/>
        </p:blipFill>
        <p:spPr bwMode="auto">
          <a:xfrm>
            <a:off x="6582339" y="2536314"/>
            <a:ext cx="546429" cy="58314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PDF Icon SVG Vector &amp; PNG Free Download | UXWing">
            <a:extLst>
              <a:ext uri="{FF2B5EF4-FFF2-40B4-BE49-F238E27FC236}">
                <a16:creationId xmlns:a16="http://schemas.microsoft.com/office/drawing/2014/main" id="{3D05C3FD-48E5-3275-0FB6-7EEB49A8BFC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29075" y="1607147"/>
            <a:ext cx="353318" cy="3533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PDF Icon SVG Vector &amp; PNG Free Download | UXWing">
            <a:extLst>
              <a:ext uri="{FF2B5EF4-FFF2-40B4-BE49-F238E27FC236}">
                <a16:creationId xmlns:a16="http://schemas.microsoft.com/office/drawing/2014/main" id="{DBAFC0D4-08EE-095A-DEEE-85574433EFA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93354" y="1737345"/>
            <a:ext cx="353318" cy="35331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PDF Icon SVG Vector &amp; PNG Free Download | UXWing">
            <a:extLst>
              <a:ext uri="{FF2B5EF4-FFF2-40B4-BE49-F238E27FC236}">
                <a16:creationId xmlns:a16="http://schemas.microsoft.com/office/drawing/2014/main" id="{D033A3F0-75A3-DDC8-F297-BAFE183D615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0" y="3535168"/>
            <a:ext cx="353318" cy="353318"/>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PDF Icon SVG Vector &amp; PNG Free Download | UXWing">
            <a:extLst>
              <a:ext uri="{FF2B5EF4-FFF2-40B4-BE49-F238E27FC236}">
                <a16:creationId xmlns:a16="http://schemas.microsoft.com/office/drawing/2014/main" id="{455B9590-CB38-A6C2-AA38-66A8F5885B4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48199" y="1603034"/>
            <a:ext cx="353318" cy="35331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PDF Icon SVG Vector &amp; PNG Free Download | UXWing">
            <a:extLst>
              <a:ext uri="{FF2B5EF4-FFF2-40B4-BE49-F238E27FC236}">
                <a16:creationId xmlns:a16="http://schemas.microsoft.com/office/drawing/2014/main" id="{29FA346B-4754-57C5-4344-070922D6B40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12478" y="1733232"/>
            <a:ext cx="353318" cy="35331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PDF Icon SVG Vector &amp; PNG Free Download | UXWing">
            <a:extLst>
              <a:ext uri="{FF2B5EF4-FFF2-40B4-BE49-F238E27FC236}">
                <a16:creationId xmlns:a16="http://schemas.microsoft.com/office/drawing/2014/main" id="{085AF785-C90D-6988-D97B-CE41CD69C33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69968" y="3531055"/>
            <a:ext cx="353318" cy="39260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LLM or large language model with neural networks line art vector icon for  apps and websites Stock Vector | Adobe Stock">
            <a:extLst>
              <a:ext uri="{FF2B5EF4-FFF2-40B4-BE49-F238E27FC236}">
                <a16:creationId xmlns:a16="http://schemas.microsoft.com/office/drawing/2014/main" id="{7C013D99-8FD5-B71D-E9D0-8EA3BDCB53E3}"/>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4573"/>
          <a:stretch/>
        </p:blipFill>
        <p:spPr bwMode="auto">
          <a:xfrm>
            <a:off x="2847705" y="2523536"/>
            <a:ext cx="556476" cy="583142"/>
          </a:xfrm>
          <a:prstGeom prst="rect">
            <a:avLst/>
          </a:prstGeom>
          <a:noFill/>
          <a:extLst>
            <a:ext uri="{909E8E84-426E-40DD-AFC4-6F175D3DCCD1}">
              <a14:hiddenFill xmlns:a14="http://schemas.microsoft.com/office/drawing/2010/main">
                <a:solidFill>
                  <a:srgbClr val="FFFFFF"/>
                </a:solidFill>
              </a14:hiddenFill>
            </a:ext>
          </a:extLst>
        </p:spPr>
      </p:pic>
      <p:sp>
        <p:nvSpPr>
          <p:cNvPr id="57" name="Rounded Rectangle 56">
            <a:extLst>
              <a:ext uri="{FF2B5EF4-FFF2-40B4-BE49-F238E27FC236}">
                <a16:creationId xmlns:a16="http://schemas.microsoft.com/office/drawing/2014/main" id="{ECF7DD1B-BF44-6541-C6C4-FC09BE40EA4C}"/>
              </a:ext>
            </a:extLst>
          </p:cNvPr>
          <p:cNvSpPr/>
          <p:nvPr/>
        </p:nvSpPr>
        <p:spPr>
          <a:xfrm>
            <a:off x="8233016" y="2044888"/>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58" name="Rounded Rectangle 57">
            <a:extLst>
              <a:ext uri="{FF2B5EF4-FFF2-40B4-BE49-F238E27FC236}">
                <a16:creationId xmlns:a16="http://schemas.microsoft.com/office/drawing/2014/main" id="{CE84070D-766D-730B-3E20-C8BEB61F7592}"/>
              </a:ext>
            </a:extLst>
          </p:cNvPr>
          <p:cNvSpPr/>
          <p:nvPr/>
        </p:nvSpPr>
        <p:spPr>
          <a:xfrm>
            <a:off x="8222955" y="3263997"/>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61" name="Rounded Rectangle 60">
            <a:extLst>
              <a:ext uri="{FF2B5EF4-FFF2-40B4-BE49-F238E27FC236}">
                <a16:creationId xmlns:a16="http://schemas.microsoft.com/office/drawing/2014/main" id="{975851CB-0376-9193-8821-233EFA833C1E}"/>
              </a:ext>
            </a:extLst>
          </p:cNvPr>
          <p:cNvSpPr/>
          <p:nvPr/>
        </p:nvSpPr>
        <p:spPr>
          <a:xfrm>
            <a:off x="4454560" y="201294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63" name="Rounded Rectangle 62">
            <a:extLst>
              <a:ext uri="{FF2B5EF4-FFF2-40B4-BE49-F238E27FC236}">
                <a16:creationId xmlns:a16="http://schemas.microsoft.com/office/drawing/2014/main" id="{74AF6148-4FEC-2964-4CEB-CD1211F6A19F}"/>
              </a:ext>
            </a:extLst>
          </p:cNvPr>
          <p:cNvSpPr/>
          <p:nvPr/>
        </p:nvSpPr>
        <p:spPr>
          <a:xfrm>
            <a:off x="4505926" y="3293534"/>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cxnSp>
        <p:nvCxnSpPr>
          <p:cNvPr id="1035" name="Straight Arrow Connector 50">
            <a:extLst>
              <a:ext uri="{FF2B5EF4-FFF2-40B4-BE49-F238E27FC236}">
                <a16:creationId xmlns:a16="http://schemas.microsoft.com/office/drawing/2014/main" id="{5D0EAE7E-F969-5685-DE9F-E004D36D188C}"/>
              </a:ext>
            </a:extLst>
          </p:cNvPr>
          <p:cNvCxnSpPr>
            <a:cxnSpLocks/>
            <a:stCxn id="13" idx="0"/>
            <a:endCxn id="57" idx="0"/>
          </p:cNvCxnSpPr>
          <p:nvPr/>
        </p:nvCxnSpPr>
        <p:spPr>
          <a:xfrm rot="16200000" flipH="1">
            <a:off x="6797119" y="415761"/>
            <a:ext cx="437741" cy="2820513"/>
          </a:xfrm>
          <a:prstGeom prst="bentConnector3">
            <a:avLst>
              <a:gd name="adj1" fmla="val -94566"/>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9" name="Straight Arrow Connector 50">
            <a:extLst>
              <a:ext uri="{FF2B5EF4-FFF2-40B4-BE49-F238E27FC236}">
                <a16:creationId xmlns:a16="http://schemas.microsoft.com/office/drawing/2014/main" id="{25016F3C-0387-2FFC-F8D7-50A1A76C6998}"/>
              </a:ext>
            </a:extLst>
          </p:cNvPr>
          <p:cNvCxnSpPr>
            <a:cxnSpLocks/>
            <a:stCxn id="17" idx="2"/>
            <a:endCxn id="58" idx="2"/>
          </p:cNvCxnSpPr>
          <p:nvPr/>
        </p:nvCxnSpPr>
        <p:spPr>
          <a:xfrm rot="5400000" flipH="1" flipV="1">
            <a:off x="7155851" y="2628152"/>
            <a:ext cx="377141" cy="2143527"/>
          </a:xfrm>
          <a:prstGeom prst="bentConnector3">
            <a:avLst>
              <a:gd name="adj1" fmla="val -168736"/>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4514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AB05A-6BC5-DE9C-145C-84A46A027061}"/>
            </a:ext>
          </a:extLst>
        </p:cNvPr>
        <p:cNvGrpSpPr/>
        <p:nvPr/>
      </p:nvGrpSpPr>
      <p:grpSpPr>
        <a:xfrm>
          <a:off x="0" y="0"/>
          <a:ext cx="0" cy="0"/>
          <a:chOff x="0" y="0"/>
          <a:chExt cx="0" cy="0"/>
        </a:xfrm>
      </p:grpSpPr>
      <p:sp>
        <p:nvSpPr>
          <p:cNvPr id="19" name="Rounded Rectangle 18">
            <a:extLst>
              <a:ext uri="{FF2B5EF4-FFF2-40B4-BE49-F238E27FC236}">
                <a16:creationId xmlns:a16="http://schemas.microsoft.com/office/drawing/2014/main" id="{F226F788-19B3-651A-FFF3-99B24A0BCAA2}"/>
              </a:ext>
            </a:extLst>
          </p:cNvPr>
          <p:cNvSpPr/>
          <p:nvPr/>
        </p:nvSpPr>
        <p:spPr>
          <a:xfrm>
            <a:off x="6249013" y="1276215"/>
            <a:ext cx="2191370" cy="4774568"/>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ounded Rectangle 16">
            <a:extLst>
              <a:ext uri="{FF2B5EF4-FFF2-40B4-BE49-F238E27FC236}">
                <a16:creationId xmlns:a16="http://schemas.microsoft.com/office/drawing/2014/main" id="{0CDC9315-BACD-52F8-8138-894E91465BA0}"/>
              </a:ext>
            </a:extLst>
          </p:cNvPr>
          <p:cNvSpPr/>
          <p:nvPr/>
        </p:nvSpPr>
        <p:spPr>
          <a:xfrm>
            <a:off x="2631580" y="1276215"/>
            <a:ext cx="2191370" cy="4774568"/>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ounded Rectangle 5">
            <a:extLst>
              <a:ext uri="{FF2B5EF4-FFF2-40B4-BE49-F238E27FC236}">
                <a16:creationId xmlns:a16="http://schemas.microsoft.com/office/drawing/2014/main" id="{859BD9A7-4243-8554-A072-36C83B57F100}"/>
              </a:ext>
            </a:extLst>
          </p:cNvPr>
          <p:cNvSpPr/>
          <p:nvPr/>
        </p:nvSpPr>
        <p:spPr>
          <a:xfrm>
            <a:off x="2486540" y="395930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1" name="Rounded Rectangle 10">
            <a:extLst>
              <a:ext uri="{FF2B5EF4-FFF2-40B4-BE49-F238E27FC236}">
                <a16:creationId xmlns:a16="http://schemas.microsoft.com/office/drawing/2014/main" id="{2368881F-FB9D-09EE-0AD0-E47149EFF737}"/>
              </a:ext>
            </a:extLst>
          </p:cNvPr>
          <p:cNvSpPr/>
          <p:nvPr/>
        </p:nvSpPr>
        <p:spPr>
          <a:xfrm>
            <a:off x="4329947" y="3966741"/>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2" name="Rounded Rectangle 11">
            <a:extLst>
              <a:ext uri="{FF2B5EF4-FFF2-40B4-BE49-F238E27FC236}">
                <a16:creationId xmlns:a16="http://schemas.microsoft.com/office/drawing/2014/main" id="{85D46F9A-9402-6172-A49E-1FA07C5246BD}"/>
              </a:ext>
            </a:extLst>
          </p:cNvPr>
          <p:cNvSpPr/>
          <p:nvPr/>
        </p:nvSpPr>
        <p:spPr>
          <a:xfrm>
            <a:off x="6132210" y="3975205"/>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3" name="Rounded Rectangle 12">
            <a:extLst>
              <a:ext uri="{FF2B5EF4-FFF2-40B4-BE49-F238E27FC236}">
                <a16:creationId xmlns:a16="http://schemas.microsoft.com/office/drawing/2014/main" id="{2B93C6F1-7757-573C-1272-BF45E79C1F09}"/>
              </a:ext>
            </a:extLst>
          </p:cNvPr>
          <p:cNvSpPr/>
          <p:nvPr/>
        </p:nvSpPr>
        <p:spPr>
          <a:xfrm>
            <a:off x="7985836" y="3971360"/>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4" name="Rounded Rectangle 13">
            <a:extLst>
              <a:ext uri="{FF2B5EF4-FFF2-40B4-BE49-F238E27FC236}">
                <a16:creationId xmlns:a16="http://schemas.microsoft.com/office/drawing/2014/main" id="{55CB316D-4A04-B551-3FCE-14B8A590E312}"/>
              </a:ext>
            </a:extLst>
          </p:cNvPr>
          <p:cNvSpPr/>
          <p:nvPr/>
        </p:nvSpPr>
        <p:spPr>
          <a:xfrm>
            <a:off x="9757283" y="3971360"/>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7" name="Rounded Rectangle 1076">
            <a:extLst>
              <a:ext uri="{FF2B5EF4-FFF2-40B4-BE49-F238E27FC236}">
                <a16:creationId xmlns:a16="http://schemas.microsoft.com/office/drawing/2014/main" id="{9AE9A45D-6EE3-B81B-B85F-5194B9FA6CC5}"/>
              </a:ext>
            </a:extLst>
          </p:cNvPr>
          <p:cNvSpPr/>
          <p:nvPr/>
        </p:nvSpPr>
        <p:spPr>
          <a:xfrm>
            <a:off x="1382797" y="1798775"/>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8" name="Rounded Rectangle 1077">
            <a:extLst>
              <a:ext uri="{FF2B5EF4-FFF2-40B4-BE49-F238E27FC236}">
                <a16:creationId xmlns:a16="http://schemas.microsoft.com/office/drawing/2014/main" id="{5EB20350-2163-C843-6288-4A4B34295702}"/>
              </a:ext>
            </a:extLst>
          </p:cNvPr>
          <p:cNvSpPr/>
          <p:nvPr/>
        </p:nvSpPr>
        <p:spPr>
          <a:xfrm>
            <a:off x="3226204" y="180621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9" name="Rounded Rectangle 1078">
            <a:extLst>
              <a:ext uri="{FF2B5EF4-FFF2-40B4-BE49-F238E27FC236}">
                <a16:creationId xmlns:a16="http://schemas.microsoft.com/office/drawing/2014/main" id="{A34F7C50-093F-84BC-ACAA-B7ED40D4C73D}"/>
              </a:ext>
            </a:extLst>
          </p:cNvPr>
          <p:cNvSpPr/>
          <p:nvPr/>
        </p:nvSpPr>
        <p:spPr>
          <a:xfrm>
            <a:off x="5028467" y="1814677"/>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0" name="Rounded Rectangle 1079">
            <a:extLst>
              <a:ext uri="{FF2B5EF4-FFF2-40B4-BE49-F238E27FC236}">
                <a16:creationId xmlns:a16="http://schemas.microsoft.com/office/drawing/2014/main" id="{6A849DC4-ADD8-C085-EC98-D843AC924D75}"/>
              </a:ext>
            </a:extLst>
          </p:cNvPr>
          <p:cNvSpPr/>
          <p:nvPr/>
        </p:nvSpPr>
        <p:spPr>
          <a:xfrm>
            <a:off x="6882093" y="181083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1" name="Rounded Rectangle 1080">
            <a:extLst>
              <a:ext uri="{FF2B5EF4-FFF2-40B4-BE49-F238E27FC236}">
                <a16:creationId xmlns:a16="http://schemas.microsoft.com/office/drawing/2014/main" id="{7FA18D37-6EF0-4E24-EDC6-BE73377F5EA4}"/>
              </a:ext>
            </a:extLst>
          </p:cNvPr>
          <p:cNvSpPr/>
          <p:nvPr/>
        </p:nvSpPr>
        <p:spPr>
          <a:xfrm>
            <a:off x="8653540" y="181083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2" name="Rounded Rectangle 1081">
            <a:extLst>
              <a:ext uri="{FF2B5EF4-FFF2-40B4-BE49-F238E27FC236}">
                <a16:creationId xmlns:a16="http://schemas.microsoft.com/office/drawing/2014/main" id="{7B29E2EF-8057-8C05-3274-AEC0A193055F}"/>
              </a:ext>
            </a:extLst>
          </p:cNvPr>
          <p:cNvSpPr/>
          <p:nvPr/>
        </p:nvSpPr>
        <p:spPr>
          <a:xfrm>
            <a:off x="10609818" y="179676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pic>
        <p:nvPicPr>
          <p:cNvPr id="1026" name="Picture 2" descr="Smelting - Free construction and tools icons">
            <a:extLst>
              <a:ext uri="{FF2B5EF4-FFF2-40B4-BE49-F238E27FC236}">
                <a16:creationId xmlns:a16="http://schemas.microsoft.com/office/drawing/2014/main" id="{C333EC0F-6004-AB6E-1251-B47AAE7FE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8570" y="2764270"/>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Chemical Plant 2 icon - Free vector (SVG) - Free PNG - Copyicon.com">
            <a:extLst>
              <a:ext uri="{FF2B5EF4-FFF2-40B4-BE49-F238E27FC236}">
                <a16:creationId xmlns:a16="http://schemas.microsoft.com/office/drawing/2014/main" id="{8E44FF75-5905-D2C2-B0DE-EEDD469E1F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0324" y="2729315"/>
            <a:ext cx="631824" cy="5589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EAF6032-1085-980E-AC29-B585EB60A23D}"/>
              </a:ext>
            </a:extLst>
          </p:cNvPr>
          <p:cNvPicPr>
            <a:picLocks noChangeAspect="1"/>
          </p:cNvPicPr>
          <p:nvPr/>
        </p:nvPicPr>
        <p:blipFill>
          <a:blip r:embed="rId5"/>
          <a:stretch>
            <a:fillRect/>
          </a:stretch>
        </p:blipFill>
        <p:spPr>
          <a:xfrm>
            <a:off x="1479819" y="2655340"/>
            <a:ext cx="815704" cy="721655"/>
          </a:xfrm>
          <a:prstGeom prst="rect">
            <a:avLst/>
          </a:prstGeom>
        </p:spPr>
      </p:pic>
      <p:sp>
        <p:nvSpPr>
          <p:cNvPr id="7" name="TextBox 6">
            <a:extLst>
              <a:ext uri="{FF2B5EF4-FFF2-40B4-BE49-F238E27FC236}">
                <a16:creationId xmlns:a16="http://schemas.microsoft.com/office/drawing/2014/main" id="{7AD34150-BE4B-EE33-CE2F-8D5E71BFA2BC}"/>
              </a:ext>
            </a:extLst>
          </p:cNvPr>
          <p:cNvSpPr txBox="1"/>
          <p:nvPr/>
        </p:nvSpPr>
        <p:spPr>
          <a:xfrm>
            <a:off x="1626216" y="2439690"/>
            <a:ext cx="540327"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Mine</a:t>
            </a:r>
          </a:p>
        </p:txBody>
      </p:sp>
      <p:sp>
        <p:nvSpPr>
          <p:cNvPr id="8" name="TextBox 7">
            <a:extLst>
              <a:ext uri="{FF2B5EF4-FFF2-40B4-BE49-F238E27FC236}">
                <a16:creationId xmlns:a16="http://schemas.microsoft.com/office/drawing/2014/main" id="{5C455D25-5E64-CE2B-6FF4-A27265CBD747}"/>
              </a:ext>
            </a:extLst>
          </p:cNvPr>
          <p:cNvSpPr txBox="1"/>
          <p:nvPr/>
        </p:nvSpPr>
        <p:spPr>
          <a:xfrm>
            <a:off x="8539039" y="2439690"/>
            <a:ext cx="125126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Manufacturer</a:t>
            </a:r>
          </a:p>
        </p:txBody>
      </p:sp>
      <p:sp>
        <p:nvSpPr>
          <p:cNvPr id="9" name="TextBox 8">
            <a:extLst>
              <a:ext uri="{FF2B5EF4-FFF2-40B4-BE49-F238E27FC236}">
                <a16:creationId xmlns:a16="http://schemas.microsoft.com/office/drawing/2014/main" id="{684612D5-9A0E-E7AC-37ED-0B9EEE043411}"/>
              </a:ext>
            </a:extLst>
          </p:cNvPr>
          <p:cNvSpPr txBox="1"/>
          <p:nvPr/>
        </p:nvSpPr>
        <p:spPr>
          <a:xfrm>
            <a:off x="5198833" y="2439690"/>
            <a:ext cx="681792"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Refiner</a:t>
            </a:r>
          </a:p>
        </p:txBody>
      </p:sp>
      <p:sp>
        <p:nvSpPr>
          <p:cNvPr id="10" name="TextBox 9">
            <a:extLst>
              <a:ext uri="{FF2B5EF4-FFF2-40B4-BE49-F238E27FC236}">
                <a16:creationId xmlns:a16="http://schemas.microsoft.com/office/drawing/2014/main" id="{076CD92C-F40A-4EBD-8211-E39D2207F840}"/>
              </a:ext>
            </a:extLst>
          </p:cNvPr>
          <p:cNvSpPr txBox="1"/>
          <p:nvPr/>
        </p:nvSpPr>
        <p:spPr>
          <a:xfrm>
            <a:off x="10427604" y="2458691"/>
            <a:ext cx="127971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OEM</a:t>
            </a:r>
          </a:p>
        </p:txBody>
      </p:sp>
      <p:pic>
        <p:nvPicPr>
          <p:cNvPr id="15" name="Picture 6" descr="Factory Icon in Material Design">
            <a:extLst>
              <a:ext uri="{FF2B5EF4-FFF2-40B4-BE49-F238E27FC236}">
                <a16:creationId xmlns:a16="http://schemas.microsoft.com/office/drawing/2014/main" id="{D356EA14-412E-10D3-B6FC-A6112079D7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27323" y="2721245"/>
            <a:ext cx="640946" cy="56704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4" descr="Car manufacturing - Free industry icons">
            <a:extLst>
              <a:ext uri="{FF2B5EF4-FFF2-40B4-BE49-F238E27FC236}">
                <a16:creationId xmlns:a16="http://schemas.microsoft.com/office/drawing/2014/main" id="{DCDFF853-1A99-8747-3DD8-37323F7E34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79669" y="2764270"/>
            <a:ext cx="543362" cy="480713"/>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F01CF85A-CE47-191B-2911-16CA6828568F}"/>
              </a:ext>
            </a:extLst>
          </p:cNvPr>
          <p:cNvSpPr txBox="1"/>
          <p:nvPr/>
        </p:nvSpPr>
        <p:spPr>
          <a:xfrm>
            <a:off x="3359236" y="2439690"/>
            <a:ext cx="764376"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prstClr val="black"/>
                </a:solidFill>
                <a:effectLst/>
                <a:uLnTx/>
                <a:uFillTx/>
                <a:latin typeface="Calibri" panose="020F0502020204030204"/>
                <a:ea typeface="+mn-ea"/>
                <a:cs typeface="+mn-cs"/>
              </a:rPr>
              <a:t>Smelter</a:t>
            </a:r>
          </a:p>
        </p:txBody>
      </p:sp>
      <p:sp>
        <p:nvSpPr>
          <p:cNvPr id="36" name="TextBox 35">
            <a:extLst>
              <a:ext uri="{FF2B5EF4-FFF2-40B4-BE49-F238E27FC236}">
                <a16:creationId xmlns:a16="http://schemas.microsoft.com/office/drawing/2014/main" id="{644251B2-4123-8BE0-251F-713321A915EB}"/>
              </a:ext>
            </a:extLst>
          </p:cNvPr>
          <p:cNvSpPr txBox="1"/>
          <p:nvPr/>
        </p:nvSpPr>
        <p:spPr>
          <a:xfrm>
            <a:off x="6872494" y="2439690"/>
            <a:ext cx="1049824"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prstClr val="black"/>
                </a:solidFill>
                <a:effectLst/>
                <a:uLnTx/>
                <a:uFillTx/>
                <a:latin typeface="Calibri" panose="020F0502020204030204"/>
                <a:ea typeface="+mn-ea"/>
                <a:cs typeface="+mn-cs"/>
              </a:rPr>
              <a:t>Fabricator</a:t>
            </a:r>
          </a:p>
        </p:txBody>
      </p:sp>
      <p:pic>
        <p:nvPicPr>
          <p:cNvPr id="1030" name="Picture 6" descr="2,500+ Gravel Icon Stock Illustrations, Royalty-Free Vector Graphics &amp; Clip  Art - iStock">
            <a:extLst>
              <a:ext uri="{FF2B5EF4-FFF2-40B4-BE49-F238E27FC236}">
                <a16:creationId xmlns:a16="http://schemas.microsoft.com/office/drawing/2014/main" id="{0A5792F0-442F-8030-DC45-47750243C9B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114" t="15270" r="15934" b="16995"/>
          <a:stretch/>
        </p:blipFill>
        <p:spPr bwMode="auto">
          <a:xfrm>
            <a:off x="1720790" y="3700463"/>
            <a:ext cx="372861" cy="3952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got - Free business icons">
            <a:extLst>
              <a:ext uri="{FF2B5EF4-FFF2-40B4-BE49-F238E27FC236}">
                <a16:creationId xmlns:a16="http://schemas.microsoft.com/office/drawing/2014/main" id="{29867A93-774D-228A-940D-0E2A9DF2D3A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72071" y="3714271"/>
            <a:ext cx="410291" cy="436275"/>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B4A9D18B-6815-94FD-6CB1-4D6F3728F5AC}"/>
              </a:ext>
            </a:extLst>
          </p:cNvPr>
          <p:cNvSpPr txBox="1"/>
          <p:nvPr/>
        </p:nvSpPr>
        <p:spPr>
          <a:xfrm>
            <a:off x="1472321" y="3482377"/>
            <a:ext cx="102904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Concentrate</a:t>
            </a:r>
          </a:p>
        </p:txBody>
      </p:sp>
      <p:sp>
        <p:nvSpPr>
          <p:cNvPr id="43" name="TextBox 42">
            <a:extLst>
              <a:ext uri="{FF2B5EF4-FFF2-40B4-BE49-F238E27FC236}">
                <a16:creationId xmlns:a16="http://schemas.microsoft.com/office/drawing/2014/main" id="{772BB1C1-88CD-7A2E-F7E3-B80FB129CE38}"/>
              </a:ext>
            </a:extLst>
          </p:cNvPr>
          <p:cNvSpPr txBox="1"/>
          <p:nvPr/>
        </p:nvSpPr>
        <p:spPr>
          <a:xfrm>
            <a:off x="8832288" y="3482377"/>
            <a:ext cx="88840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Battery</a:t>
            </a:r>
          </a:p>
        </p:txBody>
      </p:sp>
      <p:sp>
        <p:nvSpPr>
          <p:cNvPr id="44" name="TextBox 43">
            <a:extLst>
              <a:ext uri="{FF2B5EF4-FFF2-40B4-BE49-F238E27FC236}">
                <a16:creationId xmlns:a16="http://schemas.microsoft.com/office/drawing/2014/main" id="{74E6E545-34D5-60F4-5A06-DE84ED3687CC}"/>
              </a:ext>
            </a:extLst>
          </p:cNvPr>
          <p:cNvSpPr txBox="1"/>
          <p:nvPr/>
        </p:nvSpPr>
        <p:spPr>
          <a:xfrm>
            <a:off x="5187190" y="3482377"/>
            <a:ext cx="82918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Cathodes</a:t>
            </a:r>
          </a:p>
        </p:txBody>
      </p:sp>
      <p:sp>
        <p:nvSpPr>
          <p:cNvPr id="45" name="TextBox 44">
            <a:extLst>
              <a:ext uri="{FF2B5EF4-FFF2-40B4-BE49-F238E27FC236}">
                <a16:creationId xmlns:a16="http://schemas.microsoft.com/office/drawing/2014/main" id="{2636C4B8-51DF-164B-941A-8AAF6A0A8031}"/>
              </a:ext>
            </a:extLst>
          </p:cNvPr>
          <p:cNvSpPr txBox="1"/>
          <p:nvPr/>
        </p:nvSpPr>
        <p:spPr>
          <a:xfrm>
            <a:off x="10631157" y="3446824"/>
            <a:ext cx="888402"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EV</a:t>
            </a:r>
          </a:p>
        </p:txBody>
      </p:sp>
      <p:sp>
        <p:nvSpPr>
          <p:cNvPr id="47" name="TextBox 46">
            <a:extLst>
              <a:ext uri="{FF2B5EF4-FFF2-40B4-BE49-F238E27FC236}">
                <a16:creationId xmlns:a16="http://schemas.microsoft.com/office/drawing/2014/main" id="{60D9F9F1-C3B8-C871-80B2-EB848E7194CE}"/>
              </a:ext>
            </a:extLst>
          </p:cNvPr>
          <p:cNvSpPr txBox="1"/>
          <p:nvPr/>
        </p:nvSpPr>
        <p:spPr>
          <a:xfrm>
            <a:off x="3403372" y="3482377"/>
            <a:ext cx="62261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Blister</a:t>
            </a:r>
          </a:p>
        </p:txBody>
      </p:sp>
      <p:sp>
        <p:nvSpPr>
          <p:cNvPr id="48" name="TextBox 47">
            <a:extLst>
              <a:ext uri="{FF2B5EF4-FFF2-40B4-BE49-F238E27FC236}">
                <a16:creationId xmlns:a16="http://schemas.microsoft.com/office/drawing/2014/main" id="{7AECA904-4649-8C93-859B-4526D3DB8233}"/>
              </a:ext>
            </a:extLst>
          </p:cNvPr>
          <p:cNvSpPr txBox="1"/>
          <p:nvPr/>
        </p:nvSpPr>
        <p:spPr>
          <a:xfrm>
            <a:off x="7283435" y="3482377"/>
            <a:ext cx="54497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Foil</a:t>
            </a:r>
          </a:p>
        </p:txBody>
      </p:sp>
      <p:pic>
        <p:nvPicPr>
          <p:cNvPr id="1040" name="Picture 16" descr="Bullion, gold, ingot, meta, metal, nugget, precious icon - Download on  Iconfinder">
            <a:extLst>
              <a:ext uri="{FF2B5EF4-FFF2-40B4-BE49-F238E27FC236}">
                <a16:creationId xmlns:a16="http://schemas.microsoft.com/office/drawing/2014/main" id="{6AE870FC-40A1-8855-7609-6F75F4FE293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23125" y="3663499"/>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luminum foil icon 37133487 Vector Art at Vecteezy">
            <a:extLst>
              <a:ext uri="{FF2B5EF4-FFF2-40B4-BE49-F238E27FC236}">
                <a16:creationId xmlns:a16="http://schemas.microsoft.com/office/drawing/2014/main" id="{3BEB2694-0DB3-9012-5946-5B1BB674740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76604" y="3767171"/>
            <a:ext cx="443840" cy="29591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0" descr="ev battery outline icon Stock Vector | Adobe Stock">
            <a:extLst>
              <a:ext uri="{FF2B5EF4-FFF2-40B4-BE49-F238E27FC236}">
                <a16:creationId xmlns:a16="http://schemas.microsoft.com/office/drawing/2014/main" id="{1A55313D-9004-B833-C084-56E8F7624C9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8991084" y="3772069"/>
            <a:ext cx="412986" cy="38838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Electric car - Free transport icons">
            <a:extLst>
              <a:ext uri="{FF2B5EF4-FFF2-40B4-BE49-F238E27FC236}">
                <a16:creationId xmlns:a16="http://schemas.microsoft.com/office/drawing/2014/main" id="{8DBBBB9B-A866-CDBF-2969-F945B390D73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11889" y="3635734"/>
            <a:ext cx="511142" cy="543513"/>
          </a:xfrm>
          <a:prstGeom prst="rect">
            <a:avLst/>
          </a:prstGeom>
          <a:noFill/>
          <a:extLst>
            <a:ext uri="{909E8E84-426E-40DD-AFC4-6F175D3DCCD1}">
              <a14:hiddenFill xmlns:a14="http://schemas.microsoft.com/office/drawing/2010/main">
                <a:solidFill>
                  <a:srgbClr val="FFFFFF"/>
                </a:solidFill>
              </a14:hiddenFill>
            </a:ext>
          </a:extLst>
        </p:spPr>
      </p:pic>
      <p:sp>
        <p:nvSpPr>
          <p:cNvPr id="132" name="TextBox 131">
            <a:extLst>
              <a:ext uri="{FF2B5EF4-FFF2-40B4-BE49-F238E27FC236}">
                <a16:creationId xmlns:a16="http://schemas.microsoft.com/office/drawing/2014/main" id="{3620B2CA-49C7-4551-DB24-CC5BDA68F7B2}"/>
              </a:ext>
            </a:extLst>
          </p:cNvPr>
          <p:cNvSpPr txBox="1"/>
          <p:nvPr/>
        </p:nvSpPr>
        <p:spPr>
          <a:xfrm>
            <a:off x="1231295" y="4083837"/>
            <a:ext cx="113045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Consignment ID</a:t>
            </a:r>
          </a:p>
        </p:txBody>
      </p:sp>
      <p:sp>
        <p:nvSpPr>
          <p:cNvPr id="133" name="TextBox 132">
            <a:extLst>
              <a:ext uri="{FF2B5EF4-FFF2-40B4-BE49-F238E27FC236}">
                <a16:creationId xmlns:a16="http://schemas.microsoft.com/office/drawing/2014/main" id="{1F626A57-064B-5B2A-FC27-1798BF51179E}"/>
              </a:ext>
            </a:extLst>
          </p:cNvPr>
          <p:cNvSpPr txBox="1"/>
          <p:nvPr/>
        </p:nvSpPr>
        <p:spPr>
          <a:xfrm>
            <a:off x="3354261" y="4083837"/>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4" name="TextBox 133">
            <a:extLst>
              <a:ext uri="{FF2B5EF4-FFF2-40B4-BE49-F238E27FC236}">
                <a16:creationId xmlns:a16="http://schemas.microsoft.com/office/drawing/2014/main" id="{F95FB685-B44C-53EF-BDBC-283B0AC653B4}"/>
              </a:ext>
            </a:extLst>
          </p:cNvPr>
          <p:cNvSpPr txBox="1"/>
          <p:nvPr/>
        </p:nvSpPr>
        <p:spPr>
          <a:xfrm>
            <a:off x="5198730" y="4083837"/>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5" name="TextBox 134">
            <a:extLst>
              <a:ext uri="{FF2B5EF4-FFF2-40B4-BE49-F238E27FC236}">
                <a16:creationId xmlns:a16="http://schemas.microsoft.com/office/drawing/2014/main" id="{39E05579-CA4F-CE55-5F3D-CB7D60AFBCDE}"/>
              </a:ext>
            </a:extLst>
          </p:cNvPr>
          <p:cNvSpPr txBox="1"/>
          <p:nvPr/>
        </p:nvSpPr>
        <p:spPr>
          <a:xfrm>
            <a:off x="7118165" y="4083837"/>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6" name="TextBox 135">
            <a:extLst>
              <a:ext uri="{FF2B5EF4-FFF2-40B4-BE49-F238E27FC236}">
                <a16:creationId xmlns:a16="http://schemas.microsoft.com/office/drawing/2014/main" id="{BF7B7A12-AC60-FF93-EC7A-260478B24E33}"/>
              </a:ext>
            </a:extLst>
          </p:cNvPr>
          <p:cNvSpPr txBox="1"/>
          <p:nvPr/>
        </p:nvSpPr>
        <p:spPr>
          <a:xfrm>
            <a:off x="8827323" y="4083837"/>
            <a:ext cx="75966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Serial No.</a:t>
            </a:r>
          </a:p>
        </p:txBody>
      </p:sp>
      <p:sp>
        <p:nvSpPr>
          <p:cNvPr id="137" name="TextBox 136">
            <a:extLst>
              <a:ext uri="{FF2B5EF4-FFF2-40B4-BE49-F238E27FC236}">
                <a16:creationId xmlns:a16="http://schemas.microsoft.com/office/drawing/2014/main" id="{10812A41-923F-FC73-2729-F2C8F5010678}"/>
              </a:ext>
            </a:extLst>
          </p:cNvPr>
          <p:cNvSpPr txBox="1"/>
          <p:nvPr/>
        </p:nvSpPr>
        <p:spPr>
          <a:xfrm>
            <a:off x="10755186" y="4095129"/>
            <a:ext cx="39511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VIN</a:t>
            </a:r>
          </a:p>
        </p:txBody>
      </p:sp>
      <p:pic>
        <p:nvPicPr>
          <p:cNvPr id="140" name="Picture 28" descr="Vector Design Extrusion Icon Style | Premium Vector">
            <a:extLst>
              <a:ext uri="{FF2B5EF4-FFF2-40B4-BE49-F238E27FC236}">
                <a16:creationId xmlns:a16="http://schemas.microsoft.com/office/drawing/2014/main" id="{9F6871E2-C6FA-8D64-53A1-CFEBF61CA53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68639" y="2729315"/>
            <a:ext cx="564161" cy="599891"/>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9DAFC74F-6674-0DF7-F200-C6CA28286AAA}"/>
              </a:ext>
            </a:extLst>
          </p:cNvPr>
          <p:cNvSpPr/>
          <p:nvPr/>
        </p:nvSpPr>
        <p:spPr>
          <a:xfrm>
            <a:off x="8970149" y="195094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5" name="TextBox 34">
            <a:extLst>
              <a:ext uri="{FF2B5EF4-FFF2-40B4-BE49-F238E27FC236}">
                <a16:creationId xmlns:a16="http://schemas.microsoft.com/office/drawing/2014/main" id="{FA7E47DA-D16B-A062-8E2E-CB99497511B3}"/>
              </a:ext>
            </a:extLst>
          </p:cNvPr>
          <p:cNvSpPr txBox="1"/>
          <p:nvPr/>
        </p:nvSpPr>
        <p:spPr>
          <a:xfrm>
            <a:off x="1605523" y="3184043"/>
            <a:ext cx="56325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Site ID</a:t>
            </a:r>
          </a:p>
        </p:txBody>
      </p:sp>
      <p:sp>
        <p:nvSpPr>
          <p:cNvPr id="37" name="TextBox 36">
            <a:extLst>
              <a:ext uri="{FF2B5EF4-FFF2-40B4-BE49-F238E27FC236}">
                <a16:creationId xmlns:a16="http://schemas.microsoft.com/office/drawing/2014/main" id="{5759754E-4E8D-5A0E-1C6E-58F5E51D6AB2}"/>
              </a:ext>
            </a:extLst>
          </p:cNvPr>
          <p:cNvSpPr txBox="1"/>
          <p:nvPr/>
        </p:nvSpPr>
        <p:spPr>
          <a:xfrm>
            <a:off x="3440426" y="3249516"/>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0" name="TextBox 39">
            <a:extLst>
              <a:ext uri="{FF2B5EF4-FFF2-40B4-BE49-F238E27FC236}">
                <a16:creationId xmlns:a16="http://schemas.microsoft.com/office/drawing/2014/main" id="{3DD68204-5D9F-6508-008B-0D7139D56E4C}"/>
              </a:ext>
            </a:extLst>
          </p:cNvPr>
          <p:cNvSpPr txBox="1"/>
          <p:nvPr/>
        </p:nvSpPr>
        <p:spPr>
          <a:xfrm>
            <a:off x="8846771" y="3230603"/>
            <a:ext cx="59629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OSH ID</a:t>
            </a:r>
          </a:p>
        </p:txBody>
      </p:sp>
      <p:sp>
        <p:nvSpPr>
          <p:cNvPr id="41" name="TextBox 40">
            <a:extLst>
              <a:ext uri="{FF2B5EF4-FFF2-40B4-BE49-F238E27FC236}">
                <a16:creationId xmlns:a16="http://schemas.microsoft.com/office/drawing/2014/main" id="{91316E1F-712C-8056-8969-18E5AA77FA6C}"/>
              </a:ext>
            </a:extLst>
          </p:cNvPr>
          <p:cNvSpPr txBox="1"/>
          <p:nvPr/>
        </p:nvSpPr>
        <p:spPr>
          <a:xfrm>
            <a:off x="5208457" y="3235953"/>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9" name="TextBox 48">
            <a:extLst>
              <a:ext uri="{FF2B5EF4-FFF2-40B4-BE49-F238E27FC236}">
                <a16:creationId xmlns:a16="http://schemas.microsoft.com/office/drawing/2014/main" id="{C6D953CF-DD14-6F4B-150E-411CD06AC10E}"/>
              </a:ext>
            </a:extLst>
          </p:cNvPr>
          <p:cNvSpPr txBox="1"/>
          <p:nvPr/>
        </p:nvSpPr>
        <p:spPr>
          <a:xfrm>
            <a:off x="7220238" y="3268064"/>
            <a:ext cx="42082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GLN</a:t>
            </a:r>
          </a:p>
        </p:txBody>
      </p:sp>
      <p:sp>
        <p:nvSpPr>
          <p:cNvPr id="50" name="TextBox 49">
            <a:extLst>
              <a:ext uri="{FF2B5EF4-FFF2-40B4-BE49-F238E27FC236}">
                <a16:creationId xmlns:a16="http://schemas.microsoft.com/office/drawing/2014/main" id="{CFDADE13-3BA7-51C0-594C-DCDA4219728D}"/>
              </a:ext>
            </a:extLst>
          </p:cNvPr>
          <p:cNvSpPr txBox="1"/>
          <p:nvPr/>
        </p:nvSpPr>
        <p:spPr>
          <a:xfrm>
            <a:off x="10656359" y="3238495"/>
            <a:ext cx="93532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Company ID</a:t>
            </a:r>
          </a:p>
        </p:txBody>
      </p:sp>
      <p:sp>
        <p:nvSpPr>
          <p:cNvPr id="31" name="Rounded Rectangle 30">
            <a:extLst>
              <a:ext uri="{FF2B5EF4-FFF2-40B4-BE49-F238E27FC236}">
                <a16:creationId xmlns:a16="http://schemas.microsoft.com/office/drawing/2014/main" id="{5532DBE7-1963-B677-4DA3-F466331C4620}"/>
              </a:ext>
            </a:extLst>
          </p:cNvPr>
          <p:cNvSpPr/>
          <p:nvPr/>
        </p:nvSpPr>
        <p:spPr>
          <a:xfrm>
            <a:off x="10868839" y="195094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2" name="Rounded Rectangle 31">
            <a:extLst>
              <a:ext uri="{FF2B5EF4-FFF2-40B4-BE49-F238E27FC236}">
                <a16:creationId xmlns:a16="http://schemas.microsoft.com/office/drawing/2014/main" id="{D917CAB1-BDC0-3623-DA3B-B71A80840BC3}"/>
              </a:ext>
            </a:extLst>
          </p:cNvPr>
          <p:cNvSpPr/>
          <p:nvPr/>
        </p:nvSpPr>
        <p:spPr>
          <a:xfrm>
            <a:off x="7198702" y="195094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3" name="Rounded Rectangle 32">
            <a:extLst>
              <a:ext uri="{FF2B5EF4-FFF2-40B4-BE49-F238E27FC236}">
                <a16:creationId xmlns:a16="http://schemas.microsoft.com/office/drawing/2014/main" id="{5E112DC4-4AED-82A1-D60F-3DDB813A75E4}"/>
              </a:ext>
            </a:extLst>
          </p:cNvPr>
          <p:cNvSpPr/>
          <p:nvPr/>
        </p:nvSpPr>
        <p:spPr>
          <a:xfrm>
            <a:off x="5345076" y="195094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8" name="Rounded Rectangle 37">
            <a:extLst>
              <a:ext uri="{FF2B5EF4-FFF2-40B4-BE49-F238E27FC236}">
                <a16:creationId xmlns:a16="http://schemas.microsoft.com/office/drawing/2014/main" id="{0C2786C2-9A0E-28F2-CCC0-7124FBFF871B}"/>
              </a:ext>
            </a:extLst>
          </p:cNvPr>
          <p:cNvSpPr/>
          <p:nvPr/>
        </p:nvSpPr>
        <p:spPr>
          <a:xfrm>
            <a:off x="3542813" y="195094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9" name="Rounded Rectangle 38">
            <a:extLst>
              <a:ext uri="{FF2B5EF4-FFF2-40B4-BE49-F238E27FC236}">
                <a16:creationId xmlns:a16="http://schemas.microsoft.com/office/drawing/2014/main" id="{F29F9EC9-EF6E-A175-57E2-54383B6CD9D8}"/>
              </a:ext>
            </a:extLst>
          </p:cNvPr>
          <p:cNvSpPr/>
          <p:nvPr/>
        </p:nvSpPr>
        <p:spPr>
          <a:xfrm>
            <a:off x="1709731" y="195094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cxnSp>
        <p:nvCxnSpPr>
          <p:cNvPr id="51" name="Straight Arrow Connector 50">
            <a:extLst>
              <a:ext uri="{FF2B5EF4-FFF2-40B4-BE49-F238E27FC236}">
                <a16:creationId xmlns:a16="http://schemas.microsoft.com/office/drawing/2014/main" id="{B19AE038-7829-21A1-C8D1-9F36573B203E}"/>
              </a:ext>
            </a:extLst>
          </p:cNvPr>
          <p:cNvCxnSpPr>
            <a:cxnSpLocks/>
          </p:cNvCxnSpPr>
          <p:nvPr/>
        </p:nvCxnSpPr>
        <p:spPr>
          <a:xfrm rot="10800000">
            <a:off x="9356611" y="2077703"/>
            <a:ext cx="1423058" cy="845462"/>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50">
            <a:extLst>
              <a:ext uri="{FF2B5EF4-FFF2-40B4-BE49-F238E27FC236}">
                <a16:creationId xmlns:a16="http://schemas.microsoft.com/office/drawing/2014/main" id="{264822BE-9C9A-2977-9BC2-2EFF69FF2303}"/>
              </a:ext>
            </a:extLst>
          </p:cNvPr>
          <p:cNvCxnSpPr>
            <a:cxnSpLocks/>
          </p:cNvCxnSpPr>
          <p:nvPr/>
        </p:nvCxnSpPr>
        <p:spPr>
          <a:xfrm rot="10800000">
            <a:off x="7585164" y="2077710"/>
            <a:ext cx="1242159" cy="845591"/>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0">
            <a:extLst>
              <a:ext uri="{FF2B5EF4-FFF2-40B4-BE49-F238E27FC236}">
                <a16:creationId xmlns:a16="http://schemas.microsoft.com/office/drawing/2014/main" id="{60019435-A813-BD61-F838-005184F1D5E6}"/>
              </a:ext>
            </a:extLst>
          </p:cNvPr>
          <p:cNvCxnSpPr>
            <a:cxnSpLocks/>
          </p:cNvCxnSpPr>
          <p:nvPr/>
        </p:nvCxnSpPr>
        <p:spPr>
          <a:xfrm rot="10800000">
            <a:off x="5731539" y="2078823"/>
            <a:ext cx="1437101" cy="867856"/>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0">
            <a:extLst>
              <a:ext uri="{FF2B5EF4-FFF2-40B4-BE49-F238E27FC236}">
                <a16:creationId xmlns:a16="http://schemas.microsoft.com/office/drawing/2014/main" id="{55867127-1B96-8B81-5DF1-7DAAFEE4C896}"/>
              </a:ext>
            </a:extLst>
          </p:cNvPr>
          <p:cNvCxnSpPr>
            <a:cxnSpLocks/>
            <a:stCxn id="31" idx="2"/>
            <a:endCxn id="10" idx="0"/>
          </p:cNvCxnSpPr>
          <p:nvPr/>
        </p:nvCxnSpPr>
        <p:spPr>
          <a:xfrm>
            <a:off x="11062070" y="2198293"/>
            <a:ext cx="5390" cy="260398"/>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50">
            <a:extLst>
              <a:ext uri="{FF2B5EF4-FFF2-40B4-BE49-F238E27FC236}">
                <a16:creationId xmlns:a16="http://schemas.microsoft.com/office/drawing/2014/main" id="{36DE2E3B-4F1F-1AD3-742F-7455E3108615}"/>
              </a:ext>
            </a:extLst>
          </p:cNvPr>
          <p:cNvCxnSpPr>
            <a:cxnSpLocks/>
            <a:stCxn id="4" idx="2"/>
            <a:endCxn id="8" idx="0"/>
          </p:cNvCxnSpPr>
          <p:nvPr/>
        </p:nvCxnSpPr>
        <p:spPr>
          <a:xfrm>
            <a:off x="9163380" y="2198293"/>
            <a:ext cx="129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5" name="Straight Arrow Connector 50">
            <a:extLst>
              <a:ext uri="{FF2B5EF4-FFF2-40B4-BE49-F238E27FC236}">
                <a16:creationId xmlns:a16="http://schemas.microsoft.com/office/drawing/2014/main" id="{8D484045-C783-F3C4-FEED-F5C6FFD6B334}"/>
              </a:ext>
            </a:extLst>
          </p:cNvPr>
          <p:cNvCxnSpPr>
            <a:cxnSpLocks/>
            <a:stCxn id="32" idx="2"/>
            <a:endCxn id="36" idx="0"/>
          </p:cNvCxnSpPr>
          <p:nvPr/>
        </p:nvCxnSpPr>
        <p:spPr>
          <a:xfrm>
            <a:off x="7391933" y="2198293"/>
            <a:ext cx="547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9" name="Straight Arrow Connector 50">
            <a:extLst>
              <a:ext uri="{FF2B5EF4-FFF2-40B4-BE49-F238E27FC236}">
                <a16:creationId xmlns:a16="http://schemas.microsoft.com/office/drawing/2014/main" id="{87D36F1B-76B0-E1A6-3EFD-EC649EAAF828}"/>
              </a:ext>
            </a:extLst>
          </p:cNvPr>
          <p:cNvCxnSpPr>
            <a:cxnSpLocks/>
            <a:stCxn id="33" idx="2"/>
            <a:endCxn id="9" idx="0"/>
          </p:cNvCxnSpPr>
          <p:nvPr/>
        </p:nvCxnSpPr>
        <p:spPr>
          <a:xfrm>
            <a:off x="5538307" y="2198293"/>
            <a:ext cx="142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4" name="Straight Arrow Connector 50">
            <a:extLst>
              <a:ext uri="{FF2B5EF4-FFF2-40B4-BE49-F238E27FC236}">
                <a16:creationId xmlns:a16="http://schemas.microsoft.com/office/drawing/2014/main" id="{6FB5B67C-1281-CF0E-A429-2BB183FAC4E7}"/>
              </a:ext>
            </a:extLst>
          </p:cNvPr>
          <p:cNvCxnSpPr>
            <a:cxnSpLocks/>
            <a:stCxn id="38" idx="2"/>
            <a:endCxn id="34" idx="0"/>
          </p:cNvCxnSpPr>
          <p:nvPr/>
        </p:nvCxnSpPr>
        <p:spPr>
          <a:xfrm>
            <a:off x="3736044" y="2198293"/>
            <a:ext cx="5380"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7" name="Straight Arrow Connector 50">
            <a:extLst>
              <a:ext uri="{FF2B5EF4-FFF2-40B4-BE49-F238E27FC236}">
                <a16:creationId xmlns:a16="http://schemas.microsoft.com/office/drawing/2014/main" id="{59F5955C-D10F-7B37-3901-9685F7AF63B2}"/>
              </a:ext>
            </a:extLst>
          </p:cNvPr>
          <p:cNvCxnSpPr>
            <a:cxnSpLocks/>
            <a:stCxn id="39" idx="2"/>
            <a:endCxn id="7" idx="0"/>
          </p:cNvCxnSpPr>
          <p:nvPr/>
        </p:nvCxnSpPr>
        <p:spPr>
          <a:xfrm flipH="1">
            <a:off x="1896380" y="2198293"/>
            <a:ext cx="6582"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1" name="Straight Arrow Connector 50">
            <a:extLst>
              <a:ext uri="{FF2B5EF4-FFF2-40B4-BE49-F238E27FC236}">
                <a16:creationId xmlns:a16="http://schemas.microsoft.com/office/drawing/2014/main" id="{DFCEE53A-09F7-9AF3-273A-FBB9040A8804}"/>
              </a:ext>
            </a:extLst>
          </p:cNvPr>
          <p:cNvCxnSpPr>
            <a:cxnSpLocks/>
          </p:cNvCxnSpPr>
          <p:nvPr/>
        </p:nvCxnSpPr>
        <p:spPr>
          <a:xfrm rot="10800000">
            <a:off x="3929275" y="2064831"/>
            <a:ext cx="1271050" cy="849259"/>
          </a:xfrm>
          <a:prstGeom prst="bentConnector3">
            <a:avLst>
              <a:gd name="adj1" fmla="val 46292"/>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5" name="Straight Arrow Connector 50">
            <a:extLst>
              <a:ext uri="{FF2B5EF4-FFF2-40B4-BE49-F238E27FC236}">
                <a16:creationId xmlns:a16="http://schemas.microsoft.com/office/drawing/2014/main" id="{5C18FF7A-FE8F-C7C0-56B6-EDBE57639C7C}"/>
              </a:ext>
            </a:extLst>
          </p:cNvPr>
          <p:cNvCxnSpPr>
            <a:cxnSpLocks/>
          </p:cNvCxnSpPr>
          <p:nvPr/>
        </p:nvCxnSpPr>
        <p:spPr>
          <a:xfrm rot="10800000">
            <a:off x="2096193" y="2091291"/>
            <a:ext cx="1392377" cy="855953"/>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 name="Straight Arrow Connector 50">
            <a:extLst>
              <a:ext uri="{FF2B5EF4-FFF2-40B4-BE49-F238E27FC236}">
                <a16:creationId xmlns:a16="http://schemas.microsoft.com/office/drawing/2014/main" id="{0C2E1672-D340-502B-9D53-E61A605C0F7F}"/>
              </a:ext>
            </a:extLst>
          </p:cNvPr>
          <p:cNvCxnSpPr>
            <a:cxnSpLocks/>
          </p:cNvCxnSpPr>
          <p:nvPr/>
        </p:nvCxnSpPr>
        <p:spPr>
          <a:xfrm rot="10800000" flipV="1">
            <a:off x="2093651" y="3082378"/>
            <a:ext cx="1394919" cy="80172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0">
            <a:extLst>
              <a:ext uri="{FF2B5EF4-FFF2-40B4-BE49-F238E27FC236}">
                <a16:creationId xmlns:a16="http://schemas.microsoft.com/office/drawing/2014/main" id="{4981806D-7176-7A57-8019-FE191BBEBE95}"/>
              </a:ext>
            </a:extLst>
          </p:cNvPr>
          <p:cNvCxnSpPr>
            <a:cxnSpLocks/>
          </p:cNvCxnSpPr>
          <p:nvPr/>
        </p:nvCxnSpPr>
        <p:spPr>
          <a:xfrm rot="10800000" flipV="1">
            <a:off x="3996914" y="3089202"/>
            <a:ext cx="1203411" cy="82417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0" name="Straight Arrow Connector 50">
            <a:extLst>
              <a:ext uri="{FF2B5EF4-FFF2-40B4-BE49-F238E27FC236}">
                <a16:creationId xmlns:a16="http://schemas.microsoft.com/office/drawing/2014/main" id="{23985D2B-45D3-00A6-837E-170A68D75A6E}"/>
              </a:ext>
            </a:extLst>
          </p:cNvPr>
          <p:cNvCxnSpPr>
            <a:cxnSpLocks/>
          </p:cNvCxnSpPr>
          <p:nvPr/>
        </p:nvCxnSpPr>
        <p:spPr>
          <a:xfrm rot="10800000" flipV="1">
            <a:off x="5782362" y="3122565"/>
            <a:ext cx="1386277" cy="821044"/>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4" name="Straight Arrow Connector 50">
            <a:extLst>
              <a:ext uri="{FF2B5EF4-FFF2-40B4-BE49-F238E27FC236}">
                <a16:creationId xmlns:a16="http://schemas.microsoft.com/office/drawing/2014/main" id="{AB68A49F-9263-B2F1-50D3-8FED867476CC}"/>
              </a:ext>
            </a:extLst>
          </p:cNvPr>
          <p:cNvCxnSpPr>
            <a:cxnSpLocks/>
          </p:cNvCxnSpPr>
          <p:nvPr/>
        </p:nvCxnSpPr>
        <p:spPr>
          <a:xfrm rot="10800000" flipV="1">
            <a:off x="7720444" y="3098400"/>
            <a:ext cx="1106879" cy="827597"/>
          </a:xfrm>
          <a:prstGeom prst="bentConnector3">
            <a:avLst>
              <a:gd name="adj1" fmla="val 54917"/>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1" name="Straight Arrow Connector 50">
            <a:extLst>
              <a:ext uri="{FF2B5EF4-FFF2-40B4-BE49-F238E27FC236}">
                <a16:creationId xmlns:a16="http://schemas.microsoft.com/office/drawing/2014/main" id="{E0C1B33D-7610-463C-A5EE-D2D89B806B2C}"/>
              </a:ext>
            </a:extLst>
          </p:cNvPr>
          <p:cNvCxnSpPr>
            <a:cxnSpLocks/>
          </p:cNvCxnSpPr>
          <p:nvPr/>
        </p:nvCxnSpPr>
        <p:spPr>
          <a:xfrm rot="10800000" flipV="1">
            <a:off x="9391771" y="3074464"/>
            <a:ext cx="1387898" cy="87421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36" name="Rounded Rectangle 1035">
            <a:extLst>
              <a:ext uri="{FF2B5EF4-FFF2-40B4-BE49-F238E27FC236}">
                <a16:creationId xmlns:a16="http://schemas.microsoft.com/office/drawing/2014/main" id="{D8EC65F4-0714-6E5F-A85B-43AF73066601}"/>
              </a:ext>
            </a:extLst>
          </p:cNvPr>
          <p:cNvSpPr/>
          <p:nvPr/>
        </p:nvSpPr>
        <p:spPr>
          <a:xfrm>
            <a:off x="3926521" y="379559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38" name="Rounded Rectangle 1037">
            <a:extLst>
              <a:ext uri="{FF2B5EF4-FFF2-40B4-BE49-F238E27FC236}">
                <a16:creationId xmlns:a16="http://schemas.microsoft.com/office/drawing/2014/main" id="{8D2AC68D-694F-D5CB-A2BF-C7C6BB75C29A}"/>
              </a:ext>
            </a:extLst>
          </p:cNvPr>
          <p:cNvSpPr/>
          <p:nvPr/>
        </p:nvSpPr>
        <p:spPr>
          <a:xfrm>
            <a:off x="2166543" y="379559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39" name="Rounded Rectangle 1038">
            <a:extLst>
              <a:ext uri="{FF2B5EF4-FFF2-40B4-BE49-F238E27FC236}">
                <a16:creationId xmlns:a16="http://schemas.microsoft.com/office/drawing/2014/main" id="{A157465C-B5E3-8701-DECD-79237EAC9292}"/>
              </a:ext>
            </a:extLst>
          </p:cNvPr>
          <p:cNvSpPr/>
          <p:nvPr/>
        </p:nvSpPr>
        <p:spPr>
          <a:xfrm>
            <a:off x="5850497" y="379559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43" name="Rounded Rectangle 1042">
            <a:extLst>
              <a:ext uri="{FF2B5EF4-FFF2-40B4-BE49-F238E27FC236}">
                <a16:creationId xmlns:a16="http://schemas.microsoft.com/office/drawing/2014/main" id="{A37D2A64-88DA-2136-93E6-7ADFF0980EBF}"/>
              </a:ext>
            </a:extLst>
          </p:cNvPr>
          <p:cNvSpPr/>
          <p:nvPr/>
        </p:nvSpPr>
        <p:spPr>
          <a:xfrm>
            <a:off x="7767391" y="3829579"/>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44" name="Rounded Rectangle 1043">
            <a:extLst>
              <a:ext uri="{FF2B5EF4-FFF2-40B4-BE49-F238E27FC236}">
                <a16:creationId xmlns:a16="http://schemas.microsoft.com/office/drawing/2014/main" id="{FFA601FF-82B4-80B9-C80D-C93091E74A3F}"/>
              </a:ext>
            </a:extLst>
          </p:cNvPr>
          <p:cNvSpPr/>
          <p:nvPr/>
        </p:nvSpPr>
        <p:spPr>
          <a:xfrm>
            <a:off x="9474737" y="379559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57" name="Rounded Rectangle 56">
            <a:extLst>
              <a:ext uri="{FF2B5EF4-FFF2-40B4-BE49-F238E27FC236}">
                <a16:creationId xmlns:a16="http://schemas.microsoft.com/office/drawing/2014/main" id="{77AA2ED4-ECD0-C7F6-941F-96258D07D035}"/>
              </a:ext>
            </a:extLst>
          </p:cNvPr>
          <p:cNvSpPr/>
          <p:nvPr/>
        </p:nvSpPr>
        <p:spPr>
          <a:xfrm>
            <a:off x="6325919" y="2213349"/>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58" name="Rounded Rectangle 57">
            <a:extLst>
              <a:ext uri="{FF2B5EF4-FFF2-40B4-BE49-F238E27FC236}">
                <a16:creationId xmlns:a16="http://schemas.microsoft.com/office/drawing/2014/main" id="{F8A12D77-A504-3F47-141B-82C74ED759C5}"/>
              </a:ext>
            </a:extLst>
          </p:cNvPr>
          <p:cNvSpPr/>
          <p:nvPr/>
        </p:nvSpPr>
        <p:spPr>
          <a:xfrm>
            <a:off x="6355160" y="3466923"/>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27" name="Rounded Rectangle 1026">
            <a:extLst>
              <a:ext uri="{FF2B5EF4-FFF2-40B4-BE49-F238E27FC236}">
                <a16:creationId xmlns:a16="http://schemas.microsoft.com/office/drawing/2014/main" id="{44500877-1731-4002-F09E-1B82BDB61661}"/>
              </a:ext>
            </a:extLst>
          </p:cNvPr>
          <p:cNvSpPr/>
          <p:nvPr/>
        </p:nvSpPr>
        <p:spPr>
          <a:xfrm>
            <a:off x="9983349" y="2136778"/>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28" name="Rounded Rectangle 1027">
            <a:extLst>
              <a:ext uri="{FF2B5EF4-FFF2-40B4-BE49-F238E27FC236}">
                <a16:creationId xmlns:a16="http://schemas.microsoft.com/office/drawing/2014/main" id="{BF109C51-F158-5B48-EE15-3F36CBE5565E}"/>
              </a:ext>
            </a:extLst>
          </p:cNvPr>
          <p:cNvSpPr/>
          <p:nvPr/>
        </p:nvSpPr>
        <p:spPr>
          <a:xfrm>
            <a:off x="10034715" y="341736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51" name="Rounded Rectangle 1050">
            <a:extLst>
              <a:ext uri="{FF2B5EF4-FFF2-40B4-BE49-F238E27FC236}">
                <a16:creationId xmlns:a16="http://schemas.microsoft.com/office/drawing/2014/main" id="{FB5E92E2-DB90-B44D-D779-AB1F6E797760}"/>
              </a:ext>
            </a:extLst>
          </p:cNvPr>
          <p:cNvSpPr/>
          <p:nvPr/>
        </p:nvSpPr>
        <p:spPr>
          <a:xfrm>
            <a:off x="2698836" y="217751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052" name="Rounded Rectangle 1051">
            <a:extLst>
              <a:ext uri="{FF2B5EF4-FFF2-40B4-BE49-F238E27FC236}">
                <a16:creationId xmlns:a16="http://schemas.microsoft.com/office/drawing/2014/main" id="{9B783C05-E636-B71D-9758-AB716E6CD0C5}"/>
              </a:ext>
            </a:extLst>
          </p:cNvPr>
          <p:cNvSpPr/>
          <p:nvPr/>
        </p:nvSpPr>
        <p:spPr>
          <a:xfrm>
            <a:off x="2651959" y="342804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cxnSp>
        <p:nvCxnSpPr>
          <p:cNvPr id="1053" name="Straight Arrow Connector 50">
            <a:extLst>
              <a:ext uri="{FF2B5EF4-FFF2-40B4-BE49-F238E27FC236}">
                <a16:creationId xmlns:a16="http://schemas.microsoft.com/office/drawing/2014/main" id="{FDF240F1-2AB5-847B-5B64-F1CC82F09FF5}"/>
              </a:ext>
            </a:extLst>
          </p:cNvPr>
          <p:cNvCxnSpPr>
            <a:cxnSpLocks/>
            <a:stCxn id="32" idx="0"/>
            <a:endCxn id="1027" idx="0"/>
          </p:cNvCxnSpPr>
          <p:nvPr/>
        </p:nvCxnSpPr>
        <p:spPr>
          <a:xfrm rot="16200000" flipH="1">
            <a:off x="8691339" y="651538"/>
            <a:ext cx="185833" cy="2784647"/>
          </a:xfrm>
          <a:prstGeom prst="bentConnector3">
            <a:avLst>
              <a:gd name="adj1" fmla="val -123014"/>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2" name="Straight Arrow Connector 50">
            <a:extLst>
              <a:ext uri="{FF2B5EF4-FFF2-40B4-BE49-F238E27FC236}">
                <a16:creationId xmlns:a16="http://schemas.microsoft.com/office/drawing/2014/main" id="{3C370BAD-3447-D826-9F02-1DA671566CD5}"/>
              </a:ext>
            </a:extLst>
          </p:cNvPr>
          <p:cNvCxnSpPr>
            <a:cxnSpLocks/>
            <a:stCxn id="1043" idx="2"/>
            <a:endCxn id="1028" idx="2"/>
          </p:cNvCxnSpPr>
          <p:nvPr/>
        </p:nvCxnSpPr>
        <p:spPr>
          <a:xfrm rot="5400000" flipH="1" flipV="1">
            <a:off x="8891025" y="2746917"/>
            <a:ext cx="419123" cy="2254717"/>
          </a:xfrm>
          <a:prstGeom prst="bentConnector3">
            <a:avLst>
              <a:gd name="adj1" fmla="val -54542"/>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0" name="Straight Arrow Connector 50">
            <a:extLst>
              <a:ext uri="{FF2B5EF4-FFF2-40B4-BE49-F238E27FC236}">
                <a16:creationId xmlns:a16="http://schemas.microsoft.com/office/drawing/2014/main" id="{B083F5CE-D79A-629F-68B9-37160DC82F79}"/>
              </a:ext>
            </a:extLst>
          </p:cNvPr>
          <p:cNvCxnSpPr>
            <a:cxnSpLocks/>
            <a:stCxn id="38" idx="0"/>
            <a:endCxn id="57" idx="0"/>
          </p:cNvCxnSpPr>
          <p:nvPr/>
        </p:nvCxnSpPr>
        <p:spPr>
          <a:xfrm rot="16200000" flipH="1">
            <a:off x="4996395" y="690594"/>
            <a:ext cx="262404" cy="2783106"/>
          </a:xfrm>
          <a:prstGeom prst="bentConnector3">
            <a:avLst>
              <a:gd name="adj1" fmla="val -87118"/>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3" name="Straight Arrow Connector 50">
            <a:extLst>
              <a:ext uri="{FF2B5EF4-FFF2-40B4-BE49-F238E27FC236}">
                <a16:creationId xmlns:a16="http://schemas.microsoft.com/office/drawing/2014/main" id="{99CF238A-94B2-7337-1B49-FE864B5E4B5C}"/>
              </a:ext>
            </a:extLst>
          </p:cNvPr>
          <p:cNvCxnSpPr>
            <a:cxnSpLocks/>
            <a:stCxn id="1036" idx="2"/>
            <a:endCxn id="58" idx="2"/>
          </p:cNvCxnSpPr>
          <p:nvPr/>
        </p:nvCxnSpPr>
        <p:spPr>
          <a:xfrm rot="5400000" flipH="1" flipV="1">
            <a:off x="5172584" y="2674046"/>
            <a:ext cx="335581" cy="2416032"/>
          </a:xfrm>
          <a:prstGeom prst="bentConnector3">
            <a:avLst>
              <a:gd name="adj1" fmla="val -100560"/>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056" name="Picture 1055">
            <a:extLst>
              <a:ext uri="{FF2B5EF4-FFF2-40B4-BE49-F238E27FC236}">
                <a16:creationId xmlns:a16="http://schemas.microsoft.com/office/drawing/2014/main" id="{2C62CEB6-1BF7-3A1D-4A99-C4D792D1C11E}"/>
              </a:ext>
            </a:extLst>
          </p:cNvPr>
          <p:cNvPicPr>
            <a:picLocks noChangeAspect="1"/>
          </p:cNvPicPr>
          <p:nvPr/>
        </p:nvPicPr>
        <p:blipFill>
          <a:blip r:embed="rId15"/>
          <a:stretch>
            <a:fillRect/>
          </a:stretch>
        </p:blipFill>
        <p:spPr>
          <a:xfrm>
            <a:off x="7206695" y="5295972"/>
            <a:ext cx="513749" cy="483589"/>
          </a:xfrm>
          <a:prstGeom prst="rect">
            <a:avLst/>
          </a:prstGeom>
        </p:spPr>
      </p:pic>
      <p:sp>
        <p:nvSpPr>
          <p:cNvPr id="1057" name="TextBox 1056">
            <a:extLst>
              <a:ext uri="{FF2B5EF4-FFF2-40B4-BE49-F238E27FC236}">
                <a16:creationId xmlns:a16="http://schemas.microsoft.com/office/drawing/2014/main" id="{7DC83109-4294-EBB3-4300-AF1877BD4DC0}"/>
              </a:ext>
            </a:extLst>
          </p:cNvPr>
          <p:cNvSpPr txBox="1"/>
          <p:nvPr/>
        </p:nvSpPr>
        <p:spPr>
          <a:xfrm>
            <a:off x="6682140" y="5713879"/>
            <a:ext cx="1707305"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400" dirty="0">
                <a:solidFill>
                  <a:prstClr val="black"/>
                </a:solidFill>
                <a:latin typeface="Calibri" panose="020F0502020204030204"/>
              </a:rPr>
              <a:t>Accredited Auditor</a:t>
            </a:r>
            <a:endPar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58" name="Straight Arrow Connector 1057">
            <a:extLst>
              <a:ext uri="{FF2B5EF4-FFF2-40B4-BE49-F238E27FC236}">
                <a16:creationId xmlns:a16="http://schemas.microsoft.com/office/drawing/2014/main" id="{04EA98D3-4150-0713-70BB-FCF3389FAF4C}"/>
              </a:ext>
            </a:extLst>
          </p:cNvPr>
          <p:cNvCxnSpPr>
            <a:cxnSpLocks/>
          </p:cNvCxnSpPr>
          <p:nvPr/>
        </p:nvCxnSpPr>
        <p:spPr>
          <a:xfrm>
            <a:off x="7353832" y="4458008"/>
            <a:ext cx="0" cy="84285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59" name="TextBox 1058">
            <a:extLst>
              <a:ext uri="{FF2B5EF4-FFF2-40B4-BE49-F238E27FC236}">
                <a16:creationId xmlns:a16="http://schemas.microsoft.com/office/drawing/2014/main" id="{CE0716B5-9A83-72C0-84F5-358881BA5FB6}"/>
              </a:ext>
            </a:extLst>
          </p:cNvPr>
          <p:cNvSpPr txBox="1"/>
          <p:nvPr/>
        </p:nvSpPr>
        <p:spPr>
          <a:xfrm>
            <a:off x="6425773" y="4796990"/>
            <a:ext cx="910773" cy="52322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Upstream data</a:t>
            </a:r>
          </a:p>
        </p:txBody>
      </p:sp>
      <p:cxnSp>
        <p:nvCxnSpPr>
          <p:cNvPr id="1060" name="Straight Arrow Connector 56">
            <a:extLst>
              <a:ext uri="{FF2B5EF4-FFF2-40B4-BE49-F238E27FC236}">
                <a16:creationId xmlns:a16="http://schemas.microsoft.com/office/drawing/2014/main" id="{FFE1DCA2-5D38-9DC1-3126-4A3F42649100}"/>
              </a:ext>
            </a:extLst>
          </p:cNvPr>
          <p:cNvCxnSpPr>
            <a:cxnSpLocks/>
          </p:cNvCxnSpPr>
          <p:nvPr/>
        </p:nvCxnSpPr>
        <p:spPr>
          <a:xfrm>
            <a:off x="7600127" y="4446680"/>
            <a:ext cx="0" cy="808461"/>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61" name="TextBox 1060">
            <a:extLst>
              <a:ext uri="{FF2B5EF4-FFF2-40B4-BE49-F238E27FC236}">
                <a16:creationId xmlns:a16="http://schemas.microsoft.com/office/drawing/2014/main" id="{24943EA1-7DE9-3970-DE60-C7DB3D7757FB}"/>
              </a:ext>
            </a:extLst>
          </p:cNvPr>
          <p:cNvSpPr txBox="1"/>
          <p:nvPr/>
        </p:nvSpPr>
        <p:spPr>
          <a:xfrm>
            <a:off x="7650391" y="4853366"/>
            <a:ext cx="1137454" cy="523220"/>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Supply chain attestation</a:t>
            </a:r>
          </a:p>
        </p:txBody>
      </p:sp>
      <p:sp>
        <p:nvSpPr>
          <p:cNvPr id="1063" name="Rounded Rectangle 1062">
            <a:extLst>
              <a:ext uri="{FF2B5EF4-FFF2-40B4-BE49-F238E27FC236}">
                <a16:creationId xmlns:a16="http://schemas.microsoft.com/office/drawing/2014/main" id="{82304ACE-4901-62AD-6593-80E64EEA2ECE}"/>
              </a:ext>
            </a:extLst>
          </p:cNvPr>
          <p:cNvSpPr/>
          <p:nvPr/>
        </p:nvSpPr>
        <p:spPr>
          <a:xfrm>
            <a:off x="6988378" y="4586407"/>
            <a:ext cx="428930" cy="27699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dirty="0"/>
              <a:t>DTE</a:t>
            </a:r>
          </a:p>
        </p:txBody>
      </p:sp>
      <p:sp>
        <p:nvSpPr>
          <p:cNvPr id="1064" name="Rounded Rectangle 1063">
            <a:extLst>
              <a:ext uri="{FF2B5EF4-FFF2-40B4-BE49-F238E27FC236}">
                <a16:creationId xmlns:a16="http://schemas.microsoft.com/office/drawing/2014/main" id="{FD1472CE-9917-16A4-0832-F26BE525DF03}"/>
              </a:ext>
            </a:extLst>
          </p:cNvPr>
          <p:cNvSpPr/>
          <p:nvPr/>
        </p:nvSpPr>
        <p:spPr>
          <a:xfrm>
            <a:off x="7541654" y="4588764"/>
            <a:ext cx="374905" cy="26460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pic>
        <p:nvPicPr>
          <p:cNvPr id="1067" name="Picture 1066">
            <a:extLst>
              <a:ext uri="{FF2B5EF4-FFF2-40B4-BE49-F238E27FC236}">
                <a16:creationId xmlns:a16="http://schemas.microsoft.com/office/drawing/2014/main" id="{D5F1253E-0E30-60E6-DFB8-B127DC94E3AB}"/>
              </a:ext>
            </a:extLst>
          </p:cNvPr>
          <p:cNvPicPr>
            <a:picLocks noChangeAspect="1"/>
          </p:cNvPicPr>
          <p:nvPr/>
        </p:nvPicPr>
        <p:blipFill>
          <a:blip r:embed="rId15"/>
          <a:stretch>
            <a:fillRect/>
          </a:stretch>
        </p:blipFill>
        <p:spPr>
          <a:xfrm>
            <a:off x="3486664" y="5229749"/>
            <a:ext cx="513749" cy="483589"/>
          </a:xfrm>
          <a:prstGeom prst="rect">
            <a:avLst/>
          </a:prstGeom>
        </p:spPr>
      </p:pic>
      <p:sp>
        <p:nvSpPr>
          <p:cNvPr id="1068" name="TextBox 1067">
            <a:extLst>
              <a:ext uri="{FF2B5EF4-FFF2-40B4-BE49-F238E27FC236}">
                <a16:creationId xmlns:a16="http://schemas.microsoft.com/office/drawing/2014/main" id="{2F222D0F-3603-C43F-080A-E210804B9173}"/>
              </a:ext>
            </a:extLst>
          </p:cNvPr>
          <p:cNvSpPr txBox="1"/>
          <p:nvPr/>
        </p:nvSpPr>
        <p:spPr>
          <a:xfrm>
            <a:off x="2906366" y="5652801"/>
            <a:ext cx="1707305"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400" dirty="0">
                <a:solidFill>
                  <a:prstClr val="black"/>
                </a:solidFill>
                <a:latin typeface="Calibri" panose="020F0502020204030204"/>
              </a:rPr>
              <a:t>Accredited Auditor</a:t>
            </a:r>
            <a:endPar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69" name="Straight Arrow Connector 1068">
            <a:extLst>
              <a:ext uri="{FF2B5EF4-FFF2-40B4-BE49-F238E27FC236}">
                <a16:creationId xmlns:a16="http://schemas.microsoft.com/office/drawing/2014/main" id="{6E8321D2-2A98-4E6B-6D03-D8109C12F00B}"/>
              </a:ext>
            </a:extLst>
          </p:cNvPr>
          <p:cNvCxnSpPr>
            <a:cxnSpLocks/>
          </p:cNvCxnSpPr>
          <p:nvPr/>
        </p:nvCxnSpPr>
        <p:spPr>
          <a:xfrm>
            <a:off x="3633801" y="4391785"/>
            <a:ext cx="0" cy="84285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70" name="TextBox 1069">
            <a:extLst>
              <a:ext uri="{FF2B5EF4-FFF2-40B4-BE49-F238E27FC236}">
                <a16:creationId xmlns:a16="http://schemas.microsoft.com/office/drawing/2014/main" id="{66B64912-3E26-7184-AC65-32589F92C77A}"/>
              </a:ext>
            </a:extLst>
          </p:cNvPr>
          <p:cNvSpPr txBox="1"/>
          <p:nvPr/>
        </p:nvSpPr>
        <p:spPr>
          <a:xfrm>
            <a:off x="2679771" y="4771309"/>
            <a:ext cx="910773" cy="52322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Upstream data</a:t>
            </a:r>
          </a:p>
        </p:txBody>
      </p:sp>
      <p:cxnSp>
        <p:nvCxnSpPr>
          <p:cNvPr id="1084" name="Straight Arrow Connector 56">
            <a:extLst>
              <a:ext uri="{FF2B5EF4-FFF2-40B4-BE49-F238E27FC236}">
                <a16:creationId xmlns:a16="http://schemas.microsoft.com/office/drawing/2014/main" id="{6E5901C5-DF15-F5C0-08EF-6B263783F2BB}"/>
              </a:ext>
            </a:extLst>
          </p:cNvPr>
          <p:cNvCxnSpPr>
            <a:cxnSpLocks/>
          </p:cNvCxnSpPr>
          <p:nvPr/>
        </p:nvCxnSpPr>
        <p:spPr>
          <a:xfrm>
            <a:off x="3880096" y="4380457"/>
            <a:ext cx="0" cy="808461"/>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85" name="TextBox 1084">
            <a:extLst>
              <a:ext uri="{FF2B5EF4-FFF2-40B4-BE49-F238E27FC236}">
                <a16:creationId xmlns:a16="http://schemas.microsoft.com/office/drawing/2014/main" id="{452C26DB-EA95-3323-3C07-0B35CD59A040}"/>
              </a:ext>
            </a:extLst>
          </p:cNvPr>
          <p:cNvSpPr txBox="1"/>
          <p:nvPr/>
        </p:nvSpPr>
        <p:spPr>
          <a:xfrm>
            <a:off x="3930360" y="4787143"/>
            <a:ext cx="1137454" cy="523220"/>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Supply chain attestation</a:t>
            </a:r>
          </a:p>
        </p:txBody>
      </p:sp>
      <p:sp>
        <p:nvSpPr>
          <p:cNvPr id="1086" name="Rounded Rectangle 1085">
            <a:extLst>
              <a:ext uri="{FF2B5EF4-FFF2-40B4-BE49-F238E27FC236}">
                <a16:creationId xmlns:a16="http://schemas.microsoft.com/office/drawing/2014/main" id="{D89A9BCF-F6BC-8007-2039-0136A541A1D8}"/>
              </a:ext>
            </a:extLst>
          </p:cNvPr>
          <p:cNvSpPr/>
          <p:nvPr/>
        </p:nvSpPr>
        <p:spPr>
          <a:xfrm>
            <a:off x="3268347" y="4520184"/>
            <a:ext cx="428930" cy="27699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dirty="0"/>
              <a:t>DTE</a:t>
            </a:r>
          </a:p>
        </p:txBody>
      </p:sp>
      <p:sp>
        <p:nvSpPr>
          <p:cNvPr id="1087" name="Rounded Rectangle 1086">
            <a:extLst>
              <a:ext uri="{FF2B5EF4-FFF2-40B4-BE49-F238E27FC236}">
                <a16:creationId xmlns:a16="http://schemas.microsoft.com/office/drawing/2014/main" id="{D84CC285-8249-357A-2BD0-4E5EDEE0EB17}"/>
              </a:ext>
            </a:extLst>
          </p:cNvPr>
          <p:cNvSpPr/>
          <p:nvPr/>
        </p:nvSpPr>
        <p:spPr>
          <a:xfrm>
            <a:off x="3821623" y="4522541"/>
            <a:ext cx="374905" cy="26460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Tree>
    <p:extLst>
      <p:ext uri="{BB962C8B-B14F-4D97-AF65-F5344CB8AC3E}">
        <p14:creationId xmlns:p14="http://schemas.microsoft.com/office/powerpoint/2010/main" val="303329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157EC-FDE0-08F8-FA93-38EC62B046F7}"/>
            </a:ext>
          </a:extLst>
        </p:cNvPr>
        <p:cNvGrpSpPr/>
        <p:nvPr/>
      </p:nvGrpSpPr>
      <p:grpSpPr>
        <a:xfrm>
          <a:off x="0" y="0"/>
          <a:ext cx="0" cy="0"/>
          <a:chOff x="0" y="0"/>
          <a:chExt cx="0" cy="0"/>
        </a:xfrm>
      </p:grpSpPr>
      <p:sp>
        <p:nvSpPr>
          <p:cNvPr id="156" name="Rounded Rectangle 155">
            <a:extLst>
              <a:ext uri="{FF2B5EF4-FFF2-40B4-BE49-F238E27FC236}">
                <a16:creationId xmlns:a16="http://schemas.microsoft.com/office/drawing/2014/main" id="{46BEA642-0959-0EF9-C0CD-6116C878AE4C}"/>
              </a:ext>
            </a:extLst>
          </p:cNvPr>
          <p:cNvSpPr/>
          <p:nvPr/>
        </p:nvSpPr>
        <p:spPr>
          <a:xfrm>
            <a:off x="5244795" y="2502545"/>
            <a:ext cx="2210620" cy="2969990"/>
          </a:xfrm>
          <a:prstGeom prst="roundRect">
            <a:avLst>
              <a:gd name="adj" fmla="val 4632"/>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70" name="Rounded Rectangle 1069">
            <a:extLst>
              <a:ext uri="{FF2B5EF4-FFF2-40B4-BE49-F238E27FC236}">
                <a16:creationId xmlns:a16="http://schemas.microsoft.com/office/drawing/2014/main" id="{532A5B39-87D7-6996-5B48-B485D646F327}"/>
              </a:ext>
            </a:extLst>
          </p:cNvPr>
          <p:cNvSpPr/>
          <p:nvPr/>
        </p:nvSpPr>
        <p:spPr>
          <a:xfrm>
            <a:off x="9457238" y="3942440"/>
            <a:ext cx="2498641" cy="1436688"/>
          </a:xfrm>
          <a:prstGeom prst="roundRect">
            <a:avLst>
              <a:gd name="adj" fmla="val 4632"/>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64" name="Rounded Rectangle 1063">
            <a:extLst>
              <a:ext uri="{FF2B5EF4-FFF2-40B4-BE49-F238E27FC236}">
                <a16:creationId xmlns:a16="http://schemas.microsoft.com/office/drawing/2014/main" id="{E3EA35A7-9027-DF1B-4AEE-56F508612313}"/>
              </a:ext>
            </a:extLst>
          </p:cNvPr>
          <p:cNvSpPr/>
          <p:nvPr/>
        </p:nvSpPr>
        <p:spPr>
          <a:xfrm>
            <a:off x="1532084" y="3928900"/>
            <a:ext cx="2210620" cy="1560543"/>
          </a:xfrm>
          <a:prstGeom prst="roundRect">
            <a:avLst>
              <a:gd name="adj" fmla="val 4632"/>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31" name="Straight Arrow Connector 50">
            <a:extLst>
              <a:ext uri="{FF2B5EF4-FFF2-40B4-BE49-F238E27FC236}">
                <a16:creationId xmlns:a16="http://schemas.microsoft.com/office/drawing/2014/main" id="{7057905B-98AB-D508-0A2E-160F8931C69B}"/>
              </a:ext>
            </a:extLst>
          </p:cNvPr>
          <p:cNvCxnSpPr>
            <a:cxnSpLocks/>
          </p:cNvCxnSpPr>
          <p:nvPr/>
        </p:nvCxnSpPr>
        <p:spPr>
          <a:xfrm rot="10800000" flipV="1">
            <a:off x="9262022" y="2691206"/>
            <a:ext cx="1387898" cy="87421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63" name="Rounded Rectangle 62">
            <a:extLst>
              <a:ext uri="{FF2B5EF4-FFF2-40B4-BE49-F238E27FC236}">
                <a16:creationId xmlns:a16="http://schemas.microsoft.com/office/drawing/2014/main" id="{00977002-DC9F-2DAE-F9F9-D537366788FE}"/>
              </a:ext>
            </a:extLst>
          </p:cNvPr>
          <p:cNvSpPr/>
          <p:nvPr/>
        </p:nvSpPr>
        <p:spPr>
          <a:xfrm>
            <a:off x="2635001" y="4397272"/>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6" name="Rounded Rectangle 5">
            <a:extLst>
              <a:ext uri="{FF2B5EF4-FFF2-40B4-BE49-F238E27FC236}">
                <a16:creationId xmlns:a16="http://schemas.microsoft.com/office/drawing/2014/main" id="{2FAC1C66-0741-9598-097B-95854F1555FA}"/>
              </a:ext>
            </a:extLst>
          </p:cNvPr>
          <p:cNvSpPr/>
          <p:nvPr/>
        </p:nvSpPr>
        <p:spPr>
          <a:xfrm>
            <a:off x="2390362" y="3233112"/>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1" name="Rounded Rectangle 10">
            <a:extLst>
              <a:ext uri="{FF2B5EF4-FFF2-40B4-BE49-F238E27FC236}">
                <a16:creationId xmlns:a16="http://schemas.microsoft.com/office/drawing/2014/main" id="{E489E363-798B-B2C6-DDBA-F24F84198A82}"/>
              </a:ext>
            </a:extLst>
          </p:cNvPr>
          <p:cNvSpPr/>
          <p:nvPr/>
        </p:nvSpPr>
        <p:spPr>
          <a:xfrm>
            <a:off x="3798661" y="3601461"/>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3" name="Rounded Rectangle 12">
            <a:extLst>
              <a:ext uri="{FF2B5EF4-FFF2-40B4-BE49-F238E27FC236}">
                <a16:creationId xmlns:a16="http://schemas.microsoft.com/office/drawing/2014/main" id="{FF5B379C-0530-93FF-1896-6A8526029099}"/>
              </a:ext>
            </a:extLst>
          </p:cNvPr>
          <p:cNvSpPr/>
          <p:nvPr/>
        </p:nvSpPr>
        <p:spPr>
          <a:xfrm>
            <a:off x="7866299" y="3598199"/>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4" name="Rounded Rectangle 13">
            <a:extLst>
              <a:ext uri="{FF2B5EF4-FFF2-40B4-BE49-F238E27FC236}">
                <a16:creationId xmlns:a16="http://schemas.microsoft.com/office/drawing/2014/main" id="{6F6A72C0-6DC8-96DB-FF37-B46B433C85AB}"/>
              </a:ext>
            </a:extLst>
          </p:cNvPr>
          <p:cNvSpPr/>
          <p:nvPr/>
        </p:nvSpPr>
        <p:spPr>
          <a:xfrm>
            <a:off x="9844629" y="3082001"/>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7" name="Rounded Rectangle 1076">
            <a:extLst>
              <a:ext uri="{FF2B5EF4-FFF2-40B4-BE49-F238E27FC236}">
                <a16:creationId xmlns:a16="http://schemas.microsoft.com/office/drawing/2014/main" id="{54100FBB-A6BC-5904-0D92-7BCE2E22E837}"/>
              </a:ext>
            </a:extLst>
          </p:cNvPr>
          <p:cNvSpPr/>
          <p:nvPr/>
        </p:nvSpPr>
        <p:spPr>
          <a:xfrm>
            <a:off x="1041330" y="1381290"/>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8" name="Rounded Rectangle 1077">
            <a:extLst>
              <a:ext uri="{FF2B5EF4-FFF2-40B4-BE49-F238E27FC236}">
                <a16:creationId xmlns:a16="http://schemas.microsoft.com/office/drawing/2014/main" id="{C41AE601-E2F9-C94E-22CB-A871A51DC4AC}"/>
              </a:ext>
            </a:extLst>
          </p:cNvPr>
          <p:cNvSpPr/>
          <p:nvPr/>
        </p:nvSpPr>
        <p:spPr>
          <a:xfrm>
            <a:off x="2884737" y="1388728"/>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9" name="Rounded Rectangle 1078">
            <a:extLst>
              <a:ext uri="{FF2B5EF4-FFF2-40B4-BE49-F238E27FC236}">
                <a16:creationId xmlns:a16="http://schemas.microsoft.com/office/drawing/2014/main" id="{B827C90E-B3C6-0FD5-8B31-13412EF00E03}"/>
              </a:ext>
            </a:extLst>
          </p:cNvPr>
          <p:cNvSpPr/>
          <p:nvPr/>
        </p:nvSpPr>
        <p:spPr>
          <a:xfrm>
            <a:off x="4687000" y="139719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0" name="Rounded Rectangle 1079">
            <a:extLst>
              <a:ext uri="{FF2B5EF4-FFF2-40B4-BE49-F238E27FC236}">
                <a16:creationId xmlns:a16="http://schemas.microsoft.com/office/drawing/2014/main" id="{EACDC4D7-827D-A3DE-E4CD-D8EB5204609A}"/>
              </a:ext>
            </a:extLst>
          </p:cNvPr>
          <p:cNvSpPr/>
          <p:nvPr/>
        </p:nvSpPr>
        <p:spPr>
          <a:xfrm>
            <a:off x="6929512" y="1385466"/>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1" name="Rounded Rectangle 1080">
            <a:extLst>
              <a:ext uri="{FF2B5EF4-FFF2-40B4-BE49-F238E27FC236}">
                <a16:creationId xmlns:a16="http://schemas.microsoft.com/office/drawing/2014/main" id="{57EB0101-F0AF-A78A-61D7-560C517F12F5}"/>
              </a:ext>
            </a:extLst>
          </p:cNvPr>
          <p:cNvSpPr/>
          <p:nvPr/>
        </p:nvSpPr>
        <p:spPr>
          <a:xfrm>
            <a:off x="8700959" y="1385466"/>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82" name="Rounded Rectangle 1081">
            <a:extLst>
              <a:ext uri="{FF2B5EF4-FFF2-40B4-BE49-F238E27FC236}">
                <a16:creationId xmlns:a16="http://schemas.microsoft.com/office/drawing/2014/main" id="{BBD2ECA8-0DD1-B075-4988-D3ABC80EBFCD}"/>
              </a:ext>
            </a:extLst>
          </p:cNvPr>
          <p:cNvSpPr/>
          <p:nvPr/>
        </p:nvSpPr>
        <p:spPr>
          <a:xfrm>
            <a:off x="10588929" y="1380846"/>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pic>
        <p:nvPicPr>
          <p:cNvPr id="1026" name="Picture 2" descr="Smelting - Free construction and tools icons">
            <a:extLst>
              <a:ext uri="{FF2B5EF4-FFF2-40B4-BE49-F238E27FC236}">
                <a16:creationId xmlns:a16="http://schemas.microsoft.com/office/drawing/2014/main" id="{44868DBB-F4AD-C045-CF71-CE8D6B2B3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9935" y="2388893"/>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Chemical Plant 2 icon - Free vector (SVG) - Free PNG - Copyicon.com">
            <a:extLst>
              <a:ext uri="{FF2B5EF4-FFF2-40B4-BE49-F238E27FC236}">
                <a16:creationId xmlns:a16="http://schemas.microsoft.com/office/drawing/2014/main" id="{7D54AD5B-6343-1F56-C5F8-8213D86C41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1689" y="2353938"/>
            <a:ext cx="631824" cy="5589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CC8AB48-52A2-A363-FE1C-C9BF0E42EC08}"/>
              </a:ext>
            </a:extLst>
          </p:cNvPr>
          <p:cNvPicPr>
            <a:picLocks noChangeAspect="1"/>
          </p:cNvPicPr>
          <p:nvPr/>
        </p:nvPicPr>
        <p:blipFill>
          <a:blip r:embed="rId5"/>
          <a:stretch>
            <a:fillRect/>
          </a:stretch>
        </p:blipFill>
        <p:spPr>
          <a:xfrm>
            <a:off x="961184" y="2279963"/>
            <a:ext cx="815704" cy="721655"/>
          </a:xfrm>
          <a:prstGeom prst="rect">
            <a:avLst/>
          </a:prstGeom>
        </p:spPr>
      </p:pic>
      <p:sp>
        <p:nvSpPr>
          <p:cNvPr id="7" name="TextBox 6">
            <a:extLst>
              <a:ext uri="{FF2B5EF4-FFF2-40B4-BE49-F238E27FC236}">
                <a16:creationId xmlns:a16="http://schemas.microsoft.com/office/drawing/2014/main" id="{BC447595-E29B-38F6-5CD6-0A865166B600}"/>
              </a:ext>
            </a:extLst>
          </p:cNvPr>
          <p:cNvSpPr txBox="1"/>
          <p:nvPr/>
        </p:nvSpPr>
        <p:spPr>
          <a:xfrm>
            <a:off x="1107581" y="2064313"/>
            <a:ext cx="540327"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Mine</a:t>
            </a:r>
          </a:p>
        </p:txBody>
      </p:sp>
      <p:sp>
        <p:nvSpPr>
          <p:cNvPr id="8" name="TextBox 7">
            <a:extLst>
              <a:ext uri="{FF2B5EF4-FFF2-40B4-BE49-F238E27FC236}">
                <a16:creationId xmlns:a16="http://schemas.microsoft.com/office/drawing/2014/main" id="{89CCF27B-3A4D-D7D2-56AE-8526B920C89A}"/>
              </a:ext>
            </a:extLst>
          </p:cNvPr>
          <p:cNvSpPr txBox="1"/>
          <p:nvPr/>
        </p:nvSpPr>
        <p:spPr>
          <a:xfrm>
            <a:off x="8409290" y="2056432"/>
            <a:ext cx="125126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Manufacturer</a:t>
            </a:r>
          </a:p>
        </p:txBody>
      </p:sp>
      <p:sp>
        <p:nvSpPr>
          <p:cNvPr id="9" name="TextBox 8">
            <a:extLst>
              <a:ext uri="{FF2B5EF4-FFF2-40B4-BE49-F238E27FC236}">
                <a16:creationId xmlns:a16="http://schemas.microsoft.com/office/drawing/2014/main" id="{93623A33-735C-8B80-C29B-887B6E914CA1}"/>
              </a:ext>
            </a:extLst>
          </p:cNvPr>
          <p:cNvSpPr txBox="1"/>
          <p:nvPr/>
        </p:nvSpPr>
        <p:spPr>
          <a:xfrm>
            <a:off x="4680198" y="2064313"/>
            <a:ext cx="681792"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Refiner</a:t>
            </a:r>
          </a:p>
        </p:txBody>
      </p:sp>
      <p:sp>
        <p:nvSpPr>
          <p:cNvPr id="10" name="TextBox 9">
            <a:extLst>
              <a:ext uri="{FF2B5EF4-FFF2-40B4-BE49-F238E27FC236}">
                <a16:creationId xmlns:a16="http://schemas.microsoft.com/office/drawing/2014/main" id="{C16CB0B3-9C43-5B94-3466-126BFDB887D4}"/>
              </a:ext>
            </a:extLst>
          </p:cNvPr>
          <p:cNvSpPr txBox="1"/>
          <p:nvPr/>
        </p:nvSpPr>
        <p:spPr>
          <a:xfrm>
            <a:off x="10297855" y="2075433"/>
            <a:ext cx="127971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OEM</a:t>
            </a:r>
          </a:p>
        </p:txBody>
      </p:sp>
      <p:pic>
        <p:nvPicPr>
          <p:cNvPr id="15" name="Picture 6" descr="Factory Icon in Material Design">
            <a:extLst>
              <a:ext uri="{FF2B5EF4-FFF2-40B4-BE49-F238E27FC236}">
                <a16:creationId xmlns:a16="http://schemas.microsoft.com/office/drawing/2014/main" id="{3072BD5C-9E49-2F93-2210-DA0D6DBFB6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7574" y="2337987"/>
            <a:ext cx="640946" cy="56704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4" descr="Car manufacturing - Free industry icons">
            <a:extLst>
              <a:ext uri="{FF2B5EF4-FFF2-40B4-BE49-F238E27FC236}">
                <a16:creationId xmlns:a16="http://schemas.microsoft.com/office/drawing/2014/main" id="{50B38F3B-4828-4402-EDA4-DE5F87DC819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49920" y="2381012"/>
            <a:ext cx="543362" cy="480713"/>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A436D3CE-918B-9BE0-443D-58965AC2306F}"/>
              </a:ext>
            </a:extLst>
          </p:cNvPr>
          <p:cNvSpPr txBox="1"/>
          <p:nvPr/>
        </p:nvSpPr>
        <p:spPr>
          <a:xfrm>
            <a:off x="2862137" y="2064313"/>
            <a:ext cx="721303"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Smelter</a:t>
            </a:r>
          </a:p>
        </p:txBody>
      </p:sp>
      <p:sp>
        <p:nvSpPr>
          <p:cNvPr id="36" name="TextBox 35">
            <a:extLst>
              <a:ext uri="{FF2B5EF4-FFF2-40B4-BE49-F238E27FC236}">
                <a16:creationId xmlns:a16="http://schemas.microsoft.com/office/drawing/2014/main" id="{F741D092-0F6E-7E32-83FF-D1A54514BE83}"/>
              </a:ext>
            </a:extLst>
          </p:cNvPr>
          <p:cNvSpPr txBox="1"/>
          <p:nvPr/>
        </p:nvSpPr>
        <p:spPr>
          <a:xfrm>
            <a:off x="6713028" y="2064313"/>
            <a:ext cx="1049824"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Fabricator</a:t>
            </a:r>
          </a:p>
        </p:txBody>
      </p:sp>
      <p:pic>
        <p:nvPicPr>
          <p:cNvPr id="1030" name="Picture 6" descr="2,500+ Gravel Icon Stock Illustrations, Royalty-Free Vector Graphics &amp; Clip  Art - iStock">
            <a:extLst>
              <a:ext uri="{FF2B5EF4-FFF2-40B4-BE49-F238E27FC236}">
                <a16:creationId xmlns:a16="http://schemas.microsoft.com/office/drawing/2014/main" id="{89E77FAB-AEFC-2E85-4B3D-CF05F564139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114" t="15270" r="15934" b="16995"/>
          <a:stretch/>
        </p:blipFill>
        <p:spPr bwMode="auto">
          <a:xfrm>
            <a:off x="1202155" y="3325086"/>
            <a:ext cx="372861" cy="3952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got - Free business icons">
            <a:extLst>
              <a:ext uri="{FF2B5EF4-FFF2-40B4-BE49-F238E27FC236}">
                <a16:creationId xmlns:a16="http://schemas.microsoft.com/office/drawing/2014/main" id="{9205A763-DE92-54CA-3578-F518E08FA8C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53436" y="3338894"/>
            <a:ext cx="410291" cy="436275"/>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013B6213-2E3B-B1AB-2C27-82DEC7E30512}"/>
              </a:ext>
            </a:extLst>
          </p:cNvPr>
          <p:cNvSpPr txBox="1"/>
          <p:nvPr/>
        </p:nvSpPr>
        <p:spPr>
          <a:xfrm>
            <a:off x="953686" y="3107000"/>
            <a:ext cx="102904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Concentrate</a:t>
            </a:r>
          </a:p>
        </p:txBody>
      </p:sp>
      <p:sp>
        <p:nvSpPr>
          <p:cNvPr id="43" name="TextBox 42">
            <a:extLst>
              <a:ext uri="{FF2B5EF4-FFF2-40B4-BE49-F238E27FC236}">
                <a16:creationId xmlns:a16="http://schemas.microsoft.com/office/drawing/2014/main" id="{B6B66340-105F-65C1-ACD2-638057DC81A3}"/>
              </a:ext>
            </a:extLst>
          </p:cNvPr>
          <p:cNvSpPr txBox="1"/>
          <p:nvPr/>
        </p:nvSpPr>
        <p:spPr>
          <a:xfrm>
            <a:off x="8702538" y="3099119"/>
            <a:ext cx="79153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Battery</a:t>
            </a:r>
          </a:p>
        </p:txBody>
      </p:sp>
      <p:sp>
        <p:nvSpPr>
          <p:cNvPr id="44" name="TextBox 43">
            <a:extLst>
              <a:ext uri="{FF2B5EF4-FFF2-40B4-BE49-F238E27FC236}">
                <a16:creationId xmlns:a16="http://schemas.microsoft.com/office/drawing/2014/main" id="{2DD84F25-96AB-2F5A-FC62-D437C99ADA4F}"/>
              </a:ext>
            </a:extLst>
          </p:cNvPr>
          <p:cNvSpPr txBox="1"/>
          <p:nvPr/>
        </p:nvSpPr>
        <p:spPr>
          <a:xfrm>
            <a:off x="4668555" y="3107000"/>
            <a:ext cx="82918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Cathodes</a:t>
            </a:r>
          </a:p>
        </p:txBody>
      </p:sp>
      <p:sp>
        <p:nvSpPr>
          <p:cNvPr id="45" name="TextBox 44">
            <a:extLst>
              <a:ext uri="{FF2B5EF4-FFF2-40B4-BE49-F238E27FC236}">
                <a16:creationId xmlns:a16="http://schemas.microsoft.com/office/drawing/2014/main" id="{30BF8D71-0DC4-7EBB-6037-3079F753BE8D}"/>
              </a:ext>
            </a:extLst>
          </p:cNvPr>
          <p:cNvSpPr txBox="1"/>
          <p:nvPr/>
        </p:nvSpPr>
        <p:spPr>
          <a:xfrm>
            <a:off x="10501408" y="3063566"/>
            <a:ext cx="888402"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EV</a:t>
            </a:r>
          </a:p>
        </p:txBody>
      </p:sp>
      <p:sp>
        <p:nvSpPr>
          <p:cNvPr id="47" name="TextBox 46">
            <a:extLst>
              <a:ext uri="{FF2B5EF4-FFF2-40B4-BE49-F238E27FC236}">
                <a16:creationId xmlns:a16="http://schemas.microsoft.com/office/drawing/2014/main" id="{0FD60983-6192-691B-480C-BE3A114AF028}"/>
              </a:ext>
            </a:extLst>
          </p:cNvPr>
          <p:cNvSpPr txBox="1"/>
          <p:nvPr/>
        </p:nvSpPr>
        <p:spPr>
          <a:xfrm>
            <a:off x="2884737" y="3107000"/>
            <a:ext cx="62261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Blister</a:t>
            </a:r>
          </a:p>
        </p:txBody>
      </p:sp>
      <p:sp>
        <p:nvSpPr>
          <p:cNvPr id="48" name="TextBox 47">
            <a:extLst>
              <a:ext uri="{FF2B5EF4-FFF2-40B4-BE49-F238E27FC236}">
                <a16:creationId xmlns:a16="http://schemas.microsoft.com/office/drawing/2014/main" id="{C21BD18D-2BA6-CBC1-FD16-FB9EE0298479}"/>
              </a:ext>
            </a:extLst>
          </p:cNvPr>
          <p:cNvSpPr txBox="1"/>
          <p:nvPr/>
        </p:nvSpPr>
        <p:spPr>
          <a:xfrm>
            <a:off x="7153686" y="3099119"/>
            <a:ext cx="56416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Foil</a:t>
            </a:r>
          </a:p>
        </p:txBody>
      </p:sp>
      <p:pic>
        <p:nvPicPr>
          <p:cNvPr id="1040" name="Picture 16" descr="Bullion, gold, ingot, meta, metal, nugget, precious icon - Download on  Iconfinder">
            <a:extLst>
              <a:ext uri="{FF2B5EF4-FFF2-40B4-BE49-F238E27FC236}">
                <a16:creationId xmlns:a16="http://schemas.microsoft.com/office/drawing/2014/main" id="{46219C3E-B3DF-18DA-C74C-A0CADCD3660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04490" y="3288122"/>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luminum foil icon 37133487 Vector Art at Vecteezy">
            <a:extLst>
              <a:ext uri="{FF2B5EF4-FFF2-40B4-BE49-F238E27FC236}">
                <a16:creationId xmlns:a16="http://schemas.microsoft.com/office/drawing/2014/main" id="{E0D3F11C-C336-676E-2B27-2224342A5E9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46855" y="3383913"/>
            <a:ext cx="443840" cy="29591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0" descr="ev battery outline icon Stock Vector | Adobe Stock">
            <a:extLst>
              <a:ext uri="{FF2B5EF4-FFF2-40B4-BE49-F238E27FC236}">
                <a16:creationId xmlns:a16="http://schemas.microsoft.com/office/drawing/2014/main" id="{E03E9597-0F97-4CB3-7C20-06F5124C2D8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8861335" y="3388811"/>
            <a:ext cx="412986" cy="38838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Electric car - Free transport icons">
            <a:extLst>
              <a:ext uri="{FF2B5EF4-FFF2-40B4-BE49-F238E27FC236}">
                <a16:creationId xmlns:a16="http://schemas.microsoft.com/office/drawing/2014/main" id="{6BAA486A-F95E-6C57-8162-63B3D59C2C2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682140" y="3252476"/>
            <a:ext cx="511142" cy="543513"/>
          </a:xfrm>
          <a:prstGeom prst="rect">
            <a:avLst/>
          </a:prstGeom>
          <a:noFill/>
          <a:extLst>
            <a:ext uri="{909E8E84-426E-40DD-AFC4-6F175D3DCCD1}">
              <a14:hiddenFill xmlns:a14="http://schemas.microsoft.com/office/drawing/2010/main">
                <a:solidFill>
                  <a:srgbClr val="FFFFFF"/>
                </a:solidFill>
              </a14:hiddenFill>
            </a:ext>
          </a:extLst>
        </p:spPr>
      </p:pic>
      <p:sp>
        <p:nvSpPr>
          <p:cNvPr id="132" name="TextBox 131">
            <a:extLst>
              <a:ext uri="{FF2B5EF4-FFF2-40B4-BE49-F238E27FC236}">
                <a16:creationId xmlns:a16="http://schemas.microsoft.com/office/drawing/2014/main" id="{53AEB95B-1597-739A-B71A-8CC2AE0B1951}"/>
              </a:ext>
            </a:extLst>
          </p:cNvPr>
          <p:cNvSpPr txBox="1"/>
          <p:nvPr/>
        </p:nvSpPr>
        <p:spPr>
          <a:xfrm>
            <a:off x="810735" y="3708460"/>
            <a:ext cx="113045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Consignment ID</a:t>
            </a:r>
          </a:p>
        </p:txBody>
      </p:sp>
      <p:sp>
        <p:nvSpPr>
          <p:cNvPr id="133" name="TextBox 132">
            <a:extLst>
              <a:ext uri="{FF2B5EF4-FFF2-40B4-BE49-F238E27FC236}">
                <a16:creationId xmlns:a16="http://schemas.microsoft.com/office/drawing/2014/main" id="{D1C40F5E-D020-1ECD-78B4-95E6D15D82F7}"/>
              </a:ext>
            </a:extLst>
          </p:cNvPr>
          <p:cNvSpPr txBox="1"/>
          <p:nvPr/>
        </p:nvSpPr>
        <p:spPr>
          <a:xfrm>
            <a:off x="2835626" y="3708460"/>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4" name="TextBox 133">
            <a:extLst>
              <a:ext uri="{FF2B5EF4-FFF2-40B4-BE49-F238E27FC236}">
                <a16:creationId xmlns:a16="http://schemas.microsoft.com/office/drawing/2014/main" id="{203F40FF-1912-D7AC-88DA-EC4C179CB9F7}"/>
              </a:ext>
            </a:extLst>
          </p:cNvPr>
          <p:cNvSpPr txBox="1"/>
          <p:nvPr/>
        </p:nvSpPr>
        <p:spPr>
          <a:xfrm>
            <a:off x="4680095" y="3708460"/>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5" name="TextBox 134">
            <a:extLst>
              <a:ext uri="{FF2B5EF4-FFF2-40B4-BE49-F238E27FC236}">
                <a16:creationId xmlns:a16="http://schemas.microsoft.com/office/drawing/2014/main" id="{D3F79EA8-0FB9-F1B6-425F-09AD487178E3}"/>
              </a:ext>
            </a:extLst>
          </p:cNvPr>
          <p:cNvSpPr txBox="1"/>
          <p:nvPr/>
        </p:nvSpPr>
        <p:spPr>
          <a:xfrm>
            <a:off x="6988416" y="3700579"/>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36" name="TextBox 135">
            <a:extLst>
              <a:ext uri="{FF2B5EF4-FFF2-40B4-BE49-F238E27FC236}">
                <a16:creationId xmlns:a16="http://schemas.microsoft.com/office/drawing/2014/main" id="{5DC1C444-585E-6A2A-A093-B18A47EDFC7B}"/>
              </a:ext>
            </a:extLst>
          </p:cNvPr>
          <p:cNvSpPr txBox="1"/>
          <p:nvPr/>
        </p:nvSpPr>
        <p:spPr>
          <a:xfrm>
            <a:off x="8697574" y="3700579"/>
            <a:ext cx="75966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Serial No.</a:t>
            </a:r>
          </a:p>
        </p:txBody>
      </p:sp>
      <p:sp>
        <p:nvSpPr>
          <p:cNvPr id="137" name="TextBox 136">
            <a:extLst>
              <a:ext uri="{FF2B5EF4-FFF2-40B4-BE49-F238E27FC236}">
                <a16:creationId xmlns:a16="http://schemas.microsoft.com/office/drawing/2014/main" id="{EADE573E-BF10-078D-BF45-7AF2F944BCC0}"/>
              </a:ext>
            </a:extLst>
          </p:cNvPr>
          <p:cNvSpPr txBox="1"/>
          <p:nvPr/>
        </p:nvSpPr>
        <p:spPr>
          <a:xfrm>
            <a:off x="10625437" y="3711871"/>
            <a:ext cx="39511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VIN</a:t>
            </a:r>
          </a:p>
        </p:txBody>
      </p:sp>
      <p:pic>
        <p:nvPicPr>
          <p:cNvPr id="140" name="Picture 28" descr="Vector Design Extrusion Icon Style | Premium Vector">
            <a:extLst>
              <a:ext uri="{FF2B5EF4-FFF2-40B4-BE49-F238E27FC236}">
                <a16:creationId xmlns:a16="http://schemas.microsoft.com/office/drawing/2014/main" id="{902132C8-D2CD-9FAB-5C4F-F72E2AAF910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38890" y="2346057"/>
            <a:ext cx="564161" cy="599891"/>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015DB84B-713B-79EF-D395-ED9B2BB258FD}"/>
              </a:ext>
            </a:extLst>
          </p:cNvPr>
          <p:cNvSpPr/>
          <p:nvPr/>
        </p:nvSpPr>
        <p:spPr>
          <a:xfrm>
            <a:off x="8840400" y="1567687"/>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5" name="TextBox 34">
            <a:extLst>
              <a:ext uri="{FF2B5EF4-FFF2-40B4-BE49-F238E27FC236}">
                <a16:creationId xmlns:a16="http://schemas.microsoft.com/office/drawing/2014/main" id="{BE5A51E8-AA0E-223E-8446-2FC2A9CBADF3}"/>
              </a:ext>
            </a:extLst>
          </p:cNvPr>
          <p:cNvSpPr txBox="1"/>
          <p:nvPr/>
        </p:nvSpPr>
        <p:spPr>
          <a:xfrm>
            <a:off x="1086888" y="2808666"/>
            <a:ext cx="56325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Site ID</a:t>
            </a:r>
          </a:p>
        </p:txBody>
      </p:sp>
      <p:sp>
        <p:nvSpPr>
          <p:cNvPr id="37" name="TextBox 36">
            <a:extLst>
              <a:ext uri="{FF2B5EF4-FFF2-40B4-BE49-F238E27FC236}">
                <a16:creationId xmlns:a16="http://schemas.microsoft.com/office/drawing/2014/main" id="{930FF6BB-E651-9E53-363B-AFCFB689D44B}"/>
              </a:ext>
            </a:extLst>
          </p:cNvPr>
          <p:cNvSpPr txBox="1"/>
          <p:nvPr/>
        </p:nvSpPr>
        <p:spPr>
          <a:xfrm>
            <a:off x="2921791" y="2874139"/>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0" name="TextBox 39">
            <a:extLst>
              <a:ext uri="{FF2B5EF4-FFF2-40B4-BE49-F238E27FC236}">
                <a16:creationId xmlns:a16="http://schemas.microsoft.com/office/drawing/2014/main" id="{9BD394D0-64DF-37BF-C99B-A910CF0C9EB2}"/>
              </a:ext>
            </a:extLst>
          </p:cNvPr>
          <p:cNvSpPr txBox="1"/>
          <p:nvPr/>
        </p:nvSpPr>
        <p:spPr>
          <a:xfrm>
            <a:off x="8717022" y="2847345"/>
            <a:ext cx="59629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OSH ID</a:t>
            </a:r>
          </a:p>
        </p:txBody>
      </p:sp>
      <p:sp>
        <p:nvSpPr>
          <p:cNvPr id="41" name="TextBox 40">
            <a:extLst>
              <a:ext uri="{FF2B5EF4-FFF2-40B4-BE49-F238E27FC236}">
                <a16:creationId xmlns:a16="http://schemas.microsoft.com/office/drawing/2014/main" id="{932D82CD-8507-AAFE-1BEE-A1232678C986}"/>
              </a:ext>
            </a:extLst>
          </p:cNvPr>
          <p:cNvSpPr txBox="1"/>
          <p:nvPr/>
        </p:nvSpPr>
        <p:spPr>
          <a:xfrm>
            <a:off x="4689822" y="2860576"/>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49" name="TextBox 48">
            <a:extLst>
              <a:ext uri="{FF2B5EF4-FFF2-40B4-BE49-F238E27FC236}">
                <a16:creationId xmlns:a16="http://schemas.microsoft.com/office/drawing/2014/main" id="{FC81DB85-E647-0881-DB9D-EFDA64BEB7B5}"/>
              </a:ext>
            </a:extLst>
          </p:cNvPr>
          <p:cNvSpPr txBox="1"/>
          <p:nvPr/>
        </p:nvSpPr>
        <p:spPr>
          <a:xfrm>
            <a:off x="7090489" y="2884806"/>
            <a:ext cx="42082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GLN</a:t>
            </a:r>
          </a:p>
        </p:txBody>
      </p:sp>
      <p:sp>
        <p:nvSpPr>
          <p:cNvPr id="50" name="TextBox 49">
            <a:extLst>
              <a:ext uri="{FF2B5EF4-FFF2-40B4-BE49-F238E27FC236}">
                <a16:creationId xmlns:a16="http://schemas.microsoft.com/office/drawing/2014/main" id="{6DE6F265-1EF5-E43E-9835-13005D9C7F5F}"/>
              </a:ext>
            </a:extLst>
          </p:cNvPr>
          <p:cNvSpPr txBox="1"/>
          <p:nvPr/>
        </p:nvSpPr>
        <p:spPr>
          <a:xfrm>
            <a:off x="10477948" y="2877627"/>
            <a:ext cx="93532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Company ID</a:t>
            </a:r>
          </a:p>
        </p:txBody>
      </p:sp>
      <p:sp>
        <p:nvSpPr>
          <p:cNvPr id="31" name="Rounded Rectangle 30">
            <a:extLst>
              <a:ext uri="{FF2B5EF4-FFF2-40B4-BE49-F238E27FC236}">
                <a16:creationId xmlns:a16="http://schemas.microsoft.com/office/drawing/2014/main" id="{B5B13253-BBA3-C88B-EFCD-4A722B1FB71E}"/>
              </a:ext>
            </a:extLst>
          </p:cNvPr>
          <p:cNvSpPr/>
          <p:nvPr/>
        </p:nvSpPr>
        <p:spPr>
          <a:xfrm>
            <a:off x="10739090" y="1567687"/>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2" name="Rounded Rectangle 31">
            <a:extLst>
              <a:ext uri="{FF2B5EF4-FFF2-40B4-BE49-F238E27FC236}">
                <a16:creationId xmlns:a16="http://schemas.microsoft.com/office/drawing/2014/main" id="{2282AC3C-7F5A-5504-7095-FE1240063054}"/>
              </a:ext>
            </a:extLst>
          </p:cNvPr>
          <p:cNvSpPr/>
          <p:nvPr/>
        </p:nvSpPr>
        <p:spPr>
          <a:xfrm>
            <a:off x="7068953" y="1567687"/>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3" name="Rounded Rectangle 32">
            <a:extLst>
              <a:ext uri="{FF2B5EF4-FFF2-40B4-BE49-F238E27FC236}">
                <a16:creationId xmlns:a16="http://schemas.microsoft.com/office/drawing/2014/main" id="{254CEBFA-A6F9-1AAD-5643-2C4C366401B0}"/>
              </a:ext>
            </a:extLst>
          </p:cNvPr>
          <p:cNvSpPr/>
          <p:nvPr/>
        </p:nvSpPr>
        <p:spPr>
          <a:xfrm>
            <a:off x="4826441" y="1575568"/>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8" name="Rounded Rectangle 37">
            <a:extLst>
              <a:ext uri="{FF2B5EF4-FFF2-40B4-BE49-F238E27FC236}">
                <a16:creationId xmlns:a16="http://schemas.microsoft.com/office/drawing/2014/main" id="{A3ECA9F0-6FE7-D478-6D22-420CDC9EF56F}"/>
              </a:ext>
            </a:extLst>
          </p:cNvPr>
          <p:cNvSpPr/>
          <p:nvPr/>
        </p:nvSpPr>
        <p:spPr>
          <a:xfrm>
            <a:off x="3024178" y="1575568"/>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39" name="Rounded Rectangle 38">
            <a:extLst>
              <a:ext uri="{FF2B5EF4-FFF2-40B4-BE49-F238E27FC236}">
                <a16:creationId xmlns:a16="http://schemas.microsoft.com/office/drawing/2014/main" id="{6565DEE2-7365-2A92-5256-198DB8F13F1D}"/>
              </a:ext>
            </a:extLst>
          </p:cNvPr>
          <p:cNvSpPr/>
          <p:nvPr/>
        </p:nvSpPr>
        <p:spPr>
          <a:xfrm>
            <a:off x="1191096" y="1575568"/>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cxnSp>
        <p:nvCxnSpPr>
          <p:cNvPr id="51" name="Straight Arrow Connector 50">
            <a:extLst>
              <a:ext uri="{FF2B5EF4-FFF2-40B4-BE49-F238E27FC236}">
                <a16:creationId xmlns:a16="http://schemas.microsoft.com/office/drawing/2014/main" id="{A1FD2A88-E88C-9B71-20E5-2927F98058B2}"/>
              </a:ext>
            </a:extLst>
          </p:cNvPr>
          <p:cNvCxnSpPr>
            <a:cxnSpLocks/>
          </p:cNvCxnSpPr>
          <p:nvPr/>
        </p:nvCxnSpPr>
        <p:spPr>
          <a:xfrm rot="10800000">
            <a:off x="9226862" y="1694445"/>
            <a:ext cx="1423058" cy="845462"/>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50">
            <a:extLst>
              <a:ext uri="{FF2B5EF4-FFF2-40B4-BE49-F238E27FC236}">
                <a16:creationId xmlns:a16="http://schemas.microsoft.com/office/drawing/2014/main" id="{BCCE3BF7-2417-FEF0-B4F0-CD7B7BC60E52}"/>
              </a:ext>
            </a:extLst>
          </p:cNvPr>
          <p:cNvCxnSpPr>
            <a:cxnSpLocks/>
          </p:cNvCxnSpPr>
          <p:nvPr/>
        </p:nvCxnSpPr>
        <p:spPr>
          <a:xfrm rot="10800000">
            <a:off x="7455415" y="1694452"/>
            <a:ext cx="1242159" cy="845591"/>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0">
            <a:extLst>
              <a:ext uri="{FF2B5EF4-FFF2-40B4-BE49-F238E27FC236}">
                <a16:creationId xmlns:a16="http://schemas.microsoft.com/office/drawing/2014/main" id="{380F61BA-909C-48D1-F5A0-FB7DCFD55701}"/>
              </a:ext>
            </a:extLst>
          </p:cNvPr>
          <p:cNvCxnSpPr>
            <a:cxnSpLocks/>
            <a:stCxn id="140" idx="1"/>
          </p:cNvCxnSpPr>
          <p:nvPr/>
        </p:nvCxnSpPr>
        <p:spPr>
          <a:xfrm rot="10800000">
            <a:off x="5212908" y="1703449"/>
            <a:ext cx="1825983" cy="942555"/>
          </a:xfrm>
          <a:prstGeom prst="bentConnector3">
            <a:avLst>
              <a:gd name="adj1" fmla="val 76127"/>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0">
            <a:extLst>
              <a:ext uri="{FF2B5EF4-FFF2-40B4-BE49-F238E27FC236}">
                <a16:creationId xmlns:a16="http://schemas.microsoft.com/office/drawing/2014/main" id="{1FC83F99-5D63-A9C7-97DA-9C98AF4375F2}"/>
              </a:ext>
            </a:extLst>
          </p:cNvPr>
          <p:cNvCxnSpPr>
            <a:cxnSpLocks/>
            <a:stCxn id="31" idx="2"/>
            <a:endCxn id="10" idx="0"/>
          </p:cNvCxnSpPr>
          <p:nvPr/>
        </p:nvCxnSpPr>
        <p:spPr>
          <a:xfrm>
            <a:off x="10932321" y="1815035"/>
            <a:ext cx="5390" cy="260398"/>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50">
            <a:extLst>
              <a:ext uri="{FF2B5EF4-FFF2-40B4-BE49-F238E27FC236}">
                <a16:creationId xmlns:a16="http://schemas.microsoft.com/office/drawing/2014/main" id="{4DEC39BA-482A-6C7C-91A4-D95B586EC679}"/>
              </a:ext>
            </a:extLst>
          </p:cNvPr>
          <p:cNvCxnSpPr>
            <a:cxnSpLocks/>
            <a:stCxn id="4" idx="2"/>
            <a:endCxn id="8" idx="0"/>
          </p:cNvCxnSpPr>
          <p:nvPr/>
        </p:nvCxnSpPr>
        <p:spPr>
          <a:xfrm>
            <a:off x="9033631" y="1815035"/>
            <a:ext cx="129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1" name="Straight Arrow Connector 50">
            <a:extLst>
              <a:ext uri="{FF2B5EF4-FFF2-40B4-BE49-F238E27FC236}">
                <a16:creationId xmlns:a16="http://schemas.microsoft.com/office/drawing/2014/main" id="{A664E426-6C25-7617-F10A-156AE3681EC3}"/>
              </a:ext>
            </a:extLst>
          </p:cNvPr>
          <p:cNvCxnSpPr>
            <a:cxnSpLocks/>
          </p:cNvCxnSpPr>
          <p:nvPr/>
        </p:nvCxnSpPr>
        <p:spPr>
          <a:xfrm rot="10800000">
            <a:off x="3410640" y="1689454"/>
            <a:ext cx="1271050" cy="849259"/>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45" name="Straight Arrow Connector 50">
            <a:extLst>
              <a:ext uri="{FF2B5EF4-FFF2-40B4-BE49-F238E27FC236}">
                <a16:creationId xmlns:a16="http://schemas.microsoft.com/office/drawing/2014/main" id="{7EC72BD6-EBA6-AA84-A3CC-DD6DE96F8F5C}"/>
              </a:ext>
            </a:extLst>
          </p:cNvPr>
          <p:cNvCxnSpPr>
            <a:cxnSpLocks/>
          </p:cNvCxnSpPr>
          <p:nvPr/>
        </p:nvCxnSpPr>
        <p:spPr>
          <a:xfrm rot="10800000">
            <a:off x="1577558" y="1715914"/>
            <a:ext cx="1392377" cy="855953"/>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 name="Straight Arrow Connector 50">
            <a:extLst>
              <a:ext uri="{FF2B5EF4-FFF2-40B4-BE49-F238E27FC236}">
                <a16:creationId xmlns:a16="http://schemas.microsoft.com/office/drawing/2014/main" id="{E5C2F01E-EF9F-321B-A389-83F30ADBD813}"/>
              </a:ext>
            </a:extLst>
          </p:cNvPr>
          <p:cNvCxnSpPr>
            <a:cxnSpLocks/>
          </p:cNvCxnSpPr>
          <p:nvPr/>
        </p:nvCxnSpPr>
        <p:spPr>
          <a:xfrm rot="10800000" flipV="1">
            <a:off x="1575016" y="2707001"/>
            <a:ext cx="1394919" cy="80172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0">
            <a:extLst>
              <a:ext uri="{FF2B5EF4-FFF2-40B4-BE49-F238E27FC236}">
                <a16:creationId xmlns:a16="http://schemas.microsoft.com/office/drawing/2014/main" id="{DC0004AF-86D8-C94C-BEA6-4C286292AE7C}"/>
              </a:ext>
            </a:extLst>
          </p:cNvPr>
          <p:cNvCxnSpPr>
            <a:cxnSpLocks/>
          </p:cNvCxnSpPr>
          <p:nvPr/>
        </p:nvCxnSpPr>
        <p:spPr>
          <a:xfrm rot="10800000" flipV="1">
            <a:off x="3478279" y="2713825"/>
            <a:ext cx="1203411" cy="82417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0" name="Straight Arrow Connector 50">
            <a:extLst>
              <a:ext uri="{FF2B5EF4-FFF2-40B4-BE49-F238E27FC236}">
                <a16:creationId xmlns:a16="http://schemas.microsoft.com/office/drawing/2014/main" id="{C5524719-CEB5-993E-C94F-17A4D31E9CC0}"/>
              </a:ext>
            </a:extLst>
          </p:cNvPr>
          <p:cNvCxnSpPr>
            <a:cxnSpLocks/>
            <a:endCxn id="1085" idx="0"/>
          </p:cNvCxnSpPr>
          <p:nvPr/>
        </p:nvCxnSpPr>
        <p:spPr>
          <a:xfrm rot="10800000" flipV="1">
            <a:off x="5617593" y="2773884"/>
            <a:ext cx="1421298" cy="747258"/>
          </a:xfrm>
          <a:prstGeom prst="bentConnector2">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24" name="Straight Arrow Connector 50">
            <a:extLst>
              <a:ext uri="{FF2B5EF4-FFF2-40B4-BE49-F238E27FC236}">
                <a16:creationId xmlns:a16="http://schemas.microsoft.com/office/drawing/2014/main" id="{17A4D08E-F71B-DBF7-CF4A-14D512D23714}"/>
              </a:ext>
            </a:extLst>
          </p:cNvPr>
          <p:cNvCxnSpPr>
            <a:cxnSpLocks/>
          </p:cNvCxnSpPr>
          <p:nvPr/>
        </p:nvCxnSpPr>
        <p:spPr>
          <a:xfrm rot="10800000" flipV="1">
            <a:off x="7590695" y="2715142"/>
            <a:ext cx="1106879" cy="827597"/>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36" name="Rounded Rectangle 1035">
            <a:extLst>
              <a:ext uri="{FF2B5EF4-FFF2-40B4-BE49-F238E27FC236}">
                <a16:creationId xmlns:a16="http://schemas.microsoft.com/office/drawing/2014/main" id="{23996A24-4CC5-44ED-3FC4-D39172FBF685}"/>
              </a:ext>
            </a:extLst>
          </p:cNvPr>
          <p:cNvSpPr/>
          <p:nvPr/>
        </p:nvSpPr>
        <p:spPr>
          <a:xfrm>
            <a:off x="3536866" y="3422253"/>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38" name="Rounded Rectangle 1037">
            <a:extLst>
              <a:ext uri="{FF2B5EF4-FFF2-40B4-BE49-F238E27FC236}">
                <a16:creationId xmlns:a16="http://schemas.microsoft.com/office/drawing/2014/main" id="{F93EED1F-2086-52F9-C2F6-A8FC16F307FE}"/>
              </a:ext>
            </a:extLst>
          </p:cNvPr>
          <p:cNvSpPr/>
          <p:nvPr/>
        </p:nvSpPr>
        <p:spPr>
          <a:xfrm>
            <a:off x="2126802" y="2900639"/>
            <a:ext cx="618734" cy="368472"/>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a:p>
            <a:pPr algn="ctr"/>
            <a:r>
              <a:rPr lang="en-AU" sz="1000" i="1" dirty="0"/>
              <a:t>basic</a:t>
            </a:r>
          </a:p>
        </p:txBody>
      </p:sp>
      <p:sp>
        <p:nvSpPr>
          <p:cNvPr id="1043" name="Rounded Rectangle 1042">
            <a:extLst>
              <a:ext uri="{FF2B5EF4-FFF2-40B4-BE49-F238E27FC236}">
                <a16:creationId xmlns:a16="http://schemas.microsoft.com/office/drawing/2014/main" id="{84567534-8A34-7B3E-40EF-60999C0D5D1F}"/>
              </a:ext>
            </a:extLst>
          </p:cNvPr>
          <p:cNvSpPr/>
          <p:nvPr/>
        </p:nvSpPr>
        <p:spPr>
          <a:xfrm>
            <a:off x="7643449" y="3414372"/>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044" name="Rounded Rectangle 1043">
            <a:extLst>
              <a:ext uri="{FF2B5EF4-FFF2-40B4-BE49-F238E27FC236}">
                <a16:creationId xmlns:a16="http://schemas.microsoft.com/office/drawing/2014/main" id="{F3538B38-9FBA-CFB3-B871-8085D4A432B1}"/>
              </a:ext>
            </a:extLst>
          </p:cNvPr>
          <p:cNvSpPr/>
          <p:nvPr/>
        </p:nvSpPr>
        <p:spPr>
          <a:xfrm>
            <a:off x="9669773" y="2800785"/>
            <a:ext cx="595863" cy="351647"/>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a:p>
            <a:pPr algn="ctr"/>
            <a:r>
              <a:rPr lang="en-AU" sz="1000" i="1" dirty="0"/>
              <a:t>B2B</a:t>
            </a:r>
          </a:p>
        </p:txBody>
      </p:sp>
      <p:cxnSp>
        <p:nvCxnSpPr>
          <p:cNvPr id="17" name="Straight Arrow Connector 50">
            <a:extLst>
              <a:ext uri="{FF2B5EF4-FFF2-40B4-BE49-F238E27FC236}">
                <a16:creationId xmlns:a16="http://schemas.microsoft.com/office/drawing/2014/main" id="{A941F10F-7D91-BD05-690C-2C3E9E2797BA}"/>
              </a:ext>
            </a:extLst>
          </p:cNvPr>
          <p:cNvCxnSpPr>
            <a:cxnSpLocks/>
          </p:cNvCxnSpPr>
          <p:nvPr/>
        </p:nvCxnSpPr>
        <p:spPr>
          <a:xfrm>
            <a:off x="7254762" y="1822669"/>
            <a:ext cx="544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 name="Straight Arrow Connector 50">
            <a:extLst>
              <a:ext uri="{FF2B5EF4-FFF2-40B4-BE49-F238E27FC236}">
                <a16:creationId xmlns:a16="http://schemas.microsoft.com/office/drawing/2014/main" id="{4E57FAC9-20C4-4765-77FE-60BCFCFCFE33}"/>
              </a:ext>
            </a:extLst>
          </p:cNvPr>
          <p:cNvCxnSpPr>
            <a:cxnSpLocks/>
          </p:cNvCxnSpPr>
          <p:nvPr/>
        </p:nvCxnSpPr>
        <p:spPr>
          <a:xfrm>
            <a:off x="5023240" y="1830550"/>
            <a:ext cx="141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50">
            <a:extLst>
              <a:ext uri="{FF2B5EF4-FFF2-40B4-BE49-F238E27FC236}">
                <a16:creationId xmlns:a16="http://schemas.microsoft.com/office/drawing/2014/main" id="{C320825E-A40D-94F1-54A3-51F21375506D}"/>
              </a:ext>
            </a:extLst>
          </p:cNvPr>
          <p:cNvCxnSpPr>
            <a:cxnSpLocks/>
          </p:cNvCxnSpPr>
          <p:nvPr/>
        </p:nvCxnSpPr>
        <p:spPr>
          <a:xfrm>
            <a:off x="3231661" y="1830550"/>
            <a:ext cx="5348"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 name="Straight Arrow Connector 50">
            <a:extLst>
              <a:ext uri="{FF2B5EF4-FFF2-40B4-BE49-F238E27FC236}">
                <a16:creationId xmlns:a16="http://schemas.microsoft.com/office/drawing/2014/main" id="{B68E047D-F85E-4625-6FBE-081198FB1D37}"/>
              </a:ext>
            </a:extLst>
          </p:cNvPr>
          <p:cNvCxnSpPr>
            <a:cxnSpLocks/>
          </p:cNvCxnSpPr>
          <p:nvPr/>
        </p:nvCxnSpPr>
        <p:spPr>
          <a:xfrm flipH="1">
            <a:off x="1402904" y="1830550"/>
            <a:ext cx="654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8" name="Straight Arrow Connector 50">
            <a:extLst>
              <a:ext uri="{FF2B5EF4-FFF2-40B4-BE49-F238E27FC236}">
                <a16:creationId xmlns:a16="http://schemas.microsoft.com/office/drawing/2014/main" id="{165E4024-9BAD-502D-E641-0768DBAB6BD4}"/>
              </a:ext>
            </a:extLst>
          </p:cNvPr>
          <p:cNvCxnSpPr>
            <a:cxnSpLocks/>
            <a:stCxn id="57" idx="1"/>
          </p:cNvCxnSpPr>
          <p:nvPr/>
        </p:nvCxnSpPr>
        <p:spPr>
          <a:xfrm rot="10800000">
            <a:off x="1585023" y="3508738"/>
            <a:ext cx="1445767" cy="132476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57" name="Picture 56">
            <a:extLst>
              <a:ext uri="{FF2B5EF4-FFF2-40B4-BE49-F238E27FC236}">
                <a16:creationId xmlns:a16="http://schemas.microsoft.com/office/drawing/2014/main" id="{0E26088B-DEC9-AEE5-CBEA-F2534425F1CE}"/>
              </a:ext>
            </a:extLst>
          </p:cNvPr>
          <p:cNvPicPr>
            <a:picLocks noChangeAspect="1"/>
          </p:cNvPicPr>
          <p:nvPr/>
        </p:nvPicPr>
        <p:blipFill>
          <a:blip r:embed="rId15"/>
          <a:stretch>
            <a:fillRect/>
          </a:stretch>
        </p:blipFill>
        <p:spPr>
          <a:xfrm>
            <a:off x="3030789" y="4591707"/>
            <a:ext cx="513749" cy="483589"/>
          </a:xfrm>
          <a:prstGeom prst="rect">
            <a:avLst/>
          </a:prstGeom>
        </p:spPr>
      </p:pic>
      <p:sp>
        <p:nvSpPr>
          <p:cNvPr id="58" name="Rounded Rectangle 57">
            <a:extLst>
              <a:ext uri="{FF2B5EF4-FFF2-40B4-BE49-F238E27FC236}">
                <a16:creationId xmlns:a16="http://schemas.microsoft.com/office/drawing/2014/main" id="{3E5A63F8-5F21-64D0-3AC2-BA2A01F2CA90}"/>
              </a:ext>
            </a:extLst>
          </p:cNvPr>
          <p:cNvSpPr/>
          <p:nvPr/>
        </p:nvSpPr>
        <p:spPr>
          <a:xfrm>
            <a:off x="2232616" y="4079420"/>
            <a:ext cx="618734" cy="368472"/>
          </a:xfrm>
          <a:prstGeom prst="roundRect">
            <a:avLst/>
          </a:prstGeom>
          <a:solidFill>
            <a:schemeClr val="accent6"/>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a:p>
            <a:pPr algn="ctr"/>
            <a:r>
              <a:rPr lang="en-AU" sz="1000" i="1" dirty="0"/>
              <a:t>full</a:t>
            </a:r>
          </a:p>
        </p:txBody>
      </p:sp>
      <p:sp>
        <p:nvSpPr>
          <p:cNvPr id="61" name="TextBox 60">
            <a:extLst>
              <a:ext uri="{FF2B5EF4-FFF2-40B4-BE49-F238E27FC236}">
                <a16:creationId xmlns:a16="http://schemas.microsoft.com/office/drawing/2014/main" id="{A501D9CE-54D6-FE87-66EA-01EE78E294A5}"/>
              </a:ext>
            </a:extLst>
          </p:cNvPr>
          <p:cNvSpPr txBox="1"/>
          <p:nvPr/>
        </p:nvSpPr>
        <p:spPr>
          <a:xfrm>
            <a:off x="2885109" y="5084729"/>
            <a:ext cx="790858"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Regulator</a:t>
            </a:r>
          </a:p>
        </p:txBody>
      </p:sp>
      <p:sp>
        <p:nvSpPr>
          <p:cNvPr id="1025" name="Can 1024">
            <a:extLst>
              <a:ext uri="{FF2B5EF4-FFF2-40B4-BE49-F238E27FC236}">
                <a16:creationId xmlns:a16="http://schemas.microsoft.com/office/drawing/2014/main" id="{6A3EBB69-23A8-BD50-8789-1782DC5F8D3F}"/>
              </a:ext>
            </a:extLst>
          </p:cNvPr>
          <p:cNvSpPr/>
          <p:nvPr/>
        </p:nvSpPr>
        <p:spPr>
          <a:xfrm>
            <a:off x="1775393" y="3367597"/>
            <a:ext cx="438298" cy="337931"/>
          </a:xfrm>
          <a:prstGeom prst="ca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b="1" dirty="0"/>
              <a:t>IDR</a:t>
            </a:r>
          </a:p>
        </p:txBody>
      </p:sp>
      <p:cxnSp>
        <p:nvCxnSpPr>
          <p:cNvPr id="1028" name="Straight Arrow Connector 50">
            <a:extLst>
              <a:ext uri="{FF2B5EF4-FFF2-40B4-BE49-F238E27FC236}">
                <a16:creationId xmlns:a16="http://schemas.microsoft.com/office/drawing/2014/main" id="{39CC8470-3CF2-70D3-8B5E-EA4DE01B3644}"/>
              </a:ext>
            </a:extLst>
          </p:cNvPr>
          <p:cNvCxnSpPr>
            <a:cxnSpLocks/>
            <a:stCxn id="1025" idx="3"/>
            <a:endCxn id="61" idx="1"/>
          </p:cNvCxnSpPr>
          <p:nvPr/>
        </p:nvCxnSpPr>
        <p:spPr>
          <a:xfrm rot="16200000" flipH="1">
            <a:off x="1680975" y="4019094"/>
            <a:ext cx="1517701" cy="890567"/>
          </a:xfrm>
          <a:prstGeom prst="bentConnector2">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27" name="Rounded Rectangle 1026">
            <a:extLst>
              <a:ext uri="{FF2B5EF4-FFF2-40B4-BE49-F238E27FC236}">
                <a16:creationId xmlns:a16="http://schemas.microsoft.com/office/drawing/2014/main" id="{0C1BBBF9-0D8D-3105-2B5F-4F7B575141DB}"/>
              </a:ext>
            </a:extLst>
          </p:cNvPr>
          <p:cNvSpPr/>
          <p:nvPr/>
        </p:nvSpPr>
        <p:spPr>
          <a:xfrm>
            <a:off x="1811450" y="4927464"/>
            <a:ext cx="342554" cy="178904"/>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244938"/>
            <a:r>
              <a:rPr lang="en-AU" sz="1100" b="1" dirty="0">
                <a:solidFill>
                  <a:prstClr val="white"/>
                </a:solidFill>
                <a:latin typeface="Aptos" panose="02110004020202020204"/>
              </a:rPr>
              <a:t>DIA</a:t>
            </a:r>
          </a:p>
        </p:txBody>
      </p:sp>
      <p:sp>
        <p:nvSpPr>
          <p:cNvPr id="1035" name="Can 1034">
            <a:extLst>
              <a:ext uri="{FF2B5EF4-FFF2-40B4-BE49-F238E27FC236}">
                <a16:creationId xmlns:a16="http://schemas.microsoft.com/office/drawing/2014/main" id="{7F717DD0-106C-90A7-AC8F-90EA52396829}"/>
              </a:ext>
            </a:extLst>
          </p:cNvPr>
          <p:cNvSpPr/>
          <p:nvPr/>
        </p:nvSpPr>
        <p:spPr>
          <a:xfrm>
            <a:off x="9461337" y="3414372"/>
            <a:ext cx="438298" cy="337931"/>
          </a:xfrm>
          <a:prstGeom prst="ca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b="1" dirty="0"/>
              <a:t>IDR</a:t>
            </a:r>
          </a:p>
        </p:txBody>
      </p:sp>
      <p:pic>
        <p:nvPicPr>
          <p:cNvPr id="1037" name="Picture 2" descr="User - Free social icons">
            <a:extLst>
              <a:ext uri="{FF2B5EF4-FFF2-40B4-BE49-F238E27FC236}">
                <a16:creationId xmlns:a16="http://schemas.microsoft.com/office/drawing/2014/main" id="{C5B6FE54-96F6-22C7-E130-6FBD609D387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036382" y="4059838"/>
            <a:ext cx="388879" cy="388879"/>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 descr="User - Free social icons">
            <a:extLst>
              <a:ext uri="{FF2B5EF4-FFF2-40B4-BE49-F238E27FC236}">
                <a16:creationId xmlns:a16="http://schemas.microsoft.com/office/drawing/2014/main" id="{F0A72DC1-FDEE-5D46-C1A2-172F2DBAB23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053314" y="4644063"/>
            <a:ext cx="388879" cy="388879"/>
          </a:xfrm>
          <a:prstGeom prst="rect">
            <a:avLst/>
          </a:prstGeom>
          <a:noFill/>
          <a:extLst>
            <a:ext uri="{909E8E84-426E-40DD-AFC4-6F175D3DCCD1}">
              <a14:hiddenFill xmlns:a14="http://schemas.microsoft.com/office/drawing/2010/main">
                <a:solidFill>
                  <a:srgbClr val="FFFFFF"/>
                </a:solidFill>
              </a14:hiddenFill>
            </a:ext>
          </a:extLst>
        </p:spPr>
      </p:pic>
      <p:cxnSp>
        <p:nvCxnSpPr>
          <p:cNvPr id="1048" name="Straight Arrow Connector 50">
            <a:extLst>
              <a:ext uri="{FF2B5EF4-FFF2-40B4-BE49-F238E27FC236}">
                <a16:creationId xmlns:a16="http://schemas.microsoft.com/office/drawing/2014/main" id="{95CCCF67-F987-B747-2721-7C09118E5785}"/>
              </a:ext>
            </a:extLst>
          </p:cNvPr>
          <p:cNvCxnSpPr>
            <a:cxnSpLocks/>
            <a:stCxn id="1037" idx="1"/>
            <a:endCxn id="1035" idx="3"/>
          </p:cNvCxnSpPr>
          <p:nvPr/>
        </p:nvCxnSpPr>
        <p:spPr>
          <a:xfrm rot="10800000">
            <a:off x="9680486" y="3752304"/>
            <a:ext cx="1355896" cy="501975"/>
          </a:xfrm>
          <a:prstGeom prst="bentConnector2">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2" name="Straight Arrow Connector 50">
            <a:extLst>
              <a:ext uri="{FF2B5EF4-FFF2-40B4-BE49-F238E27FC236}">
                <a16:creationId xmlns:a16="http://schemas.microsoft.com/office/drawing/2014/main" id="{0EEE38D0-0A77-C461-A6D5-797279247E96}"/>
              </a:ext>
            </a:extLst>
          </p:cNvPr>
          <p:cNvCxnSpPr>
            <a:cxnSpLocks/>
            <a:stCxn id="1047" idx="1"/>
            <a:endCxn id="1035" idx="3"/>
          </p:cNvCxnSpPr>
          <p:nvPr/>
        </p:nvCxnSpPr>
        <p:spPr>
          <a:xfrm rot="10800000">
            <a:off x="9680486" y="3752303"/>
            <a:ext cx="1372828" cy="1086200"/>
          </a:xfrm>
          <a:prstGeom prst="bentConnector2">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56" name="Rounded Rectangle 1055">
            <a:extLst>
              <a:ext uri="{FF2B5EF4-FFF2-40B4-BE49-F238E27FC236}">
                <a16:creationId xmlns:a16="http://schemas.microsoft.com/office/drawing/2014/main" id="{E14FBA76-F9F8-3F73-A664-3F59748DCBE3}"/>
              </a:ext>
            </a:extLst>
          </p:cNvPr>
          <p:cNvSpPr/>
          <p:nvPr/>
        </p:nvSpPr>
        <p:spPr>
          <a:xfrm>
            <a:off x="9905620" y="4078454"/>
            <a:ext cx="744300" cy="351647"/>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a:p>
            <a:pPr algn="ctr"/>
            <a:r>
              <a:rPr lang="en-AU" sz="1000" i="1" dirty="0"/>
              <a:t>B2C French</a:t>
            </a:r>
          </a:p>
        </p:txBody>
      </p:sp>
      <p:sp>
        <p:nvSpPr>
          <p:cNvPr id="1059" name="Rounded Rectangle 1058">
            <a:extLst>
              <a:ext uri="{FF2B5EF4-FFF2-40B4-BE49-F238E27FC236}">
                <a16:creationId xmlns:a16="http://schemas.microsoft.com/office/drawing/2014/main" id="{D965D7C5-E879-4F8B-37E5-9371A0803459}"/>
              </a:ext>
            </a:extLst>
          </p:cNvPr>
          <p:cNvSpPr/>
          <p:nvPr/>
        </p:nvSpPr>
        <p:spPr>
          <a:xfrm>
            <a:off x="9952987" y="4625184"/>
            <a:ext cx="744300" cy="351647"/>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a:p>
            <a:pPr algn="ctr"/>
            <a:r>
              <a:rPr lang="en-AU" sz="1000" i="1" dirty="0"/>
              <a:t>B2C English</a:t>
            </a:r>
          </a:p>
        </p:txBody>
      </p:sp>
      <p:pic>
        <p:nvPicPr>
          <p:cNvPr id="1062" name="Picture 4" descr="France Flag Icon SVG Vector &amp; PNG Free Download | UXWing">
            <a:extLst>
              <a:ext uri="{FF2B5EF4-FFF2-40B4-BE49-F238E27FC236}">
                <a16:creationId xmlns:a16="http://schemas.microsoft.com/office/drawing/2014/main" id="{7E68F80A-7D8F-A592-CC33-A00D7F99B6F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493782" y="4103584"/>
            <a:ext cx="355445" cy="355445"/>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6" descr="United kingdom - Free flags icons">
            <a:extLst>
              <a:ext uri="{FF2B5EF4-FFF2-40B4-BE49-F238E27FC236}">
                <a16:creationId xmlns:a16="http://schemas.microsoft.com/office/drawing/2014/main" id="{E556107E-A436-0BD2-7C22-C5378E121E9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494211" y="4633564"/>
            <a:ext cx="362924" cy="362924"/>
          </a:xfrm>
          <a:prstGeom prst="rect">
            <a:avLst/>
          </a:prstGeom>
          <a:noFill/>
          <a:extLst>
            <a:ext uri="{909E8E84-426E-40DD-AFC4-6F175D3DCCD1}">
              <a14:hiddenFill xmlns:a14="http://schemas.microsoft.com/office/drawing/2010/main">
                <a:solidFill>
                  <a:srgbClr val="FFFFFF"/>
                </a:solidFill>
              </a14:hiddenFill>
            </a:ext>
          </a:extLst>
        </p:spPr>
      </p:pic>
      <p:sp>
        <p:nvSpPr>
          <p:cNvPr id="1067" name="TextBox 1066">
            <a:extLst>
              <a:ext uri="{FF2B5EF4-FFF2-40B4-BE49-F238E27FC236}">
                <a16:creationId xmlns:a16="http://schemas.microsoft.com/office/drawing/2014/main" id="{4CCAA0DA-29E8-9727-DEBD-3B056339346C}"/>
              </a:ext>
            </a:extLst>
          </p:cNvPr>
          <p:cNvSpPr txBox="1"/>
          <p:nvPr/>
        </p:nvSpPr>
        <p:spPr>
          <a:xfrm>
            <a:off x="2150426" y="4947392"/>
            <a:ext cx="77136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authorise</a:t>
            </a:r>
          </a:p>
        </p:txBody>
      </p:sp>
      <p:sp>
        <p:nvSpPr>
          <p:cNvPr id="1068" name="TextBox 1067">
            <a:extLst>
              <a:ext uri="{FF2B5EF4-FFF2-40B4-BE49-F238E27FC236}">
                <a16:creationId xmlns:a16="http://schemas.microsoft.com/office/drawing/2014/main" id="{C85FA1BC-E436-F9B2-480C-3C17B59EC9A0}"/>
              </a:ext>
            </a:extLst>
          </p:cNvPr>
          <p:cNvSpPr txBox="1"/>
          <p:nvPr/>
        </p:nvSpPr>
        <p:spPr>
          <a:xfrm>
            <a:off x="9882709" y="4389391"/>
            <a:ext cx="83029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Default FR</a:t>
            </a:r>
          </a:p>
        </p:txBody>
      </p:sp>
      <p:sp>
        <p:nvSpPr>
          <p:cNvPr id="1069" name="TextBox 1068">
            <a:extLst>
              <a:ext uri="{FF2B5EF4-FFF2-40B4-BE49-F238E27FC236}">
                <a16:creationId xmlns:a16="http://schemas.microsoft.com/office/drawing/2014/main" id="{FD5F6D03-C473-645E-B287-F4E7F508BBF5}"/>
              </a:ext>
            </a:extLst>
          </p:cNvPr>
          <p:cNvSpPr txBox="1"/>
          <p:nvPr/>
        </p:nvSpPr>
        <p:spPr>
          <a:xfrm>
            <a:off x="9908798" y="4937054"/>
            <a:ext cx="85113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Default EN</a:t>
            </a:r>
          </a:p>
        </p:txBody>
      </p:sp>
      <p:sp>
        <p:nvSpPr>
          <p:cNvPr id="1072" name="Rounded Rectangle 1071">
            <a:extLst>
              <a:ext uri="{FF2B5EF4-FFF2-40B4-BE49-F238E27FC236}">
                <a16:creationId xmlns:a16="http://schemas.microsoft.com/office/drawing/2014/main" id="{574FBD9D-E627-497F-0CB0-ABEDC835CAF4}"/>
              </a:ext>
            </a:extLst>
          </p:cNvPr>
          <p:cNvSpPr/>
          <p:nvPr/>
        </p:nvSpPr>
        <p:spPr>
          <a:xfrm>
            <a:off x="6066698" y="3066758"/>
            <a:ext cx="388879"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74" name="Rounded Rectangle 1073">
            <a:extLst>
              <a:ext uri="{FF2B5EF4-FFF2-40B4-BE49-F238E27FC236}">
                <a16:creationId xmlns:a16="http://schemas.microsoft.com/office/drawing/2014/main" id="{3B893669-2776-D5D7-2D46-157EF4AD4BFB}"/>
              </a:ext>
            </a:extLst>
          </p:cNvPr>
          <p:cNvSpPr/>
          <p:nvPr/>
        </p:nvSpPr>
        <p:spPr>
          <a:xfrm>
            <a:off x="5538213" y="2860576"/>
            <a:ext cx="618734" cy="368472"/>
          </a:xfrm>
          <a:prstGeom prst="roundRect">
            <a:avLst/>
          </a:prstGeom>
          <a:solidFill>
            <a:schemeClr val="accent6"/>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a:p>
            <a:pPr algn="ctr"/>
            <a:r>
              <a:rPr lang="en-AU" sz="1000" i="1" dirty="0"/>
              <a:t>private</a:t>
            </a:r>
          </a:p>
        </p:txBody>
      </p:sp>
      <p:sp>
        <p:nvSpPr>
          <p:cNvPr id="1075" name="TextBox 1074">
            <a:extLst>
              <a:ext uri="{FF2B5EF4-FFF2-40B4-BE49-F238E27FC236}">
                <a16:creationId xmlns:a16="http://schemas.microsoft.com/office/drawing/2014/main" id="{602FD786-9DDE-EDE7-FB1E-3623B33F3EC6}"/>
              </a:ext>
            </a:extLst>
          </p:cNvPr>
          <p:cNvSpPr txBox="1"/>
          <p:nvPr/>
        </p:nvSpPr>
        <p:spPr>
          <a:xfrm>
            <a:off x="6322938" y="4877556"/>
            <a:ext cx="108074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General public</a:t>
            </a:r>
          </a:p>
        </p:txBody>
      </p:sp>
      <p:pic>
        <p:nvPicPr>
          <p:cNvPr id="1084" name="Picture 2" descr="User - Free social icons">
            <a:extLst>
              <a:ext uri="{FF2B5EF4-FFF2-40B4-BE49-F238E27FC236}">
                <a16:creationId xmlns:a16="http://schemas.microsoft.com/office/drawing/2014/main" id="{5C9960BC-F087-C400-A03A-11914C8BFDD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00311" y="4431475"/>
            <a:ext cx="388879" cy="388879"/>
          </a:xfrm>
          <a:prstGeom prst="rect">
            <a:avLst/>
          </a:prstGeom>
          <a:noFill/>
          <a:extLst>
            <a:ext uri="{909E8E84-426E-40DD-AFC4-6F175D3DCCD1}">
              <a14:hiddenFill xmlns:a14="http://schemas.microsoft.com/office/drawing/2010/main">
                <a:solidFill>
                  <a:srgbClr val="FFFFFF"/>
                </a:solidFill>
              </a14:hiddenFill>
            </a:ext>
          </a:extLst>
        </p:spPr>
      </p:pic>
      <p:sp>
        <p:nvSpPr>
          <p:cNvPr id="1085" name="Can 1084">
            <a:extLst>
              <a:ext uri="{FF2B5EF4-FFF2-40B4-BE49-F238E27FC236}">
                <a16:creationId xmlns:a16="http://schemas.microsoft.com/office/drawing/2014/main" id="{8753790E-161E-7DF0-A65E-FF1792733E76}"/>
              </a:ext>
            </a:extLst>
          </p:cNvPr>
          <p:cNvSpPr/>
          <p:nvPr/>
        </p:nvSpPr>
        <p:spPr>
          <a:xfrm>
            <a:off x="5398444" y="3436659"/>
            <a:ext cx="438298" cy="337931"/>
          </a:xfrm>
          <a:prstGeom prst="ca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200" b="1" dirty="0"/>
              <a:t>IDR</a:t>
            </a:r>
          </a:p>
        </p:txBody>
      </p:sp>
      <p:cxnSp>
        <p:nvCxnSpPr>
          <p:cNvPr id="1087" name="Straight Arrow Connector 50">
            <a:extLst>
              <a:ext uri="{FF2B5EF4-FFF2-40B4-BE49-F238E27FC236}">
                <a16:creationId xmlns:a16="http://schemas.microsoft.com/office/drawing/2014/main" id="{559B3796-E422-F4B6-3707-D7FED22DB0FC}"/>
              </a:ext>
            </a:extLst>
          </p:cNvPr>
          <p:cNvCxnSpPr>
            <a:cxnSpLocks/>
            <a:stCxn id="1084" idx="1"/>
            <a:endCxn id="1085" idx="3"/>
          </p:cNvCxnSpPr>
          <p:nvPr/>
        </p:nvCxnSpPr>
        <p:spPr>
          <a:xfrm rot="10800000">
            <a:off x="5617593" y="3774591"/>
            <a:ext cx="982718" cy="851325"/>
          </a:xfrm>
          <a:prstGeom prst="bentConnector2">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86" name="Rounded Rectangle 1085">
            <a:extLst>
              <a:ext uri="{FF2B5EF4-FFF2-40B4-BE49-F238E27FC236}">
                <a16:creationId xmlns:a16="http://schemas.microsoft.com/office/drawing/2014/main" id="{D68AD7C4-387F-29AC-7C47-F693C26B10C0}"/>
              </a:ext>
            </a:extLst>
          </p:cNvPr>
          <p:cNvSpPr/>
          <p:nvPr/>
        </p:nvSpPr>
        <p:spPr>
          <a:xfrm>
            <a:off x="5507165" y="4171120"/>
            <a:ext cx="618734" cy="368472"/>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a:p>
            <a:pPr algn="ctr"/>
            <a:r>
              <a:rPr lang="en-AU" sz="1000" i="1" dirty="0"/>
              <a:t>public</a:t>
            </a:r>
          </a:p>
        </p:txBody>
      </p:sp>
      <p:cxnSp>
        <p:nvCxnSpPr>
          <p:cNvPr id="146" name="Straight Arrow Connector 50">
            <a:extLst>
              <a:ext uri="{FF2B5EF4-FFF2-40B4-BE49-F238E27FC236}">
                <a16:creationId xmlns:a16="http://schemas.microsoft.com/office/drawing/2014/main" id="{2AD8C148-2B21-D2C7-5F2A-80D2437B6E28}"/>
              </a:ext>
            </a:extLst>
          </p:cNvPr>
          <p:cNvCxnSpPr>
            <a:cxnSpLocks/>
            <a:stCxn id="1085" idx="4"/>
          </p:cNvCxnSpPr>
          <p:nvPr/>
        </p:nvCxnSpPr>
        <p:spPr>
          <a:xfrm flipV="1">
            <a:off x="5836742" y="2924176"/>
            <a:ext cx="1170110" cy="681449"/>
          </a:xfrm>
          <a:prstGeom prst="bentConnector3">
            <a:avLst>
              <a:gd name="adj1" fmla="val 76332"/>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30" name="Picture 8" descr="QR Code Transparent PNG Images Free Download - Free ...">
            <a:extLst>
              <a:ext uri="{FF2B5EF4-FFF2-40B4-BE49-F238E27FC236}">
                <a16:creationId xmlns:a16="http://schemas.microsoft.com/office/drawing/2014/main" id="{2D2FEFFB-0F7C-7FF2-1CD0-2D40FC7B590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52263" y="3396294"/>
            <a:ext cx="304285" cy="304285"/>
          </a:xfrm>
          <a:prstGeom prst="rect">
            <a:avLst/>
          </a:prstGeom>
          <a:noFill/>
          <a:extLst>
            <a:ext uri="{909E8E84-426E-40DD-AFC4-6F175D3DCCD1}">
              <a14:hiddenFill xmlns:a14="http://schemas.microsoft.com/office/drawing/2010/main">
                <a:solidFill>
                  <a:srgbClr val="FFFFFF"/>
                </a:solidFill>
              </a14:hiddenFill>
            </a:ext>
          </a:extLst>
        </p:spPr>
      </p:pic>
      <p:sp>
        <p:nvSpPr>
          <p:cNvPr id="155" name="TextBox 154">
            <a:extLst>
              <a:ext uri="{FF2B5EF4-FFF2-40B4-BE49-F238E27FC236}">
                <a16:creationId xmlns:a16="http://schemas.microsoft.com/office/drawing/2014/main" id="{C929D63C-2B65-3930-FD53-E6F11CEB33DF}"/>
              </a:ext>
            </a:extLst>
          </p:cNvPr>
          <p:cNvSpPr txBox="1"/>
          <p:nvPr/>
        </p:nvSpPr>
        <p:spPr>
          <a:xfrm>
            <a:off x="5821027" y="3668630"/>
            <a:ext cx="126292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Key with physical shipment</a:t>
            </a:r>
          </a:p>
        </p:txBody>
      </p:sp>
    </p:spTree>
    <p:extLst>
      <p:ext uri="{BB962C8B-B14F-4D97-AF65-F5344CB8AC3E}">
        <p14:creationId xmlns:p14="http://schemas.microsoft.com/office/powerpoint/2010/main" val="751329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E9266-238D-BCA7-5234-71748348D5C5}"/>
            </a:ext>
          </a:extLst>
        </p:cNvPr>
        <p:cNvGrpSpPr/>
        <p:nvPr/>
      </p:nvGrpSpPr>
      <p:grpSpPr>
        <a:xfrm>
          <a:off x="0" y="0"/>
          <a:ext cx="0" cy="0"/>
          <a:chOff x="0" y="0"/>
          <a:chExt cx="0" cy="0"/>
        </a:xfrm>
      </p:grpSpPr>
      <p:sp>
        <p:nvSpPr>
          <p:cNvPr id="4215" name="Rounded Rectangle 4214">
            <a:extLst>
              <a:ext uri="{FF2B5EF4-FFF2-40B4-BE49-F238E27FC236}">
                <a16:creationId xmlns:a16="http://schemas.microsoft.com/office/drawing/2014/main" id="{235A2054-1BB4-A0AB-FDDF-2FB6A434607E}"/>
              </a:ext>
            </a:extLst>
          </p:cNvPr>
          <p:cNvSpPr/>
          <p:nvPr/>
        </p:nvSpPr>
        <p:spPr>
          <a:xfrm>
            <a:off x="8714525" y="461268"/>
            <a:ext cx="2826327" cy="3583902"/>
          </a:xfrm>
          <a:prstGeom prst="roundRect">
            <a:avLst>
              <a:gd name="adj" fmla="val 527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14" name="Rounded Rectangle 4213">
            <a:extLst>
              <a:ext uri="{FF2B5EF4-FFF2-40B4-BE49-F238E27FC236}">
                <a16:creationId xmlns:a16="http://schemas.microsoft.com/office/drawing/2014/main" id="{22088F0F-9AC8-094B-B168-62C408AD5F6E}"/>
              </a:ext>
            </a:extLst>
          </p:cNvPr>
          <p:cNvSpPr/>
          <p:nvPr/>
        </p:nvSpPr>
        <p:spPr>
          <a:xfrm>
            <a:off x="3923037" y="4045170"/>
            <a:ext cx="3871049" cy="2220548"/>
          </a:xfrm>
          <a:prstGeom prst="roundRect">
            <a:avLst>
              <a:gd name="adj" fmla="val 527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13" name="Rounded Rectangle 4212">
            <a:extLst>
              <a:ext uri="{FF2B5EF4-FFF2-40B4-BE49-F238E27FC236}">
                <a16:creationId xmlns:a16="http://schemas.microsoft.com/office/drawing/2014/main" id="{D4B4384F-00F1-D38D-FDB2-F736AF829C4B}"/>
              </a:ext>
            </a:extLst>
          </p:cNvPr>
          <p:cNvSpPr/>
          <p:nvPr/>
        </p:nvSpPr>
        <p:spPr>
          <a:xfrm>
            <a:off x="3375299" y="519906"/>
            <a:ext cx="5063763" cy="3146612"/>
          </a:xfrm>
          <a:prstGeom prst="roundRect">
            <a:avLst>
              <a:gd name="adj" fmla="val 527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12" name="Rounded Rectangle 4211">
            <a:extLst>
              <a:ext uri="{FF2B5EF4-FFF2-40B4-BE49-F238E27FC236}">
                <a16:creationId xmlns:a16="http://schemas.microsoft.com/office/drawing/2014/main" id="{20B165E2-83A5-D4E0-2B0C-30DDFF955C75}"/>
              </a:ext>
            </a:extLst>
          </p:cNvPr>
          <p:cNvSpPr/>
          <p:nvPr/>
        </p:nvSpPr>
        <p:spPr>
          <a:xfrm>
            <a:off x="259756" y="491583"/>
            <a:ext cx="2826327" cy="3603567"/>
          </a:xfrm>
          <a:prstGeom prst="roundRect">
            <a:avLst>
              <a:gd name="adj" fmla="val 527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178" name="Rounded Rectangle 4177">
            <a:extLst>
              <a:ext uri="{FF2B5EF4-FFF2-40B4-BE49-F238E27FC236}">
                <a16:creationId xmlns:a16="http://schemas.microsoft.com/office/drawing/2014/main" id="{436B88BA-915C-5ACC-C3B5-98659046B3CB}"/>
              </a:ext>
            </a:extLst>
          </p:cNvPr>
          <p:cNvSpPr/>
          <p:nvPr/>
        </p:nvSpPr>
        <p:spPr>
          <a:xfrm>
            <a:off x="4588878" y="4122649"/>
            <a:ext cx="2557286" cy="1551423"/>
          </a:xfrm>
          <a:prstGeom prst="roundRect">
            <a:avLst>
              <a:gd name="adj" fmla="val 8450"/>
            </a:avLst>
          </a:prstGeom>
          <a:solidFill>
            <a:srgbClr val="F9E5C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600"/>
          </a:p>
        </p:txBody>
      </p:sp>
      <p:cxnSp>
        <p:nvCxnSpPr>
          <p:cNvPr id="174" name="Straight Arrow Connector 170">
            <a:extLst>
              <a:ext uri="{FF2B5EF4-FFF2-40B4-BE49-F238E27FC236}">
                <a16:creationId xmlns:a16="http://schemas.microsoft.com/office/drawing/2014/main" id="{3C6429BE-510D-0764-46D8-B52B69F881E5}"/>
              </a:ext>
            </a:extLst>
          </p:cNvPr>
          <p:cNvCxnSpPr>
            <a:cxnSpLocks/>
          </p:cNvCxnSpPr>
          <p:nvPr/>
        </p:nvCxnSpPr>
        <p:spPr>
          <a:xfrm flipV="1">
            <a:off x="6107529" y="3452928"/>
            <a:ext cx="1305064" cy="1101011"/>
          </a:xfrm>
          <a:prstGeom prst="bentConnector2">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137" name="Straight Arrow Connector 170">
            <a:extLst>
              <a:ext uri="{FF2B5EF4-FFF2-40B4-BE49-F238E27FC236}">
                <a16:creationId xmlns:a16="http://schemas.microsoft.com/office/drawing/2014/main" id="{C8F7185D-0CD2-81F8-4A34-372225CEF3EC}"/>
              </a:ext>
            </a:extLst>
          </p:cNvPr>
          <p:cNvCxnSpPr>
            <a:cxnSpLocks/>
          </p:cNvCxnSpPr>
          <p:nvPr/>
        </p:nvCxnSpPr>
        <p:spPr>
          <a:xfrm rot="16200000" flipH="1">
            <a:off x="4319314" y="3358640"/>
            <a:ext cx="1224141" cy="1211288"/>
          </a:xfrm>
          <a:prstGeom prst="bentConnector2">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5" name="Rounded Rectangle 24">
            <a:extLst>
              <a:ext uri="{FF2B5EF4-FFF2-40B4-BE49-F238E27FC236}">
                <a16:creationId xmlns:a16="http://schemas.microsoft.com/office/drawing/2014/main" id="{5C6500D2-79C2-1A61-2490-1CE680BACEEE}"/>
              </a:ext>
            </a:extLst>
          </p:cNvPr>
          <p:cNvSpPr/>
          <p:nvPr/>
        </p:nvSpPr>
        <p:spPr>
          <a:xfrm>
            <a:off x="1027210" y="3358508"/>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26" name="Rounded Rectangle 25">
            <a:extLst>
              <a:ext uri="{FF2B5EF4-FFF2-40B4-BE49-F238E27FC236}">
                <a16:creationId xmlns:a16="http://schemas.microsoft.com/office/drawing/2014/main" id="{71486157-852B-C9CB-ADB6-D24BF2210CEE}"/>
              </a:ext>
            </a:extLst>
          </p:cNvPr>
          <p:cNvSpPr/>
          <p:nvPr/>
        </p:nvSpPr>
        <p:spPr>
          <a:xfrm>
            <a:off x="2249032" y="2546953"/>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pic>
        <p:nvPicPr>
          <p:cNvPr id="30" name="Picture 29">
            <a:extLst>
              <a:ext uri="{FF2B5EF4-FFF2-40B4-BE49-F238E27FC236}">
                <a16:creationId xmlns:a16="http://schemas.microsoft.com/office/drawing/2014/main" id="{DDFD5949-6630-75B5-4B05-6B07E4D1E276}"/>
              </a:ext>
            </a:extLst>
          </p:cNvPr>
          <p:cNvPicPr>
            <a:picLocks noChangeAspect="1"/>
          </p:cNvPicPr>
          <p:nvPr/>
        </p:nvPicPr>
        <p:blipFill>
          <a:blip r:embed="rId3"/>
          <a:stretch>
            <a:fillRect/>
          </a:stretch>
        </p:blipFill>
        <p:spPr>
          <a:xfrm>
            <a:off x="4988538" y="4858874"/>
            <a:ext cx="513749" cy="483589"/>
          </a:xfrm>
          <a:prstGeom prst="rect">
            <a:avLst/>
          </a:prstGeom>
        </p:spPr>
      </p:pic>
      <p:sp>
        <p:nvSpPr>
          <p:cNvPr id="128" name="Rounded Rectangle 127">
            <a:extLst>
              <a:ext uri="{FF2B5EF4-FFF2-40B4-BE49-F238E27FC236}">
                <a16:creationId xmlns:a16="http://schemas.microsoft.com/office/drawing/2014/main" id="{D5F1AD4E-2C46-C150-5263-DC7603655D76}"/>
              </a:ext>
            </a:extLst>
          </p:cNvPr>
          <p:cNvSpPr/>
          <p:nvPr/>
        </p:nvSpPr>
        <p:spPr>
          <a:xfrm>
            <a:off x="9953444" y="3065395"/>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129" name="Rounded Rectangle 128">
            <a:extLst>
              <a:ext uri="{FF2B5EF4-FFF2-40B4-BE49-F238E27FC236}">
                <a16:creationId xmlns:a16="http://schemas.microsoft.com/office/drawing/2014/main" id="{9C49D8DA-5D80-7AFF-E31E-CC558ED11FE2}"/>
              </a:ext>
            </a:extLst>
          </p:cNvPr>
          <p:cNvSpPr/>
          <p:nvPr/>
        </p:nvSpPr>
        <p:spPr>
          <a:xfrm>
            <a:off x="8728777" y="2597805"/>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pic>
        <p:nvPicPr>
          <p:cNvPr id="23" name="Picture 22" descr="Database Icons - Free SVG &amp; PNG Database Images - Noun Project">
            <a:extLst>
              <a:ext uri="{FF2B5EF4-FFF2-40B4-BE49-F238E27FC236}">
                <a16:creationId xmlns:a16="http://schemas.microsoft.com/office/drawing/2014/main" id="{A959A705-1FBB-8706-6474-C8C4DC121F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028" y="4477406"/>
            <a:ext cx="577091" cy="382658"/>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le 11">
            <a:extLst>
              <a:ext uri="{FF2B5EF4-FFF2-40B4-BE49-F238E27FC236}">
                <a16:creationId xmlns:a16="http://schemas.microsoft.com/office/drawing/2014/main" id="{F09C718D-CC0C-7A8F-875A-BE1E3F166202}"/>
              </a:ext>
            </a:extLst>
          </p:cNvPr>
          <p:cNvSpPr/>
          <p:nvPr/>
        </p:nvSpPr>
        <p:spPr>
          <a:xfrm>
            <a:off x="3532536" y="1436342"/>
            <a:ext cx="4590759" cy="2062123"/>
          </a:xfrm>
          <a:prstGeom prst="roundRect">
            <a:avLst>
              <a:gd name="adj" fmla="val 8450"/>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138" name="Rounded Rectangle 137">
            <a:extLst>
              <a:ext uri="{FF2B5EF4-FFF2-40B4-BE49-F238E27FC236}">
                <a16:creationId xmlns:a16="http://schemas.microsoft.com/office/drawing/2014/main" id="{BB60D668-5100-C77C-4127-636CD0ACADC6}"/>
              </a:ext>
            </a:extLst>
          </p:cNvPr>
          <p:cNvSpPr/>
          <p:nvPr/>
        </p:nvSpPr>
        <p:spPr>
          <a:xfrm>
            <a:off x="5205490" y="2225230"/>
            <a:ext cx="1261898" cy="825034"/>
          </a:xfrm>
          <a:prstGeom prst="roundRect">
            <a:avLst>
              <a:gd name="adj" fmla="val 805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AU" sz="1200" dirty="0">
                <a:solidFill>
                  <a:schemeClr val="tx1"/>
                </a:solidFill>
              </a:rPr>
              <a:t>Production Run</a:t>
            </a:r>
          </a:p>
        </p:txBody>
      </p:sp>
      <p:pic>
        <p:nvPicPr>
          <p:cNvPr id="131" name="Picture 2" descr="Smelting - Free construction and tools icons">
            <a:extLst>
              <a:ext uri="{FF2B5EF4-FFF2-40B4-BE49-F238E27FC236}">
                <a16:creationId xmlns:a16="http://schemas.microsoft.com/office/drawing/2014/main" id="{93490B3F-58CD-1AC8-4F2E-3E4E3B58DE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0624" y="2556655"/>
            <a:ext cx="352382" cy="392805"/>
          </a:xfrm>
          <a:prstGeom prst="rect">
            <a:avLst/>
          </a:prstGeom>
          <a:noFill/>
          <a:extLst>
            <a:ext uri="{909E8E84-426E-40DD-AFC4-6F175D3DCCD1}">
              <a14:hiddenFill xmlns:a14="http://schemas.microsoft.com/office/drawing/2010/main">
                <a:solidFill>
                  <a:srgbClr val="FFFFFF"/>
                </a:solidFill>
              </a14:hiddenFill>
            </a:ext>
          </a:extLst>
        </p:spPr>
      </p:pic>
      <p:sp>
        <p:nvSpPr>
          <p:cNvPr id="141" name="Rounded Rectangle 140">
            <a:extLst>
              <a:ext uri="{FF2B5EF4-FFF2-40B4-BE49-F238E27FC236}">
                <a16:creationId xmlns:a16="http://schemas.microsoft.com/office/drawing/2014/main" id="{DC65D3B1-1CED-F1B8-F5D5-7109DD5A42C0}"/>
              </a:ext>
            </a:extLst>
          </p:cNvPr>
          <p:cNvSpPr/>
          <p:nvPr/>
        </p:nvSpPr>
        <p:spPr>
          <a:xfrm>
            <a:off x="3774574" y="2122836"/>
            <a:ext cx="1102334" cy="541419"/>
          </a:xfrm>
          <a:prstGeom prst="roundRect">
            <a:avLst>
              <a:gd name="adj" fmla="val 10844"/>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AU" sz="1200" dirty="0">
              <a:solidFill>
                <a:schemeClr val="tx1"/>
              </a:solidFill>
            </a:endParaRPr>
          </a:p>
        </p:txBody>
      </p:sp>
      <p:pic>
        <p:nvPicPr>
          <p:cNvPr id="139" name="Picture 6" descr="2,500+ Gravel Icon Stock Illustrations, Royalty-Free Vector Graphics &amp; Clip  Art - iStock">
            <a:extLst>
              <a:ext uri="{FF2B5EF4-FFF2-40B4-BE49-F238E27FC236}">
                <a16:creationId xmlns:a16="http://schemas.microsoft.com/office/drawing/2014/main" id="{5FA15A63-E1E7-FBDE-6CE3-D96E0B9F056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6114" t="15270" r="15934" b="16995"/>
          <a:stretch/>
        </p:blipFill>
        <p:spPr bwMode="auto">
          <a:xfrm>
            <a:off x="3923037" y="2228581"/>
            <a:ext cx="305415" cy="371268"/>
          </a:xfrm>
          <a:prstGeom prst="rect">
            <a:avLst/>
          </a:prstGeom>
          <a:noFill/>
          <a:extLst>
            <a:ext uri="{909E8E84-426E-40DD-AFC4-6F175D3DCCD1}">
              <a14:hiddenFill xmlns:a14="http://schemas.microsoft.com/office/drawing/2010/main">
                <a:solidFill>
                  <a:srgbClr val="FFFFFF"/>
                </a:solidFill>
              </a14:hiddenFill>
            </a:ext>
          </a:extLst>
        </p:spPr>
      </p:pic>
      <p:sp>
        <p:nvSpPr>
          <p:cNvPr id="142" name="Rounded Rectangle 141">
            <a:extLst>
              <a:ext uri="{FF2B5EF4-FFF2-40B4-BE49-F238E27FC236}">
                <a16:creationId xmlns:a16="http://schemas.microsoft.com/office/drawing/2014/main" id="{B49146A4-98AD-60B8-B12B-F22218D298E2}"/>
              </a:ext>
            </a:extLst>
          </p:cNvPr>
          <p:cNvSpPr/>
          <p:nvPr/>
        </p:nvSpPr>
        <p:spPr>
          <a:xfrm>
            <a:off x="6769431" y="2142209"/>
            <a:ext cx="1102334" cy="517767"/>
          </a:xfrm>
          <a:prstGeom prst="roundRect">
            <a:avLst>
              <a:gd name="adj" fmla="val 10844"/>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AU" sz="1200" dirty="0">
              <a:solidFill>
                <a:schemeClr val="tx1"/>
              </a:solidFill>
            </a:endParaRPr>
          </a:p>
        </p:txBody>
      </p:sp>
      <p:pic>
        <p:nvPicPr>
          <p:cNvPr id="143" name="Picture 16" descr="Bullion, gold, ingot, meta, metal, nugget, precious icon - Download on  Iconfinder">
            <a:extLst>
              <a:ext uri="{FF2B5EF4-FFF2-40B4-BE49-F238E27FC236}">
                <a16:creationId xmlns:a16="http://schemas.microsoft.com/office/drawing/2014/main" id="{03C2898B-0C84-BA06-D9CA-4F79319F0FB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06000" y="2163730"/>
            <a:ext cx="388086" cy="473275"/>
          </a:xfrm>
          <a:prstGeom prst="rect">
            <a:avLst/>
          </a:prstGeom>
          <a:noFill/>
          <a:extLst>
            <a:ext uri="{909E8E84-426E-40DD-AFC4-6F175D3DCCD1}">
              <a14:hiddenFill xmlns:a14="http://schemas.microsoft.com/office/drawing/2010/main">
                <a:solidFill>
                  <a:srgbClr val="FFFFFF"/>
                </a:solidFill>
              </a14:hiddenFill>
            </a:ext>
          </a:extLst>
        </p:spPr>
      </p:pic>
      <p:sp>
        <p:nvSpPr>
          <p:cNvPr id="145" name="TextBox 144">
            <a:extLst>
              <a:ext uri="{FF2B5EF4-FFF2-40B4-BE49-F238E27FC236}">
                <a16:creationId xmlns:a16="http://schemas.microsoft.com/office/drawing/2014/main" id="{E4235DA7-4084-41A5-410C-32D47BEDE883}"/>
              </a:ext>
            </a:extLst>
          </p:cNvPr>
          <p:cNvSpPr txBox="1"/>
          <p:nvPr/>
        </p:nvSpPr>
        <p:spPr>
          <a:xfrm>
            <a:off x="4239264" y="2154267"/>
            <a:ext cx="664184" cy="433699"/>
          </a:xfrm>
          <a:prstGeom prst="rect">
            <a:avLst/>
          </a:prstGeom>
          <a:noFill/>
        </p:spPr>
        <p:txBody>
          <a:bodyPr wrap="square">
            <a:spAutoFit/>
          </a:bodyPr>
          <a:lstStyle/>
          <a:p>
            <a:pPr algn="ctr"/>
            <a:r>
              <a:rPr lang="en-AU" sz="1200" dirty="0">
                <a:solidFill>
                  <a:schemeClr val="tx1"/>
                </a:solidFill>
              </a:rPr>
              <a:t>Input stocks</a:t>
            </a:r>
          </a:p>
        </p:txBody>
      </p:sp>
      <p:sp>
        <p:nvSpPr>
          <p:cNvPr id="147" name="TextBox 146">
            <a:extLst>
              <a:ext uri="{FF2B5EF4-FFF2-40B4-BE49-F238E27FC236}">
                <a16:creationId xmlns:a16="http://schemas.microsoft.com/office/drawing/2014/main" id="{75211B8C-5AE5-385F-D21B-CB4BA692948D}"/>
              </a:ext>
            </a:extLst>
          </p:cNvPr>
          <p:cNvSpPr txBox="1"/>
          <p:nvPr/>
        </p:nvSpPr>
        <p:spPr>
          <a:xfrm>
            <a:off x="6769429" y="2168452"/>
            <a:ext cx="664184" cy="433699"/>
          </a:xfrm>
          <a:prstGeom prst="rect">
            <a:avLst/>
          </a:prstGeom>
          <a:noFill/>
        </p:spPr>
        <p:txBody>
          <a:bodyPr wrap="square">
            <a:spAutoFit/>
          </a:bodyPr>
          <a:lstStyle/>
          <a:p>
            <a:pPr algn="ctr"/>
            <a:r>
              <a:rPr lang="en-AU" sz="1200" dirty="0">
                <a:solidFill>
                  <a:schemeClr val="tx1"/>
                </a:solidFill>
              </a:rPr>
              <a:t>Output stocks</a:t>
            </a:r>
          </a:p>
        </p:txBody>
      </p:sp>
      <p:sp>
        <p:nvSpPr>
          <p:cNvPr id="148" name="Rounded Rectangle 147">
            <a:extLst>
              <a:ext uri="{FF2B5EF4-FFF2-40B4-BE49-F238E27FC236}">
                <a16:creationId xmlns:a16="http://schemas.microsoft.com/office/drawing/2014/main" id="{694A1A8C-A0C8-AD55-C4B7-45ED1050433C}"/>
              </a:ext>
            </a:extLst>
          </p:cNvPr>
          <p:cNvSpPr/>
          <p:nvPr/>
        </p:nvSpPr>
        <p:spPr>
          <a:xfrm>
            <a:off x="3774573" y="2770000"/>
            <a:ext cx="1102334" cy="375533"/>
          </a:xfrm>
          <a:prstGeom prst="roundRect">
            <a:avLst>
              <a:gd name="adj" fmla="val 10844"/>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AU" sz="1200" dirty="0">
              <a:solidFill>
                <a:schemeClr val="tx1"/>
              </a:solidFill>
            </a:endParaRPr>
          </a:p>
        </p:txBody>
      </p:sp>
      <p:pic>
        <p:nvPicPr>
          <p:cNvPr id="4098" name="Picture 2" descr="Energy Icon PNGs for Free Download">
            <a:extLst>
              <a:ext uri="{FF2B5EF4-FFF2-40B4-BE49-F238E27FC236}">
                <a16:creationId xmlns:a16="http://schemas.microsoft.com/office/drawing/2014/main" id="{11A7D459-9F0F-1CBA-88DB-94FDB0C860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32781" y="2811793"/>
            <a:ext cx="456612" cy="317106"/>
          </a:xfrm>
          <a:prstGeom prst="rect">
            <a:avLst/>
          </a:prstGeom>
          <a:noFill/>
          <a:extLst>
            <a:ext uri="{909E8E84-426E-40DD-AFC4-6F175D3DCCD1}">
              <a14:hiddenFill xmlns:a14="http://schemas.microsoft.com/office/drawing/2010/main">
                <a:solidFill>
                  <a:srgbClr val="FFFFFF"/>
                </a:solidFill>
              </a14:hiddenFill>
            </a:ext>
          </a:extLst>
        </p:spPr>
      </p:pic>
      <p:sp>
        <p:nvSpPr>
          <p:cNvPr id="149" name="TextBox 148">
            <a:extLst>
              <a:ext uri="{FF2B5EF4-FFF2-40B4-BE49-F238E27FC236}">
                <a16:creationId xmlns:a16="http://schemas.microsoft.com/office/drawing/2014/main" id="{5DD3A633-34A2-22A0-05C2-163D695571FD}"/>
              </a:ext>
            </a:extLst>
          </p:cNvPr>
          <p:cNvSpPr txBox="1"/>
          <p:nvPr/>
        </p:nvSpPr>
        <p:spPr>
          <a:xfrm>
            <a:off x="4195178" y="2833162"/>
            <a:ext cx="664184" cy="260219"/>
          </a:xfrm>
          <a:prstGeom prst="rect">
            <a:avLst/>
          </a:prstGeom>
          <a:noFill/>
        </p:spPr>
        <p:txBody>
          <a:bodyPr wrap="square">
            <a:spAutoFit/>
          </a:bodyPr>
          <a:lstStyle/>
          <a:p>
            <a:pPr algn="ctr"/>
            <a:r>
              <a:rPr lang="en-AU" sz="1200" dirty="0">
                <a:solidFill>
                  <a:schemeClr val="tx1"/>
                </a:solidFill>
              </a:rPr>
              <a:t>Energy</a:t>
            </a:r>
          </a:p>
        </p:txBody>
      </p:sp>
      <p:sp>
        <p:nvSpPr>
          <p:cNvPr id="150" name="Rounded Rectangle 149">
            <a:extLst>
              <a:ext uri="{FF2B5EF4-FFF2-40B4-BE49-F238E27FC236}">
                <a16:creationId xmlns:a16="http://schemas.microsoft.com/office/drawing/2014/main" id="{4637FB7C-278D-DC9F-9924-504517D71A58}"/>
              </a:ext>
            </a:extLst>
          </p:cNvPr>
          <p:cNvSpPr/>
          <p:nvPr/>
        </p:nvSpPr>
        <p:spPr>
          <a:xfrm>
            <a:off x="6779614" y="2753664"/>
            <a:ext cx="1102334" cy="375533"/>
          </a:xfrm>
          <a:prstGeom prst="roundRect">
            <a:avLst>
              <a:gd name="adj" fmla="val 10844"/>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AU" sz="1200" dirty="0">
              <a:solidFill>
                <a:schemeClr val="tx1"/>
              </a:solidFill>
            </a:endParaRPr>
          </a:p>
        </p:txBody>
      </p:sp>
      <p:sp>
        <p:nvSpPr>
          <p:cNvPr id="152" name="TextBox 151">
            <a:extLst>
              <a:ext uri="{FF2B5EF4-FFF2-40B4-BE49-F238E27FC236}">
                <a16:creationId xmlns:a16="http://schemas.microsoft.com/office/drawing/2014/main" id="{FCE471E7-1501-6F7B-8EA4-61AD9E013FF8}"/>
              </a:ext>
            </a:extLst>
          </p:cNvPr>
          <p:cNvSpPr txBox="1"/>
          <p:nvPr/>
        </p:nvSpPr>
        <p:spPr>
          <a:xfrm>
            <a:off x="6756604" y="2793761"/>
            <a:ext cx="664184" cy="260219"/>
          </a:xfrm>
          <a:prstGeom prst="rect">
            <a:avLst/>
          </a:prstGeom>
          <a:noFill/>
        </p:spPr>
        <p:txBody>
          <a:bodyPr wrap="square">
            <a:spAutoFit/>
          </a:bodyPr>
          <a:lstStyle/>
          <a:p>
            <a:pPr algn="ctr"/>
            <a:r>
              <a:rPr lang="en-AU" sz="1200" dirty="0">
                <a:solidFill>
                  <a:schemeClr val="tx1"/>
                </a:solidFill>
              </a:rPr>
              <a:t>Waste</a:t>
            </a:r>
          </a:p>
        </p:txBody>
      </p:sp>
      <p:pic>
        <p:nvPicPr>
          <p:cNvPr id="4102" name="Picture 6">
            <a:extLst>
              <a:ext uri="{FF2B5EF4-FFF2-40B4-BE49-F238E27FC236}">
                <a16:creationId xmlns:a16="http://schemas.microsoft.com/office/drawing/2014/main" id="{89E2329E-F987-7B8F-5616-EF152164592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94045" y="2804974"/>
            <a:ext cx="252104" cy="289133"/>
          </a:xfrm>
          <a:prstGeom prst="rect">
            <a:avLst/>
          </a:prstGeom>
          <a:noFill/>
          <a:extLst>
            <a:ext uri="{909E8E84-426E-40DD-AFC4-6F175D3DCCD1}">
              <a14:hiddenFill xmlns:a14="http://schemas.microsoft.com/office/drawing/2010/main">
                <a:solidFill>
                  <a:srgbClr val="FFFFFF"/>
                </a:solidFill>
              </a14:hiddenFill>
            </a:ext>
          </a:extLst>
        </p:spPr>
      </p:pic>
      <p:sp>
        <p:nvSpPr>
          <p:cNvPr id="154" name="Right Arrow 153">
            <a:extLst>
              <a:ext uri="{FF2B5EF4-FFF2-40B4-BE49-F238E27FC236}">
                <a16:creationId xmlns:a16="http://schemas.microsoft.com/office/drawing/2014/main" id="{60ECFFEB-7597-E43E-793D-CBA67266FDB4}"/>
              </a:ext>
            </a:extLst>
          </p:cNvPr>
          <p:cNvSpPr/>
          <p:nvPr/>
        </p:nvSpPr>
        <p:spPr>
          <a:xfrm>
            <a:off x="4980323" y="2393545"/>
            <a:ext cx="179107" cy="16640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157" name="Right Arrow 156">
            <a:extLst>
              <a:ext uri="{FF2B5EF4-FFF2-40B4-BE49-F238E27FC236}">
                <a16:creationId xmlns:a16="http://schemas.microsoft.com/office/drawing/2014/main" id="{608D1D07-265B-8CB6-8BFA-931BAF4B0035}"/>
              </a:ext>
            </a:extLst>
          </p:cNvPr>
          <p:cNvSpPr/>
          <p:nvPr/>
        </p:nvSpPr>
        <p:spPr>
          <a:xfrm>
            <a:off x="4975193" y="2804974"/>
            <a:ext cx="179107" cy="16640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158" name="Right Arrow 157">
            <a:extLst>
              <a:ext uri="{FF2B5EF4-FFF2-40B4-BE49-F238E27FC236}">
                <a16:creationId xmlns:a16="http://schemas.microsoft.com/office/drawing/2014/main" id="{09EF335E-21DB-B7DC-B597-DF59F5945F7D}"/>
              </a:ext>
            </a:extLst>
          </p:cNvPr>
          <p:cNvSpPr/>
          <p:nvPr/>
        </p:nvSpPr>
        <p:spPr>
          <a:xfrm>
            <a:off x="6528854" y="2348685"/>
            <a:ext cx="179107" cy="16640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159" name="Right Arrow 158">
            <a:extLst>
              <a:ext uri="{FF2B5EF4-FFF2-40B4-BE49-F238E27FC236}">
                <a16:creationId xmlns:a16="http://schemas.microsoft.com/office/drawing/2014/main" id="{4EEA9F4A-DE19-D9EB-6E74-A5AAA8D0475F}"/>
              </a:ext>
            </a:extLst>
          </p:cNvPr>
          <p:cNvSpPr/>
          <p:nvPr/>
        </p:nvSpPr>
        <p:spPr>
          <a:xfrm>
            <a:off x="6542370" y="2809337"/>
            <a:ext cx="179107" cy="16640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163" name="Rounded Rectangle 162">
            <a:extLst>
              <a:ext uri="{FF2B5EF4-FFF2-40B4-BE49-F238E27FC236}">
                <a16:creationId xmlns:a16="http://schemas.microsoft.com/office/drawing/2014/main" id="{56E632E6-CCEC-D895-A581-7AEB82BB9956}"/>
              </a:ext>
            </a:extLst>
          </p:cNvPr>
          <p:cNvSpPr/>
          <p:nvPr/>
        </p:nvSpPr>
        <p:spPr>
          <a:xfrm>
            <a:off x="1016338" y="3012668"/>
            <a:ext cx="411676" cy="25303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65" name="TextBox 164">
            <a:extLst>
              <a:ext uri="{FF2B5EF4-FFF2-40B4-BE49-F238E27FC236}">
                <a16:creationId xmlns:a16="http://schemas.microsoft.com/office/drawing/2014/main" id="{E9370524-DDA5-E6CA-1A52-0C644099F79B}"/>
              </a:ext>
            </a:extLst>
          </p:cNvPr>
          <p:cNvSpPr txBox="1"/>
          <p:nvPr/>
        </p:nvSpPr>
        <p:spPr>
          <a:xfrm>
            <a:off x="1251189" y="2344818"/>
            <a:ext cx="839204" cy="276999"/>
          </a:xfrm>
          <a:prstGeom prst="rect">
            <a:avLst/>
          </a:prstGeom>
          <a:noFill/>
        </p:spPr>
        <p:txBody>
          <a:bodyPr wrap="none" rtlCol="0">
            <a:spAutoFit/>
          </a:bodyPr>
          <a:lstStyle/>
          <a:p>
            <a:r>
              <a:rPr lang="en-AU" sz="1200" dirty="0"/>
              <a:t>Metal ore </a:t>
            </a:r>
          </a:p>
        </p:txBody>
      </p:sp>
      <p:sp>
        <p:nvSpPr>
          <p:cNvPr id="166" name="TextBox 165">
            <a:extLst>
              <a:ext uri="{FF2B5EF4-FFF2-40B4-BE49-F238E27FC236}">
                <a16:creationId xmlns:a16="http://schemas.microsoft.com/office/drawing/2014/main" id="{4DE2208E-0D2F-EF3F-404C-E125C5654A3A}"/>
              </a:ext>
            </a:extLst>
          </p:cNvPr>
          <p:cNvSpPr txBox="1"/>
          <p:nvPr/>
        </p:nvSpPr>
        <p:spPr>
          <a:xfrm>
            <a:off x="9346375" y="2320806"/>
            <a:ext cx="1112228" cy="276999"/>
          </a:xfrm>
          <a:prstGeom prst="rect">
            <a:avLst/>
          </a:prstGeom>
          <a:noFill/>
        </p:spPr>
        <p:txBody>
          <a:bodyPr wrap="none" rtlCol="0">
            <a:spAutoFit/>
          </a:bodyPr>
          <a:lstStyle/>
          <a:p>
            <a:r>
              <a:rPr lang="en-AU" sz="1200" dirty="0"/>
              <a:t>Refined metal</a:t>
            </a:r>
          </a:p>
        </p:txBody>
      </p:sp>
      <p:cxnSp>
        <p:nvCxnSpPr>
          <p:cNvPr id="168" name="Straight Arrow Connector 167">
            <a:extLst>
              <a:ext uri="{FF2B5EF4-FFF2-40B4-BE49-F238E27FC236}">
                <a16:creationId xmlns:a16="http://schemas.microsoft.com/office/drawing/2014/main" id="{B99C7806-D29F-A1BA-20C9-8B65152C52BF}"/>
              </a:ext>
            </a:extLst>
          </p:cNvPr>
          <p:cNvCxnSpPr>
            <a:cxnSpLocks/>
            <a:stCxn id="187" idx="2"/>
          </p:cNvCxnSpPr>
          <p:nvPr/>
        </p:nvCxnSpPr>
        <p:spPr>
          <a:xfrm rot="16200000" flipH="1">
            <a:off x="1949733" y="1301498"/>
            <a:ext cx="702410" cy="2463195"/>
          </a:xfrm>
          <a:prstGeom prst="bentConnector2">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70" name="TextBox 169">
            <a:extLst>
              <a:ext uri="{FF2B5EF4-FFF2-40B4-BE49-F238E27FC236}">
                <a16:creationId xmlns:a16="http://schemas.microsoft.com/office/drawing/2014/main" id="{02DC06E9-0ADD-8348-B3DB-5D5F3C090FC0}"/>
              </a:ext>
            </a:extLst>
          </p:cNvPr>
          <p:cNvSpPr txBox="1"/>
          <p:nvPr/>
        </p:nvSpPr>
        <p:spPr>
          <a:xfrm>
            <a:off x="1670418" y="4814943"/>
            <a:ext cx="2160674" cy="461665"/>
          </a:xfrm>
          <a:prstGeom prst="rect">
            <a:avLst/>
          </a:prstGeom>
          <a:noFill/>
        </p:spPr>
        <p:txBody>
          <a:bodyPr wrap="square" rtlCol="0">
            <a:spAutoFit/>
          </a:bodyPr>
          <a:lstStyle/>
          <a:p>
            <a:r>
              <a:rPr lang="en-AU" sz="1200" dirty="0"/>
              <a:t>Get </a:t>
            </a:r>
            <a:r>
              <a:rPr lang="en-AU" sz="1200" b="1" dirty="0"/>
              <a:t>verifiable</a:t>
            </a:r>
            <a:r>
              <a:rPr lang="en-AU" sz="1200" dirty="0"/>
              <a:t> input material quantities and characteristics</a:t>
            </a:r>
          </a:p>
        </p:txBody>
      </p:sp>
      <p:cxnSp>
        <p:nvCxnSpPr>
          <p:cNvPr id="171" name="Straight Arrow Connector 170">
            <a:extLst>
              <a:ext uri="{FF2B5EF4-FFF2-40B4-BE49-F238E27FC236}">
                <a16:creationId xmlns:a16="http://schemas.microsoft.com/office/drawing/2014/main" id="{C723C5E7-3B58-303F-216C-28FCCD2D6D2D}"/>
              </a:ext>
            </a:extLst>
          </p:cNvPr>
          <p:cNvCxnSpPr>
            <a:cxnSpLocks/>
            <a:stCxn id="21" idx="2"/>
          </p:cNvCxnSpPr>
          <p:nvPr/>
        </p:nvCxnSpPr>
        <p:spPr>
          <a:xfrm rot="16200000" flipH="1">
            <a:off x="2736326" y="1968331"/>
            <a:ext cx="1701772" cy="3860012"/>
          </a:xfrm>
          <a:prstGeom prst="bentConnector2">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83" name="TextBox 182">
            <a:extLst>
              <a:ext uri="{FF2B5EF4-FFF2-40B4-BE49-F238E27FC236}">
                <a16:creationId xmlns:a16="http://schemas.microsoft.com/office/drawing/2014/main" id="{2702DF4A-B73D-92CC-333C-F4EABDEC1573}"/>
              </a:ext>
            </a:extLst>
          </p:cNvPr>
          <p:cNvSpPr txBox="1"/>
          <p:nvPr/>
        </p:nvSpPr>
        <p:spPr>
          <a:xfrm>
            <a:off x="1808689" y="2883136"/>
            <a:ext cx="1404627" cy="276999"/>
          </a:xfrm>
          <a:prstGeom prst="rect">
            <a:avLst/>
          </a:prstGeom>
          <a:noFill/>
        </p:spPr>
        <p:txBody>
          <a:bodyPr wrap="square" rtlCol="0">
            <a:spAutoFit/>
          </a:bodyPr>
          <a:lstStyle/>
          <a:p>
            <a:r>
              <a:rPr lang="en-AU" sz="1200" dirty="0"/>
              <a:t>Shipping events</a:t>
            </a:r>
          </a:p>
        </p:txBody>
      </p:sp>
      <p:sp>
        <p:nvSpPr>
          <p:cNvPr id="185" name="TextBox 184">
            <a:extLst>
              <a:ext uri="{FF2B5EF4-FFF2-40B4-BE49-F238E27FC236}">
                <a16:creationId xmlns:a16="http://schemas.microsoft.com/office/drawing/2014/main" id="{CA7ED46B-79C0-1DA6-3FCC-A16D8EF3611A}"/>
              </a:ext>
            </a:extLst>
          </p:cNvPr>
          <p:cNvSpPr txBox="1"/>
          <p:nvPr/>
        </p:nvSpPr>
        <p:spPr>
          <a:xfrm>
            <a:off x="3730033" y="1500822"/>
            <a:ext cx="1200008" cy="276999"/>
          </a:xfrm>
          <a:prstGeom prst="rect">
            <a:avLst/>
          </a:prstGeom>
          <a:noFill/>
        </p:spPr>
        <p:txBody>
          <a:bodyPr wrap="none" rtlCol="0">
            <a:spAutoFit/>
          </a:bodyPr>
          <a:lstStyle/>
          <a:p>
            <a:r>
              <a:rPr lang="en-AU" sz="1200" b="1" dirty="0"/>
              <a:t>Refiner facility</a:t>
            </a:r>
          </a:p>
        </p:txBody>
      </p:sp>
      <p:sp>
        <p:nvSpPr>
          <p:cNvPr id="187" name="Rounded Rectangle 186">
            <a:extLst>
              <a:ext uri="{FF2B5EF4-FFF2-40B4-BE49-F238E27FC236}">
                <a16:creationId xmlns:a16="http://schemas.microsoft.com/office/drawing/2014/main" id="{E30CA712-73EC-83A7-CCE4-A64506C05B66}"/>
              </a:ext>
            </a:extLst>
          </p:cNvPr>
          <p:cNvSpPr/>
          <p:nvPr/>
        </p:nvSpPr>
        <p:spPr>
          <a:xfrm>
            <a:off x="399744" y="1417548"/>
            <a:ext cx="1339193" cy="764343"/>
          </a:xfrm>
          <a:prstGeom prst="roundRect">
            <a:avLst>
              <a:gd name="adj" fmla="val 8450"/>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4113" name="TextBox 4112">
            <a:extLst>
              <a:ext uri="{FF2B5EF4-FFF2-40B4-BE49-F238E27FC236}">
                <a16:creationId xmlns:a16="http://schemas.microsoft.com/office/drawing/2014/main" id="{AED8804B-54D5-D684-D307-971B77ED3079}"/>
              </a:ext>
            </a:extLst>
          </p:cNvPr>
          <p:cNvSpPr txBox="1"/>
          <p:nvPr/>
        </p:nvSpPr>
        <p:spPr>
          <a:xfrm>
            <a:off x="408059" y="1687365"/>
            <a:ext cx="1285803" cy="461665"/>
          </a:xfrm>
          <a:prstGeom prst="rect">
            <a:avLst/>
          </a:prstGeom>
          <a:noFill/>
        </p:spPr>
        <p:txBody>
          <a:bodyPr wrap="square" rtlCol="0" anchor="b">
            <a:spAutoFit/>
          </a:bodyPr>
          <a:lstStyle/>
          <a:p>
            <a:pPr algn="ctr"/>
            <a:r>
              <a:rPr lang="en-AU" sz="1200" b="1" dirty="0"/>
              <a:t>Supplier facility (Minesite)</a:t>
            </a:r>
          </a:p>
        </p:txBody>
      </p:sp>
      <p:pic>
        <p:nvPicPr>
          <p:cNvPr id="21" name="Picture 6" descr="2,500+ Gravel Icon Stock Illustrations, Royalty-Free Vector Graphics &amp; Clip  Art - iStock">
            <a:extLst>
              <a:ext uri="{FF2B5EF4-FFF2-40B4-BE49-F238E27FC236}">
                <a16:creationId xmlns:a16="http://schemas.microsoft.com/office/drawing/2014/main" id="{00586602-2F57-C96B-7D2B-A646411127A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6114" t="15270" r="15934" b="16995"/>
          <a:stretch/>
        </p:blipFill>
        <p:spPr bwMode="auto">
          <a:xfrm>
            <a:off x="1470775" y="2652242"/>
            <a:ext cx="372861" cy="395209"/>
          </a:xfrm>
          <a:prstGeom prst="rect">
            <a:avLst/>
          </a:prstGeom>
          <a:noFill/>
          <a:extLst>
            <a:ext uri="{909E8E84-426E-40DD-AFC4-6F175D3DCCD1}">
              <a14:hiddenFill xmlns:a14="http://schemas.microsoft.com/office/drawing/2010/main">
                <a:solidFill>
                  <a:srgbClr val="FFFFFF"/>
                </a:solidFill>
              </a14:hiddenFill>
            </a:ext>
          </a:extLst>
        </p:spPr>
      </p:pic>
      <p:sp>
        <p:nvSpPr>
          <p:cNvPr id="4116" name="Rounded Rectangle 4115">
            <a:extLst>
              <a:ext uri="{FF2B5EF4-FFF2-40B4-BE49-F238E27FC236}">
                <a16:creationId xmlns:a16="http://schemas.microsoft.com/office/drawing/2014/main" id="{8D355B4F-AF65-8769-F112-0CC088FEBA54}"/>
              </a:ext>
            </a:extLst>
          </p:cNvPr>
          <p:cNvSpPr/>
          <p:nvPr/>
        </p:nvSpPr>
        <p:spPr>
          <a:xfrm>
            <a:off x="9841691" y="1436342"/>
            <a:ext cx="1339193" cy="764343"/>
          </a:xfrm>
          <a:prstGeom prst="roundRect">
            <a:avLst>
              <a:gd name="adj" fmla="val 8450"/>
            </a:avLst>
          </a:prstGeom>
          <a:solidFill>
            <a:schemeClr val="accent6">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600"/>
          </a:p>
        </p:txBody>
      </p:sp>
      <p:sp>
        <p:nvSpPr>
          <p:cNvPr id="4117" name="TextBox 4116">
            <a:extLst>
              <a:ext uri="{FF2B5EF4-FFF2-40B4-BE49-F238E27FC236}">
                <a16:creationId xmlns:a16="http://schemas.microsoft.com/office/drawing/2014/main" id="{8DA331FD-51A2-65F1-1448-B4E18297C620}"/>
              </a:ext>
            </a:extLst>
          </p:cNvPr>
          <p:cNvSpPr txBox="1"/>
          <p:nvPr/>
        </p:nvSpPr>
        <p:spPr>
          <a:xfrm>
            <a:off x="9812195" y="1709810"/>
            <a:ext cx="1423121" cy="461665"/>
          </a:xfrm>
          <a:prstGeom prst="rect">
            <a:avLst/>
          </a:prstGeom>
          <a:noFill/>
        </p:spPr>
        <p:txBody>
          <a:bodyPr wrap="square" rtlCol="0">
            <a:spAutoFit/>
          </a:bodyPr>
          <a:lstStyle/>
          <a:p>
            <a:pPr algn="ctr"/>
            <a:r>
              <a:rPr lang="en-AU" sz="1200" b="1" dirty="0"/>
              <a:t>Customer facility (Fabricator)</a:t>
            </a:r>
          </a:p>
        </p:txBody>
      </p:sp>
      <p:cxnSp>
        <p:nvCxnSpPr>
          <p:cNvPr id="4118" name="Straight Arrow Connector 167">
            <a:extLst>
              <a:ext uri="{FF2B5EF4-FFF2-40B4-BE49-F238E27FC236}">
                <a16:creationId xmlns:a16="http://schemas.microsoft.com/office/drawing/2014/main" id="{3CE02AE7-4DE5-F1C7-B9EE-41EA151D2E07}"/>
              </a:ext>
            </a:extLst>
          </p:cNvPr>
          <p:cNvCxnSpPr>
            <a:cxnSpLocks/>
            <a:endCxn id="4116" idx="2"/>
          </p:cNvCxnSpPr>
          <p:nvPr/>
        </p:nvCxnSpPr>
        <p:spPr>
          <a:xfrm flipV="1">
            <a:off x="8142139" y="2200685"/>
            <a:ext cx="2369149" cy="710996"/>
          </a:xfrm>
          <a:prstGeom prst="bentConnector2">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nvGrpSpPr>
          <p:cNvPr id="4122" name="Group 4121">
            <a:extLst>
              <a:ext uri="{FF2B5EF4-FFF2-40B4-BE49-F238E27FC236}">
                <a16:creationId xmlns:a16="http://schemas.microsoft.com/office/drawing/2014/main" id="{4E526E62-F206-F8BF-0628-C407B2038FAD}"/>
              </a:ext>
            </a:extLst>
          </p:cNvPr>
          <p:cNvGrpSpPr/>
          <p:nvPr/>
        </p:nvGrpSpPr>
        <p:grpSpPr>
          <a:xfrm>
            <a:off x="9665595" y="2554336"/>
            <a:ext cx="473788" cy="503794"/>
            <a:chOff x="9274152" y="622746"/>
            <a:chExt cx="473788" cy="503794"/>
          </a:xfrm>
        </p:grpSpPr>
        <p:sp>
          <p:nvSpPr>
            <p:cNvPr id="4121" name="Rounded Rectangle 4120">
              <a:extLst>
                <a:ext uri="{FF2B5EF4-FFF2-40B4-BE49-F238E27FC236}">
                  <a16:creationId xmlns:a16="http://schemas.microsoft.com/office/drawing/2014/main" id="{A58D5953-9DF3-A370-CFD4-B38FC6276ECB}"/>
                </a:ext>
              </a:extLst>
            </p:cNvPr>
            <p:cNvSpPr/>
            <p:nvPr/>
          </p:nvSpPr>
          <p:spPr>
            <a:xfrm>
              <a:off x="9274152" y="695739"/>
              <a:ext cx="473788" cy="35780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6" name="Picture 16" descr="Bullion, gold, ingot, meta, metal, nugget, precious icon - Download on  Iconfinder">
              <a:extLst>
                <a:ext uri="{FF2B5EF4-FFF2-40B4-BE49-F238E27FC236}">
                  <a16:creationId xmlns:a16="http://schemas.microsoft.com/office/drawing/2014/main" id="{A6694DEC-5AA9-969A-213F-CEB834A4F8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74152" y="622746"/>
              <a:ext cx="473788" cy="50379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124" name="Straight Arrow Connector 170">
            <a:extLst>
              <a:ext uri="{FF2B5EF4-FFF2-40B4-BE49-F238E27FC236}">
                <a16:creationId xmlns:a16="http://schemas.microsoft.com/office/drawing/2014/main" id="{D0C45A0C-56F8-9B00-5360-C91E54BA8F4F}"/>
              </a:ext>
            </a:extLst>
          </p:cNvPr>
          <p:cNvCxnSpPr>
            <a:cxnSpLocks/>
            <a:stCxn id="46" idx="2"/>
            <a:endCxn id="23" idx="3"/>
          </p:cNvCxnSpPr>
          <p:nvPr/>
        </p:nvCxnSpPr>
        <p:spPr>
          <a:xfrm rot="5400000">
            <a:off x="7203002" y="1969247"/>
            <a:ext cx="1610605" cy="3788370"/>
          </a:xfrm>
          <a:prstGeom prst="bentConnector2">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127" name="TextBox 4126">
            <a:extLst>
              <a:ext uri="{FF2B5EF4-FFF2-40B4-BE49-F238E27FC236}">
                <a16:creationId xmlns:a16="http://schemas.microsoft.com/office/drawing/2014/main" id="{617D17E0-00B1-1483-7152-5A534D71CB1F}"/>
              </a:ext>
            </a:extLst>
          </p:cNvPr>
          <p:cNvSpPr txBox="1"/>
          <p:nvPr/>
        </p:nvSpPr>
        <p:spPr>
          <a:xfrm>
            <a:off x="7737713" y="4681445"/>
            <a:ext cx="2160674" cy="461665"/>
          </a:xfrm>
          <a:prstGeom prst="rect">
            <a:avLst/>
          </a:prstGeom>
          <a:noFill/>
        </p:spPr>
        <p:txBody>
          <a:bodyPr wrap="square" rtlCol="0">
            <a:spAutoFit/>
          </a:bodyPr>
          <a:lstStyle/>
          <a:p>
            <a:r>
              <a:rPr lang="en-AU" sz="1200" dirty="0"/>
              <a:t>Get </a:t>
            </a:r>
            <a:r>
              <a:rPr lang="en-AU" sz="1200" b="1" dirty="0"/>
              <a:t>claimed</a:t>
            </a:r>
            <a:r>
              <a:rPr lang="en-AU" sz="1200" dirty="0"/>
              <a:t> output material quantities and characteristics</a:t>
            </a:r>
          </a:p>
        </p:txBody>
      </p:sp>
      <p:cxnSp>
        <p:nvCxnSpPr>
          <p:cNvPr id="4132" name="Straight Arrow Connector 170">
            <a:extLst>
              <a:ext uri="{FF2B5EF4-FFF2-40B4-BE49-F238E27FC236}">
                <a16:creationId xmlns:a16="http://schemas.microsoft.com/office/drawing/2014/main" id="{D85D832E-4FA8-D2FB-14AB-7B2C91E90008}"/>
              </a:ext>
            </a:extLst>
          </p:cNvPr>
          <p:cNvCxnSpPr>
            <a:cxnSpLocks/>
            <a:stCxn id="12" idx="2"/>
            <a:endCxn id="23" idx="0"/>
          </p:cNvCxnSpPr>
          <p:nvPr/>
        </p:nvCxnSpPr>
        <p:spPr>
          <a:xfrm flipH="1">
            <a:off x="5825574" y="3498465"/>
            <a:ext cx="2342" cy="978941"/>
          </a:xfrm>
          <a:prstGeom prst="straightConnector1">
            <a:avLst/>
          </a:prstGeom>
          <a:ln w="28575">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77" name="Rounded Rectangle 176">
            <a:extLst>
              <a:ext uri="{FF2B5EF4-FFF2-40B4-BE49-F238E27FC236}">
                <a16:creationId xmlns:a16="http://schemas.microsoft.com/office/drawing/2014/main" id="{970DDDA1-CB76-6543-8532-E344ADA09A46}"/>
              </a:ext>
            </a:extLst>
          </p:cNvPr>
          <p:cNvSpPr/>
          <p:nvPr/>
        </p:nvSpPr>
        <p:spPr>
          <a:xfrm>
            <a:off x="4145305" y="3716845"/>
            <a:ext cx="386462" cy="203922"/>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29" name="Rounded Rectangle 28">
            <a:extLst>
              <a:ext uri="{FF2B5EF4-FFF2-40B4-BE49-F238E27FC236}">
                <a16:creationId xmlns:a16="http://schemas.microsoft.com/office/drawing/2014/main" id="{09B42B15-C013-7EB3-22AF-CBF34EB0D143}"/>
              </a:ext>
            </a:extLst>
          </p:cNvPr>
          <p:cNvSpPr/>
          <p:nvPr/>
        </p:nvSpPr>
        <p:spPr>
          <a:xfrm>
            <a:off x="7176059" y="3818980"/>
            <a:ext cx="386462" cy="203922"/>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164" name="Rounded Rectangle 163">
            <a:extLst>
              <a:ext uri="{FF2B5EF4-FFF2-40B4-BE49-F238E27FC236}">
                <a16:creationId xmlns:a16="http://schemas.microsoft.com/office/drawing/2014/main" id="{63A2C824-F560-410E-579B-1AC7B48E9A1D}"/>
              </a:ext>
            </a:extLst>
          </p:cNvPr>
          <p:cNvSpPr/>
          <p:nvPr/>
        </p:nvSpPr>
        <p:spPr>
          <a:xfrm>
            <a:off x="5384441" y="375379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24" name="Rounded Rectangle 23">
            <a:extLst>
              <a:ext uri="{FF2B5EF4-FFF2-40B4-BE49-F238E27FC236}">
                <a16:creationId xmlns:a16="http://schemas.microsoft.com/office/drawing/2014/main" id="{D392A7E5-702C-26A0-8D76-BD058D7FBD2D}"/>
              </a:ext>
            </a:extLst>
          </p:cNvPr>
          <p:cNvSpPr/>
          <p:nvPr/>
        </p:nvSpPr>
        <p:spPr>
          <a:xfrm>
            <a:off x="5881943" y="3761896"/>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53" name="TextBox 1052">
            <a:extLst>
              <a:ext uri="{FF2B5EF4-FFF2-40B4-BE49-F238E27FC236}">
                <a16:creationId xmlns:a16="http://schemas.microsoft.com/office/drawing/2014/main" id="{13C71D51-E34A-FC33-89C4-CCF33EE5EAB1}"/>
              </a:ext>
            </a:extLst>
          </p:cNvPr>
          <p:cNvSpPr txBox="1"/>
          <p:nvPr/>
        </p:nvSpPr>
        <p:spPr>
          <a:xfrm>
            <a:off x="2218339" y="3739046"/>
            <a:ext cx="1906049" cy="646331"/>
          </a:xfrm>
          <a:prstGeom prst="rect">
            <a:avLst/>
          </a:prstGeom>
          <a:noFill/>
        </p:spPr>
        <p:txBody>
          <a:bodyPr wrap="square" rtlCol="0">
            <a:spAutoFit/>
          </a:bodyPr>
          <a:lstStyle/>
          <a:p>
            <a:pPr algn="r"/>
            <a:r>
              <a:rPr lang="en-AU" sz="1200" dirty="0"/>
              <a:t>Get shipping events and transformation events and stocktake events</a:t>
            </a:r>
            <a:endParaRPr lang="en-AU" sz="1200" i="1" dirty="0"/>
          </a:p>
        </p:txBody>
      </p:sp>
      <p:sp>
        <p:nvSpPr>
          <p:cNvPr id="1054" name="TextBox 1053">
            <a:extLst>
              <a:ext uri="{FF2B5EF4-FFF2-40B4-BE49-F238E27FC236}">
                <a16:creationId xmlns:a16="http://schemas.microsoft.com/office/drawing/2014/main" id="{DF961E4E-5E26-C246-BB41-DDA55C12115F}"/>
              </a:ext>
            </a:extLst>
          </p:cNvPr>
          <p:cNvSpPr txBox="1"/>
          <p:nvPr/>
        </p:nvSpPr>
        <p:spPr>
          <a:xfrm>
            <a:off x="5175106" y="4085104"/>
            <a:ext cx="1575092" cy="276999"/>
          </a:xfrm>
          <a:prstGeom prst="rect">
            <a:avLst/>
          </a:prstGeom>
          <a:noFill/>
        </p:spPr>
        <p:txBody>
          <a:bodyPr wrap="square" rtlCol="0">
            <a:spAutoFit/>
          </a:bodyPr>
          <a:lstStyle/>
          <a:p>
            <a:pPr algn="r"/>
            <a:r>
              <a:rPr lang="en-AU" sz="1200" b="1" dirty="0"/>
              <a:t>Issue   credentials</a:t>
            </a:r>
          </a:p>
        </p:txBody>
      </p:sp>
      <p:sp>
        <p:nvSpPr>
          <p:cNvPr id="1055" name="TextBox 1054">
            <a:extLst>
              <a:ext uri="{FF2B5EF4-FFF2-40B4-BE49-F238E27FC236}">
                <a16:creationId xmlns:a16="http://schemas.microsoft.com/office/drawing/2014/main" id="{C87BA394-B517-5A45-6EB6-9433D6B7D687}"/>
              </a:ext>
            </a:extLst>
          </p:cNvPr>
          <p:cNvSpPr txBox="1"/>
          <p:nvPr/>
        </p:nvSpPr>
        <p:spPr>
          <a:xfrm>
            <a:off x="4571139" y="3604034"/>
            <a:ext cx="857159" cy="461665"/>
          </a:xfrm>
          <a:prstGeom prst="rect">
            <a:avLst/>
          </a:prstGeom>
          <a:noFill/>
        </p:spPr>
        <p:txBody>
          <a:bodyPr wrap="square" rtlCol="0">
            <a:spAutoFit/>
          </a:bodyPr>
          <a:lstStyle/>
          <a:p>
            <a:pPr algn="r"/>
            <a:r>
              <a:rPr lang="en-AU" sz="1200" b="1" dirty="0"/>
              <a:t>product level</a:t>
            </a:r>
          </a:p>
        </p:txBody>
      </p:sp>
      <p:sp>
        <p:nvSpPr>
          <p:cNvPr id="1057" name="Rounded Rectangle 1056">
            <a:extLst>
              <a:ext uri="{FF2B5EF4-FFF2-40B4-BE49-F238E27FC236}">
                <a16:creationId xmlns:a16="http://schemas.microsoft.com/office/drawing/2014/main" id="{4D469FA9-9D3C-2995-4D5E-2C5F14F190B4}"/>
              </a:ext>
            </a:extLst>
          </p:cNvPr>
          <p:cNvSpPr/>
          <p:nvPr/>
        </p:nvSpPr>
        <p:spPr>
          <a:xfrm>
            <a:off x="9973077" y="3370412"/>
            <a:ext cx="411675" cy="246595"/>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58" name="TextBox 1057">
            <a:extLst>
              <a:ext uri="{FF2B5EF4-FFF2-40B4-BE49-F238E27FC236}">
                <a16:creationId xmlns:a16="http://schemas.microsoft.com/office/drawing/2014/main" id="{2625F900-11C6-9809-D1F7-B5F060C004E7}"/>
              </a:ext>
            </a:extLst>
          </p:cNvPr>
          <p:cNvSpPr txBox="1"/>
          <p:nvPr/>
        </p:nvSpPr>
        <p:spPr>
          <a:xfrm>
            <a:off x="5825573" y="4880798"/>
            <a:ext cx="1475402" cy="461665"/>
          </a:xfrm>
          <a:prstGeom prst="rect">
            <a:avLst/>
          </a:prstGeom>
          <a:noFill/>
        </p:spPr>
        <p:txBody>
          <a:bodyPr wrap="square" rtlCol="0">
            <a:spAutoFit/>
          </a:bodyPr>
          <a:lstStyle/>
          <a:p>
            <a:r>
              <a:rPr lang="en-AU" sz="1200" dirty="0"/>
              <a:t>Material &amp; impact accounting</a:t>
            </a:r>
          </a:p>
        </p:txBody>
      </p:sp>
      <p:cxnSp>
        <p:nvCxnSpPr>
          <p:cNvPr id="1060" name="Straight Arrow Connector 170">
            <a:extLst>
              <a:ext uri="{FF2B5EF4-FFF2-40B4-BE49-F238E27FC236}">
                <a16:creationId xmlns:a16="http://schemas.microsoft.com/office/drawing/2014/main" id="{6C6E3782-1BCB-3A67-68E9-6E0F1C81EED8}"/>
              </a:ext>
            </a:extLst>
          </p:cNvPr>
          <p:cNvCxnSpPr>
            <a:cxnSpLocks/>
            <a:stCxn id="30" idx="3"/>
            <a:endCxn id="23" idx="2"/>
          </p:cNvCxnSpPr>
          <p:nvPr/>
        </p:nvCxnSpPr>
        <p:spPr>
          <a:xfrm flipV="1">
            <a:off x="5502287" y="4860064"/>
            <a:ext cx="323287" cy="240605"/>
          </a:xfrm>
          <a:prstGeom prst="bentConnector2">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162" name="TextBox 4161">
            <a:extLst>
              <a:ext uri="{FF2B5EF4-FFF2-40B4-BE49-F238E27FC236}">
                <a16:creationId xmlns:a16="http://schemas.microsoft.com/office/drawing/2014/main" id="{26282D21-1B74-CD0C-3E4B-433F85B624C1}"/>
              </a:ext>
            </a:extLst>
          </p:cNvPr>
          <p:cNvSpPr txBox="1"/>
          <p:nvPr/>
        </p:nvSpPr>
        <p:spPr>
          <a:xfrm>
            <a:off x="7574586" y="3656715"/>
            <a:ext cx="1130050" cy="461665"/>
          </a:xfrm>
          <a:prstGeom prst="rect">
            <a:avLst/>
          </a:prstGeom>
          <a:noFill/>
        </p:spPr>
        <p:txBody>
          <a:bodyPr wrap="square" rtlCol="0">
            <a:spAutoFit/>
          </a:bodyPr>
          <a:lstStyle/>
          <a:p>
            <a:r>
              <a:rPr lang="en-AU" sz="1200" dirty="0"/>
              <a:t>Get facility records</a:t>
            </a:r>
          </a:p>
        </p:txBody>
      </p:sp>
      <p:sp>
        <p:nvSpPr>
          <p:cNvPr id="4167" name="TextBox 4166">
            <a:extLst>
              <a:ext uri="{FF2B5EF4-FFF2-40B4-BE49-F238E27FC236}">
                <a16:creationId xmlns:a16="http://schemas.microsoft.com/office/drawing/2014/main" id="{5984A0F2-AA0D-373D-1F60-E344DE79FD5C}"/>
              </a:ext>
            </a:extLst>
          </p:cNvPr>
          <p:cNvSpPr txBox="1"/>
          <p:nvPr/>
        </p:nvSpPr>
        <p:spPr>
          <a:xfrm>
            <a:off x="8280179" y="2896218"/>
            <a:ext cx="1404627" cy="276999"/>
          </a:xfrm>
          <a:prstGeom prst="rect">
            <a:avLst/>
          </a:prstGeom>
          <a:noFill/>
        </p:spPr>
        <p:txBody>
          <a:bodyPr wrap="square" rtlCol="0">
            <a:spAutoFit/>
          </a:bodyPr>
          <a:lstStyle/>
          <a:p>
            <a:r>
              <a:rPr lang="en-AU" sz="1200" dirty="0"/>
              <a:t>Shipping events</a:t>
            </a:r>
          </a:p>
        </p:txBody>
      </p:sp>
      <p:sp>
        <p:nvSpPr>
          <p:cNvPr id="4172" name="TextBox 4171">
            <a:extLst>
              <a:ext uri="{FF2B5EF4-FFF2-40B4-BE49-F238E27FC236}">
                <a16:creationId xmlns:a16="http://schemas.microsoft.com/office/drawing/2014/main" id="{8B56A475-3FD6-D1FB-A5C3-A43144077C41}"/>
              </a:ext>
            </a:extLst>
          </p:cNvPr>
          <p:cNvSpPr txBox="1"/>
          <p:nvPr/>
        </p:nvSpPr>
        <p:spPr>
          <a:xfrm>
            <a:off x="6242127" y="3589557"/>
            <a:ext cx="797778" cy="461665"/>
          </a:xfrm>
          <a:prstGeom prst="rect">
            <a:avLst/>
          </a:prstGeom>
          <a:noFill/>
        </p:spPr>
        <p:txBody>
          <a:bodyPr wrap="square" rtlCol="0">
            <a:spAutoFit/>
          </a:bodyPr>
          <a:lstStyle/>
          <a:p>
            <a:r>
              <a:rPr lang="en-AU" sz="1200" b="1" dirty="0"/>
              <a:t>facility level</a:t>
            </a:r>
          </a:p>
        </p:txBody>
      </p:sp>
      <p:sp>
        <p:nvSpPr>
          <p:cNvPr id="4175" name="TextBox 4174">
            <a:extLst>
              <a:ext uri="{FF2B5EF4-FFF2-40B4-BE49-F238E27FC236}">
                <a16:creationId xmlns:a16="http://schemas.microsoft.com/office/drawing/2014/main" id="{C615E3E7-E028-8BD1-FCD3-8B69E8035D22}"/>
              </a:ext>
            </a:extLst>
          </p:cNvPr>
          <p:cNvSpPr txBox="1"/>
          <p:nvPr/>
        </p:nvSpPr>
        <p:spPr>
          <a:xfrm>
            <a:off x="5052401" y="5397073"/>
            <a:ext cx="1693613" cy="276999"/>
          </a:xfrm>
          <a:prstGeom prst="rect">
            <a:avLst/>
          </a:prstGeom>
          <a:noFill/>
        </p:spPr>
        <p:txBody>
          <a:bodyPr wrap="square" rtlCol="0">
            <a:spAutoFit/>
          </a:bodyPr>
          <a:lstStyle/>
          <a:p>
            <a:r>
              <a:rPr lang="en-AU" sz="1200" dirty="0"/>
              <a:t>Independent auditor</a:t>
            </a:r>
          </a:p>
        </p:txBody>
      </p:sp>
      <p:sp>
        <p:nvSpPr>
          <p:cNvPr id="4185" name="Rounded Rectangle 4184">
            <a:extLst>
              <a:ext uri="{FF2B5EF4-FFF2-40B4-BE49-F238E27FC236}">
                <a16:creationId xmlns:a16="http://schemas.microsoft.com/office/drawing/2014/main" id="{71D128BF-9843-397C-9F65-4E0E2A0F1BBF}"/>
              </a:ext>
            </a:extLst>
          </p:cNvPr>
          <p:cNvSpPr/>
          <p:nvPr/>
        </p:nvSpPr>
        <p:spPr>
          <a:xfrm>
            <a:off x="6042049" y="3193510"/>
            <a:ext cx="386462" cy="203922"/>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cxnSp>
        <p:nvCxnSpPr>
          <p:cNvPr id="4186" name="Straight Arrow Connector 170">
            <a:extLst>
              <a:ext uri="{FF2B5EF4-FFF2-40B4-BE49-F238E27FC236}">
                <a16:creationId xmlns:a16="http://schemas.microsoft.com/office/drawing/2014/main" id="{B496EEDD-13B0-C520-FF2D-41A4BC36773F}"/>
              </a:ext>
            </a:extLst>
          </p:cNvPr>
          <p:cNvCxnSpPr>
            <a:cxnSpLocks/>
            <a:stCxn id="138" idx="2"/>
            <a:endCxn id="4185" idx="1"/>
          </p:cNvCxnSpPr>
          <p:nvPr/>
        </p:nvCxnSpPr>
        <p:spPr>
          <a:xfrm rot="16200000" flipH="1">
            <a:off x="5816641" y="3070062"/>
            <a:ext cx="245207" cy="205610"/>
          </a:xfrm>
          <a:prstGeom prst="bentConnector2">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189" name="Rounded Rectangle 4188">
            <a:extLst>
              <a:ext uri="{FF2B5EF4-FFF2-40B4-BE49-F238E27FC236}">
                <a16:creationId xmlns:a16="http://schemas.microsoft.com/office/drawing/2014/main" id="{DC48F126-EC96-A769-4D20-B404E2C95092}"/>
              </a:ext>
            </a:extLst>
          </p:cNvPr>
          <p:cNvSpPr/>
          <p:nvPr/>
        </p:nvSpPr>
        <p:spPr>
          <a:xfrm>
            <a:off x="4134188" y="3972642"/>
            <a:ext cx="386462" cy="203922"/>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4192" name="TextBox 4191">
            <a:extLst>
              <a:ext uri="{FF2B5EF4-FFF2-40B4-BE49-F238E27FC236}">
                <a16:creationId xmlns:a16="http://schemas.microsoft.com/office/drawing/2014/main" id="{1D1EBC64-62A2-8788-89D4-3F6DC0B5A4C1}"/>
              </a:ext>
            </a:extLst>
          </p:cNvPr>
          <p:cNvSpPr txBox="1"/>
          <p:nvPr/>
        </p:nvSpPr>
        <p:spPr>
          <a:xfrm>
            <a:off x="3761200" y="3170183"/>
            <a:ext cx="2209818" cy="276999"/>
          </a:xfrm>
          <a:prstGeom prst="rect">
            <a:avLst/>
          </a:prstGeom>
          <a:noFill/>
        </p:spPr>
        <p:txBody>
          <a:bodyPr wrap="square" rtlCol="0">
            <a:spAutoFit/>
          </a:bodyPr>
          <a:lstStyle/>
          <a:p>
            <a:r>
              <a:rPr lang="en-AU" sz="1200" i="1" dirty="0"/>
              <a:t>Issue transformation  events</a:t>
            </a:r>
          </a:p>
        </p:txBody>
      </p:sp>
      <p:sp>
        <p:nvSpPr>
          <p:cNvPr id="4200" name="Rounded Rectangle 4199">
            <a:extLst>
              <a:ext uri="{FF2B5EF4-FFF2-40B4-BE49-F238E27FC236}">
                <a16:creationId xmlns:a16="http://schemas.microsoft.com/office/drawing/2014/main" id="{ADBD0A0C-79FD-B475-A2FB-093C5C584BC7}"/>
              </a:ext>
            </a:extLst>
          </p:cNvPr>
          <p:cNvSpPr/>
          <p:nvPr/>
        </p:nvSpPr>
        <p:spPr>
          <a:xfrm>
            <a:off x="5384441" y="1534205"/>
            <a:ext cx="386462" cy="203922"/>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4206" name="TextBox 4205">
            <a:extLst>
              <a:ext uri="{FF2B5EF4-FFF2-40B4-BE49-F238E27FC236}">
                <a16:creationId xmlns:a16="http://schemas.microsoft.com/office/drawing/2014/main" id="{8AF539C5-1D0A-D25B-FE78-EEB492EDD4F2}"/>
              </a:ext>
            </a:extLst>
          </p:cNvPr>
          <p:cNvSpPr txBox="1"/>
          <p:nvPr/>
        </p:nvSpPr>
        <p:spPr>
          <a:xfrm>
            <a:off x="5774266" y="1510767"/>
            <a:ext cx="1618971" cy="276999"/>
          </a:xfrm>
          <a:prstGeom prst="rect">
            <a:avLst/>
          </a:prstGeom>
          <a:noFill/>
        </p:spPr>
        <p:txBody>
          <a:bodyPr wrap="square" rtlCol="0">
            <a:spAutoFit/>
          </a:bodyPr>
          <a:lstStyle/>
          <a:p>
            <a:r>
              <a:rPr lang="en-AU" sz="1200" i="1" dirty="0"/>
              <a:t>Issue facility records</a:t>
            </a:r>
          </a:p>
        </p:txBody>
      </p:sp>
      <p:sp>
        <p:nvSpPr>
          <p:cNvPr id="4210" name="Rounded Rectangle 4209">
            <a:extLst>
              <a:ext uri="{FF2B5EF4-FFF2-40B4-BE49-F238E27FC236}">
                <a16:creationId xmlns:a16="http://schemas.microsoft.com/office/drawing/2014/main" id="{E9039A32-D181-329E-C791-F42A3E4DE7E4}"/>
              </a:ext>
            </a:extLst>
          </p:cNvPr>
          <p:cNvSpPr/>
          <p:nvPr/>
        </p:nvSpPr>
        <p:spPr>
          <a:xfrm>
            <a:off x="876109" y="1492597"/>
            <a:ext cx="386462" cy="203922"/>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4211" name="Rounded Rectangle 4210">
            <a:extLst>
              <a:ext uri="{FF2B5EF4-FFF2-40B4-BE49-F238E27FC236}">
                <a16:creationId xmlns:a16="http://schemas.microsoft.com/office/drawing/2014/main" id="{583C0F0D-51A7-CBDE-63B3-E8C85B484782}"/>
              </a:ext>
            </a:extLst>
          </p:cNvPr>
          <p:cNvSpPr/>
          <p:nvPr/>
        </p:nvSpPr>
        <p:spPr>
          <a:xfrm>
            <a:off x="10365120" y="1520233"/>
            <a:ext cx="386462" cy="203922"/>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4216" name="TextBox 4215">
            <a:extLst>
              <a:ext uri="{FF2B5EF4-FFF2-40B4-BE49-F238E27FC236}">
                <a16:creationId xmlns:a16="http://schemas.microsoft.com/office/drawing/2014/main" id="{DF739ADA-BE3F-9D84-84C1-8B257D52ED26}"/>
              </a:ext>
            </a:extLst>
          </p:cNvPr>
          <p:cNvSpPr txBox="1"/>
          <p:nvPr/>
        </p:nvSpPr>
        <p:spPr>
          <a:xfrm>
            <a:off x="373417" y="532504"/>
            <a:ext cx="2765280" cy="461665"/>
          </a:xfrm>
          <a:prstGeom prst="rect">
            <a:avLst/>
          </a:prstGeom>
          <a:noFill/>
        </p:spPr>
        <p:txBody>
          <a:bodyPr wrap="square" rtlCol="0">
            <a:spAutoFit/>
          </a:bodyPr>
          <a:lstStyle/>
          <a:p>
            <a:r>
              <a:rPr lang="en-AU" sz="1200" dirty="0"/>
              <a:t>      Issue upstream material qualities (DPP) &amp; quantities (shipping DTE)</a:t>
            </a:r>
          </a:p>
        </p:txBody>
      </p:sp>
      <p:sp>
        <p:nvSpPr>
          <p:cNvPr id="4217" name="TextBox 4216">
            <a:extLst>
              <a:ext uri="{FF2B5EF4-FFF2-40B4-BE49-F238E27FC236}">
                <a16:creationId xmlns:a16="http://schemas.microsoft.com/office/drawing/2014/main" id="{DD930890-431B-DE6A-A098-4463E5C32C51}"/>
              </a:ext>
            </a:extLst>
          </p:cNvPr>
          <p:cNvSpPr txBox="1"/>
          <p:nvPr/>
        </p:nvSpPr>
        <p:spPr>
          <a:xfrm>
            <a:off x="3509337" y="637119"/>
            <a:ext cx="2515265" cy="646331"/>
          </a:xfrm>
          <a:prstGeom prst="rect">
            <a:avLst/>
          </a:prstGeom>
          <a:noFill/>
        </p:spPr>
        <p:txBody>
          <a:bodyPr wrap="square" rtlCol="0">
            <a:spAutoFit/>
          </a:bodyPr>
          <a:lstStyle/>
          <a:p>
            <a:r>
              <a:rPr lang="en-AU" sz="1200" dirty="0"/>
              <a:t>     Perform production activities and maintain material accounting (transformation DTE) </a:t>
            </a:r>
          </a:p>
        </p:txBody>
      </p:sp>
      <p:sp>
        <p:nvSpPr>
          <p:cNvPr id="4218" name="TextBox 4217">
            <a:extLst>
              <a:ext uri="{FF2B5EF4-FFF2-40B4-BE49-F238E27FC236}">
                <a16:creationId xmlns:a16="http://schemas.microsoft.com/office/drawing/2014/main" id="{B2C4F853-D518-D2C4-8153-763F8E6D359D}"/>
              </a:ext>
            </a:extLst>
          </p:cNvPr>
          <p:cNvSpPr txBox="1"/>
          <p:nvPr/>
        </p:nvSpPr>
        <p:spPr>
          <a:xfrm>
            <a:off x="4021935" y="5784460"/>
            <a:ext cx="3860013" cy="461665"/>
          </a:xfrm>
          <a:prstGeom prst="rect">
            <a:avLst/>
          </a:prstGeom>
          <a:noFill/>
        </p:spPr>
        <p:txBody>
          <a:bodyPr wrap="square" rtlCol="0">
            <a:spAutoFit/>
          </a:bodyPr>
          <a:lstStyle/>
          <a:p>
            <a:r>
              <a:rPr lang="en-AU" sz="1200" dirty="0"/>
              <a:t>     Pull all material accounting quantities (DTEs) and qualities (DPPs), audit and issue assessments (DCCs)</a:t>
            </a:r>
          </a:p>
        </p:txBody>
      </p:sp>
      <p:sp>
        <p:nvSpPr>
          <p:cNvPr id="4219" name="TextBox 4218">
            <a:extLst>
              <a:ext uri="{FF2B5EF4-FFF2-40B4-BE49-F238E27FC236}">
                <a16:creationId xmlns:a16="http://schemas.microsoft.com/office/drawing/2014/main" id="{56CFEEEB-F5E5-7D5B-894D-36FCDCA5D942}"/>
              </a:ext>
            </a:extLst>
          </p:cNvPr>
          <p:cNvSpPr txBox="1"/>
          <p:nvPr/>
        </p:nvSpPr>
        <p:spPr>
          <a:xfrm>
            <a:off x="6151603" y="611684"/>
            <a:ext cx="2159488" cy="646331"/>
          </a:xfrm>
          <a:prstGeom prst="rect">
            <a:avLst/>
          </a:prstGeom>
          <a:noFill/>
        </p:spPr>
        <p:txBody>
          <a:bodyPr wrap="square" rtlCol="0">
            <a:spAutoFit/>
          </a:bodyPr>
          <a:lstStyle/>
          <a:p>
            <a:pPr algn="r"/>
            <a:r>
              <a:rPr lang="en-AU" sz="1200" dirty="0"/>
              <a:t>Issue output material qualities (DPPs) and quantities (shipping DTEs)</a:t>
            </a:r>
          </a:p>
        </p:txBody>
      </p:sp>
      <p:sp>
        <p:nvSpPr>
          <p:cNvPr id="4220" name="TextBox 4219">
            <a:extLst>
              <a:ext uri="{FF2B5EF4-FFF2-40B4-BE49-F238E27FC236}">
                <a16:creationId xmlns:a16="http://schemas.microsoft.com/office/drawing/2014/main" id="{774ED9BB-1118-5481-218B-47DCF73AF01B}"/>
              </a:ext>
            </a:extLst>
          </p:cNvPr>
          <p:cNvSpPr txBox="1"/>
          <p:nvPr/>
        </p:nvSpPr>
        <p:spPr>
          <a:xfrm>
            <a:off x="8778025" y="519906"/>
            <a:ext cx="2812075" cy="646331"/>
          </a:xfrm>
          <a:prstGeom prst="rect">
            <a:avLst/>
          </a:prstGeom>
          <a:noFill/>
        </p:spPr>
        <p:txBody>
          <a:bodyPr wrap="square" rtlCol="0">
            <a:spAutoFit/>
          </a:bodyPr>
          <a:lstStyle/>
          <a:p>
            <a:r>
              <a:rPr lang="en-AU" sz="1200" dirty="0"/>
              <a:t>      Receive refined products, pull supply qualities (DPP) &amp; quantities (shipping DTEs) . Verify chain of custody (DCCs).</a:t>
            </a:r>
          </a:p>
        </p:txBody>
      </p:sp>
      <p:sp>
        <p:nvSpPr>
          <p:cNvPr id="4221" name="Oval 4220">
            <a:extLst>
              <a:ext uri="{FF2B5EF4-FFF2-40B4-BE49-F238E27FC236}">
                <a16:creationId xmlns:a16="http://schemas.microsoft.com/office/drawing/2014/main" id="{10E885AA-70E3-E32C-97EA-CDD052C1DE61}"/>
              </a:ext>
            </a:extLst>
          </p:cNvPr>
          <p:cNvSpPr/>
          <p:nvPr/>
        </p:nvSpPr>
        <p:spPr>
          <a:xfrm>
            <a:off x="312370" y="525850"/>
            <a:ext cx="249737" cy="22105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dirty="0"/>
              <a:t>1</a:t>
            </a:r>
          </a:p>
        </p:txBody>
      </p:sp>
      <p:sp>
        <p:nvSpPr>
          <p:cNvPr id="4222" name="Oval 4221">
            <a:extLst>
              <a:ext uri="{FF2B5EF4-FFF2-40B4-BE49-F238E27FC236}">
                <a16:creationId xmlns:a16="http://schemas.microsoft.com/office/drawing/2014/main" id="{61E768A2-8138-8F25-43FF-8CC2A4B7F03A}"/>
              </a:ext>
            </a:extLst>
          </p:cNvPr>
          <p:cNvSpPr/>
          <p:nvPr/>
        </p:nvSpPr>
        <p:spPr>
          <a:xfrm>
            <a:off x="3400236" y="638785"/>
            <a:ext cx="249737" cy="22105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dirty="0"/>
              <a:t>2</a:t>
            </a:r>
          </a:p>
        </p:txBody>
      </p:sp>
      <p:sp>
        <p:nvSpPr>
          <p:cNvPr id="4223" name="Oval 4222">
            <a:extLst>
              <a:ext uri="{FF2B5EF4-FFF2-40B4-BE49-F238E27FC236}">
                <a16:creationId xmlns:a16="http://schemas.microsoft.com/office/drawing/2014/main" id="{FB1C257D-3CFA-6186-B7D4-959426F01DEA}"/>
              </a:ext>
            </a:extLst>
          </p:cNvPr>
          <p:cNvSpPr/>
          <p:nvPr/>
        </p:nvSpPr>
        <p:spPr>
          <a:xfrm>
            <a:off x="3969021" y="5794236"/>
            <a:ext cx="249737" cy="22105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dirty="0"/>
              <a:t>3</a:t>
            </a:r>
          </a:p>
        </p:txBody>
      </p:sp>
      <p:sp>
        <p:nvSpPr>
          <p:cNvPr id="4224" name="Oval 4223">
            <a:extLst>
              <a:ext uri="{FF2B5EF4-FFF2-40B4-BE49-F238E27FC236}">
                <a16:creationId xmlns:a16="http://schemas.microsoft.com/office/drawing/2014/main" id="{7C65F5B6-9714-1E2D-A4CA-6204A114A9C8}"/>
              </a:ext>
            </a:extLst>
          </p:cNvPr>
          <p:cNvSpPr/>
          <p:nvPr/>
        </p:nvSpPr>
        <p:spPr>
          <a:xfrm>
            <a:off x="6479614" y="654415"/>
            <a:ext cx="249737" cy="22105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dirty="0"/>
              <a:t>4</a:t>
            </a:r>
          </a:p>
        </p:txBody>
      </p:sp>
      <p:sp>
        <p:nvSpPr>
          <p:cNvPr id="4225" name="Oval 4224">
            <a:extLst>
              <a:ext uri="{FF2B5EF4-FFF2-40B4-BE49-F238E27FC236}">
                <a16:creationId xmlns:a16="http://schemas.microsoft.com/office/drawing/2014/main" id="{D93E2815-DEB0-4CD5-1AA4-BE52CAF03651}"/>
              </a:ext>
            </a:extLst>
          </p:cNvPr>
          <p:cNvSpPr/>
          <p:nvPr/>
        </p:nvSpPr>
        <p:spPr>
          <a:xfrm>
            <a:off x="8767139" y="518908"/>
            <a:ext cx="249737" cy="22105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dirty="0"/>
              <a:t>5</a:t>
            </a:r>
          </a:p>
        </p:txBody>
      </p:sp>
      <p:sp>
        <p:nvSpPr>
          <p:cNvPr id="4227" name="Rounded Rectangle 4226">
            <a:extLst>
              <a:ext uri="{FF2B5EF4-FFF2-40B4-BE49-F238E27FC236}">
                <a16:creationId xmlns:a16="http://schemas.microsoft.com/office/drawing/2014/main" id="{1B03E661-2F3E-2943-43F7-E6315B746661}"/>
              </a:ext>
            </a:extLst>
          </p:cNvPr>
          <p:cNvSpPr/>
          <p:nvPr/>
        </p:nvSpPr>
        <p:spPr>
          <a:xfrm>
            <a:off x="5384441" y="1825666"/>
            <a:ext cx="386462" cy="203922"/>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4228" name="TextBox 4227">
            <a:extLst>
              <a:ext uri="{FF2B5EF4-FFF2-40B4-BE49-F238E27FC236}">
                <a16:creationId xmlns:a16="http://schemas.microsoft.com/office/drawing/2014/main" id="{3012A70C-D8D1-C46F-31AA-6CCF7B254C35}"/>
              </a:ext>
            </a:extLst>
          </p:cNvPr>
          <p:cNvSpPr txBox="1"/>
          <p:nvPr/>
        </p:nvSpPr>
        <p:spPr>
          <a:xfrm>
            <a:off x="5774265" y="1789492"/>
            <a:ext cx="1719780" cy="276999"/>
          </a:xfrm>
          <a:prstGeom prst="rect">
            <a:avLst/>
          </a:prstGeom>
          <a:noFill/>
        </p:spPr>
        <p:txBody>
          <a:bodyPr wrap="square" rtlCol="0">
            <a:spAutoFit/>
          </a:bodyPr>
          <a:lstStyle/>
          <a:p>
            <a:r>
              <a:rPr lang="en-AU" sz="1200" i="1" dirty="0"/>
              <a:t>Issue stocktake events</a:t>
            </a:r>
          </a:p>
        </p:txBody>
      </p:sp>
      <p:sp>
        <p:nvSpPr>
          <p:cNvPr id="4229" name="Rounded Rectangle 4228">
            <a:extLst>
              <a:ext uri="{FF2B5EF4-FFF2-40B4-BE49-F238E27FC236}">
                <a16:creationId xmlns:a16="http://schemas.microsoft.com/office/drawing/2014/main" id="{88F4D2F2-F64C-6D3B-61F0-98EFE09B3AE8}"/>
              </a:ext>
            </a:extLst>
          </p:cNvPr>
          <p:cNvSpPr/>
          <p:nvPr/>
        </p:nvSpPr>
        <p:spPr>
          <a:xfrm>
            <a:off x="4136806" y="4231195"/>
            <a:ext cx="386462" cy="203922"/>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Tree>
    <p:extLst>
      <p:ext uri="{BB962C8B-B14F-4D97-AF65-F5344CB8AC3E}">
        <p14:creationId xmlns:p14="http://schemas.microsoft.com/office/powerpoint/2010/main" val="2468540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D3E4F-06D0-9F61-16A5-D394564617DF}"/>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33668D21-4858-C474-68F3-3EFA172B35F6}"/>
              </a:ext>
            </a:extLst>
          </p:cNvPr>
          <p:cNvSpPr/>
          <p:nvPr/>
        </p:nvSpPr>
        <p:spPr>
          <a:xfrm>
            <a:off x="1289749" y="4259989"/>
            <a:ext cx="2004041" cy="1879174"/>
          </a:xfrm>
          <a:prstGeom prst="roundRect">
            <a:avLst>
              <a:gd name="adj" fmla="val 4449"/>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50"/>
          </a:p>
        </p:txBody>
      </p:sp>
      <p:sp>
        <p:nvSpPr>
          <p:cNvPr id="21" name="Rounded Rectangle 20">
            <a:extLst>
              <a:ext uri="{FF2B5EF4-FFF2-40B4-BE49-F238E27FC236}">
                <a16:creationId xmlns:a16="http://schemas.microsoft.com/office/drawing/2014/main" id="{B11ED9B9-7347-BD3E-0C9C-C12532DB9914}"/>
              </a:ext>
            </a:extLst>
          </p:cNvPr>
          <p:cNvSpPr/>
          <p:nvPr/>
        </p:nvSpPr>
        <p:spPr>
          <a:xfrm>
            <a:off x="1530185" y="4779075"/>
            <a:ext cx="1507238"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Facility Information</a:t>
            </a:r>
          </a:p>
        </p:txBody>
      </p:sp>
      <p:sp>
        <p:nvSpPr>
          <p:cNvPr id="22" name="Rounded Rectangle 21">
            <a:extLst>
              <a:ext uri="{FF2B5EF4-FFF2-40B4-BE49-F238E27FC236}">
                <a16:creationId xmlns:a16="http://schemas.microsoft.com/office/drawing/2014/main" id="{CF192724-BB31-473D-E745-DD624303373B}"/>
              </a:ext>
            </a:extLst>
          </p:cNvPr>
          <p:cNvSpPr/>
          <p:nvPr/>
        </p:nvSpPr>
        <p:spPr>
          <a:xfrm>
            <a:off x="1748926" y="5011316"/>
            <a:ext cx="1288496"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Geospatial  Data</a:t>
            </a:r>
          </a:p>
        </p:txBody>
      </p:sp>
      <p:sp>
        <p:nvSpPr>
          <p:cNvPr id="24" name="Rounded Rectangle 23">
            <a:extLst>
              <a:ext uri="{FF2B5EF4-FFF2-40B4-BE49-F238E27FC236}">
                <a16:creationId xmlns:a16="http://schemas.microsoft.com/office/drawing/2014/main" id="{011A6415-2825-AA52-43C0-033EC4EC779B}"/>
              </a:ext>
            </a:extLst>
          </p:cNvPr>
          <p:cNvSpPr/>
          <p:nvPr/>
        </p:nvSpPr>
        <p:spPr>
          <a:xfrm>
            <a:off x="1763384" y="4516509"/>
            <a:ext cx="1281901"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Organisation</a:t>
            </a:r>
          </a:p>
        </p:txBody>
      </p:sp>
      <p:sp>
        <p:nvSpPr>
          <p:cNvPr id="25" name="TextBox 24">
            <a:extLst>
              <a:ext uri="{FF2B5EF4-FFF2-40B4-BE49-F238E27FC236}">
                <a16:creationId xmlns:a16="http://schemas.microsoft.com/office/drawing/2014/main" id="{66774B91-2820-48AB-FA38-7CE13C2DE8C5}"/>
              </a:ext>
            </a:extLst>
          </p:cNvPr>
          <p:cNvSpPr txBox="1"/>
          <p:nvPr/>
        </p:nvSpPr>
        <p:spPr>
          <a:xfrm>
            <a:off x="1448627" y="4270082"/>
            <a:ext cx="1649776" cy="253916"/>
          </a:xfrm>
          <a:prstGeom prst="rect">
            <a:avLst/>
          </a:prstGeom>
          <a:noFill/>
        </p:spPr>
        <p:txBody>
          <a:bodyPr wrap="none" rtlCol="0">
            <a:spAutoFit/>
          </a:bodyPr>
          <a:lstStyle/>
          <a:p>
            <a:pPr algn="ctr"/>
            <a:r>
              <a:rPr lang="en-AU" sz="1050" b="1" dirty="0">
                <a:solidFill>
                  <a:schemeClr val="bg1"/>
                </a:solidFill>
              </a:rPr>
              <a:t>Digital Facility Record</a:t>
            </a:r>
          </a:p>
        </p:txBody>
      </p:sp>
      <p:cxnSp>
        <p:nvCxnSpPr>
          <p:cNvPr id="26" name="Elbow Connector 25">
            <a:extLst>
              <a:ext uri="{FF2B5EF4-FFF2-40B4-BE49-F238E27FC236}">
                <a16:creationId xmlns:a16="http://schemas.microsoft.com/office/drawing/2014/main" id="{F4F47940-4055-D09F-F172-F966D6FCD259}"/>
              </a:ext>
            </a:extLst>
          </p:cNvPr>
          <p:cNvCxnSpPr>
            <a:cxnSpLocks/>
            <a:stCxn id="24" idx="1"/>
          </p:cNvCxnSpPr>
          <p:nvPr/>
        </p:nvCxnSpPr>
        <p:spPr>
          <a:xfrm rot="10800000" flipV="1">
            <a:off x="1654883" y="4597973"/>
            <a:ext cx="108503" cy="253811"/>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B3B075F5-7BEC-712E-CAD8-E0EC339546CC}"/>
              </a:ext>
            </a:extLst>
          </p:cNvPr>
          <p:cNvCxnSpPr>
            <a:cxnSpLocks/>
            <a:stCxn id="22" idx="1"/>
          </p:cNvCxnSpPr>
          <p:nvPr/>
        </p:nvCxnSpPr>
        <p:spPr>
          <a:xfrm rot="10800000">
            <a:off x="1618747" y="4930846"/>
            <a:ext cx="130177" cy="161936"/>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D468ECA3-109B-D9CD-CAA3-33FA98605DC8}"/>
              </a:ext>
            </a:extLst>
          </p:cNvPr>
          <p:cNvCxnSpPr>
            <a:cxnSpLocks/>
            <a:endCxn id="21" idx="1"/>
          </p:cNvCxnSpPr>
          <p:nvPr/>
        </p:nvCxnSpPr>
        <p:spPr>
          <a:xfrm rot="10800000">
            <a:off x="1530185" y="4860540"/>
            <a:ext cx="39004" cy="1035821"/>
          </a:xfrm>
          <a:prstGeom prst="bentConnector3">
            <a:avLst>
              <a:gd name="adj1" fmla="val 593513"/>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E79E2E8C-3AA6-6735-7284-55FE2E082B37}"/>
              </a:ext>
            </a:extLst>
          </p:cNvPr>
          <p:cNvCxnSpPr>
            <a:cxnSpLocks/>
            <a:stCxn id="138" idx="1"/>
          </p:cNvCxnSpPr>
          <p:nvPr/>
        </p:nvCxnSpPr>
        <p:spPr>
          <a:xfrm rot="10800000">
            <a:off x="1626781" y="5495168"/>
            <a:ext cx="130177" cy="123566"/>
          </a:xfrm>
          <a:prstGeom prst="bentConnector2">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Elbow Connector 53">
            <a:extLst>
              <a:ext uri="{FF2B5EF4-FFF2-40B4-BE49-F238E27FC236}">
                <a16:creationId xmlns:a16="http://schemas.microsoft.com/office/drawing/2014/main" id="{5B8901CF-9917-488B-88A2-5304AC76E60C}"/>
              </a:ext>
            </a:extLst>
          </p:cNvPr>
          <p:cNvCxnSpPr>
            <a:cxnSpLocks/>
            <a:stCxn id="141" idx="1"/>
            <a:endCxn id="21" idx="1"/>
          </p:cNvCxnSpPr>
          <p:nvPr/>
        </p:nvCxnSpPr>
        <p:spPr>
          <a:xfrm rot="10800000">
            <a:off x="1530185" y="4860540"/>
            <a:ext cx="23986" cy="480098"/>
          </a:xfrm>
          <a:prstGeom prst="bentConnector3">
            <a:avLst>
              <a:gd name="adj1" fmla="val 902528"/>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8" name="Rounded Rectangle 127">
            <a:extLst>
              <a:ext uri="{FF2B5EF4-FFF2-40B4-BE49-F238E27FC236}">
                <a16:creationId xmlns:a16="http://schemas.microsoft.com/office/drawing/2014/main" id="{3A95A94F-3F44-C990-C43E-500D13D7779E}"/>
              </a:ext>
            </a:extLst>
          </p:cNvPr>
          <p:cNvSpPr/>
          <p:nvPr/>
        </p:nvSpPr>
        <p:spPr>
          <a:xfrm>
            <a:off x="1613850" y="5842302"/>
            <a:ext cx="1280466" cy="162929"/>
          </a:xfrm>
          <a:prstGeom prst="roundRect">
            <a:avLst>
              <a:gd name="adj" fmla="val 7046"/>
            </a:avLst>
          </a:pr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AU" sz="800" b="1" i="1" dirty="0">
              <a:solidFill>
                <a:schemeClr val="accent6">
                  <a:lumMod val="50000"/>
                </a:schemeClr>
              </a:solidFill>
            </a:endParaRPr>
          </a:p>
        </p:txBody>
      </p:sp>
      <p:sp>
        <p:nvSpPr>
          <p:cNvPr id="129" name="Rounded Rectangle 128">
            <a:extLst>
              <a:ext uri="{FF2B5EF4-FFF2-40B4-BE49-F238E27FC236}">
                <a16:creationId xmlns:a16="http://schemas.microsoft.com/office/drawing/2014/main" id="{431E33F6-65CF-C9D9-830B-0DF1701A0AE6}"/>
              </a:ext>
            </a:extLst>
          </p:cNvPr>
          <p:cNvSpPr/>
          <p:nvPr/>
        </p:nvSpPr>
        <p:spPr>
          <a:xfrm>
            <a:off x="1569190" y="5812494"/>
            <a:ext cx="1280466" cy="162929"/>
          </a:xfrm>
          <a:prstGeom prst="roundRect">
            <a:avLst>
              <a:gd name="adj" fmla="val 7046"/>
            </a:avLst>
          </a:prstGeom>
          <a:solidFill>
            <a:schemeClr val="accent5">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b="1" dirty="0">
                <a:solidFill>
                  <a:schemeClr val="accent6">
                    <a:lumMod val="50000"/>
                  </a:schemeClr>
                </a:solidFill>
              </a:rPr>
              <a:t>Material  stocks</a:t>
            </a:r>
          </a:p>
        </p:txBody>
      </p:sp>
      <p:sp>
        <p:nvSpPr>
          <p:cNvPr id="131" name="Rounded Rectangle 130">
            <a:extLst>
              <a:ext uri="{FF2B5EF4-FFF2-40B4-BE49-F238E27FC236}">
                <a16:creationId xmlns:a16="http://schemas.microsoft.com/office/drawing/2014/main" id="{1570ED2A-E1D3-8034-03C4-3B249FFD55FD}"/>
              </a:ext>
            </a:extLst>
          </p:cNvPr>
          <p:cNvSpPr/>
          <p:nvPr/>
        </p:nvSpPr>
        <p:spPr>
          <a:xfrm>
            <a:off x="1791469" y="5598516"/>
            <a:ext cx="1280466"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AU" sz="800" i="1" dirty="0">
              <a:solidFill>
                <a:schemeClr val="accent6">
                  <a:lumMod val="50000"/>
                </a:schemeClr>
              </a:solidFill>
            </a:endParaRPr>
          </a:p>
        </p:txBody>
      </p:sp>
      <p:sp>
        <p:nvSpPr>
          <p:cNvPr id="138" name="Rounded Rectangle 137">
            <a:extLst>
              <a:ext uri="{FF2B5EF4-FFF2-40B4-BE49-F238E27FC236}">
                <a16:creationId xmlns:a16="http://schemas.microsoft.com/office/drawing/2014/main" id="{7A66086C-8FAA-1FE5-E358-448C1946B3BA}"/>
              </a:ext>
            </a:extLst>
          </p:cNvPr>
          <p:cNvSpPr/>
          <p:nvPr/>
        </p:nvSpPr>
        <p:spPr>
          <a:xfrm>
            <a:off x="1756957" y="5537268"/>
            <a:ext cx="1280466"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ESG Metric Value</a:t>
            </a:r>
          </a:p>
        </p:txBody>
      </p:sp>
      <p:sp>
        <p:nvSpPr>
          <p:cNvPr id="139" name="Rounded Rectangle 138">
            <a:extLst>
              <a:ext uri="{FF2B5EF4-FFF2-40B4-BE49-F238E27FC236}">
                <a16:creationId xmlns:a16="http://schemas.microsoft.com/office/drawing/2014/main" id="{EA6F0176-AC50-A377-7E06-BB249AFC3D28}"/>
              </a:ext>
            </a:extLst>
          </p:cNvPr>
          <p:cNvSpPr/>
          <p:nvPr/>
        </p:nvSpPr>
        <p:spPr>
          <a:xfrm>
            <a:off x="1583883" y="5315925"/>
            <a:ext cx="1497797"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AU" sz="800" i="1" dirty="0">
              <a:solidFill>
                <a:schemeClr val="accent6">
                  <a:lumMod val="50000"/>
                </a:schemeClr>
              </a:solidFill>
            </a:endParaRPr>
          </a:p>
        </p:txBody>
      </p:sp>
      <p:sp>
        <p:nvSpPr>
          <p:cNvPr id="141" name="Rounded Rectangle 140">
            <a:extLst>
              <a:ext uri="{FF2B5EF4-FFF2-40B4-BE49-F238E27FC236}">
                <a16:creationId xmlns:a16="http://schemas.microsoft.com/office/drawing/2014/main" id="{0F538E9D-E082-C4AB-F7D8-E3D9AD08EFF3}"/>
              </a:ext>
            </a:extLst>
          </p:cNvPr>
          <p:cNvSpPr/>
          <p:nvPr/>
        </p:nvSpPr>
        <p:spPr>
          <a:xfrm>
            <a:off x="1554170" y="5259173"/>
            <a:ext cx="1497797" cy="162929"/>
          </a:xfrm>
          <a:prstGeom prst="roundRect">
            <a:avLst>
              <a:gd name="adj" fmla="val 7046"/>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AU" sz="900" dirty="0">
                <a:solidFill>
                  <a:schemeClr val="accent6">
                    <a:lumMod val="50000"/>
                  </a:schemeClr>
                </a:solidFill>
              </a:rPr>
              <a:t>Sustainability Claims</a:t>
            </a:r>
          </a:p>
        </p:txBody>
      </p:sp>
      <p:pic>
        <p:nvPicPr>
          <p:cNvPr id="142" name="Picture 6" descr="Digital Certificate Icon Vector Images (over 8,400)">
            <a:extLst>
              <a:ext uri="{FF2B5EF4-FFF2-40B4-BE49-F238E27FC236}">
                <a16:creationId xmlns:a16="http://schemas.microsoft.com/office/drawing/2014/main" id="{5E751888-74AE-39E4-6CD9-D0A8F1265F4E}"/>
              </a:ext>
            </a:extLst>
          </p:cNvPr>
          <p:cNvPicPr>
            <a:picLocks noChangeAspect="1" noChangeArrowheads="1"/>
          </p:cNvPicPr>
          <p:nvPr/>
        </p:nvPicPr>
        <p:blipFill rotWithShape="1">
          <a:blip r:embed="rId3" cstate="print">
            <a:duotone>
              <a:schemeClr val="accent6">
                <a:shade val="45000"/>
                <a:satMod val="135000"/>
              </a:schemeClr>
              <a:prstClr val="white"/>
            </a:duotone>
            <a:extLst>
              <a:ext uri="{28A0092B-C50C-407E-A947-70E740481C1C}">
                <a14:useLocalDpi xmlns:a14="http://schemas.microsoft.com/office/drawing/2010/main"/>
              </a:ext>
            </a:extLst>
          </a:blip>
          <a:srcRect/>
          <a:stretch/>
        </p:blipFill>
        <p:spPr bwMode="auto">
          <a:xfrm>
            <a:off x="3086589" y="6039587"/>
            <a:ext cx="336884" cy="257566"/>
          </a:xfrm>
          <a:prstGeom prst="ellipse">
            <a:avLst/>
          </a:prstGeom>
          <a:noFill/>
          <a:extLst>
            <a:ext uri="{909E8E84-426E-40DD-AFC4-6F175D3DCCD1}">
              <a14:hiddenFill xmlns:a14="http://schemas.microsoft.com/office/drawing/2010/main">
                <a:solidFill>
                  <a:srgbClr val="FFFFFF"/>
                </a:solidFill>
              </a14:hiddenFill>
            </a:ext>
          </a:extLst>
        </p:spPr>
      </p:pic>
      <p:sp>
        <p:nvSpPr>
          <p:cNvPr id="144" name="Rounded Rectangle 143">
            <a:extLst>
              <a:ext uri="{FF2B5EF4-FFF2-40B4-BE49-F238E27FC236}">
                <a16:creationId xmlns:a16="http://schemas.microsoft.com/office/drawing/2014/main" id="{21607A31-7BF7-5185-CAC9-DC2D28A9E64D}"/>
              </a:ext>
            </a:extLst>
          </p:cNvPr>
          <p:cNvSpPr/>
          <p:nvPr/>
        </p:nvSpPr>
        <p:spPr>
          <a:xfrm>
            <a:off x="1426142" y="1308788"/>
            <a:ext cx="388177"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45" name="Rounded Rectangle 144">
            <a:extLst>
              <a:ext uri="{FF2B5EF4-FFF2-40B4-BE49-F238E27FC236}">
                <a16:creationId xmlns:a16="http://schemas.microsoft.com/office/drawing/2014/main" id="{424849F2-61F2-2B3C-1D2E-EA6B185C9F92}"/>
              </a:ext>
            </a:extLst>
          </p:cNvPr>
          <p:cNvSpPr/>
          <p:nvPr/>
        </p:nvSpPr>
        <p:spPr>
          <a:xfrm>
            <a:off x="3277730" y="1316226"/>
            <a:ext cx="388177"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47" name="Rounded Rectangle 146">
            <a:extLst>
              <a:ext uri="{FF2B5EF4-FFF2-40B4-BE49-F238E27FC236}">
                <a16:creationId xmlns:a16="http://schemas.microsoft.com/office/drawing/2014/main" id="{DD254FDD-5D73-4588-CFC2-1D94B093995E}"/>
              </a:ext>
            </a:extLst>
          </p:cNvPr>
          <p:cNvSpPr/>
          <p:nvPr/>
        </p:nvSpPr>
        <p:spPr>
          <a:xfrm>
            <a:off x="5087993" y="1324690"/>
            <a:ext cx="388177"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48" name="Rounded Rectangle 147">
            <a:extLst>
              <a:ext uri="{FF2B5EF4-FFF2-40B4-BE49-F238E27FC236}">
                <a16:creationId xmlns:a16="http://schemas.microsoft.com/office/drawing/2014/main" id="{6692FB98-624E-BBFE-6B0C-7E1C0DF9BD33}"/>
              </a:ext>
            </a:extLst>
          </p:cNvPr>
          <p:cNvSpPr/>
          <p:nvPr/>
        </p:nvSpPr>
        <p:spPr>
          <a:xfrm>
            <a:off x="6949845" y="1320845"/>
            <a:ext cx="388177"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49" name="Rounded Rectangle 148">
            <a:extLst>
              <a:ext uri="{FF2B5EF4-FFF2-40B4-BE49-F238E27FC236}">
                <a16:creationId xmlns:a16="http://schemas.microsoft.com/office/drawing/2014/main" id="{08EF8EAD-BB35-8169-FE36-92D77F508AC7}"/>
              </a:ext>
            </a:extLst>
          </p:cNvPr>
          <p:cNvSpPr/>
          <p:nvPr/>
        </p:nvSpPr>
        <p:spPr>
          <a:xfrm>
            <a:off x="8729154" y="1320845"/>
            <a:ext cx="388177"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50" name="Rounded Rectangle 149">
            <a:extLst>
              <a:ext uri="{FF2B5EF4-FFF2-40B4-BE49-F238E27FC236}">
                <a16:creationId xmlns:a16="http://schemas.microsoft.com/office/drawing/2014/main" id="{7AA9EA32-2969-F58B-547E-2A61B80E8AA3}"/>
              </a:ext>
            </a:extLst>
          </p:cNvPr>
          <p:cNvSpPr/>
          <p:nvPr/>
        </p:nvSpPr>
        <p:spPr>
          <a:xfrm>
            <a:off x="10625503" y="1316225"/>
            <a:ext cx="388177"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51" name="Rounded Rectangle 150">
            <a:extLst>
              <a:ext uri="{FF2B5EF4-FFF2-40B4-BE49-F238E27FC236}">
                <a16:creationId xmlns:a16="http://schemas.microsoft.com/office/drawing/2014/main" id="{570CD2FD-C072-1E4F-9451-0F74DD4E91D7}"/>
              </a:ext>
            </a:extLst>
          </p:cNvPr>
          <p:cNvSpPr/>
          <p:nvPr/>
        </p:nvSpPr>
        <p:spPr>
          <a:xfrm>
            <a:off x="5239959" y="1623420"/>
            <a:ext cx="388177"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52" name="Rounded Rectangle 151">
            <a:extLst>
              <a:ext uri="{FF2B5EF4-FFF2-40B4-BE49-F238E27FC236}">
                <a16:creationId xmlns:a16="http://schemas.microsoft.com/office/drawing/2014/main" id="{CEEE7612-A08D-C9E3-B03C-082449772A3B}"/>
              </a:ext>
            </a:extLst>
          </p:cNvPr>
          <p:cNvSpPr/>
          <p:nvPr/>
        </p:nvSpPr>
        <p:spPr>
          <a:xfrm>
            <a:off x="3410725" y="1623420"/>
            <a:ext cx="388177"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53" name="Rounded Rectangle 152">
            <a:extLst>
              <a:ext uri="{FF2B5EF4-FFF2-40B4-BE49-F238E27FC236}">
                <a16:creationId xmlns:a16="http://schemas.microsoft.com/office/drawing/2014/main" id="{70FE22D8-43A2-BB2B-A798-ADE4BAAFEE09}"/>
              </a:ext>
            </a:extLst>
          </p:cNvPr>
          <p:cNvSpPr/>
          <p:nvPr/>
        </p:nvSpPr>
        <p:spPr>
          <a:xfrm>
            <a:off x="1581492" y="1623420"/>
            <a:ext cx="388177"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54" name="Rounded Rectangle 153">
            <a:extLst>
              <a:ext uri="{FF2B5EF4-FFF2-40B4-BE49-F238E27FC236}">
                <a16:creationId xmlns:a16="http://schemas.microsoft.com/office/drawing/2014/main" id="{CB114B71-B041-269A-0BA9-FB07585EF1EF}"/>
              </a:ext>
            </a:extLst>
          </p:cNvPr>
          <p:cNvSpPr/>
          <p:nvPr/>
        </p:nvSpPr>
        <p:spPr>
          <a:xfrm>
            <a:off x="7096255" y="1623420"/>
            <a:ext cx="388177"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57" name="Rounded Rectangle 156">
            <a:extLst>
              <a:ext uri="{FF2B5EF4-FFF2-40B4-BE49-F238E27FC236}">
                <a16:creationId xmlns:a16="http://schemas.microsoft.com/office/drawing/2014/main" id="{7653A2B1-BCBE-1601-31E7-2E0DD5ACBACA}"/>
              </a:ext>
            </a:extLst>
          </p:cNvPr>
          <p:cNvSpPr/>
          <p:nvPr/>
        </p:nvSpPr>
        <p:spPr>
          <a:xfrm>
            <a:off x="8878272" y="1648312"/>
            <a:ext cx="388177"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58" name="Rounded Rectangle 157">
            <a:extLst>
              <a:ext uri="{FF2B5EF4-FFF2-40B4-BE49-F238E27FC236}">
                <a16:creationId xmlns:a16="http://schemas.microsoft.com/office/drawing/2014/main" id="{776FC86D-87FF-B9DB-9882-11DA65AF3654}"/>
              </a:ext>
            </a:extLst>
          </p:cNvPr>
          <p:cNvSpPr/>
          <p:nvPr/>
        </p:nvSpPr>
        <p:spPr>
          <a:xfrm>
            <a:off x="10776158" y="1645317"/>
            <a:ext cx="388177"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pic>
        <p:nvPicPr>
          <p:cNvPr id="159" name="Picture 2" descr="Smelting - Free construction and tools icons">
            <a:extLst>
              <a:ext uri="{FF2B5EF4-FFF2-40B4-BE49-F238E27FC236}">
                <a16:creationId xmlns:a16="http://schemas.microsoft.com/office/drawing/2014/main" id="{FD4F0A6D-AF40-EC1D-46F0-4B092E56EA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3307" y="2316391"/>
            <a:ext cx="475891" cy="503794"/>
          </a:xfrm>
          <a:prstGeom prst="rect">
            <a:avLst/>
          </a:prstGeom>
          <a:noFill/>
          <a:extLst>
            <a:ext uri="{909E8E84-426E-40DD-AFC4-6F175D3DCCD1}">
              <a14:hiddenFill xmlns:a14="http://schemas.microsoft.com/office/drawing/2010/main">
                <a:solidFill>
                  <a:srgbClr val="FFFFFF"/>
                </a:solidFill>
              </a14:hiddenFill>
            </a:ext>
          </a:extLst>
        </p:spPr>
      </p:pic>
      <p:pic>
        <p:nvPicPr>
          <p:cNvPr id="160" name="Picture 4" descr="Chemical Plant 2 icon - Free vector (SVG) - Free PNG - Copyicon.com">
            <a:extLst>
              <a:ext uri="{FF2B5EF4-FFF2-40B4-BE49-F238E27FC236}">
                <a16:creationId xmlns:a16="http://schemas.microsoft.com/office/drawing/2014/main" id="{DCF0E811-E8CB-BED1-1BC3-569EBD3E9A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2658" y="2281436"/>
            <a:ext cx="634628" cy="558977"/>
          </a:xfrm>
          <a:prstGeom prst="rect">
            <a:avLst/>
          </a:prstGeom>
          <a:noFill/>
          <a:extLst>
            <a:ext uri="{909E8E84-426E-40DD-AFC4-6F175D3DCCD1}">
              <a14:hiddenFill xmlns:a14="http://schemas.microsoft.com/office/drawing/2010/main">
                <a:solidFill>
                  <a:srgbClr val="FFFFFF"/>
                </a:solidFill>
              </a14:hiddenFill>
            </a:ext>
          </a:extLst>
        </p:spPr>
      </p:pic>
      <p:pic>
        <p:nvPicPr>
          <p:cNvPr id="161" name="Picture 160">
            <a:extLst>
              <a:ext uri="{FF2B5EF4-FFF2-40B4-BE49-F238E27FC236}">
                <a16:creationId xmlns:a16="http://schemas.microsoft.com/office/drawing/2014/main" id="{D239BA0F-116E-7AFA-21D3-AAB7A67DB53B}"/>
              </a:ext>
            </a:extLst>
          </p:cNvPr>
          <p:cNvPicPr>
            <a:picLocks noChangeAspect="1"/>
          </p:cNvPicPr>
          <p:nvPr/>
        </p:nvPicPr>
        <p:blipFill>
          <a:blip r:embed="rId6"/>
          <a:stretch>
            <a:fillRect/>
          </a:stretch>
        </p:blipFill>
        <p:spPr>
          <a:xfrm>
            <a:off x="1345640" y="2207461"/>
            <a:ext cx="819324" cy="721655"/>
          </a:xfrm>
          <a:prstGeom prst="rect">
            <a:avLst/>
          </a:prstGeom>
        </p:spPr>
      </p:pic>
      <p:sp>
        <p:nvSpPr>
          <p:cNvPr id="162" name="TextBox 161">
            <a:extLst>
              <a:ext uri="{FF2B5EF4-FFF2-40B4-BE49-F238E27FC236}">
                <a16:creationId xmlns:a16="http://schemas.microsoft.com/office/drawing/2014/main" id="{FA0731E2-5CD4-218A-0DA5-D21E5C5F687B}"/>
              </a:ext>
            </a:extLst>
          </p:cNvPr>
          <p:cNvSpPr txBox="1"/>
          <p:nvPr/>
        </p:nvSpPr>
        <p:spPr>
          <a:xfrm>
            <a:off x="1492688" y="1991811"/>
            <a:ext cx="542725"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Mine</a:t>
            </a:r>
          </a:p>
        </p:txBody>
      </p:sp>
      <p:sp>
        <p:nvSpPr>
          <p:cNvPr id="163" name="TextBox 162">
            <a:extLst>
              <a:ext uri="{FF2B5EF4-FFF2-40B4-BE49-F238E27FC236}">
                <a16:creationId xmlns:a16="http://schemas.microsoft.com/office/drawing/2014/main" id="{58C7719F-FE15-D2E4-7B3F-017E76120619}"/>
              </a:ext>
            </a:extLst>
          </p:cNvPr>
          <p:cNvSpPr txBox="1"/>
          <p:nvPr/>
        </p:nvSpPr>
        <p:spPr>
          <a:xfrm>
            <a:off x="8436191" y="1991811"/>
            <a:ext cx="1256816"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Manufacturer</a:t>
            </a:r>
          </a:p>
        </p:txBody>
      </p:sp>
      <p:sp>
        <p:nvSpPr>
          <p:cNvPr id="164" name="TextBox 163">
            <a:extLst>
              <a:ext uri="{FF2B5EF4-FFF2-40B4-BE49-F238E27FC236}">
                <a16:creationId xmlns:a16="http://schemas.microsoft.com/office/drawing/2014/main" id="{729BE4D5-D524-390B-3EC5-1A73A2228FB1}"/>
              </a:ext>
            </a:extLst>
          </p:cNvPr>
          <p:cNvSpPr txBox="1"/>
          <p:nvPr/>
        </p:nvSpPr>
        <p:spPr>
          <a:xfrm>
            <a:off x="5081160" y="1991811"/>
            <a:ext cx="684818"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Refiner</a:t>
            </a:r>
          </a:p>
        </p:txBody>
      </p:sp>
      <p:sp>
        <p:nvSpPr>
          <p:cNvPr id="165" name="TextBox 164">
            <a:extLst>
              <a:ext uri="{FF2B5EF4-FFF2-40B4-BE49-F238E27FC236}">
                <a16:creationId xmlns:a16="http://schemas.microsoft.com/office/drawing/2014/main" id="{8FE48CD8-DD6C-7D08-84C4-CB6B1CF010C4}"/>
              </a:ext>
            </a:extLst>
          </p:cNvPr>
          <p:cNvSpPr txBox="1"/>
          <p:nvPr/>
        </p:nvSpPr>
        <p:spPr>
          <a:xfrm>
            <a:off x="10333138" y="2010812"/>
            <a:ext cx="1285389"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OEM</a:t>
            </a:r>
          </a:p>
        </p:txBody>
      </p:sp>
      <p:pic>
        <p:nvPicPr>
          <p:cNvPr id="166" name="Picture 6" descr="Factory Icon in Material Design">
            <a:extLst>
              <a:ext uri="{FF2B5EF4-FFF2-40B4-BE49-F238E27FC236}">
                <a16:creationId xmlns:a16="http://schemas.microsoft.com/office/drawing/2014/main" id="{8C3D7E3E-2150-AC44-A5A5-392DF42403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25754" y="2273366"/>
            <a:ext cx="643791" cy="567047"/>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24" descr="Car manufacturing - Free industry icons">
            <a:extLst>
              <a:ext uri="{FF2B5EF4-FFF2-40B4-BE49-F238E27FC236}">
                <a16:creationId xmlns:a16="http://schemas.microsoft.com/office/drawing/2014/main" id="{95D6E400-DB47-522F-AA91-A8F461527A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86765" y="2316391"/>
            <a:ext cx="545773" cy="480713"/>
          </a:xfrm>
          <a:prstGeom prst="rect">
            <a:avLst/>
          </a:prstGeom>
          <a:noFill/>
          <a:extLst>
            <a:ext uri="{909E8E84-426E-40DD-AFC4-6F175D3DCCD1}">
              <a14:hiddenFill xmlns:a14="http://schemas.microsoft.com/office/drawing/2010/main">
                <a:solidFill>
                  <a:srgbClr val="FFFFFF"/>
                </a:solidFill>
              </a14:hiddenFill>
            </a:ext>
          </a:extLst>
        </p:spPr>
      </p:pic>
      <p:sp>
        <p:nvSpPr>
          <p:cNvPr id="168" name="TextBox 167">
            <a:extLst>
              <a:ext uri="{FF2B5EF4-FFF2-40B4-BE49-F238E27FC236}">
                <a16:creationId xmlns:a16="http://schemas.microsoft.com/office/drawing/2014/main" id="{1CF2A327-723D-AE3A-16CD-BF3C9BC8F919}"/>
              </a:ext>
            </a:extLst>
          </p:cNvPr>
          <p:cNvSpPr txBox="1"/>
          <p:nvPr/>
        </p:nvSpPr>
        <p:spPr>
          <a:xfrm>
            <a:off x="3255031" y="1991811"/>
            <a:ext cx="724504"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Smelter</a:t>
            </a:r>
          </a:p>
        </p:txBody>
      </p:sp>
      <p:sp>
        <p:nvSpPr>
          <p:cNvPr id="169" name="TextBox 168">
            <a:extLst>
              <a:ext uri="{FF2B5EF4-FFF2-40B4-BE49-F238E27FC236}">
                <a16:creationId xmlns:a16="http://schemas.microsoft.com/office/drawing/2014/main" id="{02092577-3E2D-5213-B0CF-912EFE11BC93}"/>
              </a:ext>
            </a:extLst>
          </p:cNvPr>
          <p:cNvSpPr txBox="1"/>
          <p:nvPr/>
        </p:nvSpPr>
        <p:spPr>
          <a:xfrm>
            <a:off x="6762249" y="1991811"/>
            <a:ext cx="1054483"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Fabricator</a:t>
            </a:r>
          </a:p>
        </p:txBody>
      </p:sp>
      <p:pic>
        <p:nvPicPr>
          <p:cNvPr id="170" name="Picture 6" descr="2,500+ Gravel Icon Stock Illustrations, Royalty-Free Vector Graphics &amp; Clip  Art - iStock">
            <a:extLst>
              <a:ext uri="{FF2B5EF4-FFF2-40B4-BE49-F238E27FC236}">
                <a16:creationId xmlns:a16="http://schemas.microsoft.com/office/drawing/2014/main" id="{2F71D185-1960-36F8-E06B-16D26869039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6114" t="15270" r="15934" b="16995"/>
          <a:stretch/>
        </p:blipFill>
        <p:spPr bwMode="auto">
          <a:xfrm>
            <a:off x="1587681" y="3252584"/>
            <a:ext cx="374516" cy="395209"/>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8" descr="Ingot - Free business icons">
            <a:extLst>
              <a:ext uri="{FF2B5EF4-FFF2-40B4-BE49-F238E27FC236}">
                <a16:creationId xmlns:a16="http://schemas.microsoft.com/office/drawing/2014/main" id="{D8317088-39C2-B209-4AEF-A2227C5058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55168" y="3266392"/>
            <a:ext cx="412112" cy="436275"/>
          </a:xfrm>
          <a:prstGeom prst="rect">
            <a:avLst/>
          </a:prstGeom>
          <a:noFill/>
          <a:extLst>
            <a:ext uri="{909E8E84-426E-40DD-AFC4-6F175D3DCCD1}">
              <a14:hiddenFill xmlns:a14="http://schemas.microsoft.com/office/drawing/2010/main">
                <a:solidFill>
                  <a:srgbClr val="FFFFFF"/>
                </a:solidFill>
              </a14:hiddenFill>
            </a:ext>
          </a:extLst>
        </p:spPr>
      </p:pic>
      <p:sp>
        <p:nvSpPr>
          <p:cNvPr id="172" name="TextBox 171">
            <a:extLst>
              <a:ext uri="{FF2B5EF4-FFF2-40B4-BE49-F238E27FC236}">
                <a16:creationId xmlns:a16="http://schemas.microsoft.com/office/drawing/2014/main" id="{255C7E42-A3AC-5DAB-58E6-C8B95271E5BA}"/>
              </a:ext>
            </a:extLst>
          </p:cNvPr>
          <p:cNvSpPr txBox="1"/>
          <p:nvPr/>
        </p:nvSpPr>
        <p:spPr>
          <a:xfrm>
            <a:off x="1338110" y="3034498"/>
            <a:ext cx="1033608"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Concentrate</a:t>
            </a:r>
          </a:p>
        </p:txBody>
      </p:sp>
      <p:sp>
        <p:nvSpPr>
          <p:cNvPr id="173" name="TextBox 172">
            <a:extLst>
              <a:ext uri="{FF2B5EF4-FFF2-40B4-BE49-F238E27FC236}">
                <a16:creationId xmlns:a16="http://schemas.microsoft.com/office/drawing/2014/main" id="{6C9D468C-1999-C424-FE2F-34BD5D2C783D}"/>
              </a:ext>
            </a:extLst>
          </p:cNvPr>
          <p:cNvSpPr txBox="1"/>
          <p:nvPr/>
        </p:nvSpPr>
        <p:spPr>
          <a:xfrm>
            <a:off x="8730741" y="3034498"/>
            <a:ext cx="770098"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Battery</a:t>
            </a:r>
          </a:p>
        </p:txBody>
      </p:sp>
      <p:sp>
        <p:nvSpPr>
          <p:cNvPr id="174" name="TextBox 173">
            <a:extLst>
              <a:ext uri="{FF2B5EF4-FFF2-40B4-BE49-F238E27FC236}">
                <a16:creationId xmlns:a16="http://schemas.microsoft.com/office/drawing/2014/main" id="{02DC17C0-0F8B-DE52-5DE4-6D5FAF7C1E55}"/>
              </a:ext>
            </a:extLst>
          </p:cNvPr>
          <p:cNvSpPr txBox="1"/>
          <p:nvPr/>
        </p:nvSpPr>
        <p:spPr>
          <a:xfrm>
            <a:off x="5069465" y="3034498"/>
            <a:ext cx="83286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Cathodes</a:t>
            </a:r>
          </a:p>
        </p:txBody>
      </p:sp>
      <p:sp>
        <p:nvSpPr>
          <p:cNvPr id="175" name="TextBox 174">
            <a:extLst>
              <a:ext uri="{FF2B5EF4-FFF2-40B4-BE49-F238E27FC236}">
                <a16:creationId xmlns:a16="http://schemas.microsoft.com/office/drawing/2014/main" id="{6B27D528-3A8C-C2DE-B59E-D8FB16526E3C}"/>
              </a:ext>
            </a:extLst>
          </p:cNvPr>
          <p:cNvSpPr txBox="1"/>
          <p:nvPr/>
        </p:nvSpPr>
        <p:spPr>
          <a:xfrm>
            <a:off x="10537594" y="2998945"/>
            <a:ext cx="892345"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EV</a:t>
            </a:r>
          </a:p>
        </p:txBody>
      </p:sp>
      <p:sp>
        <p:nvSpPr>
          <p:cNvPr id="176" name="TextBox 175">
            <a:extLst>
              <a:ext uri="{FF2B5EF4-FFF2-40B4-BE49-F238E27FC236}">
                <a16:creationId xmlns:a16="http://schemas.microsoft.com/office/drawing/2014/main" id="{E3B79941-321B-05A3-4046-8CB58CA0FB72}"/>
              </a:ext>
            </a:extLst>
          </p:cNvPr>
          <p:cNvSpPr txBox="1"/>
          <p:nvPr/>
        </p:nvSpPr>
        <p:spPr>
          <a:xfrm>
            <a:off x="3277730" y="3034498"/>
            <a:ext cx="625380"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Blister</a:t>
            </a:r>
          </a:p>
        </p:txBody>
      </p:sp>
      <p:sp>
        <p:nvSpPr>
          <p:cNvPr id="177" name="TextBox 176">
            <a:extLst>
              <a:ext uri="{FF2B5EF4-FFF2-40B4-BE49-F238E27FC236}">
                <a16:creationId xmlns:a16="http://schemas.microsoft.com/office/drawing/2014/main" id="{3281D63B-4964-E421-B4B3-CEC4900220A3}"/>
              </a:ext>
            </a:extLst>
          </p:cNvPr>
          <p:cNvSpPr txBox="1"/>
          <p:nvPr/>
        </p:nvSpPr>
        <p:spPr>
          <a:xfrm>
            <a:off x="7175015" y="3034498"/>
            <a:ext cx="438947"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Foil</a:t>
            </a:r>
          </a:p>
        </p:txBody>
      </p:sp>
      <p:pic>
        <p:nvPicPr>
          <p:cNvPr id="178" name="Picture 16" descr="Bullion, gold, ingot, meta, metal, nugget, precious icon - Download on  Iconfinder">
            <a:extLst>
              <a:ext uri="{FF2B5EF4-FFF2-40B4-BE49-F238E27FC236}">
                <a16:creationId xmlns:a16="http://schemas.microsoft.com/office/drawing/2014/main" id="{1E0A1EE4-C7C1-557F-22CA-278D88EC439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98016" y="3215620"/>
            <a:ext cx="475891" cy="503794"/>
          </a:xfrm>
          <a:prstGeom prst="rect">
            <a:avLst/>
          </a:prstGeom>
          <a:noFill/>
          <a:extLst>
            <a:ext uri="{909E8E84-426E-40DD-AFC4-6F175D3DCCD1}">
              <a14:hiddenFill xmlns:a14="http://schemas.microsoft.com/office/drawing/2010/main">
                <a:solidFill>
                  <a:srgbClr val="FFFFFF"/>
                </a:solidFill>
              </a14:hiddenFill>
            </a:ext>
          </a:extLst>
        </p:spPr>
      </p:pic>
      <p:pic>
        <p:nvPicPr>
          <p:cNvPr id="179" name="Picture 18" descr="Aluminum foil icon 37133487 Vector Art at Vecteezy">
            <a:extLst>
              <a:ext uri="{FF2B5EF4-FFF2-40B4-BE49-F238E27FC236}">
                <a16:creationId xmlns:a16="http://schemas.microsoft.com/office/drawing/2014/main" id="{E3607736-9860-0AB1-702E-C362D0C9263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68153" y="3319292"/>
            <a:ext cx="445809" cy="295910"/>
          </a:xfrm>
          <a:prstGeom prst="rect">
            <a:avLst/>
          </a:prstGeom>
          <a:noFill/>
          <a:extLst>
            <a:ext uri="{909E8E84-426E-40DD-AFC4-6F175D3DCCD1}">
              <a14:hiddenFill xmlns:a14="http://schemas.microsoft.com/office/drawing/2010/main">
                <a:solidFill>
                  <a:srgbClr val="FFFFFF"/>
                </a:solidFill>
              </a14:hiddenFill>
            </a:ext>
          </a:extLst>
        </p:spPr>
      </p:pic>
      <p:pic>
        <p:nvPicPr>
          <p:cNvPr id="180" name="Picture 20" descr="ev battery outline icon Stock Vector | Adobe Stock">
            <a:extLst>
              <a:ext uri="{FF2B5EF4-FFF2-40B4-BE49-F238E27FC236}">
                <a16:creationId xmlns:a16="http://schemas.microsoft.com/office/drawing/2014/main" id="{66AFC0FF-EA24-A339-A77D-3A2A3517318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5400000">
            <a:off x="8891158" y="3323328"/>
            <a:ext cx="412986" cy="390113"/>
          </a:xfrm>
          <a:prstGeom prst="rect">
            <a:avLst/>
          </a:prstGeom>
          <a:noFill/>
          <a:extLst>
            <a:ext uri="{909E8E84-426E-40DD-AFC4-6F175D3DCCD1}">
              <a14:hiddenFill xmlns:a14="http://schemas.microsoft.com/office/drawing/2010/main">
                <a:solidFill>
                  <a:srgbClr val="FFFFFF"/>
                </a:solidFill>
              </a14:hiddenFill>
            </a:ext>
          </a:extLst>
        </p:spPr>
      </p:pic>
      <p:pic>
        <p:nvPicPr>
          <p:cNvPr id="181" name="Picture 22" descr="Electric car - Free transport icons">
            <a:extLst>
              <a:ext uri="{FF2B5EF4-FFF2-40B4-BE49-F238E27FC236}">
                <a16:creationId xmlns:a16="http://schemas.microsoft.com/office/drawing/2014/main" id="{283A85D8-B47F-6C13-C601-F0F8D97253B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719128" y="3187855"/>
            <a:ext cx="513410" cy="543513"/>
          </a:xfrm>
          <a:prstGeom prst="rect">
            <a:avLst/>
          </a:prstGeom>
          <a:noFill/>
          <a:extLst>
            <a:ext uri="{909E8E84-426E-40DD-AFC4-6F175D3DCCD1}">
              <a14:hiddenFill xmlns:a14="http://schemas.microsoft.com/office/drawing/2010/main">
                <a:solidFill>
                  <a:srgbClr val="FFFFFF"/>
                </a:solidFill>
              </a14:hiddenFill>
            </a:ext>
          </a:extLst>
        </p:spPr>
      </p:pic>
      <p:sp>
        <p:nvSpPr>
          <p:cNvPr id="182" name="TextBox 181">
            <a:extLst>
              <a:ext uri="{FF2B5EF4-FFF2-40B4-BE49-F238E27FC236}">
                <a16:creationId xmlns:a16="http://schemas.microsoft.com/office/drawing/2014/main" id="{9B9CC3BB-3B5A-B67E-3B16-11935443C8C8}"/>
              </a:ext>
            </a:extLst>
          </p:cNvPr>
          <p:cNvSpPr txBox="1"/>
          <p:nvPr/>
        </p:nvSpPr>
        <p:spPr>
          <a:xfrm>
            <a:off x="1194524" y="3635958"/>
            <a:ext cx="1135468"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Consignment ID</a:t>
            </a:r>
          </a:p>
        </p:txBody>
      </p:sp>
      <p:sp>
        <p:nvSpPr>
          <p:cNvPr id="183" name="TextBox 182">
            <a:extLst>
              <a:ext uri="{FF2B5EF4-FFF2-40B4-BE49-F238E27FC236}">
                <a16:creationId xmlns:a16="http://schemas.microsoft.com/office/drawing/2014/main" id="{E5E0AD93-C66D-3FC4-DE3C-05CC422CD5B1}"/>
              </a:ext>
            </a:extLst>
          </p:cNvPr>
          <p:cNvSpPr txBox="1"/>
          <p:nvPr/>
        </p:nvSpPr>
        <p:spPr>
          <a:xfrm>
            <a:off x="3228402" y="3635958"/>
            <a:ext cx="68700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84" name="TextBox 183">
            <a:extLst>
              <a:ext uri="{FF2B5EF4-FFF2-40B4-BE49-F238E27FC236}">
                <a16:creationId xmlns:a16="http://schemas.microsoft.com/office/drawing/2014/main" id="{37CA104D-47ED-B28B-5446-27BCE854519F}"/>
              </a:ext>
            </a:extLst>
          </p:cNvPr>
          <p:cNvSpPr txBox="1"/>
          <p:nvPr/>
        </p:nvSpPr>
        <p:spPr>
          <a:xfrm>
            <a:off x="5081057" y="3635958"/>
            <a:ext cx="68700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85" name="TextBox 184">
            <a:extLst>
              <a:ext uri="{FF2B5EF4-FFF2-40B4-BE49-F238E27FC236}">
                <a16:creationId xmlns:a16="http://schemas.microsoft.com/office/drawing/2014/main" id="{98699F93-2B28-9751-8A4B-2BD03AD9C358}"/>
              </a:ext>
            </a:extLst>
          </p:cNvPr>
          <p:cNvSpPr txBox="1"/>
          <p:nvPr/>
        </p:nvSpPr>
        <p:spPr>
          <a:xfrm>
            <a:off x="7009011" y="3635958"/>
            <a:ext cx="68700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186" name="TextBox 185">
            <a:extLst>
              <a:ext uri="{FF2B5EF4-FFF2-40B4-BE49-F238E27FC236}">
                <a16:creationId xmlns:a16="http://schemas.microsoft.com/office/drawing/2014/main" id="{E48B8989-3CDF-551D-EBE9-C0BC9A8DE24F}"/>
              </a:ext>
            </a:extLst>
          </p:cNvPr>
          <p:cNvSpPr txBox="1"/>
          <p:nvPr/>
        </p:nvSpPr>
        <p:spPr>
          <a:xfrm>
            <a:off x="8725754" y="3635958"/>
            <a:ext cx="76303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Serial No.</a:t>
            </a:r>
          </a:p>
        </p:txBody>
      </p:sp>
      <p:sp>
        <p:nvSpPr>
          <p:cNvPr id="187" name="TextBox 186">
            <a:extLst>
              <a:ext uri="{FF2B5EF4-FFF2-40B4-BE49-F238E27FC236}">
                <a16:creationId xmlns:a16="http://schemas.microsoft.com/office/drawing/2014/main" id="{E0AA55FB-A947-6423-5EAE-38355902CEFD}"/>
              </a:ext>
            </a:extLst>
          </p:cNvPr>
          <p:cNvSpPr txBox="1"/>
          <p:nvPr/>
        </p:nvSpPr>
        <p:spPr>
          <a:xfrm>
            <a:off x="10662174" y="3647250"/>
            <a:ext cx="396863"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VIN</a:t>
            </a:r>
          </a:p>
        </p:txBody>
      </p:sp>
      <p:pic>
        <p:nvPicPr>
          <p:cNvPr id="188" name="Picture 28" descr="Vector Design Extrusion Icon Style | Premium Vector">
            <a:extLst>
              <a:ext uri="{FF2B5EF4-FFF2-40B4-BE49-F238E27FC236}">
                <a16:creationId xmlns:a16="http://schemas.microsoft.com/office/drawing/2014/main" id="{BB5B361D-9B7A-C84D-790F-EA953373A10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59709" y="2281436"/>
            <a:ext cx="566665" cy="599891"/>
          </a:xfrm>
          <a:prstGeom prst="rect">
            <a:avLst/>
          </a:prstGeom>
          <a:noFill/>
          <a:extLst>
            <a:ext uri="{909E8E84-426E-40DD-AFC4-6F175D3DCCD1}">
              <a14:hiddenFill xmlns:a14="http://schemas.microsoft.com/office/drawing/2010/main">
                <a:solidFill>
                  <a:srgbClr val="FFFFFF"/>
                </a:solidFill>
              </a14:hiddenFill>
            </a:ext>
          </a:extLst>
        </p:spPr>
      </p:pic>
      <p:sp>
        <p:nvSpPr>
          <p:cNvPr id="189" name="Rounded Rectangle 188">
            <a:extLst>
              <a:ext uri="{FF2B5EF4-FFF2-40B4-BE49-F238E27FC236}">
                <a16:creationId xmlns:a16="http://schemas.microsoft.com/office/drawing/2014/main" id="{CDF427D3-72D9-6FF2-269F-808D6309177C}"/>
              </a:ext>
            </a:extLst>
          </p:cNvPr>
          <p:cNvSpPr/>
          <p:nvPr/>
        </p:nvSpPr>
        <p:spPr>
          <a:xfrm>
            <a:off x="8869214" y="1503066"/>
            <a:ext cx="388177"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190" name="TextBox 189">
            <a:extLst>
              <a:ext uri="{FF2B5EF4-FFF2-40B4-BE49-F238E27FC236}">
                <a16:creationId xmlns:a16="http://schemas.microsoft.com/office/drawing/2014/main" id="{D65ED57F-61DC-FBB0-35B8-B04EC7949AEE}"/>
              </a:ext>
            </a:extLst>
          </p:cNvPr>
          <p:cNvSpPr txBox="1"/>
          <p:nvPr/>
        </p:nvSpPr>
        <p:spPr>
          <a:xfrm>
            <a:off x="1471903" y="2736164"/>
            <a:ext cx="56575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Site ID</a:t>
            </a:r>
          </a:p>
        </p:txBody>
      </p:sp>
      <p:sp>
        <p:nvSpPr>
          <p:cNvPr id="191" name="TextBox 190">
            <a:extLst>
              <a:ext uri="{FF2B5EF4-FFF2-40B4-BE49-F238E27FC236}">
                <a16:creationId xmlns:a16="http://schemas.microsoft.com/office/drawing/2014/main" id="{ABA0ADA5-85D8-C8AD-60CF-8A78C6470AD9}"/>
              </a:ext>
            </a:extLst>
          </p:cNvPr>
          <p:cNvSpPr txBox="1"/>
          <p:nvPr/>
        </p:nvSpPr>
        <p:spPr>
          <a:xfrm>
            <a:off x="3314949" y="2801637"/>
            <a:ext cx="58982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1029" name="TextBox 1028">
            <a:extLst>
              <a:ext uri="{FF2B5EF4-FFF2-40B4-BE49-F238E27FC236}">
                <a16:creationId xmlns:a16="http://schemas.microsoft.com/office/drawing/2014/main" id="{ACF34B28-F616-0CEF-7C07-BD922BBE1220}"/>
              </a:ext>
            </a:extLst>
          </p:cNvPr>
          <p:cNvSpPr txBox="1"/>
          <p:nvPr/>
        </p:nvSpPr>
        <p:spPr>
          <a:xfrm>
            <a:off x="8745288" y="2782724"/>
            <a:ext cx="598942"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OSH ID</a:t>
            </a:r>
          </a:p>
        </p:txBody>
      </p:sp>
      <p:sp>
        <p:nvSpPr>
          <p:cNvPr id="1033" name="TextBox 1032">
            <a:extLst>
              <a:ext uri="{FF2B5EF4-FFF2-40B4-BE49-F238E27FC236}">
                <a16:creationId xmlns:a16="http://schemas.microsoft.com/office/drawing/2014/main" id="{EB730D39-44F6-D32D-1DAF-33AE61F2D392}"/>
              </a:ext>
            </a:extLst>
          </p:cNvPr>
          <p:cNvSpPr txBox="1"/>
          <p:nvPr/>
        </p:nvSpPr>
        <p:spPr>
          <a:xfrm>
            <a:off x="5090827" y="2788074"/>
            <a:ext cx="58982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1034" name="TextBox 1033">
            <a:extLst>
              <a:ext uri="{FF2B5EF4-FFF2-40B4-BE49-F238E27FC236}">
                <a16:creationId xmlns:a16="http://schemas.microsoft.com/office/drawing/2014/main" id="{08E00504-B2CF-AB7C-9DBA-9875563ADD5D}"/>
              </a:ext>
            </a:extLst>
          </p:cNvPr>
          <p:cNvSpPr txBox="1"/>
          <p:nvPr/>
        </p:nvSpPr>
        <p:spPr>
          <a:xfrm>
            <a:off x="7111537" y="2820185"/>
            <a:ext cx="42269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GLN</a:t>
            </a:r>
          </a:p>
        </p:txBody>
      </p:sp>
      <p:sp>
        <p:nvSpPr>
          <p:cNvPr id="1039" name="TextBox 1038">
            <a:extLst>
              <a:ext uri="{FF2B5EF4-FFF2-40B4-BE49-F238E27FC236}">
                <a16:creationId xmlns:a16="http://schemas.microsoft.com/office/drawing/2014/main" id="{7CB7F03E-98F0-C04A-8CE1-D2D224F68674}"/>
              </a:ext>
            </a:extLst>
          </p:cNvPr>
          <p:cNvSpPr txBox="1"/>
          <p:nvPr/>
        </p:nvSpPr>
        <p:spPr>
          <a:xfrm>
            <a:off x="10465714" y="2812788"/>
            <a:ext cx="93532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Company ID</a:t>
            </a:r>
          </a:p>
        </p:txBody>
      </p:sp>
      <p:sp>
        <p:nvSpPr>
          <p:cNvPr id="1049" name="Rounded Rectangle 1048">
            <a:extLst>
              <a:ext uri="{FF2B5EF4-FFF2-40B4-BE49-F238E27FC236}">
                <a16:creationId xmlns:a16="http://schemas.microsoft.com/office/drawing/2014/main" id="{3ED4C266-AD7F-15E5-F731-472D804142E8}"/>
              </a:ext>
            </a:extLst>
          </p:cNvPr>
          <p:cNvSpPr/>
          <p:nvPr/>
        </p:nvSpPr>
        <p:spPr>
          <a:xfrm>
            <a:off x="10776330" y="1503066"/>
            <a:ext cx="388177"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1050" name="Rounded Rectangle 1049">
            <a:extLst>
              <a:ext uri="{FF2B5EF4-FFF2-40B4-BE49-F238E27FC236}">
                <a16:creationId xmlns:a16="http://schemas.microsoft.com/office/drawing/2014/main" id="{EE45FDE7-D0B6-2D34-51CE-3F554E8FD86D}"/>
              </a:ext>
            </a:extLst>
          </p:cNvPr>
          <p:cNvSpPr/>
          <p:nvPr/>
        </p:nvSpPr>
        <p:spPr>
          <a:xfrm>
            <a:off x="7089905" y="1503066"/>
            <a:ext cx="388177"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1051" name="Rounded Rectangle 1050">
            <a:extLst>
              <a:ext uri="{FF2B5EF4-FFF2-40B4-BE49-F238E27FC236}">
                <a16:creationId xmlns:a16="http://schemas.microsoft.com/office/drawing/2014/main" id="{04DD8507-F37B-CA60-E311-AC42487FAE05}"/>
              </a:ext>
            </a:extLst>
          </p:cNvPr>
          <p:cNvSpPr/>
          <p:nvPr/>
        </p:nvSpPr>
        <p:spPr>
          <a:xfrm>
            <a:off x="5228053" y="1503066"/>
            <a:ext cx="388177"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1053" name="Rounded Rectangle 1052">
            <a:extLst>
              <a:ext uri="{FF2B5EF4-FFF2-40B4-BE49-F238E27FC236}">
                <a16:creationId xmlns:a16="http://schemas.microsoft.com/office/drawing/2014/main" id="{60164EDB-92B6-BB22-A84B-3AB651B27DFA}"/>
              </a:ext>
            </a:extLst>
          </p:cNvPr>
          <p:cNvSpPr/>
          <p:nvPr/>
        </p:nvSpPr>
        <p:spPr>
          <a:xfrm>
            <a:off x="3417790" y="1503066"/>
            <a:ext cx="388177"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1054" name="Rounded Rectangle 1053">
            <a:extLst>
              <a:ext uri="{FF2B5EF4-FFF2-40B4-BE49-F238E27FC236}">
                <a16:creationId xmlns:a16="http://schemas.microsoft.com/office/drawing/2014/main" id="{E92B4BE4-E5FC-5460-386D-93D6BBCEFC78}"/>
              </a:ext>
            </a:extLst>
          </p:cNvPr>
          <p:cNvSpPr/>
          <p:nvPr/>
        </p:nvSpPr>
        <p:spPr>
          <a:xfrm>
            <a:off x="1576573" y="1503066"/>
            <a:ext cx="388177"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cxnSp>
        <p:nvCxnSpPr>
          <p:cNvPr id="1055" name="Straight Arrow Connector 50">
            <a:extLst>
              <a:ext uri="{FF2B5EF4-FFF2-40B4-BE49-F238E27FC236}">
                <a16:creationId xmlns:a16="http://schemas.microsoft.com/office/drawing/2014/main" id="{280AF074-3863-7ED1-66A4-04D745FA13C6}"/>
              </a:ext>
            </a:extLst>
          </p:cNvPr>
          <p:cNvCxnSpPr>
            <a:stCxn id="167" idx="1"/>
            <a:endCxn id="189" idx="3"/>
          </p:cNvCxnSpPr>
          <p:nvPr/>
        </p:nvCxnSpPr>
        <p:spPr>
          <a:xfrm rot="10800000">
            <a:off x="9257391" y="1626740"/>
            <a:ext cx="1429374" cy="93000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7" name="Straight Arrow Connector 50">
            <a:extLst>
              <a:ext uri="{FF2B5EF4-FFF2-40B4-BE49-F238E27FC236}">
                <a16:creationId xmlns:a16="http://schemas.microsoft.com/office/drawing/2014/main" id="{6F06BC1B-1036-FB85-7B6E-52C5C14A2A76}"/>
              </a:ext>
            </a:extLst>
          </p:cNvPr>
          <p:cNvCxnSpPr>
            <a:cxnSpLocks/>
            <a:stCxn id="166" idx="1"/>
            <a:endCxn id="1050" idx="3"/>
          </p:cNvCxnSpPr>
          <p:nvPr/>
        </p:nvCxnSpPr>
        <p:spPr>
          <a:xfrm rot="10800000">
            <a:off x="7478082" y="1626740"/>
            <a:ext cx="1247672" cy="930150"/>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8" name="Straight Arrow Connector 50">
            <a:extLst>
              <a:ext uri="{FF2B5EF4-FFF2-40B4-BE49-F238E27FC236}">
                <a16:creationId xmlns:a16="http://schemas.microsoft.com/office/drawing/2014/main" id="{B17F9426-1628-6379-BA7B-370DAD51472B}"/>
              </a:ext>
            </a:extLst>
          </p:cNvPr>
          <p:cNvCxnSpPr>
            <a:cxnSpLocks/>
            <a:stCxn id="188" idx="1"/>
            <a:endCxn id="1051" idx="3"/>
          </p:cNvCxnSpPr>
          <p:nvPr/>
        </p:nvCxnSpPr>
        <p:spPr>
          <a:xfrm rot="10800000">
            <a:off x="5616231" y="1626740"/>
            <a:ext cx="1443479" cy="954642"/>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0" name="Straight Arrow Connector 50">
            <a:extLst>
              <a:ext uri="{FF2B5EF4-FFF2-40B4-BE49-F238E27FC236}">
                <a16:creationId xmlns:a16="http://schemas.microsoft.com/office/drawing/2014/main" id="{C8348A9B-7870-B3BB-5A23-76580AF2E4E8}"/>
              </a:ext>
            </a:extLst>
          </p:cNvPr>
          <p:cNvCxnSpPr>
            <a:cxnSpLocks/>
            <a:stCxn id="1049" idx="2"/>
            <a:endCxn id="165" idx="0"/>
          </p:cNvCxnSpPr>
          <p:nvPr/>
        </p:nvCxnSpPr>
        <p:spPr>
          <a:xfrm>
            <a:off x="10970419" y="1750414"/>
            <a:ext cx="5414" cy="260398"/>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1" name="Straight Arrow Connector 50">
            <a:extLst>
              <a:ext uri="{FF2B5EF4-FFF2-40B4-BE49-F238E27FC236}">
                <a16:creationId xmlns:a16="http://schemas.microsoft.com/office/drawing/2014/main" id="{115DEC32-2C82-7946-4D49-0230D660AFDF}"/>
              </a:ext>
            </a:extLst>
          </p:cNvPr>
          <p:cNvCxnSpPr>
            <a:cxnSpLocks/>
            <a:stCxn id="189" idx="2"/>
            <a:endCxn id="163" idx="0"/>
          </p:cNvCxnSpPr>
          <p:nvPr/>
        </p:nvCxnSpPr>
        <p:spPr>
          <a:xfrm>
            <a:off x="9063303" y="1750414"/>
            <a:ext cx="1297"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5" name="Straight Arrow Connector 50">
            <a:extLst>
              <a:ext uri="{FF2B5EF4-FFF2-40B4-BE49-F238E27FC236}">
                <a16:creationId xmlns:a16="http://schemas.microsoft.com/office/drawing/2014/main" id="{E5CAA5B5-5AB5-BC5D-7ACB-98D1068BD14C}"/>
              </a:ext>
            </a:extLst>
          </p:cNvPr>
          <p:cNvCxnSpPr>
            <a:cxnSpLocks/>
            <a:stCxn id="1050" idx="2"/>
            <a:endCxn id="169" idx="0"/>
          </p:cNvCxnSpPr>
          <p:nvPr/>
        </p:nvCxnSpPr>
        <p:spPr>
          <a:xfrm>
            <a:off x="7283994" y="1750414"/>
            <a:ext cx="5497"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6" name="Straight Arrow Connector 50">
            <a:extLst>
              <a:ext uri="{FF2B5EF4-FFF2-40B4-BE49-F238E27FC236}">
                <a16:creationId xmlns:a16="http://schemas.microsoft.com/office/drawing/2014/main" id="{DCA3D6C4-94CE-3BB1-2CBE-9DD24B277C36}"/>
              </a:ext>
            </a:extLst>
          </p:cNvPr>
          <p:cNvCxnSpPr>
            <a:cxnSpLocks/>
            <a:stCxn id="1051" idx="2"/>
            <a:endCxn id="164" idx="0"/>
          </p:cNvCxnSpPr>
          <p:nvPr/>
        </p:nvCxnSpPr>
        <p:spPr>
          <a:xfrm>
            <a:off x="5422141" y="1750414"/>
            <a:ext cx="1427"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71" name="Straight Arrow Connector 50">
            <a:extLst>
              <a:ext uri="{FF2B5EF4-FFF2-40B4-BE49-F238E27FC236}">
                <a16:creationId xmlns:a16="http://schemas.microsoft.com/office/drawing/2014/main" id="{B9E1E5FD-50AA-2F33-701E-6315563F556A}"/>
              </a:ext>
            </a:extLst>
          </p:cNvPr>
          <p:cNvCxnSpPr>
            <a:cxnSpLocks/>
            <a:stCxn id="1053" idx="2"/>
            <a:endCxn id="168" idx="0"/>
          </p:cNvCxnSpPr>
          <p:nvPr/>
        </p:nvCxnSpPr>
        <p:spPr>
          <a:xfrm>
            <a:off x="3611879" y="1750414"/>
            <a:ext cx="5404"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73" name="Straight Arrow Connector 50">
            <a:extLst>
              <a:ext uri="{FF2B5EF4-FFF2-40B4-BE49-F238E27FC236}">
                <a16:creationId xmlns:a16="http://schemas.microsoft.com/office/drawing/2014/main" id="{C922CFFC-82DB-C664-133D-D8D17B848C97}"/>
              </a:ext>
            </a:extLst>
          </p:cNvPr>
          <p:cNvCxnSpPr>
            <a:cxnSpLocks/>
            <a:stCxn id="1054" idx="2"/>
            <a:endCxn id="162" idx="0"/>
          </p:cNvCxnSpPr>
          <p:nvPr/>
        </p:nvCxnSpPr>
        <p:spPr>
          <a:xfrm flipH="1">
            <a:off x="1764051" y="1750414"/>
            <a:ext cx="661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76" name="Straight Arrow Connector 50">
            <a:extLst>
              <a:ext uri="{FF2B5EF4-FFF2-40B4-BE49-F238E27FC236}">
                <a16:creationId xmlns:a16="http://schemas.microsoft.com/office/drawing/2014/main" id="{89410BCD-2566-F1DE-6C56-6C48337A33F0}"/>
              </a:ext>
            </a:extLst>
          </p:cNvPr>
          <p:cNvCxnSpPr>
            <a:cxnSpLocks/>
            <a:stCxn id="160" idx="1"/>
            <a:endCxn id="1053" idx="3"/>
          </p:cNvCxnSpPr>
          <p:nvPr/>
        </p:nvCxnSpPr>
        <p:spPr>
          <a:xfrm rot="10800000">
            <a:off x="3805967" y="1626741"/>
            <a:ext cx="1276691" cy="93418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83" name="Straight Arrow Connector 50">
            <a:extLst>
              <a:ext uri="{FF2B5EF4-FFF2-40B4-BE49-F238E27FC236}">
                <a16:creationId xmlns:a16="http://schemas.microsoft.com/office/drawing/2014/main" id="{1A3032DE-CE84-4E27-05F0-C678B19B25B7}"/>
              </a:ext>
            </a:extLst>
          </p:cNvPr>
          <p:cNvCxnSpPr>
            <a:cxnSpLocks/>
            <a:stCxn id="159" idx="1"/>
            <a:endCxn id="1054" idx="3"/>
          </p:cNvCxnSpPr>
          <p:nvPr/>
        </p:nvCxnSpPr>
        <p:spPr>
          <a:xfrm rot="10800000">
            <a:off x="1964751" y="1626740"/>
            <a:ext cx="1398556" cy="94154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89" name="Rectangle 1088">
            <a:extLst>
              <a:ext uri="{FF2B5EF4-FFF2-40B4-BE49-F238E27FC236}">
                <a16:creationId xmlns:a16="http://schemas.microsoft.com/office/drawing/2014/main" id="{0E02A6C6-FF8E-DBA8-340D-89539E122A1A}"/>
              </a:ext>
            </a:extLst>
          </p:cNvPr>
          <p:cNvSpPr/>
          <p:nvPr/>
        </p:nvSpPr>
        <p:spPr>
          <a:xfrm>
            <a:off x="4874538" y="5105284"/>
            <a:ext cx="1126820" cy="307777"/>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dirty="0">
                <a:solidFill>
                  <a:schemeClr val="tx1"/>
                </a:solidFill>
              </a:rPr>
              <a:t>Material</a:t>
            </a:r>
          </a:p>
        </p:txBody>
      </p:sp>
      <p:sp>
        <p:nvSpPr>
          <p:cNvPr id="1090" name="Rectangle 1089">
            <a:extLst>
              <a:ext uri="{FF2B5EF4-FFF2-40B4-BE49-F238E27FC236}">
                <a16:creationId xmlns:a16="http://schemas.microsoft.com/office/drawing/2014/main" id="{8DEFEA30-156B-750E-013F-2DC26C83247E}"/>
              </a:ext>
            </a:extLst>
          </p:cNvPr>
          <p:cNvSpPr/>
          <p:nvPr/>
        </p:nvSpPr>
        <p:spPr>
          <a:xfrm>
            <a:off x="4595646" y="5611034"/>
            <a:ext cx="878703" cy="307777"/>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dirty="0">
                <a:solidFill>
                  <a:schemeClr val="tx1"/>
                </a:solidFill>
              </a:rPr>
              <a:t>Quantity</a:t>
            </a:r>
          </a:p>
        </p:txBody>
      </p:sp>
      <p:sp>
        <p:nvSpPr>
          <p:cNvPr id="1091" name="Rectangle 1090">
            <a:extLst>
              <a:ext uri="{FF2B5EF4-FFF2-40B4-BE49-F238E27FC236}">
                <a16:creationId xmlns:a16="http://schemas.microsoft.com/office/drawing/2014/main" id="{569BDC58-3CE6-E4B0-D589-4B7309A5BC79}"/>
              </a:ext>
            </a:extLst>
          </p:cNvPr>
          <p:cNvSpPr/>
          <p:nvPr/>
        </p:nvSpPr>
        <p:spPr>
          <a:xfrm>
            <a:off x="4101317" y="4678946"/>
            <a:ext cx="878703" cy="307777"/>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dirty="0">
                <a:solidFill>
                  <a:schemeClr val="tx1"/>
                </a:solidFill>
              </a:rPr>
              <a:t>Date</a:t>
            </a:r>
          </a:p>
        </p:txBody>
      </p:sp>
      <p:cxnSp>
        <p:nvCxnSpPr>
          <p:cNvPr id="1095" name="Straight Arrow Connector 50">
            <a:extLst>
              <a:ext uri="{FF2B5EF4-FFF2-40B4-BE49-F238E27FC236}">
                <a16:creationId xmlns:a16="http://schemas.microsoft.com/office/drawing/2014/main" id="{EA1E8D0F-A3A3-3844-7CEE-21DEBD914268}"/>
              </a:ext>
            </a:extLst>
          </p:cNvPr>
          <p:cNvCxnSpPr>
            <a:cxnSpLocks/>
            <a:stCxn id="1089" idx="1"/>
            <a:endCxn id="1091" idx="2"/>
          </p:cNvCxnSpPr>
          <p:nvPr/>
        </p:nvCxnSpPr>
        <p:spPr>
          <a:xfrm rot="10800000">
            <a:off x="4540670" y="4986723"/>
            <a:ext cx="333869" cy="272450"/>
          </a:xfrm>
          <a:prstGeom prst="bentConnector2">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96" name="Straight Arrow Connector 50">
            <a:extLst>
              <a:ext uri="{FF2B5EF4-FFF2-40B4-BE49-F238E27FC236}">
                <a16:creationId xmlns:a16="http://schemas.microsoft.com/office/drawing/2014/main" id="{139A3586-339A-9107-9AD3-5E7FC80C467F}"/>
              </a:ext>
            </a:extLst>
          </p:cNvPr>
          <p:cNvCxnSpPr>
            <a:cxnSpLocks/>
          </p:cNvCxnSpPr>
          <p:nvPr/>
        </p:nvCxnSpPr>
        <p:spPr>
          <a:xfrm flipV="1">
            <a:off x="5034998" y="5407548"/>
            <a:ext cx="0" cy="193547"/>
          </a:xfrm>
          <a:prstGeom prst="straightConnector1">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97" name="Straight Arrow Connector 50">
            <a:extLst>
              <a:ext uri="{FF2B5EF4-FFF2-40B4-BE49-F238E27FC236}">
                <a16:creationId xmlns:a16="http://schemas.microsoft.com/office/drawing/2014/main" id="{7D96BF57-E6B8-E28A-CAFA-7D4C33EE4B33}"/>
              </a:ext>
            </a:extLst>
          </p:cNvPr>
          <p:cNvCxnSpPr>
            <a:cxnSpLocks/>
          </p:cNvCxnSpPr>
          <p:nvPr/>
        </p:nvCxnSpPr>
        <p:spPr>
          <a:xfrm flipV="1">
            <a:off x="5818186" y="5407548"/>
            <a:ext cx="0" cy="279278"/>
          </a:xfrm>
          <a:prstGeom prst="straightConnector1">
            <a:avLst/>
          </a:prstGeom>
          <a:ln>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098" name="Rounded Rectangular Callout 1097">
            <a:extLst>
              <a:ext uri="{FF2B5EF4-FFF2-40B4-BE49-F238E27FC236}">
                <a16:creationId xmlns:a16="http://schemas.microsoft.com/office/drawing/2014/main" id="{9C4A7664-B29B-EF7F-9F97-2A6451402426}"/>
              </a:ext>
            </a:extLst>
          </p:cNvPr>
          <p:cNvSpPr/>
          <p:nvPr/>
        </p:nvSpPr>
        <p:spPr>
          <a:xfrm>
            <a:off x="3848643" y="4523998"/>
            <a:ext cx="3099387" cy="1530608"/>
          </a:xfrm>
          <a:prstGeom prst="wedgeRoundRectCallout">
            <a:avLst>
              <a:gd name="adj1" fmla="val -79019"/>
              <a:gd name="adj2" fmla="val 43378"/>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99" name="TextBox 1098">
            <a:extLst>
              <a:ext uri="{FF2B5EF4-FFF2-40B4-BE49-F238E27FC236}">
                <a16:creationId xmlns:a16="http://schemas.microsoft.com/office/drawing/2014/main" id="{6E7B15E0-8387-F4A7-6ED8-C590B2BB6EDD}"/>
              </a:ext>
            </a:extLst>
          </p:cNvPr>
          <p:cNvSpPr txBox="1"/>
          <p:nvPr/>
        </p:nvSpPr>
        <p:spPr>
          <a:xfrm>
            <a:off x="6057778" y="4552762"/>
            <a:ext cx="83644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400" dirty="0">
                <a:solidFill>
                  <a:prstClr val="black"/>
                </a:solidFill>
                <a:latin typeface="Calibri" panose="020F0502020204030204"/>
              </a:rPr>
              <a:t>CoC data</a:t>
            </a:r>
            <a:endPar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2" name="Rectangle 1091">
            <a:extLst>
              <a:ext uri="{FF2B5EF4-FFF2-40B4-BE49-F238E27FC236}">
                <a16:creationId xmlns:a16="http://schemas.microsoft.com/office/drawing/2014/main" id="{0100D69F-CD3C-2558-8BF2-F069BEADA299}"/>
              </a:ext>
            </a:extLst>
          </p:cNvPr>
          <p:cNvSpPr/>
          <p:nvPr/>
        </p:nvSpPr>
        <p:spPr>
          <a:xfrm>
            <a:off x="5680344" y="5628527"/>
            <a:ext cx="878703" cy="307777"/>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dirty="0">
                <a:solidFill>
                  <a:schemeClr val="tx1"/>
                </a:solidFill>
              </a:rPr>
              <a:t>Metric</a:t>
            </a:r>
          </a:p>
        </p:txBody>
      </p:sp>
    </p:spTree>
    <p:extLst>
      <p:ext uri="{BB962C8B-B14F-4D97-AF65-F5344CB8AC3E}">
        <p14:creationId xmlns:p14="http://schemas.microsoft.com/office/powerpoint/2010/main" val="1662189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7E503-8CEB-7DE8-FF64-61DD988E6777}"/>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9569544-28F3-D60C-8AD7-2C1B0389CE3E}"/>
              </a:ext>
            </a:extLst>
          </p:cNvPr>
          <p:cNvSpPr/>
          <p:nvPr/>
        </p:nvSpPr>
        <p:spPr>
          <a:xfrm>
            <a:off x="2512030" y="3296441"/>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3" name="Rounded Rectangle 2">
            <a:extLst>
              <a:ext uri="{FF2B5EF4-FFF2-40B4-BE49-F238E27FC236}">
                <a16:creationId xmlns:a16="http://schemas.microsoft.com/office/drawing/2014/main" id="{B84616E3-5380-D79F-CB5C-4B70EFE3243E}"/>
              </a:ext>
            </a:extLst>
          </p:cNvPr>
          <p:cNvSpPr/>
          <p:nvPr/>
        </p:nvSpPr>
        <p:spPr>
          <a:xfrm>
            <a:off x="4299682" y="3292728"/>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4" name="Rounded Rectangle 3">
            <a:extLst>
              <a:ext uri="{FF2B5EF4-FFF2-40B4-BE49-F238E27FC236}">
                <a16:creationId xmlns:a16="http://schemas.microsoft.com/office/drawing/2014/main" id="{906A1CA4-64BD-76A3-D106-858012D195CA}"/>
              </a:ext>
            </a:extLst>
          </p:cNvPr>
          <p:cNvSpPr/>
          <p:nvPr/>
        </p:nvSpPr>
        <p:spPr>
          <a:xfrm>
            <a:off x="6157700" y="331234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5" name="Rounded Rectangle 4">
            <a:extLst>
              <a:ext uri="{FF2B5EF4-FFF2-40B4-BE49-F238E27FC236}">
                <a16:creationId xmlns:a16="http://schemas.microsoft.com/office/drawing/2014/main" id="{B436FF0D-9F68-E421-F1F9-0B6F0EEF4B20}"/>
              </a:ext>
            </a:extLst>
          </p:cNvPr>
          <p:cNvSpPr/>
          <p:nvPr/>
        </p:nvSpPr>
        <p:spPr>
          <a:xfrm>
            <a:off x="8022477" y="3330800"/>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6" name="Rounded Rectangle 5">
            <a:extLst>
              <a:ext uri="{FF2B5EF4-FFF2-40B4-BE49-F238E27FC236}">
                <a16:creationId xmlns:a16="http://schemas.microsoft.com/office/drawing/2014/main" id="{C5C3968F-F8E5-60CF-A5FD-BA91C6EE3743}"/>
              </a:ext>
            </a:extLst>
          </p:cNvPr>
          <p:cNvSpPr/>
          <p:nvPr/>
        </p:nvSpPr>
        <p:spPr>
          <a:xfrm>
            <a:off x="9816226" y="3330800"/>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7" name="Rounded Rectangle 6">
            <a:extLst>
              <a:ext uri="{FF2B5EF4-FFF2-40B4-BE49-F238E27FC236}">
                <a16:creationId xmlns:a16="http://schemas.microsoft.com/office/drawing/2014/main" id="{8A88F949-BDB1-5DB2-0E98-2CCF67CF4FD7}"/>
              </a:ext>
            </a:extLst>
          </p:cNvPr>
          <p:cNvSpPr/>
          <p:nvPr/>
        </p:nvSpPr>
        <p:spPr>
          <a:xfrm>
            <a:off x="1484534" y="1135865"/>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8" name="Rounded Rectangle 7">
            <a:extLst>
              <a:ext uri="{FF2B5EF4-FFF2-40B4-BE49-F238E27FC236}">
                <a16:creationId xmlns:a16="http://schemas.microsoft.com/office/drawing/2014/main" id="{118D2325-9004-4B51-10E2-CFBBC8B6BE4A}"/>
              </a:ext>
            </a:extLst>
          </p:cNvPr>
          <p:cNvSpPr/>
          <p:nvPr/>
        </p:nvSpPr>
        <p:spPr>
          <a:xfrm>
            <a:off x="3327941" y="114330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9" name="Rounded Rectangle 8">
            <a:extLst>
              <a:ext uri="{FF2B5EF4-FFF2-40B4-BE49-F238E27FC236}">
                <a16:creationId xmlns:a16="http://schemas.microsoft.com/office/drawing/2014/main" id="{623F1063-51A5-1121-F138-EF012FDB03D9}"/>
              </a:ext>
            </a:extLst>
          </p:cNvPr>
          <p:cNvSpPr/>
          <p:nvPr/>
        </p:nvSpPr>
        <p:spPr>
          <a:xfrm>
            <a:off x="5130204" y="1151767"/>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 name="Rounded Rectangle 9">
            <a:extLst>
              <a:ext uri="{FF2B5EF4-FFF2-40B4-BE49-F238E27FC236}">
                <a16:creationId xmlns:a16="http://schemas.microsoft.com/office/drawing/2014/main" id="{2231646E-7052-3605-70C4-0B5FD2329BB3}"/>
              </a:ext>
            </a:extLst>
          </p:cNvPr>
          <p:cNvSpPr/>
          <p:nvPr/>
        </p:nvSpPr>
        <p:spPr>
          <a:xfrm>
            <a:off x="6983830" y="114792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1" name="Rounded Rectangle 10">
            <a:extLst>
              <a:ext uri="{FF2B5EF4-FFF2-40B4-BE49-F238E27FC236}">
                <a16:creationId xmlns:a16="http://schemas.microsoft.com/office/drawing/2014/main" id="{F291B0CD-1037-3D90-3A56-04F820B4DC64}"/>
              </a:ext>
            </a:extLst>
          </p:cNvPr>
          <p:cNvSpPr/>
          <p:nvPr/>
        </p:nvSpPr>
        <p:spPr>
          <a:xfrm>
            <a:off x="8755277" y="114792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2" name="Rounded Rectangle 11">
            <a:extLst>
              <a:ext uri="{FF2B5EF4-FFF2-40B4-BE49-F238E27FC236}">
                <a16:creationId xmlns:a16="http://schemas.microsoft.com/office/drawing/2014/main" id="{153CD9BB-C50C-8BA7-9BAC-53C02EF11962}"/>
              </a:ext>
            </a:extLst>
          </p:cNvPr>
          <p:cNvSpPr/>
          <p:nvPr/>
        </p:nvSpPr>
        <p:spPr>
          <a:xfrm>
            <a:off x="10711555" y="113385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3" name="Rounded Rectangle 12">
            <a:extLst>
              <a:ext uri="{FF2B5EF4-FFF2-40B4-BE49-F238E27FC236}">
                <a16:creationId xmlns:a16="http://schemas.microsoft.com/office/drawing/2014/main" id="{CE5E2EA4-CF3E-B92D-86E2-EDBE1154BCBA}"/>
              </a:ext>
            </a:extLst>
          </p:cNvPr>
          <p:cNvSpPr/>
          <p:nvPr/>
        </p:nvSpPr>
        <p:spPr>
          <a:xfrm>
            <a:off x="5458667" y="1378572"/>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4" name="Rounded Rectangle 13">
            <a:extLst>
              <a:ext uri="{FF2B5EF4-FFF2-40B4-BE49-F238E27FC236}">
                <a16:creationId xmlns:a16="http://schemas.microsoft.com/office/drawing/2014/main" id="{8B1572EF-BAE7-4F63-D8C9-1AC50FC7EE87}"/>
              </a:ext>
            </a:extLst>
          </p:cNvPr>
          <p:cNvSpPr/>
          <p:nvPr/>
        </p:nvSpPr>
        <p:spPr>
          <a:xfrm>
            <a:off x="3637516" y="1378572"/>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5" name="Rounded Rectangle 14">
            <a:extLst>
              <a:ext uri="{FF2B5EF4-FFF2-40B4-BE49-F238E27FC236}">
                <a16:creationId xmlns:a16="http://schemas.microsoft.com/office/drawing/2014/main" id="{D56C9388-2992-5C92-4598-443748061671}"/>
              </a:ext>
            </a:extLst>
          </p:cNvPr>
          <p:cNvSpPr/>
          <p:nvPr/>
        </p:nvSpPr>
        <p:spPr>
          <a:xfrm>
            <a:off x="1816365" y="1378572"/>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6" name="Rounded Rectangle 15">
            <a:extLst>
              <a:ext uri="{FF2B5EF4-FFF2-40B4-BE49-F238E27FC236}">
                <a16:creationId xmlns:a16="http://schemas.microsoft.com/office/drawing/2014/main" id="{D398422D-3D5A-A549-522F-93E8AC89629E}"/>
              </a:ext>
            </a:extLst>
          </p:cNvPr>
          <p:cNvSpPr/>
          <p:nvPr/>
        </p:nvSpPr>
        <p:spPr>
          <a:xfrm>
            <a:off x="7306761" y="1378572"/>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7" name="Rounded Rectangle 16">
            <a:extLst>
              <a:ext uri="{FF2B5EF4-FFF2-40B4-BE49-F238E27FC236}">
                <a16:creationId xmlns:a16="http://schemas.microsoft.com/office/drawing/2014/main" id="{51008D03-6EA0-02E7-6D31-600EE7C76620}"/>
              </a:ext>
            </a:extLst>
          </p:cNvPr>
          <p:cNvSpPr/>
          <p:nvPr/>
        </p:nvSpPr>
        <p:spPr>
          <a:xfrm>
            <a:off x="9080904" y="1403464"/>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8" name="Rounded Rectangle 17">
            <a:extLst>
              <a:ext uri="{FF2B5EF4-FFF2-40B4-BE49-F238E27FC236}">
                <a16:creationId xmlns:a16="http://schemas.microsoft.com/office/drawing/2014/main" id="{4D50146A-1AF6-44CF-898F-D66791D9EFFE}"/>
              </a:ext>
            </a:extLst>
          </p:cNvPr>
          <p:cNvSpPr/>
          <p:nvPr/>
        </p:nvSpPr>
        <p:spPr>
          <a:xfrm>
            <a:off x="10970404" y="1400469"/>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pic>
        <p:nvPicPr>
          <p:cNvPr id="19" name="Picture 2" descr="Smelting - Free construction and tools icons">
            <a:extLst>
              <a:ext uri="{FF2B5EF4-FFF2-40B4-BE49-F238E27FC236}">
                <a16:creationId xmlns:a16="http://schemas.microsoft.com/office/drawing/2014/main" id="{12D7E86F-1F79-38FB-785F-15CAAE8F1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0307" y="2101360"/>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Chemical Plant 2 icon - Free vector (SVG) - Free PNG - Copyicon.com">
            <a:extLst>
              <a:ext uri="{FF2B5EF4-FFF2-40B4-BE49-F238E27FC236}">
                <a16:creationId xmlns:a16="http://schemas.microsoft.com/office/drawing/2014/main" id="{44883FE8-56C5-AC21-1629-7AD8BB1F24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2061" y="2066405"/>
            <a:ext cx="631824" cy="55897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389F2C6F-E2F6-836A-7DEB-BD38454E5DE0}"/>
              </a:ext>
            </a:extLst>
          </p:cNvPr>
          <p:cNvPicPr>
            <a:picLocks noChangeAspect="1"/>
          </p:cNvPicPr>
          <p:nvPr/>
        </p:nvPicPr>
        <p:blipFill>
          <a:blip r:embed="rId5"/>
          <a:stretch>
            <a:fillRect/>
          </a:stretch>
        </p:blipFill>
        <p:spPr>
          <a:xfrm>
            <a:off x="1581556" y="1992430"/>
            <a:ext cx="815704" cy="721655"/>
          </a:xfrm>
          <a:prstGeom prst="rect">
            <a:avLst/>
          </a:prstGeom>
        </p:spPr>
      </p:pic>
      <p:sp>
        <p:nvSpPr>
          <p:cNvPr id="22" name="TextBox 21">
            <a:extLst>
              <a:ext uri="{FF2B5EF4-FFF2-40B4-BE49-F238E27FC236}">
                <a16:creationId xmlns:a16="http://schemas.microsoft.com/office/drawing/2014/main" id="{901E1076-8BE0-F17E-6A6B-0C18D5756E07}"/>
              </a:ext>
            </a:extLst>
          </p:cNvPr>
          <p:cNvSpPr txBox="1"/>
          <p:nvPr/>
        </p:nvSpPr>
        <p:spPr>
          <a:xfrm>
            <a:off x="1727953" y="1776780"/>
            <a:ext cx="540327"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Mine</a:t>
            </a:r>
          </a:p>
        </p:txBody>
      </p:sp>
      <p:sp>
        <p:nvSpPr>
          <p:cNvPr id="23" name="TextBox 22">
            <a:extLst>
              <a:ext uri="{FF2B5EF4-FFF2-40B4-BE49-F238E27FC236}">
                <a16:creationId xmlns:a16="http://schemas.microsoft.com/office/drawing/2014/main" id="{5055BA52-1BA4-CE19-EF12-141CE58BE457}"/>
              </a:ext>
            </a:extLst>
          </p:cNvPr>
          <p:cNvSpPr txBox="1"/>
          <p:nvPr/>
        </p:nvSpPr>
        <p:spPr>
          <a:xfrm>
            <a:off x="8640776" y="1776780"/>
            <a:ext cx="125126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Manufacturer</a:t>
            </a:r>
          </a:p>
        </p:txBody>
      </p:sp>
      <p:sp>
        <p:nvSpPr>
          <p:cNvPr id="24" name="TextBox 23">
            <a:extLst>
              <a:ext uri="{FF2B5EF4-FFF2-40B4-BE49-F238E27FC236}">
                <a16:creationId xmlns:a16="http://schemas.microsoft.com/office/drawing/2014/main" id="{120233B1-D075-8309-F846-03851A79C299}"/>
              </a:ext>
            </a:extLst>
          </p:cNvPr>
          <p:cNvSpPr txBox="1"/>
          <p:nvPr/>
        </p:nvSpPr>
        <p:spPr>
          <a:xfrm>
            <a:off x="5300570" y="1776780"/>
            <a:ext cx="681792"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Refiner</a:t>
            </a:r>
          </a:p>
        </p:txBody>
      </p:sp>
      <p:sp>
        <p:nvSpPr>
          <p:cNvPr id="25" name="TextBox 24">
            <a:extLst>
              <a:ext uri="{FF2B5EF4-FFF2-40B4-BE49-F238E27FC236}">
                <a16:creationId xmlns:a16="http://schemas.microsoft.com/office/drawing/2014/main" id="{4D9EDA82-1CD2-1BBB-06DC-6CDFACBBCF0F}"/>
              </a:ext>
            </a:extLst>
          </p:cNvPr>
          <p:cNvSpPr txBox="1"/>
          <p:nvPr/>
        </p:nvSpPr>
        <p:spPr>
          <a:xfrm>
            <a:off x="10529341" y="1795781"/>
            <a:ext cx="127971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OEM</a:t>
            </a:r>
          </a:p>
        </p:txBody>
      </p:sp>
      <p:pic>
        <p:nvPicPr>
          <p:cNvPr id="26" name="Picture 6" descr="Factory Icon in Material Design">
            <a:extLst>
              <a:ext uri="{FF2B5EF4-FFF2-40B4-BE49-F238E27FC236}">
                <a16:creationId xmlns:a16="http://schemas.microsoft.com/office/drawing/2014/main" id="{20B13F68-CB4E-1D17-4C0D-E8DC879F7F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9060" y="2058335"/>
            <a:ext cx="640946" cy="56704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4" descr="Car manufacturing - Free industry icons">
            <a:extLst>
              <a:ext uri="{FF2B5EF4-FFF2-40B4-BE49-F238E27FC236}">
                <a16:creationId xmlns:a16="http://schemas.microsoft.com/office/drawing/2014/main" id="{53876B55-54B5-A364-E611-E6CD7576052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81406" y="2101360"/>
            <a:ext cx="543362" cy="480713"/>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D3B9A9D3-EBBE-39C1-6621-906C509790DA}"/>
              </a:ext>
            </a:extLst>
          </p:cNvPr>
          <p:cNvSpPr txBox="1"/>
          <p:nvPr/>
        </p:nvSpPr>
        <p:spPr>
          <a:xfrm>
            <a:off x="3482509" y="1776780"/>
            <a:ext cx="721303"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Smelter</a:t>
            </a:r>
          </a:p>
        </p:txBody>
      </p:sp>
      <p:sp>
        <p:nvSpPr>
          <p:cNvPr id="29" name="TextBox 28">
            <a:extLst>
              <a:ext uri="{FF2B5EF4-FFF2-40B4-BE49-F238E27FC236}">
                <a16:creationId xmlns:a16="http://schemas.microsoft.com/office/drawing/2014/main" id="{AB3F9D48-0213-BCB9-9D81-18AEEB3798F7}"/>
              </a:ext>
            </a:extLst>
          </p:cNvPr>
          <p:cNvSpPr txBox="1"/>
          <p:nvPr/>
        </p:nvSpPr>
        <p:spPr>
          <a:xfrm>
            <a:off x="6974231" y="1776780"/>
            <a:ext cx="1049824"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Fabricator</a:t>
            </a:r>
          </a:p>
        </p:txBody>
      </p:sp>
      <p:pic>
        <p:nvPicPr>
          <p:cNvPr id="30" name="Picture 6" descr="2,500+ Gravel Icon Stock Illustrations, Royalty-Free Vector Graphics &amp; Clip  Art - iStock">
            <a:extLst>
              <a:ext uri="{FF2B5EF4-FFF2-40B4-BE49-F238E27FC236}">
                <a16:creationId xmlns:a16="http://schemas.microsoft.com/office/drawing/2014/main" id="{60F208FE-8903-758D-B200-2AED97CD506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114" t="15270" r="15934" b="16995"/>
          <a:stretch/>
        </p:blipFill>
        <p:spPr bwMode="auto">
          <a:xfrm>
            <a:off x="1822527" y="3037553"/>
            <a:ext cx="372861" cy="39520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8" descr="Ingot - Free business icons">
            <a:extLst>
              <a:ext uri="{FF2B5EF4-FFF2-40B4-BE49-F238E27FC236}">
                <a16:creationId xmlns:a16="http://schemas.microsoft.com/office/drawing/2014/main" id="{30061188-3FA4-36E8-C003-DB4F0F510AA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3808" y="3051361"/>
            <a:ext cx="410291" cy="436275"/>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6AD85CAE-73C7-5B1D-B361-EED93199AD22}"/>
              </a:ext>
            </a:extLst>
          </p:cNvPr>
          <p:cNvSpPr txBox="1"/>
          <p:nvPr/>
        </p:nvSpPr>
        <p:spPr>
          <a:xfrm>
            <a:off x="1574058" y="2819467"/>
            <a:ext cx="102904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Concentrate</a:t>
            </a:r>
          </a:p>
        </p:txBody>
      </p:sp>
      <p:sp>
        <p:nvSpPr>
          <p:cNvPr id="33" name="TextBox 32">
            <a:extLst>
              <a:ext uri="{FF2B5EF4-FFF2-40B4-BE49-F238E27FC236}">
                <a16:creationId xmlns:a16="http://schemas.microsoft.com/office/drawing/2014/main" id="{468D2954-D042-494F-B903-58C899377CB2}"/>
              </a:ext>
            </a:extLst>
          </p:cNvPr>
          <p:cNvSpPr txBox="1"/>
          <p:nvPr/>
        </p:nvSpPr>
        <p:spPr>
          <a:xfrm>
            <a:off x="8934025" y="2819467"/>
            <a:ext cx="75470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Battery</a:t>
            </a:r>
          </a:p>
        </p:txBody>
      </p:sp>
      <p:sp>
        <p:nvSpPr>
          <p:cNvPr id="34" name="TextBox 33">
            <a:extLst>
              <a:ext uri="{FF2B5EF4-FFF2-40B4-BE49-F238E27FC236}">
                <a16:creationId xmlns:a16="http://schemas.microsoft.com/office/drawing/2014/main" id="{C85EB35E-B24B-E57B-7B5A-D3782717C65A}"/>
              </a:ext>
            </a:extLst>
          </p:cNvPr>
          <p:cNvSpPr txBox="1"/>
          <p:nvPr/>
        </p:nvSpPr>
        <p:spPr>
          <a:xfrm>
            <a:off x="5288927" y="2819467"/>
            <a:ext cx="82918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Cathodes</a:t>
            </a:r>
          </a:p>
        </p:txBody>
      </p:sp>
      <p:sp>
        <p:nvSpPr>
          <p:cNvPr id="35" name="TextBox 34">
            <a:extLst>
              <a:ext uri="{FF2B5EF4-FFF2-40B4-BE49-F238E27FC236}">
                <a16:creationId xmlns:a16="http://schemas.microsoft.com/office/drawing/2014/main" id="{26DD7790-1E8A-1F90-FBCC-5444B00A92C0}"/>
              </a:ext>
            </a:extLst>
          </p:cNvPr>
          <p:cNvSpPr txBox="1"/>
          <p:nvPr/>
        </p:nvSpPr>
        <p:spPr>
          <a:xfrm>
            <a:off x="10732894" y="2783914"/>
            <a:ext cx="888402"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EV</a:t>
            </a:r>
          </a:p>
        </p:txBody>
      </p:sp>
      <p:sp>
        <p:nvSpPr>
          <p:cNvPr id="36" name="TextBox 35">
            <a:extLst>
              <a:ext uri="{FF2B5EF4-FFF2-40B4-BE49-F238E27FC236}">
                <a16:creationId xmlns:a16="http://schemas.microsoft.com/office/drawing/2014/main" id="{40CE4357-192B-4F80-2BA6-CB117B8B544D}"/>
              </a:ext>
            </a:extLst>
          </p:cNvPr>
          <p:cNvSpPr txBox="1"/>
          <p:nvPr/>
        </p:nvSpPr>
        <p:spPr>
          <a:xfrm>
            <a:off x="3505109" y="2819467"/>
            <a:ext cx="62261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Blister</a:t>
            </a:r>
          </a:p>
        </p:txBody>
      </p:sp>
      <p:sp>
        <p:nvSpPr>
          <p:cNvPr id="37" name="TextBox 36">
            <a:extLst>
              <a:ext uri="{FF2B5EF4-FFF2-40B4-BE49-F238E27FC236}">
                <a16:creationId xmlns:a16="http://schemas.microsoft.com/office/drawing/2014/main" id="{2A7940B7-E204-AAB5-48C7-821FC89825BE}"/>
              </a:ext>
            </a:extLst>
          </p:cNvPr>
          <p:cNvSpPr txBox="1"/>
          <p:nvPr/>
        </p:nvSpPr>
        <p:spPr>
          <a:xfrm>
            <a:off x="7385172" y="2819467"/>
            <a:ext cx="54497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Foil</a:t>
            </a:r>
          </a:p>
        </p:txBody>
      </p:sp>
      <p:pic>
        <p:nvPicPr>
          <p:cNvPr id="38" name="Picture 16" descr="Bullion, gold, ingot, meta, metal, nugget, precious icon - Download on  Iconfinder">
            <a:extLst>
              <a:ext uri="{FF2B5EF4-FFF2-40B4-BE49-F238E27FC236}">
                <a16:creationId xmlns:a16="http://schemas.microsoft.com/office/drawing/2014/main" id="{35241C1F-AA59-BFAB-FB80-4CF6468534E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24862" y="3000589"/>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8" descr="Aluminum foil icon 37133487 Vector Art at Vecteezy">
            <a:extLst>
              <a:ext uri="{FF2B5EF4-FFF2-40B4-BE49-F238E27FC236}">
                <a16:creationId xmlns:a16="http://schemas.microsoft.com/office/drawing/2014/main" id="{75B1D61C-6ED0-AFDA-32F7-D01B59216EE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78341" y="3104261"/>
            <a:ext cx="443840" cy="29591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0" descr="ev battery outline icon Stock Vector | Adobe Stock">
            <a:extLst>
              <a:ext uri="{FF2B5EF4-FFF2-40B4-BE49-F238E27FC236}">
                <a16:creationId xmlns:a16="http://schemas.microsoft.com/office/drawing/2014/main" id="{B1B67955-E4E9-6BD3-B9B6-EAD11EF571B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9092821" y="3109159"/>
            <a:ext cx="412986" cy="388389"/>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2" descr="Electric car - Free transport icons">
            <a:extLst>
              <a:ext uri="{FF2B5EF4-FFF2-40B4-BE49-F238E27FC236}">
                <a16:creationId xmlns:a16="http://schemas.microsoft.com/office/drawing/2014/main" id="{68EC8E75-D372-82D2-DCEB-ADC0442B338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13626" y="2972824"/>
            <a:ext cx="511142" cy="543513"/>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055FFFF2-8838-21FD-4A44-C99301837BC8}"/>
              </a:ext>
            </a:extLst>
          </p:cNvPr>
          <p:cNvSpPr txBox="1"/>
          <p:nvPr/>
        </p:nvSpPr>
        <p:spPr>
          <a:xfrm>
            <a:off x="1333032" y="3420927"/>
            <a:ext cx="113045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Consignment ID</a:t>
            </a:r>
          </a:p>
        </p:txBody>
      </p:sp>
      <p:sp>
        <p:nvSpPr>
          <p:cNvPr id="43" name="TextBox 42">
            <a:extLst>
              <a:ext uri="{FF2B5EF4-FFF2-40B4-BE49-F238E27FC236}">
                <a16:creationId xmlns:a16="http://schemas.microsoft.com/office/drawing/2014/main" id="{44FB8286-ABEC-3481-CE7D-FC09A62D8860}"/>
              </a:ext>
            </a:extLst>
          </p:cNvPr>
          <p:cNvSpPr txBox="1"/>
          <p:nvPr/>
        </p:nvSpPr>
        <p:spPr>
          <a:xfrm>
            <a:off x="3455998" y="3420927"/>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44" name="TextBox 43">
            <a:extLst>
              <a:ext uri="{FF2B5EF4-FFF2-40B4-BE49-F238E27FC236}">
                <a16:creationId xmlns:a16="http://schemas.microsoft.com/office/drawing/2014/main" id="{B396A6AF-3271-0195-3D62-38CC2B50AFEE}"/>
              </a:ext>
            </a:extLst>
          </p:cNvPr>
          <p:cNvSpPr txBox="1"/>
          <p:nvPr/>
        </p:nvSpPr>
        <p:spPr>
          <a:xfrm>
            <a:off x="5300467" y="3420927"/>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45" name="TextBox 44">
            <a:extLst>
              <a:ext uri="{FF2B5EF4-FFF2-40B4-BE49-F238E27FC236}">
                <a16:creationId xmlns:a16="http://schemas.microsoft.com/office/drawing/2014/main" id="{D246637F-9831-C8AA-7326-DE9C295056B6}"/>
              </a:ext>
            </a:extLst>
          </p:cNvPr>
          <p:cNvSpPr txBox="1"/>
          <p:nvPr/>
        </p:nvSpPr>
        <p:spPr>
          <a:xfrm>
            <a:off x="7219902" y="3420927"/>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46" name="TextBox 45">
            <a:extLst>
              <a:ext uri="{FF2B5EF4-FFF2-40B4-BE49-F238E27FC236}">
                <a16:creationId xmlns:a16="http://schemas.microsoft.com/office/drawing/2014/main" id="{6F0DAE7E-ADB6-1FEC-825C-42A2ED0B19C4}"/>
              </a:ext>
            </a:extLst>
          </p:cNvPr>
          <p:cNvSpPr txBox="1"/>
          <p:nvPr/>
        </p:nvSpPr>
        <p:spPr>
          <a:xfrm>
            <a:off x="8929060" y="3420927"/>
            <a:ext cx="75966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Serial No.</a:t>
            </a:r>
          </a:p>
        </p:txBody>
      </p:sp>
      <p:sp>
        <p:nvSpPr>
          <p:cNvPr id="47" name="TextBox 46">
            <a:extLst>
              <a:ext uri="{FF2B5EF4-FFF2-40B4-BE49-F238E27FC236}">
                <a16:creationId xmlns:a16="http://schemas.microsoft.com/office/drawing/2014/main" id="{7E1B1E03-CC9C-37C7-4522-6BDA6492813B}"/>
              </a:ext>
            </a:extLst>
          </p:cNvPr>
          <p:cNvSpPr txBox="1"/>
          <p:nvPr/>
        </p:nvSpPr>
        <p:spPr>
          <a:xfrm>
            <a:off x="10856923" y="3432219"/>
            <a:ext cx="39511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VIN</a:t>
            </a:r>
          </a:p>
        </p:txBody>
      </p:sp>
      <p:pic>
        <p:nvPicPr>
          <p:cNvPr id="48" name="Picture 28" descr="Vector Design Extrusion Icon Style | Premium Vector">
            <a:extLst>
              <a:ext uri="{FF2B5EF4-FFF2-40B4-BE49-F238E27FC236}">
                <a16:creationId xmlns:a16="http://schemas.microsoft.com/office/drawing/2014/main" id="{D86B6124-1456-E2A5-2A45-301A473A27F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70376" y="2066405"/>
            <a:ext cx="564161" cy="599891"/>
          </a:xfrm>
          <a:prstGeom prst="rect">
            <a:avLst/>
          </a:prstGeom>
          <a:noFill/>
          <a:extLst>
            <a:ext uri="{909E8E84-426E-40DD-AFC4-6F175D3DCCD1}">
              <a14:hiddenFill xmlns:a14="http://schemas.microsoft.com/office/drawing/2010/main">
                <a:solidFill>
                  <a:srgbClr val="FFFFFF"/>
                </a:solidFill>
              </a14:hiddenFill>
            </a:ext>
          </a:extLst>
        </p:spPr>
      </p:pic>
      <p:sp>
        <p:nvSpPr>
          <p:cNvPr id="49" name="Rounded Rectangle 48">
            <a:extLst>
              <a:ext uri="{FF2B5EF4-FFF2-40B4-BE49-F238E27FC236}">
                <a16:creationId xmlns:a16="http://schemas.microsoft.com/office/drawing/2014/main" id="{5C8671E3-BDE7-2C4B-E24D-373BE2414EFD}"/>
              </a:ext>
            </a:extLst>
          </p:cNvPr>
          <p:cNvSpPr/>
          <p:nvPr/>
        </p:nvSpPr>
        <p:spPr>
          <a:xfrm>
            <a:off x="9071886" y="128803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50" name="TextBox 49">
            <a:extLst>
              <a:ext uri="{FF2B5EF4-FFF2-40B4-BE49-F238E27FC236}">
                <a16:creationId xmlns:a16="http://schemas.microsoft.com/office/drawing/2014/main" id="{0E98A80D-90A5-2162-CE64-457872D4C876}"/>
              </a:ext>
            </a:extLst>
          </p:cNvPr>
          <p:cNvSpPr txBox="1"/>
          <p:nvPr/>
        </p:nvSpPr>
        <p:spPr>
          <a:xfrm>
            <a:off x="1707260" y="2521133"/>
            <a:ext cx="56325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Site ID</a:t>
            </a:r>
          </a:p>
        </p:txBody>
      </p:sp>
      <p:sp>
        <p:nvSpPr>
          <p:cNvPr id="51" name="TextBox 50">
            <a:extLst>
              <a:ext uri="{FF2B5EF4-FFF2-40B4-BE49-F238E27FC236}">
                <a16:creationId xmlns:a16="http://schemas.microsoft.com/office/drawing/2014/main" id="{A0E3F1AC-B388-77B6-A3F7-4A826BCF7492}"/>
              </a:ext>
            </a:extLst>
          </p:cNvPr>
          <p:cNvSpPr txBox="1"/>
          <p:nvPr/>
        </p:nvSpPr>
        <p:spPr>
          <a:xfrm>
            <a:off x="3542163" y="2586606"/>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52" name="TextBox 51">
            <a:extLst>
              <a:ext uri="{FF2B5EF4-FFF2-40B4-BE49-F238E27FC236}">
                <a16:creationId xmlns:a16="http://schemas.microsoft.com/office/drawing/2014/main" id="{661801E6-BCBA-13F7-7B2E-E745A825699D}"/>
              </a:ext>
            </a:extLst>
          </p:cNvPr>
          <p:cNvSpPr txBox="1"/>
          <p:nvPr/>
        </p:nvSpPr>
        <p:spPr>
          <a:xfrm>
            <a:off x="8948508" y="2567693"/>
            <a:ext cx="59629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OSH ID</a:t>
            </a:r>
          </a:p>
        </p:txBody>
      </p:sp>
      <p:sp>
        <p:nvSpPr>
          <p:cNvPr id="53" name="TextBox 52">
            <a:extLst>
              <a:ext uri="{FF2B5EF4-FFF2-40B4-BE49-F238E27FC236}">
                <a16:creationId xmlns:a16="http://schemas.microsoft.com/office/drawing/2014/main" id="{6DB0BA63-E064-EFC9-8703-81DBDFEA8F37}"/>
              </a:ext>
            </a:extLst>
          </p:cNvPr>
          <p:cNvSpPr txBox="1"/>
          <p:nvPr/>
        </p:nvSpPr>
        <p:spPr>
          <a:xfrm>
            <a:off x="5310194" y="2573043"/>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54" name="TextBox 53">
            <a:extLst>
              <a:ext uri="{FF2B5EF4-FFF2-40B4-BE49-F238E27FC236}">
                <a16:creationId xmlns:a16="http://schemas.microsoft.com/office/drawing/2014/main" id="{E4D7BEF3-1AEA-3A52-767E-866FE415AA14}"/>
              </a:ext>
            </a:extLst>
          </p:cNvPr>
          <p:cNvSpPr txBox="1"/>
          <p:nvPr/>
        </p:nvSpPr>
        <p:spPr>
          <a:xfrm>
            <a:off x="7321975" y="2605154"/>
            <a:ext cx="42082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GLN</a:t>
            </a:r>
          </a:p>
        </p:txBody>
      </p:sp>
      <p:sp>
        <p:nvSpPr>
          <p:cNvPr id="55" name="TextBox 54">
            <a:extLst>
              <a:ext uri="{FF2B5EF4-FFF2-40B4-BE49-F238E27FC236}">
                <a16:creationId xmlns:a16="http://schemas.microsoft.com/office/drawing/2014/main" id="{0304E47B-5500-3177-7110-6CFDCA2796B6}"/>
              </a:ext>
            </a:extLst>
          </p:cNvPr>
          <p:cNvSpPr txBox="1"/>
          <p:nvPr/>
        </p:nvSpPr>
        <p:spPr>
          <a:xfrm>
            <a:off x="10732894" y="2565805"/>
            <a:ext cx="93532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Company ID</a:t>
            </a:r>
          </a:p>
        </p:txBody>
      </p:sp>
      <p:sp>
        <p:nvSpPr>
          <p:cNvPr id="56" name="Rounded Rectangle 55">
            <a:extLst>
              <a:ext uri="{FF2B5EF4-FFF2-40B4-BE49-F238E27FC236}">
                <a16:creationId xmlns:a16="http://schemas.microsoft.com/office/drawing/2014/main" id="{8A827429-2C10-F9DC-3DD5-CE3203B867BD}"/>
              </a:ext>
            </a:extLst>
          </p:cNvPr>
          <p:cNvSpPr/>
          <p:nvPr/>
        </p:nvSpPr>
        <p:spPr>
          <a:xfrm>
            <a:off x="10970576" y="128803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57" name="Rounded Rectangle 56">
            <a:extLst>
              <a:ext uri="{FF2B5EF4-FFF2-40B4-BE49-F238E27FC236}">
                <a16:creationId xmlns:a16="http://schemas.microsoft.com/office/drawing/2014/main" id="{8B18A85A-8EFE-F732-64A2-69B5E73E2C64}"/>
              </a:ext>
            </a:extLst>
          </p:cNvPr>
          <p:cNvSpPr/>
          <p:nvPr/>
        </p:nvSpPr>
        <p:spPr>
          <a:xfrm>
            <a:off x="7300439" y="128803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58" name="Rounded Rectangle 57">
            <a:extLst>
              <a:ext uri="{FF2B5EF4-FFF2-40B4-BE49-F238E27FC236}">
                <a16:creationId xmlns:a16="http://schemas.microsoft.com/office/drawing/2014/main" id="{A31564CE-E46B-4B47-DCFA-A53707A75EDB}"/>
              </a:ext>
            </a:extLst>
          </p:cNvPr>
          <p:cNvSpPr/>
          <p:nvPr/>
        </p:nvSpPr>
        <p:spPr>
          <a:xfrm>
            <a:off x="5446813" y="128803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59" name="Rounded Rectangle 58">
            <a:extLst>
              <a:ext uri="{FF2B5EF4-FFF2-40B4-BE49-F238E27FC236}">
                <a16:creationId xmlns:a16="http://schemas.microsoft.com/office/drawing/2014/main" id="{F8BB27A1-4117-6DC3-B09D-34CAFD6E9C4F}"/>
              </a:ext>
            </a:extLst>
          </p:cNvPr>
          <p:cNvSpPr/>
          <p:nvPr/>
        </p:nvSpPr>
        <p:spPr>
          <a:xfrm>
            <a:off x="3644550" y="128803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60" name="Rounded Rectangle 59">
            <a:extLst>
              <a:ext uri="{FF2B5EF4-FFF2-40B4-BE49-F238E27FC236}">
                <a16:creationId xmlns:a16="http://schemas.microsoft.com/office/drawing/2014/main" id="{6AEC5022-9F67-D2D6-0867-022252743636}"/>
              </a:ext>
            </a:extLst>
          </p:cNvPr>
          <p:cNvSpPr/>
          <p:nvPr/>
        </p:nvSpPr>
        <p:spPr>
          <a:xfrm>
            <a:off x="1811468" y="128803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cxnSp>
        <p:nvCxnSpPr>
          <p:cNvPr id="61" name="Straight Arrow Connector 50">
            <a:extLst>
              <a:ext uri="{FF2B5EF4-FFF2-40B4-BE49-F238E27FC236}">
                <a16:creationId xmlns:a16="http://schemas.microsoft.com/office/drawing/2014/main" id="{7EBFC628-19D5-DC20-539C-2D925EC64EAE}"/>
              </a:ext>
            </a:extLst>
          </p:cNvPr>
          <p:cNvCxnSpPr>
            <a:cxnSpLocks/>
          </p:cNvCxnSpPr>
          <p:nvPr/>
        </p:nvCxnSpPr>
        <p:spPr>
          <a:xfrm rot="10800000">
            <a:off x="9458348" y="1414793"/>
            <a:ext cx="1423058" cy="845462"/>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50">
            <a:extLst>
              <a:ext uri="{FF2B5EF4-FFF2-40B4-BE49-F238E27FC236}">
                <a16:creationId xmlns:a16="http://schemas.microsoft.com/office/drawing/2014/main" id="{0BFD833C-2362-61AF-DB49-B9AE6AF0AA5B}"/>
              </a:ext>
            </a:extLst>
          </p:cNvPr>
          <p:cNvCxnSpPr>
            <a:cxnSpLocks/>
          </p:cNvCxnSpPr>
          <p:nvPr/>
        </p:nvCxnSpPr>
        <p:spPr>
          <a:xfrm rot="10800000">
            <a:off x="7686901" y="1414800"/>
            <a:ext cx="1242159" cy="845591"/>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3" name="Straight Arrow Connector 50">
            <a:extLst>
              <a:ext uri="{FF2B5EF4-FFF2-40B4-BE49-F238E27FC236}">
                <a16:creationId xmlns:a16="http://schemas.microsoft.com/office/drawing/2014/main" id="{27E89450-AC76-83B9-9FF0-5193EFE05EE0}"/>
              </a:ext>
            </a:extLst>
          </p:cNvPr>
          <p:cNvCxnSpPr>
            <a:cxnSpLocks/>
          </p:cNvCxnSpPr>
          <p:nvPr/>
        </p:nvCxnSpPr>
        <p:spPr>
          <a:xfrm rot="10800000">
            <a:off x="5833276" y="1415913"/>
            <a:ext cx="1437101" cy="867856"/>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4" name="Straight Arrow Connector 50">
            <a:extLst>
              <a:ext uri="{FF2B5EF4-FFF2-40B4-BE49-F238E27FC236}">
                <a16:creationId xmlns:a16="http://schemas.microsoft.com/office/drawing/2014/main" id="{A0D51985-124C-5382-240A-FE0DEDB44909}"/>
              </a:ext>
            </a:extLst>
          </p:cNvPr>
          <p:cNvCxnSpPr>
            <a:cxnSpLocks/>
            <a:stCxn id="56" idx="2"/>
            <a:endCxn id="25" idx="0"/>
          </p:cNvCxnSpPr>
          <p:nvPr/>
        </p:nvCxnSpPr>
        <p:spPr>
          <a:xfrm>
            <a:off x="11163807" y="1535383"/>
            <a:ext cx="5390" cy="260398"/>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5" name="Straight Arrow Connector 50">
            <a:extLst>
              <a:ext uri="{FF2B5EF4-FFF2-40B4-BE49-F238E27FC236}">
                <a16:creationId xmlns:a16="http://schemas.microsoft.com/office/drawing/2014/main" id="{02CB24E5-6EE2-C3D0-FCFB-DEEB96B9EB51}"/>
              </a:ext>
            </a:extLst>
          </p:cNvPr>
          <p:cNvCxnSpPr>
            <a:cxnSpLocks/>
            <a:stCxn id="49" idx="2"/>
            <a:endCxn id="23" idx="0"/>
          </p:cNvCxnSpPr>
          <p:nvPr/>
        </p:nvCxnSpPr>
        <p:spPr>
          <a:xfrm>
            <a:off x="9265117" y="1535383"/>
            <a:ext cx="129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6" name="Straight Arrow Connector 50">
            <a:extLst>
              <a:ext uri="{FF2B5EF4-FFF2-40B4-BE49-F238E27FC236}">
                <a16:creationId xmlns:a16="http://schemas.microsoft.com/office/drawing/2014/main" id="{76BE37EB-9FCE-33DD-EDA4-47D201D9C67C}"/>
              </a:ext>
            </a:extLst>
          </p:cNvPr>
          <p:cNvCxnSpPr>
            <a:cxnSpLocks/>
            <a:stCxn id="57" idx="2"/>
            <a:endCxn id="29" idx="0"/>
          </p:cNvCxnSpPr>
          <p:nvPr/>
        </p:nvCxnSpPr>
        <p:spPr>
          <a:xfrm>
            <a:off x="7493670" y="1535383"/>
            <a:ext cx="547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7" name="Straight Arrow Connector 50">
            <a:extLst>
              <a:ext uri="{FF2B5EF4-FFF2-40B4-BE49-F238E27FC236}">
                <a16:creationId xmlns:a16="http://schemas.microsoft.com/office/drawing/2014/main" id="{C73F0B61-2673-A741-B156-2429A0840394}"/>
              </a:ext>
            </a:extLst>
          </p:cNvPr>
          <p:cNvCxnSpPr>
            <a:cxnSpLocks/>
            <a:stCxn id="58" idx="2"/>
            <a:endCxn id="24" idx="0"/>
          </p:cNvCxnSpPr>
          <p:nvPr/>
        </p:nvCxnSpPr>
        <p:spPr>
          <a:xfrm>
            <a:off x="5640044" y="1535383"/>
            <a:ext cx="142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8" name="Straight Arrow Connector 50">
            <a:extLst>
              <a:ext uri="{FF2B5EF4-FFF2-40B4-BE49-F238E27FC236}">
                <a16:creationId xmlns:a16="http://schemas.microsoft.com/office/drawing/2014/main" id="{372C98F5-E7BB-41A5-E66D-8ABED74FBFFE}"/>
              </a:ext>
            </a:extLst>
          </p:cNvPr>
          <p:cNvCxnSpPr>
            <a:cxnSpLocks/>
            <a:stCxn id="59" idx="2"/>
            <a:endCxn id="28" idx="0"/>
          </p:cNvCxnSpPr>
          <p:nvPr/>
        </p:nvCxnSpPr>
        <p:spPr>
          <a:xfrm>
            <a:off x="3837781" y="1535383"/>
            <a:ext cx="5380"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9" name="Straight Arrow Connector 50">
            <a:extLst>
              <a:ext uri="{FF2B5EF4-FFF2-40B4-BE49-F238E27FC236}">
                <a16:creationId xmlns:a16="http://schemas.microsoft.com/office/drawing/2014/main" id="{E77A04F3-C7E5-0CB7-834E-E318EDC7A2C2}"/>
              </a:ext>
            </a:extLst>
          </p:cNvPr>
          <p:cNvCxnSpPr>
            <a:cxnSpLocks/>
            <a:stCxn id="60" idx="2"/>
            <a:endCxn id="22" idx="0"/>
          </p:cNvCxnSpPr>
          <p:nvPr/>
        </p:nvCxnSpPr>
        <p:spPr>
          <a:xfrm flipH="1">
            <a:off x="1998117" y="1535383"/>
            <a:ext cx="6582"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0" name="Straight Arrow Connector 50">
            <a:extLst>
              <a:ext uri="{FF2B5EF4-FFF2-40B4-BE49-F238E27FC236}">
                <a16:creationId xmlns:a16="http://schemas.microsoft.com/office/drawing/2014/main" id="{D05B7F94-4F78-4BCE-C353-472565F76F3E}"/>
              </a:ext>
            </a:extLst>
          </p:cNvPr>
          <p:cNvCxnSpPr>
            <a:cxnSpLocks/>
          </p:cNvCxnSpPr>
          <p:nvPr/>
        </p:nvCxnSpPr>
        <p:spPr>
          <a:xfrm rot="10800000">
            <a:off x="4031012" y="1401921"/>
            <a:ext cx="1271050" cy="849259"/>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1" name="Straight Arrow Connector 50">
            <a:extLst>
              <a:ext uri="{FF2B5EF4-FFF2-40B4-BE49-F238E27FC236}">
                <a16:creationId xmlns:a16="http://schemas.microsoft.com/office/drawing/2014/main" id="{C1B94ED4-26CC-8955-6D5A-97CF266E13F6}"/>
              </a:ext>
            </a:extLst>
          </p:cNvPr>
          <p:cNvCxnSpPr>
            <a:cxnSpLocks/>
          </p:cNvCxnSpPr>
          <p:nvPr/>
        </p:nvCxnSpPr>
        <p:spPr>
          <a:xfrm rot="10800000">
            <a:off x="2197930" y="1428381"/>
            <a:ext cx="1392377" cy="855953"/>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2" name="Straight Arrow Connector 50">
            <a:extLst>
              <a:ext uri="{FF2B5EF4-FFF2-40B4-BE49-F238E27FC236}">
                <a16:creationId xmlns:a16="http://schemas.microsoft.com/office/drawing/2014/main" id="{FD9A04A2-1CA2-D19D-ECB2-E2BA5BF5869D}"/>
              </a:ext>
            </a:extLst>
          </p:cNvPr>
          <p:cNvCxnSpPr>
            <a:cxnSpLocks/>
          </p:cNvCxnSpPr>
          <p:nvPr/>
        </p:nvCxnSpPr>
        <p:spPr>
          <a:xfrm rot="10800000" flipV="1">
            <a:off x="2195388" y="2419468"/>
            <a:ext cx="1394919" cy="80172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3" name="Straight Arrow Connector 50">
            <a:extLst>
              <a:ext uri="{FF2B5EF4-FFF2-40B4-BE49-F238E27FC236}">
                <a16:creationId xmlns:a16="http://schemas.microsoft.com/office/drawing/2014/main" id="{6774AF05-E277-66F6-9163-623D309B90C4}"/>
              </a:ext>
            </a:extLst>
          </p:cNvPr>
          <p:cNvCxnSpPr>
            <a:cxnSpLocks/>
          </p:cNvCxnSpPr>
          <p:nvPr/>
        </p:nvCxnSpPr>
        <p:spPr>
          <a:xfrm rot="10800000" flipV="1">
            <a:off x="4098651" y="2426292"/>
            <a:ext cx="1203411" cy="82417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4" name="Straight Arrow Connector 50">
            <a:extLst>
              <a:ext uri="{FF2B5EF4-FFF2-40B4-BE49-F238E27FC236}">
                <a16:creationId xmlns:a16="http://schemas.microsoft.com/office/drawing/2014/main" id="{CBC17AE3-0142-D4A7-1FD7-6C04363B4AB8}"/>
              </a:ext>
            </a:extLst>
          </p:cNvPr>
          <p:cNvCxnSpPr>
            <a:cxnSpLocks/>
          </p:cNvCxnSpPr>
          <p:nvPr/>
        </p:nvCxnSpPr>
        <p:spPr>
          <a:xfrm rot="10800000" flipV="1">
            <a:off x="5884099" y="2459655"/>
            <a:ext cx="1386277" cy="821044"/>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5" name="Straight Arrow Connector 50">
            <a:extLst>
              <a:ext uri="{FF2B5EF4-FFF2-40B4-BE49-F238E27FC236}">
                <a16:creationId xmlns:a16="http://schemas.microsoft.com/office/drawing/2014/main" id="{7F8F8204-B3A0-5ED6-4064-4D501F2D3144}"/>
              </a:ext>
            </a:extLst>
          </p:cNvPr>
          <p:cNvCxnSpPr>
            <a:cxnSpLocks/>
          </p:cNvCxnSpPr>
          <p:nvPr/>
        </p:nvCxnSpPr>
        <p:spPr>
          <a:xfrm rot="10800000" flipV="1">
            <a:off x="7822181" y="2435490"/>
            <a:ext cx="1106879" cy="827597"/>
          </a:xfrm>
          <a:prstGeom prst="bentConnector3">
            <a:avLst>
              <a:gd name="adj1" fmla="val 54917"/>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6" name="Straight Arrow Connector 50">
            <a:extLst>
              <a:ext uri="{FF2B5EF4-FFF2-40B4-BE49-F238E27FC236}">
                <a16:creationId xmlns:a16="http://schemas.microsoft.com/office/drawing/2014/main" id="{C7A627C1-360F-8EF0-1532-E333C5006E38}"/>
              </a:ext>
            </a:extLst>
          </p:cNvPr>
          <p:cNvCxnSpPr>
            <a:cxnSpLocks/>
          </p:cNvCxnSpPr>
          <p:nvPr/>
        </p:nvCxnSpPr>
        <p:spPr>
          <a:xfrm rot="10800000" flipV="1">
            <a:off x="9493508" y="2411554"/>
            <a:ext cx="1387898" cy="87421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77" name="Rounded Rectangle 76">
            <a:extLst>
              <a:ext uri="{FF2B5EF4-FFF2-40B4-BE49-F238E27FC236}">
                <a16:creationId xmlns:a16="http://schemas.microsoft.com/office/drawing/2014/main" id="{64D7D6D2-3F7A-0013-FA00-141926F81CBD}"/>
              </a:ext>
            </a:extLst>
          </p:cNvPr>
          <p:cNvSpPr/>
          <p:nvPr/>
        </p:nvSpPr>
        <p:spPr>
          <a:xfrm>
            <a:off x="4028258" y="313268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78" name="Rounded Rectangle 77">
            <a:extLst>
              <a:ext uri="{FF2B5EF4-FFF2-40B4-BE49-F238E27FC236}">
                <a16:creationId xmlns:a16="http://schemas.microsoft.com/office/drawing/2014/main" id="{B8586C3A-B0EA-1619-7B38-E66DCD1BB10F}"/>
              </a:ext>
            </a:extLst>
          </p:cNvPr>
          <p:cNvSpPr/>
          <p:nvPr/>
        </p:nvSpPr>
        <p:spPr>
          <a:xfrm>
            <a:off x="2268280" y="313268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79" name="Rounded Rectangle 78">
            <a:extLst>
              <a:ext uri="{FF2B5EF4-FFF2-40B4-BE49-F238E27FC236}">
                <a16:creationId xmlns:a16="http://schemas.microsoft.com/office/drawing/2014/main" id="{A0C8A52C-9B17-4B2E-E08E-DCE5996A258C}"/>
              </a:ext>
            </a:extLst>
          </p:cNvPr>
          <p:cNvSpPr/>
          <p:nvPr/>
        </p:nvSpPr>
        <p:spPr>
          <a:xfrm>
            <a:off x="5952234" y="313268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80" name="Rounded Rectangle 79">
            <a:extLst>
              <a:ext uri="{FF2B5EF4-FFF2-40B4-BE49-F238E27FC236}">
                <a16:creationId xmlns:a16="http://schemas.microsoft.com/office/drawing/2014/main" id="{EE05A32F-99A6-AF6B-32EA-965425F9B9FF}"/>
              </a:ext>
            </a:extLst>
          </p:cNvPr>
          <p:cNvSpPr/>
          <p:nvPr/>
        </p:nvSpPr>
        <p:spPr>
          <a:xfrm>
            <a:off x="7869128" y="3166669"/>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81" name="Rounded Rectangle 80">
            <a:extLst>
              <a:ext uri="{FF2B5EF4-FFF2-40B4-BE49-F238E27FC236}">
                <a16:creationId xmlns:a16="http://schemas.microsoft.com/office/drawing/2014/main" id="{1A10AF49-27CF-9A96-0523-10AD9E037CC4}"/>
              </a:ext>
            </a:extLst>
          </p:cNvPr>
          <p:cNvSpPr/>
          <p:nvPr/>
        </p:nvSpPr>
        <p:spPr>
          <a:xfrm>
            <a:off x="9576474" y="313268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82" name="TextBox 81">
            <a:extLst>
              <a:ext uri="{FF2B5EF4-FFF2-40B4-BE49-F238E27FC236}">
                <a16:creationId xmlns:a16="http://schemas.microsoft.com/office/drawing/2014/main" id="{1E18E5D9-4B1C-F4DE-9DA7-5C854B91B960}"/>
              </a:ext>
            </a:extLst>
          </p:cNvPr>
          <p:cNvSpPr txBox="1"/>
          <p:nvPr/>
        </p:nvSpPr>
        <p:spPr>
          <a:xfrm>
            <a:off x="1870996" y="4040364"/>
            <a:ext cx="1684551" cy="278200"/>
          </a:xfrm>
          <a:prstGeom prst="rect">
            <a:avLst/>
          </a:prstGeom>
          <a:noFill/>
        </p:spPr>
        <p:txBody>
          <a:bodyPr wrap="none" rtlCol="0">
            <a:spAutoFit/>
          </a:bodyPr>
          <a:lstStyle/>
          <a:p>
            <a:pPr algn="ctr"/>
            <a:r>
              <a:rPr lang="en-AU" sz="1200" b="1" dirty="0">
                <a:solidFill>
                  <a:schemeClr val="bg1"/>
                </a:solidFill>
              </a:rPr>
              <a:t>Digital Traceability Event</a:t>
            </a:r>
          </a:p>
        </p:txBody>
      </p:sp>
      <p:sp>
        <p:nvSpPr>
          <p:cNvPr id="83" name="Rounded Rectangle 82">
            <a:extLst>
              <a:ext uri="{FF2B5EF4-FFF2-40B4-BE49-F238E27FC236}">
                <a16:creationId xmlns:a16="http://schemas.microsoft.com/office/drawing/2014/main" id="{0DF2CC1A-9B6D-913A-CB18-FD381BC85A8C}"/>
              </a:ext>
            </a:extLst>
          </p:cNvPr>
          <p:cNvSpPr/>
          <p:nvPr/>
        </p:nvSpPr>
        <p:spPr>
          <a:xfrm>
            <a:off x="6427656" y="1550439"/>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84" name="Rounded Rectangle 83">
            <a:extLst>
              <a:ext uri="{FF2B5EF4-FFF2-40B4-BE49-F238E27FC236}">
                <a16:creationId xmlns:a16="http://schemas.microsoft.com/office/drawing/2014/main" id="{0308337D-9191-EF5F-62FA-973953966AFC}"/>
              </a:ext>
            </a:extLst>
          </p:cNvPr>
          <p:cNvSpPr/>
          <p:nvPr/>
        </p:nvSpPr>
        <p:spPr>
          <a:xfrm>
            <a:off x="6456897" y="2804013"/>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85" name="Rounded Rectangle 84">
            <a:extLst>
              <a:ext uri="{FF2B5EF4-FFF2-40B4-BE49-F238E27FC236}">
                <a16:creationId xmlns:a16="http://schemas.microsoft.com/office/drawing/2014/main" id="{420197C5-C159-935D-44D0-7D3B4976821B}"/>
              </a:ext>
            </a:extLst>
          </p:cNvPr>
          <p:cNvSpPr/>
          <p:nvPr/>
        </p:nvSpPr>
        <p:spPr>
          <a:xfrm>
            <a:off x="10085086" y="1473868"/>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86" name="Rounded Rectangle 85">
            <a:extLst>
              <a:ext uri="{FF2B5EF4-FFF2-40B4-BE49-F238E27FC236}">
                <a16:creationId xmlns:a16="http://schemas.microsoft.com/office/drawing/2014/main" id="{5C35A9A6-D302-E2F2-9E75-B982F3B7BA70}"/>
              </a:ext>
            </a:extLst>
          </p:cNvPr>
          <p:cNvSpPr/>
          <p:nvPr/>
        </p:nvSpPr>
        <p:spPr>
          <a:xfrm>
            <a:off x="10136452" y="275445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87" name="Rounded Rectangle 86">
            <a:extLst>
              <a:ext uri="{FF2B5EF4-FFF2-40B4-BE49-F238E27FC236}">
                <a16:creationId xmlns:a16="http://schemas.microsoft.com/office/drawing/2014/main" id="{36CBC303-C548-4AD9-9429-816606E4963C}"/>
              </a:ext>
            </a:extLst>
          </p:cNvPr>
          <p:cNvSpPr/>
          <p:nvPr/>
        </p:nvSpPr>
        <p:spPr>
          <a:xfrm>
            <a:off x="2800573" y="151460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88" name="Rounded Rectangle 87">
            <a:extLst>
              <a:ext uri="{FF2B5EF4-FFF2-40B4-BE49-F238E27FC236}">
                <a16:creationId xmlns:a16="http://schemas.microsoft.com/office/drawing/2014/main" id="{ACBD8066-A389-932B-BB71-1AF788D1F2C3}"/>
              </a:ext>
            </a:extLst>
          </p:cNvPr>
          <p:cNvSpPr/>
          <p:nvPr/>
        </p:nvSpPr>
        <p:spPr>
          <a:xfrm>
            <a:off x="2753696" y="276513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cxnSp>
        <p:nvCxnSpPr>
          <p:cNvPr id="89" name="Straight Arrow Connector 50">
            <a:extLst>
              <a:ext uri="{FF2B5EF4-FFF2-40B4-BE49-F238E27FC236}">
                <a16:creationId xmlns:a16="http://schemas.microsoft.com/office/drawing/2014/main" id="{3591A08E-77ED-CA65-B94C-527E804B3495}"/>
              </a:ext>
            </a:extLst>
          </p:cNvPr>
          <p:cNvCxnSpPr>
            <a:cxnSpLocks/>
            <a:stCxn id="57" idx="0"/>
            <a:endCxn id="85" idx="0"/>
          </p:cNvCxnSpPr>
          <p:nvPr/>
        </p:nvCxnSpPr>
        <p:spPr>
          <a:xfrm rot="16200000" flipH="1">
            <a:off x="8793076" y="-11372"/>
            <a:ext cx="185833" cy="2784647"/>
          </a:xfrm>
          <a:prstGeom prst="bentConnector3">
            <a:avLst>
              <a:gd name="adj1" fmla="val -123014"/>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0" name="Straight Arrow Connector 50">
            <a:extLst>
              <a:ext uri="{FF2B5EF4-FFF2-40B4-BE49-F238E27FC236}">
                <a16:creationId xmlns:a16="http://schemas.microsoft.com/office/drawing/2014/main" id="{75831E5C-7F97-4704-611D-89A9B803EE72}"/>
              </a:ext>
            </a:extLst>
          </p:cNvPr>
          <p:cNvCxnSpPr>
            <a:cxnSpLocks/>
            <a:stCxn id="80" idx="2"/>
            <a:endCxn id="86" idx="2"/>
          </p:cNvCxnSpPr>
          <p:nvPr/>
        </p:nvCxnSpPr>
        <p:spPr>
          <a:xfrm rot="5400000" flipH="1" flipV="1">
            <a:off x="8992762" y="2084007"/>
            <a:ext cx="419123" cy="2254717"/>
          </a:xfrm>
          <a:prstGeom prst="bentConnector3">
            <a:avLst>
              <a:gd name="adj1" fmla="val -54542"/>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1" name="Straight Arrow Connector 50">
            <a:extLst>
              <a:ext uri="{FF2B5EF4-FFF2-40B4-BE49-F238E27FC236}">
                <a16:creationId xmlns:a16="http://schemas.microsoft.com/office/drawing/2014/main" id="{073F4095-4774-5674-B745-FD33959D92E8}"/>
              </a:ext>
            </a:extLst>
          </p:cNvPr>
          <p:cNvCxnSpPr>
            <a:cxnSpLocks/>
            <a:stCxn id="59" idx="0"/>
            <a:endCxn id="83" idx="0"/>
          </p:cNvCxnSpPr>
          <p:nvPr/>
        </p:nvCxnSpPr>
        <p:spPr>
          <a:xfrm rot="16200000" flipH="1">
            <a:off x="5098132" y="27684"/>
            <a:ext cx="262404" cy="2783106"/>
          </a:xfrm>
          <a:prstGeom prst="bentConnector3">
            <a:avLst>
              <a:gd name="adj1" fmla="val -87118"/>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2" name="Straight Arrow Connector 50">
            <a:extLst>
              <a:ext uri="{FF2B5EF4-FFF2-40B4-BE49-F238E27FC236}">
                <a16:creationId xmlns:a16="http://schemas.microsoft.com/office/drawing/2014/main" id="{F41A4B16-CF43-503F-C4D1-E41356273625}"/>
              </a:ext>
            </a:extLst>
          </p:cNvPr>
          <p:cNvCxnSpPr>
            <a:cxnSpLocks/>
            <a:stCxn id="77" idx="2"/>
            <a:endCxn id="84" idx="2"/>
          </p:cNvCxnSpPr>
          <p:nvPr/>
        </p:nvCxnSpPr>
        <p:spPr>
          <a:xfrm rot="5400000" flipH="1" flipV="1">
            <a:off x="5274321" y="2011136"/>
            <a:ext cx="335581" cy="2416032"/>
          </a:xfrm>
          <a:prstGeom prst="bentConnector3">
            <a:avLst>
              <a:gd name="adj1" fmla="val -100560"/>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93" name="Picture 92">
            <a:extLst>
              <a:ext uri="{FF2B5EF4-FFF2-40B4-BE49-F238E27FC236}">
                <a16:creationId xmlns:a16="http://schemas.microsoft.com/office/drawing/2014/main" id="{F6F5EA7F-6A8E-2315-5AA1-55CA36927CB1}"/>
              </a:ext>
            </a:extLst>
          </p:cNvPr>
          <p:cNvPicPr>
            <a:picLocks noChangeAspect="1"/>
          </p:cNvPicPr>
          <p:nvPr/>
        </p:nvPicPr>
        <p:blipFill>
          <a:blip r:embed="rId15"/>
          <a:stretch>
            <a:fillRect/>
          </a:stretch>
        </p:blipFill>
        <p:spPr>
          <a:xfrm>
            <a:off x="3528388" y="5543342"/>
            <a:ext cx="513749" cy="483589"/>
          </a:xfrm>
          <a:prstGeom prst="rect">
            <a:avLst/>
          </a:prstGeom>
        </p:spPr>
      </p:pic>
      <p:sp>
        <p:nvSpPr>
          <p:cNvPr id="94" name="TextBox 93">
            <a:extLst>
              <a:ext uri="{FF2B5EF4-FFF2-40B4-BE49-F238E27FC236}">
                <a16:creationId xmlns:a16="http://schemas.microsoft.com/office/drawing/2014/main" id="{D3F5BD9B-2224-78A3-CAF0-DD5EF5534134}"/>
              </a:ext>
            </a:extLst>
          </p:cNvPr>
          <p:cNvSpPr txBox="1"/>
          <p:nvPr/>
        </p:nvSpPr>
        <p:spPr>
          <a:xfrm>
            <a:off x="1635151" y="5714697"/>
            <a:ext cx="1988564"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400" dirty="0">
                <a:solidFill>
                  <a:prstClr val="black"/>
                </a:solidFill>
                <a:latin typeface="Calibri" panose="020F0502020204030204"/>
              </a:rPr>
              <a:t>Accredited auditor</a:t>
            </a:r>
            <a:endPar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5" name="Straight Arrow Connector 94">
            <a:extLst>
              <a:ext uri="{FF2B5EF4-FFF2-40B4-BE49-F238E27FC236}">
                <a16:creationId xmlns:a16="http://schemas.microsoft.com/office/drawing/2014/main" id="{06144225-CB30-2C1B-81E2-66B8FF58B0DB}"/>
              </a:ext>
            </a:extLst>
          </p:cNvPr>
          <p:cNvCxnSpPr>
            <a:cxnSpLocks/>
          </p:cNvCxnSpPr>
          <p:nvPr/>
        </p:nvCxnSpPr>
        <p:spPr>
          <a:xfrm flipH="1">
            <a:off x="3663521" y="3731911"/>
            <a:ext cx="7034" cy="932411"/>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78569034-81F4-0189-3031-76FF4E49E7C7}"/>
              </a:ext>
            </a:extLst>
          </p:cNvPr>
          <p:cNvSpPr txBox="1"/>
          <p:nvPr/>
        </p:nvSpPr>
        <p:spPr>
          <a:xfrm>
            <a:off x="1983153" y="4169044"/>
            <a:ext cx="1684550" cy="461665"/>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rPr>
              <a:t>Upstream data incl. stocks &amp; flows</a:t>
            </a:r>
          </a:p>
        </p:txBody>
      </p:sp>
      <p:cxnSp>
        <p:nvCxnSpPr>
          <p:cNvPr id="97" name="Straight Arrow Connector 56">
            <a:extLst>
              <a:ext uri="{FF2B5EF4-FFF2-40B4-BE49-F238E27FC236}">
                <a16:creationId xmlns:a16="http://schemas.microsoft.com/office/drawing/2014/main" id="{13FAA1AE-8DA7-6930-7EA2-E59A3E2D3B43}"/>
              </a:ext>
            </a:extLst>
          </p:cNvPr>
          <p:cNvCxnSpPr>
            <a:cxnSpLocks/>
          </p:cNvCxnSpPr>
          <p:nvPr/>
        </p:nvCxnSpPr>
        <p:spPr>
          <a:xfrm>
            <a:off x="3954674" y="3717547"/>
            <a:ext cx="0" cy="95740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98" name="TextBox 97">
            <a:extLst>
              <a:ext uri="{FF2B5EF4-FFF2-40B4-BE49-F238E27FC236}">
                <a16:creationId xmlns:a16="http://schemas.microsoft.com/office/drawing/2014/main" id="{AFC49340-7B27-B0EC-B4E3-EBCE0B021E00}"/>
              </a:ext>
            </a:extLst>
          </p:cNvPr>
          <p:cNvSpPr txBox="1"/>
          <p:nvPr/>
        </p:nvSpPr>
        <p:spPr>
          <a:xfrm>
            <a:off x="3971672" y="4093334"/>
            <a:ext cx="1861603" cy="46166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rPr>
              <a:t>Supply chain attestation incl. guarantee of origin</a:t>
            </a:r>
          </a:p>
        </p:txBody>
      </p:sp>
      <p:sp>
        <p:nvSpPr>
          <p:cNvPr id="99" name="Rounded Rectangle 98">
            <a:extLst>
              <a:ext uri="{FF2B5EF4-FFF2-40B4-BE49-F238E27FC236}">
                <a16:creationId xmlns:a16="http://schemas.microsoft.com/office/drawing/2014/main" id="{04046C25-3E8A-F1EF-B6DB-AD2084EBE78D}"/>
              </a:ext>
            </a:extLst>
          </p:cNvPr>
          <p:cNvSpPr/>
          <p:nvPr/>
        </p:nvSpPr>
        <p:spPr>
          <a:xfrm>
            <a:off x="3342925" y="3857274"/>
            <a:ext cx="428930" cy="27699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dirty="0"/>
              <a:t>DTE</a:t>
            </a:r>
          </a:p>
        </p:txBody>
      </p:sp>
      <p:pic>
        <p:nvPicPr>
          <p:cNvPr id="101" name="Picture 100" descr="Database Icons - Free SVG &amp; PNG Database Images - Noun Project">
            <a:extLst>
              <a:ext uri="{FF2B5EF4-FFF2-40B4-BE49-F238E27FC236}">
                <a16:creationId xmlns:a16="http://schemas.microsoft.com/office/drawing/2014/main" id="{4056C7A4-6570-2DEC-EE65-E74D0BEFF8D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75794" y="4641501"/>
            <a:ext cx="624773" cy="660969"/>
          </a:xfrm>
          <a:prstGeom prst="rect">
            <a:avLst/>
          </a:prstGeom>
          <a:noFill/>
          <a:extLst>
            <a:ext uri="{909E8E84-426E-40DD-AFC4-6F175D3DCCD1}">
              <a14:hiddenFill xmlns:a14="http://schemas.microsoft.com/office/drawing/2010/main">
                <a:solidFill>
                  <a:srgbClr val="FFFFFF"/>
                </a:solidFill>
              </a14:hiddenFill>
            </a:ext>
          </a:extLst>
        </p:spPr>
      </p:pic>
      <p:cxnSp>
        <p:nvCxnSpPr>
          <p:cNvPr id="102" name="Straight Arrow Connector 56">
            <a:extLst>
              <a:ext uri="{FF2B5EF4-FFF2-40B4-BE49-F238E27FC236}">
                <a16:creationId xmlns:a16="http://schemas.microsoft.com/office/drawing/2014/main" id="{72719C96-B927-0B27-D003-B9CD87341925}"/>
              </a:ext>
            </a:extLst>
          </p:cNvPr>
          <p:cNvCxnSpPr>
            <a:cxnSpLocks/>
            <a:stCxn id="93" idx="0"/>
            <a:endCxn id="101" idx="2"/>
          </p:cNvCxnSpPr>
          <p:nvPr/>
        </p:nvCxnSpPr>
        <p:spPr>
          <a:xfrm flipV="1">
            <a:off x="3785263" y="5302470"/>
            <a:ext cx="2918" cy="240872"/>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3" name="TextBox 102">
            <a:extLst>
              <a:ext uri="{FF2B5EF4-FFF2-40B4-BE49-F238E27FC236}">
                <a16:creationId xmlns:a16="http://schemas.microsoft.com/office/drawing/2014/main" id="{8ABCEB33-2FC0-67FF-65A7-18D94BF388A6}"/>
              </a:ext>
            </a:extLst>
          </p:cNvPr>
          <p:cNvSpPr txBox="1"/>
          <p:nvPr/>
        </p:nvSpPr>
        <p:spPr>
          <a:xfrm>
            <a:off x="3834597" y="5239565"/>
            <a:ext cx="110868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rPr>
              <a:t>Material accounting</a:t>
            </a:r>
          </a:p>
        </p:txBody>
      </p:sp>
      <p:sp>
        <p:nvSpPr>
          <p:cNvPr id="108" name="Rounded Rectangle 107">
            <a:extLst>
              <a:ext uri="{FF2B5EF4-FFF2-40B4-BE49-F238E27FC236}">
                <a16:creationId xmlns:a16="http://schemas.microsoft.com/office/drawing/2014/main" id="{65C887B8-DCFC-2426-2DA4-149C33E586EC}"/>
              </a:ext>
            </a:extLst>
          </p:cNvPr>
          <p:cNvSpPr/>
          <p:nvPr/>
        </p:nvSpPr>
        <p:spPr>
          <a:xfrm>
            <a:off x="4509071" y="2496305"/>
            <a:ext cx="388433"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err="1"/>
              <a:t>GoO</a:t>
            </a:r>
            <a:endParaRPr lang="en-AU" sz="1100" dirty="0"/>
          </a:p>
        </p:txBody>
      </p:sp>
      <p:sp>
        <p:nvSpPr>
          <p:cNvPr id="109" name="Rounded Rectangle 108">
            <a:extLst>
              <a:ext uri="{FF2B5EF4-FFF2-40B4-BE49-F238E27FC236}">
                <a16:creationId xmlns:a16="http://schemas.microsoft.com/office/drawing/2014/main" id="{2E048062-F1CA-03B0-1D82-C010F5931CEC}"/>
              </a:ext>
            </a:extLst>
          </p:cNvPr>
          <p:cNvSpPr/>
          <p:nvPr/>
        </p:nvSpPr>
        <p:spPr>
          <a:xfrm>
            <a:off x="4412775" y="3845986"/>
            <a:ext cx="388433"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err="1"/>
              <a:t>GoO</a:t>
            </a:r>
            <a:endParaRPr lang="en-AU" sz="1100" dirty="0"/>
          </a:p>
        </p:txBody>
      </p:sp>
      <p:sp>
        <p:nvSpPr>
          <p:cNvPr id="110" name="Rounded Rectangle 109">
            <a:extLst>
              <a:ext uri="{FF2B5EF4-FFF2-40B4-BE49-F238E27FC236}">
                <a16:creationId xmlns:a16="http://schemas.microsoft.com/office/drawing/2014/main" id="{BAF8A790-0781-F740-0848-079FB524CD40}"/>
              </a:ext>
            </a:extLst>
          </p:cNvPr>
          <p:cNvSpPr/>
          <p:nvPr/>
        </p:nvSpPr>
        <p:spPr>
          <a:xfrm>
            <a:off x="3989200" y="3833636"/>
            <a:ext cx="374905" cy="26460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11" name="Rounded Rectangle 110">
            <a:extLst>
              <a:ext uri="{FF2B5EF4-FFF2-40B4-BE49-F238E27FC236}">
                <a16:creationId xmlns:a16="http://schemas.microsoft.com/office/drawing/2014/main" id="{06B3E8BB-59FB-0185-1237-ABF2FBEAAF28}"/>
              </a:ext>
            </a:extLst>
          </p:cNvPr>
          <p:cNvSpPr/>
          <p:nvPr/>
        </p:nvSpPr>
        <p:spPr>
          <a:xfrm>
            <a:off x="8187364" y="1506320"/>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12" name="Rounded Rectangle 111">
            <a:extLst>
              <a:ext uri="{FF2B5EF4-FFF2-40B4-BE49-F238E27FC236}">
                <a16:creationId xmlns:a16="http://schemas.microsoft.com/office/drawing/2014/main" id="{2A599BDB-6D11-0AA7-CCB1-8726D260FE89}"/>
              </a:ext>
            </a:extLst>
          </p:cNvPr>
          <p:cNvSpPr/>
          <p:nvPr/>
        </p:nvSpPr>
        <p:spPr>
          <a:xfrm>
            <a:off x="8238730" y="2786908"/>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cxnSp>
        <p:nvCxnSpPr>
          <p:cNvPr id="113" name="Straight Arrow Connector 50">
            <a:extLst>
              <a:ext uri="{FF2B5EF4-FFF2-40B4-BE49-F238E27FC236}">
                <a16:creationId xmlns:a16="http://schemas.microsoft.com/office/drawing/2014/main" id="{853EEC31-758E-5394-25E0-51E229BE00B2}"/>
              </a:ext>
            </a:extLst>
          </p:cNvPr>
          <p:cNvCxnSpPr>
            <a:cxnSpLocks/>
            <a:endCxn id="111" idx="0"/>
          </p:cNvCxnSpPr>
          <p:nvPr/>
        </p:nvCxnSpPr>
        <p:spPr>
          <a:xfrm rot="16200000" flipH="1">
            <a:off x="6910334" y="36059"/>
            <a:ext cx="218285" cy="2722236"/>
          </a:xfrm>
          <a:prstGeom prst="bentConnector3">
            <a:avLst>
              <a:gd name="adj1" fmla="val -179531"/>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4" name="Straight Arrow Connector 50">
            <a:extLst>
              <a:ext uri="{FF2B5EF4-FFF2-40B4-BE49-F238E27FC236}">
                <a16:creationId xmlns:a16="http://schemas.microsoft.com/office/drawing/2014/main" id="{A86E5539-413B-7C8D-E715-ACFCF41AB310}"/>
              </a:ext>
            </a:extLst>
          </p:cNvPr>
          <p:cNvCxnSpPr>
            <a:cxnSpLocks/>
            <a:endCxn id="112" idx="2"/>
          </p:cNvCxnSpPr>
          <p:nvPr/>
        </p:nvCxnSpPr>
        <p:spPr>
          <a:xfrm rot="5400000" flipH="1" flipV="1">
            <a:off x="7127831" y="2082812"/>
            <a:ext cx="352686" cy="2255574"/>
          </a:xfrm>
          <a:prstGeom prst="bentConnector3">
            <a:avLst>
              <a:gd name="adj1" fmla="val -132720"/>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15" name="Rounded Rectangle 114">
            <a:extLst>
              <a:ext uri="{FF2B5EF4-FFF2-40B4-BE49-F238E27FC236}">
                <a16:creationId xmlns:a16="http://schemas.microsoft.com/office/drawing/2014/main" id="{D7361BC7-075C-05F7-A0F4-01C9F72C0AFE}"/>
              </a:ext>
            </a:extLst>
          </p:cNvPr>
          <p:cNvSpPr/>
          <p:nvPr/>
        </p:nvSpPr>
        <p:spPr>
          <a:xfrm>
            <a:off x="2935268" y="3865582"/>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Tree>
    <p:extLst>
      <p:ext uri="{BB962C8B-B14F-4D97-AF65-F5344CB8AC3E}">
        <p14:creationId xmlns:p14="http://schemas.microsoft.com/office/powerpoint/2010/main" val="3099219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A7A8E-2398-A86B-A232-A1B8874300F0}"/>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E454D821-8A9C-4AAC-171E-907C42BC2B9C}"/>
              </a:ext>
            </a:extLst>
          </p:cNvPr>
          <p:cNvSpPr/>
          <p:nvPr/>
        </p:nvSpPr>
        <p:spPr>
          <a:xfrm>
            <a:off x="2645416" y="419823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3" name="Rounded Rectangle 2">
            <a:extLst>
              <a:ext uri="{FF2B5EF4-FFF2-40B4-BE49-F238E27FC236}">
                <a16:creationId xmlns:a16="http://schemas.microsoft.com/office/drawing/2014/main" id="{EDB1A901-A657-3C6A-683C-BDCB84112932}"/>
              </a:ext>
            </a:extLst>
          </p:cNvPr>
          <p:cNvSpPr/>
          <p:nvPr/>
        </p:nvSpPr>
        <p:spPr>
          <a:xfrm>
            <a:off x="4488823" y="4205671"/>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4" name="Rounded Rectangle 3">
            <a:extLst>
              <a:ext uri="{FF2B5EF4-FFF2-40B4-BE49-F238E27FC236}">
                <a16:creationId xmlns:a16="http://schemas.microsoft.com/office/drawing/2014/main" id="{C4AE716E-B719-7628-B506-C981C306F4F2}"/>
              </a:ext>
            </a:extLst>
          </p:cNvPr>
          <p:cNvSpPr/>
          <p:nvPr/>
        </p:nvSpPr>
        <p:spPr>
          <a:xfrm>
            <a:off x="6291086" y="4214135"/>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5" name="Rounded Rectangle 4">
            <a:extLst>
              <a:ext uri="{FF2B5EF4-FFF2-40B4-BE49-F238E27FC236}">
                <a16:creationId xmlns:a16="http://schemas.microsoft.com/office/drawing/2014/main" id="{165C13C7-2829-FA01-83F1-A3C0E1359BC0}"/>
              </a:ext>
            </a:extLst>
          </p:cNvPr>
          <p:cNvSpPr/>
          <p:nvPr/>
        </p:nvSpPr>
        <p:spPr>
          <a:xfrm>
            <a:off x="8155863" y="4254894"/>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6" name="Rounded Rectangle 5">
            <a:extLst>
              <a:ext uri="{FF2B5EF4-FFF2-40B4-BE49-F238E27FC236}">
                <a16:creationId xmlns:a16="http://schemas.microsoft.com/office/drawing/2014/main" id="{9547B956-0361-5B1F-2666-06A36481CF29}"/>
              </a:ext>
            </a:extLst>
          </p:cNvPr>
          <p:cNvSpPr/>
          <p:nvPr/>
        </p:nvSpPr>
        <p:spPr>
          <a:xfrm>
            <a:off x="9916159" y="423259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cxnSp>
        <p:nvCxnSpPr>
          <p:cNvPr id="7" name="Straight Arrow Connector 50">
            <a:extLst>
              <a:ext uri="{FF2B5EF4-FFF2-40B4-BE49-F238E27FC236}">
                <a16:creationId xmlns:a16="http://schemas.microsoft.com/office/drawing/2014/main" id="{7D92FE97-D921-255C-1401-B81537D62A15}"/>
              </a:ext>
            </a:extLst>
          </p:cNvPr>
          <p:cNvCxnSpPr>
            <a:cxnSpLocks/>
          </p:cNvCxnSpPr>
          <p:nvPr/>
        </p:nvCxnSpPr>
        <p:spPr>
          <a:xfrm rot="16200000" flipH="1">
            <a:off x="9953958" y="3028694"/>
            <a:ext cx="185833" cy="2784647"/>
          </a:xfrm>
          <a:prstGeom prst="bentConnector3">
            <a:avLst>
              <a:gd name="adj1" fmla="val -123014"/>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8" name="Rounded Rectangle 7">
            <a:extLst>
              <a:ext uri="{FF2B5EF4-FFF2-40B4-BE49-F238E27FC236}">
                <a16:creationId xmlns:a16="http://schemas.microsoft.com/office/drawing/2014/main" id="{698DF1F8-58C5-10DB-7DCF-B71942E1328C}"/>
              </a:ext>
            </a:extLst>
          </p:cNvPr>
          <p:cNvSpPr/>
          <p:nvPr/>
        </p:nvSpPr>
        <p:spPr>
          <a:xfrm>
            <a:off x="1596047" y="2061415"/>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9" name="Rounded Rectangle 8">
            <a:extLst>
              <a:ext uri="{FF2B5EF4-FFF2-40B4-BE49-F238E27FC236}">
                <a16:creationId xmlns:a16="http://schemas.microsoft.com/office/drawing/2014/main" id="{5685A009-AD60-1CAC-22FE-040EC0E8A931}"/>
              </a:ext>
            </a:extLst>
          </p:cNvPr>
          <p:cNvSpPr/>
          <p:nvPr/>
        </p:nvSpPr>
        <p:spPr>
          <a:xfrm>
            <a:off x="3439454" y="2068853"/>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0" name="Rounded Rectangle 9">
            <a:extLst>
              <a:ext uri="{FF2B5EF4-FFF2-40B4-BE49-F238E27FC236}">
                <a16:creationId xmlns:a16="http://schemas.microsoft.com/office/drawing/2014/main" id="{C61EFA07-F9AA-27ED-E03D-17E750569780}"/>
              </a:ext>
            </a:extLst>
          </p:cNvPr>
          <p:cNvSpPr/>
          <p:nvPr/>
        </p:nvSpPr>
        <p:spPr>
          <a:xfrm>
            <a:off x="5241717" y="2077317"/>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1" name="Rounded Rectangle 10">
            <a:extLst>
              <a:ext uri="{FF2B5EF4-FFF2-40B4-BE49-F238E27FC236}">
                <a16:creationId xmlns:a16="http://schemas.microsoft.com/office/drawing/2014/main" id="{608E9BAE-3B03-E175-A8B5-5451A08382EF}"/>
              </a:ext>
            </a:extLst>
          </p:cNvPr>
          <p:cNvSpPr/>
          <p:nvPr/>
        </p:nvSpPr>
        <p:spPr>
          <a:xfrm>
            <a:off x="7095343" y="207347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2" name="Rounded Rectangle 11">
            <a:extLst>
              <a:ext uri="{FF2B5EF4-FFF2-40B4-BE49-F238E27FC236}">
                <a16:creationId xmlns:a16="http://schemas.microsoft.com/office/drawing/2014/main" id="{3772C26A-FFD3-07C6-F01A-CD45B66C592C}"/>
              </a:ext>
            </a:extLst>
          </p:cNvPr>
          <p:cNvSpPr/>
          <p:nvPr/>
        </p:nvSpPr>
        <p:spPr>
          <a:xfrm>
            <a:off x="8866790" y="207347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3" name="Rounded Rectangle 12">
            <a:extLst>
              <a:ext uri="{FF2B5EF4-FFF2-40B4-BE49-F238E27FC236}">
                <a16:creationId xmlns:a16="http://schemas.microsoft.com/office/drawing/2014/main" id="{B53B59C2-F5A4-7D2C-3582-4428A4E7A515}"/>
              </a:ext>
            </a:extLst>
          </p:cNvPr>
          <p:cNvSpPr/>
          <p:nvPr/>
        </p:nvSpPr>
        <p:spPr>
          <a:xfrm>
            <a:off x="10823068" y="2059402"/>
            <a:ext cx="386462" cy="22864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4" name="Rounded Rectangle 13">
            <a:extLst>
              <a:ext uri="{FF2B5EF4-FFF2-40B4-BE49-F238E27FC236}">
                <a16:creationId xmlns:a16="http://schemas.microsoft.com/office/drawing/2014/main" id="{4DFD278A-7128-9ECC-331A-1E3A0EF8483E}"/>
              </a:ext>
            </a:extLst>
          </p:cNvPr>
          <p:cNvSpPr/>
          <p:nvPr/>
        </p:nvSpPr>
        <p:spPr>
          <a:xfrm>
            <a:off x="5570180" y="2304122"/>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5" name="Rounded Rectangle 14">
            <a:extLst>
              <a:ext uri="{FF2B5EF4-FFF2-40B4-BE49-F238E27FC236}">
                <a16:creationId xmlns:a16="http://schemas.microsoft.com/office/drawing/2014/main" id="{2E56488A-89D4-DA3E-7B88-56067D544EC5}"/>
              </a:ext>
            </a:extLst>
          </p:cNvPr>
          <p:cNvSpPr/>
          <p:nvPr/>
        </p:nvSpPr>
        <p:spPr>
          <a:xfrm>
            <a:off x="3749029" y="2304122"/>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6" name="Rounded Rectangle 15">
            <a:extLst>
              <a:ext uri="{FF2B5EF4-FFF2-40B4-BE49-F238E27FC236}">
                <a16:creationId xmlns:a16="http://schemas.microsoft.com/office/drawing/2014/main" id="{E1A530BD-A134-5D6E-C4BA-D031C359E411}"/>
              </a:ext>
            </a:extLst>
          </p:cNvPr>
          <p:cNvSpPr/>
          <p:nvPr/>
        </p:nvSpPr>
        <p:spPr>
          <a:xfrm>
            <a:off x="1927878" y="2304122"/>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7" name="Rounded Rectangle 16">
            <a:extLst>
              <a:ext uri="{FF2B5EF4-FFF2-40B4-BE49-F238E27FC236}">
                <a16:creationId xmlns:a16="http://schemas.microsoft.com/office/drawing/2014/main" id="{0D44D70B-2AA5-5C22-F71A-B0F166FA623C}"/>
              </a:ext>
            </a:extLst>
          </p:cNvPr>
          <p:cNvSpPr/>
          <p:nvPr/>
        </p:nvSpPr>
        <p:spPr>
          <a:xfrm>
            <a:off x="7418274" y="2304122"/>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8" name="Rounded Rectangle 17">
            <a:extLst>
              <a:ext uri="{FF2B5EF4-FFF2-40B4-BE49-F238E27FC236}">
                <a16:creationId xmlns:a16="http://schemas.microsoft.com/office/drawing/2014/main" id="{38DB4B17-382D-E0A2-B475-0DA4C7014314}"/>
              </a:ext>
            </a:extLst>
          </p:cNvPr>
          <p:cNvSpPr/>
          <p:nvPr/>
        </p:nvSpPr>
        <p:spPr>
          <a:xfrm>
            <a:off x="9192417" y="2329014"/>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sp>
        <p:nvSpPr>
          <p:cNvPr id="19" name="Rounded Rectangle 18">
            <a:extLst>
              <a:ext uri="{FF2B5EF4-FFF2-40B4-BE49-F238E27FC236}">
                <a16:creationId xmlns:a16="http://schemas.microsoft.com/office/drawing/2014/main" id="{9F9E449C-5B2F-DC4E-6727-9A248EEA7677}"/>
              </a:ext>
            </a:extLst>
          </p:cNvPr>
          <p:cNvSpPr/>
          <p:nvPr/>
        </p:nvSpPr>
        <p:spPr>
          <a:xfrm>
            <a:off x="11081917" y="2326019"/>
            <a:ext cx="386462"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AU" sz="1100" dirty="0"/>
          </a:p>
        </p:txBody>
      </p:sp>
      <p:pic>
        <p:nvPicPr>
          <p:cNvPr id="20" name="Picture 2" descr="Smelting - Free construction and tools icons">
            <a:extLst>
              <a:ext uri="{FF2B5EF4-FFF2-40B4-BE49-F238E27FC236}">
                <a16:creationId xmlns:a16="http://schemas.microsoft.com/office/drawing/2014/main" id="{982F187F-779D-8CB6-60FA-42AC1DCB5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1820" y="3026910"/>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Chemical Plant 2 icon - Free vector (SVG) - Free PNG - Copyicon.com">
            <a:extLst>
              <a:ext uri="{FF2B5EF4-FFF2-40B4-BE49-F238E27FC236}">
                <a16:creationId xmlns:a16="http://schemas.microsoft.com/office/drawing/2014/main" id="{B89E30BE-272F-AB13-5E57-F2045B8AD6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3574" y="2991955"/>
            <a:ext cx="631824" cy="55897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BA307DE5-74C8-A2CF-3F1C-D6510AAB6184}"/>
              </a:ext>
            </a:extLst>
          </p:cNvPr>
          <p:cNvPicPr>
            <a:picLocks noChangeAspect="1"/>
          </p:cNvPicPr>
          <p:nvPr/>
        </p:nvPicPr>
        <p:blipFill>
          <a:blip r:embed="rId5"/>
          <a:stretch>
            <a:fillRect/>
          </a:stretch>
        </p:blipFill>
        <p:spPr>
          <a:xfrm>
            <a:off x="1693069" y="2917980"/>
            <a:ext cx="815704" cy="721655"/>
          </a:xfrm>
          <a:prstGeom prst="rect">
            <a:avLst/>
          </a:prstGeom>
        </p:spPr>
      </p:pic>
      <p:sp>
        <p:nvSpPr>
          <p:cNvPr id="23" name="TextBox 22">
            <a:extLst>
              <a:ext uri="{FF2B5EF4-FFF2-40B4-BE49-F238E27FC236}">
                <a16:creationId xmlns:a16="http://schemas.microsoft.com/office/drawing/2014/main" id="{D7627637-0A87-B8E0-78B3-A21058451D22}"/>
              </a:ext>
            </a:extLst>
          </p:cNvPr>
          <p:cNvSpPr txBox="1"/>
          <p:nvPr/>
        </p:nvSpPr>
        <p:spPr>
          <a:xfrm>
            <a:off x="1830238" y="2758045"/>
            <a:ext cx="540327"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Mine</a:t>
            </a:r>
          </a:p>
        </p:txBody>
      </p:sp>
      <p:sp>
        <p:nvSpPr>
          <p:cNvPr id="24" name="TextBox 23">
            <a:extLst>
              <a:ext uri="{FF2B5EF4-FFF2-40B4-BE49-F238E27FC236}">
                <a16:creationId xmlns:a16="http://schemas.microsoft.com/office/drawing/2014/main" id="{692DB12B-BD32-FE77-471D-14B66DA5E667}"/>
              </a:ext>
            </a:extLst>
          </p:cNvPr>
          <p:cNvSpPr txBox="1"/>
          <p:nvPr/>
        </p:nvSpPr>
        <p:spPr>
          <a:xfrm>
            <a:off x="8752289" y="2702330"/>
            <a:ext cx="125126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Manufacturer</a:t>
            </a:r>
          </a:p>
        </p:txBody>
      </p:sp>
      <p:sp>
        <p:nvSpPr>
          <p:cNvPr id="25" name="TextBox 24">
            <a:extLst>
              <a:ext uri="{FF2B5EF4-FFF2-40B4-BE49-F238E27FC236}">
                <a16:creationId xmlns:a16="http://schemas.microsoft.com/office/drawing/2014/main" id="{6A1DC3BF-0DF0-8CCD-9AB0-24096B9152E3}"/>
              </a:ext>
            </a:extLst>
          </p:cNvPr>
          <p:cNvSpPr txBox="1"/>
          <p:nvPr/>
        </p:nvSpPr>
        <p:spPr>
          <a:xfrm>
            <a:off x="5412083" y="2702330"/>
            <a:ext cx="681792"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Refiner</a:t>
            </a:r>
          </a:p>
        </p:txBody>
      </p:sp>
      <p:sp>
        <p:nvSpPr>
          <p:cNvPr id="26" name="TextBox 25">
            <a:extLst>
              <a:ext uri="{FF2B5EF4-FFF2-40B4-BE49-F238E27FC236}">
                <a16:creationId xmlns:a16="http://schemas.microsoft.com/office/drawing/2014/main" id="{BB4A1B13-7F09-517D-998C-DFF473141684}"/>
              </a:ext>
            </a:extLst>
          </p:cNvPr>
          <p:cNvSpPr txBox="1"/>
          <p:nvPr/>
        </p:nvSpPr>
        <p:spPr>
          <a:xfrm>
            <a:off x="10640854" y="2721331"/>
            <a:ext cx="127971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OEM</a:t>
            </a:r>
          </a:p>
        </p:txBody>
      </p:sp>
      <p:pic>
        <p:nvPicPr>
          <p:cNvPr id="27" name="Picture 6" descr="Factory Icon in Material Design">
            <a:extLst>
              <a:ext uri="{FF2B5EF4-FFF2-40B4-BE49-F238E27FC236}">
                <a16:creationId xmlns:a16="http://schemas.microsoft.com/office/drawing/2014/main" id="{2AB83A67-95AD-5FCD-DDFA-BB0EB110FD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40573" y="2983885"/>
            <a:ext cx="640946" cy="56704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4" descr="Car manufacturing - Free industry icons">
            <a:extLst>
              <a:ext uri="{FF2B5EF4-FFF2-40B4-BE49-F238E27FC236}">
                <a16:creationId xmlns:a16="http://schemas.microsoft.com/office/drawing/2014/main" id="{1E71D623-BE23-C600-9327-0338F4A267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2919" y="3026910"/>
            <a:ext cx="543362" cy="480713"/>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15502562-FC78-20EE-584E-6C9826346D36}"/>
              </a:ext>
            </a:extLst>
          </p:cNvPr>
          <p:cNvSpPr txBox="1"/>
          <p:nvPr/>
        </p:nvSpPr>
        <p:spPr>
          <a:xfrm>
            <a:off x="3594022" y="2702330"/>
            <a:ext cx="721303"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Smelter</a:t>
            </a:r>
          </a:p>
        </p:txBody>
      </p:sp>
      <p:sp>
        <p:nvSpPr>
          <p:cNvPr id="30" name="TextBox 29">
            <a:extLst>
              <a:ext uri="{FF2B5EF4-FFF2-40B4-BE49-F238E27FC236}">
                <a16:creationId xmlns:a16="http://schemas.microsoft.com/office/drawing/2014/main" id="{A43F3F60-CA69-0D49-EE0F-0E13DA965DF1}"/>
              </a:ext>
            </a:extLst>
          </p:cNvPr>
          <p:cNvSpPr txBox="1"/>
          <p:nvPr/>
        </p:nvSpPr>
        <p:spPr>
          <a:xfrm>
            <a:off x="7085744" y="2702330"/>
            <a:ext cx="1049824"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Fabricator</a:t>
            </a:r>
          </a:p>
        </p:txBody>
      </p:sp>
      <p:pic>
        <p:nvPicPr>
          <p:cNvPr id="31" name="Picture 6" descr="2,500+ Gravel Icon Stock Illustrations, Royalty-Free Vector Graphics &amp; Clip  Art - iStock">
            <a:extLst>
              <a:ext uri="{FF2B5EF4-FFF2-40B4-BE49-F238E27FC236}">
                <a16:creationId xmlns:a16="http://schemas.microsoft.com/office/drawing/2014/main" id="{7165F3DE-75E0-DFBA-4552-4D4920A950D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114" t="15270" r="15934" b="16995"/>
          <a:stretch/>
        </p:blipFill>
        <p:spPr bwMode="auto">
          <a:xfrm>
            <a:off x="1934040" y="3963103"/>
            <a:ext cx="372861" cy="395209"/>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8" descr="Ingot - Free business icons">
            <a:extLst>
              <a:ext uri="{FF2B5EF4-FFF2-40B4-BE49-F238E27FC236}">
                <a16:creationId xmlns:a16="http://schemas.microsoft.com/office/drawing/2014/main" id="{5EA85E76-E851-D597-4246-C12F8229997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5321" y="3976911"/>
            <a:ext cx="410291" cy="436275"/>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D0B90F85-1F40-6CA8-4446-CF691AAD88FF}"/>
              </a:ext>
            </a:extLst>
          </p:cNvPr>
          <p:cNvSpPr txBox="1"/>
          <p:nvPr/>
        </p:nvSpPr>
        <p:spPr>
          <a:xfrm>
            <a:off x="1685571" y="3745017"/>
            <a:ext cx="102904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Concentrate</a:t>
            </a:r>
          </a:p>
        </p:txBody>
      </p:sp>
      <p:sp>
        <p:nvSpPr>
          <p:cNvPr id="34" name="TextBox 33">
            <a:extLst>
              <a:ext uri="{FF2B5EF4-FFF2-40B4-BE49-F238E27FC236}">
                <a16:creationId xmlns:a16="http://schemas.microsoft.com/office/drawing/2014/main" id="{62E234C5-FD4A-6BF1-BFCE-FB7851753B73}"/>
              </a:ext>
            </a:extLst>
          </p:cNvPr>
          <p:cNvSpPr txBox="1"/>
          <p:nvPr/>
        </p:nvSpPr>
        <p:spPr>
          <a:xfrm>
            <a:off x="9045538" y="3745017"/>
            <a:ext cx="83956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Battery</a:t>
            </a:r>
          </a:p>
        </p:txBody>
      </p:sp>
      <p:sp>
        <p:nvSpPr>
          <p:cNvPr id="35" name="TextBox 34">
            <a:extLst>
              <a:ext uri="{FF2B5EF4-FFF2-40B4-BE49-F238E27FC236}">
                <a16:creationId xmlns:a16="http://schemas.microsoft.com/office/drawing/2014/main" id="{4639C470-95D8-FED5-F39D-4F58DC91F3CD}"/>
              </a:ext>
            </a:extLst>
          </p:cNvPr>
          <p:cNvSpPr txBox="1"/>
          <p:nvPr/>
        </p:nvSpPr>
        <p:spPr>
          <a:xfrm>
            <a:off x="5400440" y="3745017"/>
            <a:ext cx="82918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Cathodes</a:t>
            </a:r>
          </a:p>
        </p:txBody>
      </p:sp>
      <p:sp>
        <p:nvSpPr>
          <p:cNvPr id="36" name="TextBox 35">
            <a:extLst>
              <a:ext uri="{FF2B5EF4-FFF2-40B4-BE49-F238E27FC236}">
                <a16:creationId xmlns:a16="http://schemas.microsoft.com/office/drawing/2014/main" id="{D0165E2C-D53A-BFAC-D920-07DCA1AD5494}"/>
              </a:ext>
            </a:extLst>
          </p:cNvPr>
          <p:cNvSpPr txBox="1"/>
          <p:nvPr/>
        </p:nvSpPr>
        <p:spPr>
          <a:xfrm>
            <a:off x="10844407" y="3709464"/>
            <a:ext cx="888402"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EV</a:t>
            </a:r>
          </a:p>
        </p:txBody>
      </p:sp>
      <p:sp>
        <p:nvSpPr>
          <p:cNvPr id="37" name="TextBox 36">
            <a:extLst>
              <a:ext uri="{FF2B5EF4-FFF2-40B4-BE49-F238E27FC236}">
                <a16:creationId xmlns:a16="http://schemas.microsoft.com/office/drawing/2014/main" id="{0E32B6C8-2284-8496-617A-B5C72F8AC25E}"/>
              </a:ext>
            </a:extLst>
          </p:cNvPr>
          <p:cNvSpPr txBox="1"/>
          <p:nvPr/>
        </p:nvSpPr>
        <p:spPr>
          <a:xfrm>
            <a:off x="3616622" y="3745017"/>
            <a:ext cx="622617"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Blister</a:t>
            </a:r>
          </a:p>
        </p:txBody>
      </p:sp>
      <p:sp>
        <p:nvSpPr>
          <p:cNvPr id="38" name="TextBox 37">
            <a:extLst>
              <a:ext uri="{FF2B5EF4-FFF2-40B4-BE49-F238E27FC236}">
                <a16:creationId xmlns:a16="http://schemas.microsoft.com/office/drawing/2014/main" id="{672F77ED-704E-7FD1-3F1C-E023ED520693}"/>
              </a:ext>
            </a:extLst>
          </p:cNvPr>
          <p:cNvSpPr txBox="1"/>
          <p:nvPr/>
        </p:nvSpPr>
        <p:spPr>
          <a:xfrm>
            <a:off x="7451919" y="3736353"/>
            <a:ext cx="52872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i="0" u="none" strike="noStrike" kern="1200" cap="none" spc="0" normalizeH="0" baseline="0" noProof="0" dirty="0">
                <a:ln>
                  <a:noFill/>
                </a:ln>
                <a:solidFill>
                  <a:prstClr val="black"/>
                </a:solidFill>
                <a:effectLst/>
                <a:uLnTx/>
                <a:uFillTx/>
                <a:latin typeface="Calibri" panose="020F0502020204030204"/>
                <a:ea typeface="+mn-ea"/>
                <a:cs typeface="+mn-cs"/>
              </a:rPr>
              <a:t>Foil</a:t>
            </a:r>
          </a:p>
        </p:txBody>
      </p:sp>
      <p:pic>
        <p:nvPicPr>
          <p:cNvPr id="39" name="Picture 16" descr="Bullion, gold, ingot, meta, metal, nugget, precious icon - Download on  Iconfinder">
            <a:extLst>
              <a:ext uri="{FF2B5EF4-FFF2-40B4-BE49-F238E27FC236}">
                <a16:creationId xmlns:a16="http://schemas.microsoft.com/office/drawing/2014/main" id="{E284CEDC-9E39-9F46-2338-940A10BEDAB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36375" y="3926139"/>
            <a:ext cx="473788" cy="50379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8" descr="Aluminum foil icon 37133487 Vector Art at Vecteezy">
            <a:extLst>
              <a:ext uri="{FF2B5EF4-FFF2-40B4-BE49-F238E27FC236}">
                <a16:creationId xmlns:a16="http://schemas.microsoft.com/office/drawing/2014/main" id="{EC99E10F-5D83-092F-720B-FD208BC095C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89854" y="4029811"/>
            <a:ext cx="443840" cy="29591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0" descr="ev battery outline icon Stock Vector | Adobe Stock">
            <a:extLst>
              <a:ext uri="{FF2B5EF4-FFF2-40B4-BE49-F238E27FC236}">
                <a16:creationId xmlns:a16="http://schemas.microsoft.com/office/drawing/2014/main" id="{34FBB692-A825-F552-428E-D7303B2B401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9204334" y="4034709"/>
            <a:ext cx="412986" cy="38838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2" descr="Electric car - Free transport icons">
            <a:extLst>
              <a:ext uri="{FF2B5EF4-FFF2-40B4-BE49-F238E27FC236}">
                <a16:creationId xmlns:a16="http://schemas.microsoft.com/office/drawing/2014/main" id="{76EC2CD1-A545-8822-8ADF-570A3F96821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025139" y="3898374"/>
            <a:ext cx="511142" cy="543513"/>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02254633-FB6B-2671-D984-0A5DFA26429D}"/>
              </a:ext>
            </a:extLst>
          </p:cNvPr>
          <p:cNvSpPr txBox="1"/>
          <p:nvPr/>
        </p:nvSpPr>
        <p:spPr>
          <a:xfrm>
            <a:off x="1444545" y="4346477"/>
            <a:ext cx="113045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Consignment ID</a:t>
            </a:r>
          </a:p>
        </p:txBody>
      </p:sp>
      <p:sp>
        <p:nvSpPr>
          <p:cNvPr id="44" name="TextBox 43">
            <a:extLst>
              <a:ext uri="{FF2B5EF4-FFF2-40B4-BE49-F238E27FC236}">
                <a16:creationId xmlns:a16="http://schemas.microsoft.com/office/drawing/2014/main" id="{D3ED5793-3530-09AA-6650-07BF49E75BB9}"/>
              </a:ext>
            </a:extLst>
          </p:cNvPr>
          <p:cNvSpPr txBox="1"/>
          <p:nvPr/>
        </p:nvSpPr>
        <p:spPr>
          <a:xfrm>
            <a:off x="3567511" y="4346477"/>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45" name="TextBox 44">
            <a:extLst>
              <a:ext uri="{FF2B5EF4-FFF2-40B4-BE49-F238E27FC236}">
                <a16:creationId xmlns:a16="http://schemas.microsoft.com/office/drawing/2014/main" id="{CE6283A5-97D3-7FAC-315E-E094B5DF30ED}"/>
              </a:ext>
            </a:extLst>
          </p:cNvPr>
          <p:cNvSpPr txBox="1"/>
          <p:nvPr/>
        </p:nvSpPr>
        <p:spPr>
          <a:xfrm>
            <a:off x="5411980" y="4346477"/>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46" name="TextBox 45">
            <a:extLst>
              <a:ext uri="{FF2B5EF4-FFF2-40B4-BE49-F238E27FC236}">
                <a16:creationId xmlns:a16="http://schemas.microsoft.com/office/drawing/2014/main" id="{EA4141D6-4209-8205-0C00-F633274A9106}"/>
              </a:ext>
            </a:extLst>
          </p:cNvPr>
          <p:cNvSpPr txBox="1"/>
          <p:nvPr/>
        </p:nvSpPr>
        <p:spPr>
          <a:xfrm>
            <a:off x="7331415" y="4346477"/>
            <a:ext cx="68397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Batch ID</a:t>
            </a:r>
          </a:p>
        </p:txBody>
      </p:sp>
      <p:sp>
        <p:nvSpPr>
          <p:cNvPr id="47" name="TextBox 46">
            <a:extLst>
              <a:ext uri="{FF2B5EF4-FFF2-40B4-BE49-F238E27FC236}">
                <a16:creationId xmlns:a16="http://schemas.microsoft.com/office/drawing/2014/main" id="{E22FDAEA-DA17-6725-C3AF-AF98EEB0745B}"/>
              </a:ext>
            </a:extLst>
          </p:cNvPr>
          <p:cNvSpPr txBox="1"/>
          <p:nvPr/>
        </p:nvSpPr>
        <p:spPr>
          <a:xfrm>
            <a:off x="9040573" y="4346477"/>
            <a:ext cx="759665"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Serial No.</a:t>
            </a:r>
          </a:p>
        </p:txBody>
      </p:sp>
      <p:sp>
        <p:nvSpPr>
          <p:cNvPr id="48" name="TextBox 47">
            <a:extLst>
              <a:ext uri="{FF2B5EF4-FFF2-40B4-BE49-F238E27FC236}">
                <a16:creationId xmlns:a16="http://schemas.microsoft.com/office/drawing/2014/main" id="{B5A20171-6DC3-030C-7E71-7BED65133A41}"/>
              </a:ext>
            </a:extLst>
          </p:cNvPr>
          <p:cNvSpPr txBox="1"/>
          <p:nvPr/>
        </p:nvSpPr>
        <p:spPr>
          <a:xfrm>
            <a:off x="10968436" y="4357769"/>
            <a:ext cx="39511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VIN</a:t>
            </a:r>
          </a:p>
        </p:txBody>
      </p:sp>
      <p:pic>
        <p:nvPicPr>
          <p:cNvPr id="49" name="Picture 28" descr="Vector Design Extrusion Icon Style | Premium Vector">
            <a:extLst>
              <a:ext uri="{FF2B5EF4-FFF2-40B4-BE49-F238E27FC236}">
                <a16:creationId xmlns:a16="http://schemas.microsoft.com/office/drawing/2014/main" id="{EC61AAF6-3192-F46A-247D-2EC314DF213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81889" y="2991955"/>
            <a:ext cx="564161" cy="599891"/>
          </a:xfrm>
          <a:prstGeom prst="rect">
            <a:avLst/>
          </a:prstGeom>
          <a:noFill/>
          <a:extLst>
            <a:ext uri="{909E8E84-426E-40DD-AFC4-6F175D3DCCD1}">
              <a14:hiddenFill xmlns:a14="http://schemas.microsoft.com/office/drawing/2010/main">
                <a:solidFill>
                  <a:srgbClr val="FFFFFF"/>
                </a:solidFill>
              </a14:hiddenFill>
            </a:ext>
          </a:extLst>
        </p:spPr>
      </p:pic>
      <p:sp>
        <p:nvSpPr>
          <p:cNvPr id="50" name="Rounded Rectangle 49">
            <a:extLst>
              <a:ext uri="{FF2B5EF4-FFF2-40B4-BE49-F238E27FC236}">
                <a16:creationId xmlns:a16="http://schemas.microsoft.com/office/drawing/2014/main" id="{951A78C8-F224-804A-D0E2-98D33F794C71}"/>
              </a:ext>
            </a:extLst>
          </p:cNvPr>
          <p:cNvSpPr/>
          <p:nvPr/>
        </p:nvSpPr>
        <p:spPr>
          <a:xfrm>
            <a:off x="9183399" y="221358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51" name="TextBox 50">
            <a:extLst>
              <a:ext uri="{FF2B5EF4-FFF2-40B4-BE49-F238E27FC236}">
                <a16:creationId xmlns:a16="http://schemas.microsoft.com/office/drawing/2014/main" id="{2502CC38-7E14-69D8-D6EF-F853F506CEA3}"/>
              </a:ext>
            </a:extLst>
          </p:cNvPr>
          <p:cNvSpPr txBox="1"/>
          <p:nvPr/>
        </p:nvSpPr>
        <p:spPr>
          <a:xfrm>
            <a:off x="1818773" y="3446683"/>
            <a:ext cx="56325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Site ID</a:t>
            </a:r>
          </a:p>
        </p:txBody>
      </p:sp>
      <p:sp>
        <p:nvSpPr>
          <p:cNvPr id="52" name="TextBox 51">
            <a:extLst>
              <a:ext uri="{FF2B5EF4-FFF2-40B4-BE49-F238E27FC236}">
                <a16:creationId xmlns:a16="http://schemas.microsoft.com/office/drawing/2014/main" id="{3B1263D4-C101-0D51-0845-91F7177DC9B5}"/>
              </a:ext>
            </a:extLst>
          </p:cNvPr>
          <p:cNvSpPr txBox="1"/>
          <p:nvPr/>
        </p:nvSpPr>
        <p:spPr>
          <a:xfrm>
            <a:off x="3653676" y="3512156"/>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53" name="TextBox 52">
            <a:extLst>
              <a:ext uri="{FF2B5EF4-FFF2-40B4-BE49-F238E27FC236}">
                <a16:creationId xmlns:a16="http://schemas.microsoft.com/office/drawing/2014/main" id="{E3F0B279-57B4-EFE3-6443-77786BE47927}"/>
              </a:ext>
            </a:extLst>
          </p:cNvPr>
          <p:cNvSpPr txBox="1"/>
          <p:nvPr/>
        </p:nvSpPr>
        <p:spPr>
          <a:xfrm>
            <a:off x="9060021" y="3493243"/>
            <a:ext cx="59629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OSH ID</a:t>
            </a:r>
          </a:p>
        </p:txBody>
      </p:sp>
      <p:sp>
        <p:nvSpPr>
          <p:cNvPr id="54" name="TextBox 53">
            <a:extLst>
              <a:ext uri="{FF2B5EF4-FFF2-40B4-BE49-F238E27FC236}">
                <a16:creationId xmlns:a16="http://schemas.microsoft.com/office/drawing/2014/main" id="{AF64C364-2075-0C2C-54A7-7BFE2D5A9C89}"/>
              </a:ext>
            </a:extLst>
          </p:cNvPr>
          <p:cNvSpPr txBox="1"/>
          <p:nvPr/>
        </p:nvSpPr>
        <p:spPr>
          <a:xfrm>
            <a:off x="5421707" y="3498593"/>
            <a:ext cx="587220"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RMI ID</a:t>
            </a:r>
          </a:p>
        </p:txBody>
      </p:sp>
      <p:sp>
        <p:nvSpPr>
          <p:cNvPr id="55" name="TextBox 54">
            <a:extLst>
              <a:ext uri="{FF2B5EF4-FFF2-40B4-BE49-F238E27FC236}">
                <a16:creationId xmlns:a16="http://schemas.microsoft.com/office/drawing/2014/main" id="{AB64D757-B2C9-2FF6-89D8-4E1B35BB83B1}"/>
              </a:ext>
            </a:extLst>
          </p:cNvPr>
          <p:cNvSpPr txBox="1"/>
          <p:nvPr/>
        </p:nvSpPr>
        <p:spPr>
          <a:xfrm>
            <a:off x="7433488" y="3530704"/>
            <a:ext cx="42082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GLN</a:t>
            </a:r>
          </a:p>
        </p:txBody>
      </p:sp>
      <p:sp>
        <p:nvSpPr>
          <p:cNvPr id="56" name="TextBox 55">
            <a:extLst>
              <a:ext uri="{FF2B5EF4-FFF2-40B4-BE49-F238E27FC236}">
                <a16:creationId xmlns:a16="http://schemas.microsoft.com/office/drawing/2014/main" id="{6C94AA3D-266E-231E-8977-AB0115AD4FCD}"/>
              </a:ext>
            </a:extLst>
          </p:cNvPr>
          <p:cNvSpPr txBox="1"/>
          <p:nvPr/>
        </p:nvSpPr>
        <p:spPr>
          <a:xfrm>
            <a:off x="10869609" y="3501135"/>
            <a:ext cx="93532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i="1" u="none" strike="noStrike" kern="1200" cap="none" spc="0" normalizeH="0" baseline="0" noProof="0" dirty="0">
                <a:ln>
                  <a:noFill/>
                </a:ln>
                <a:solidFill>
                  <a:prstClr val="black"/>
                </a:solidFill>
                <a:effectLst/>
                <a:uLnTx/>
                <a:uFillTx/>
                <a:latin typeface="Calibri" panose="020F0502020204030204"/>
                <a:ea typeface="+mn-ea"/>
                <a:cs typeface="+mn-cs"/>
              </a:rPr>
              <a:t>Company ID</a:t>
            </a:r>
          </a:p>
        </p:txBody>
      </p:sp>
      <p:sp>
        <p:nvSpPr>
          <p:cNvPr id="57" name="Rounded Rectangle 56">
            <a:extLst>
              <a:ext uri="{FF2B5EF4-FFF2-40B4-BE49-F238E27FC236}">
                <a16:creationId xmlns:a16="http://schemas.microsoft.com/office/drawing/2014/main" id="{BE078A1B-29C4-1400-E223-94EE43A99C8E}"/>
              </a:ext>
            </a:extLst>
          </p:cNvPr>
          <p:cNvSpPr/>
          <p:nvPr/>
        </p:nvSpPr>
        <p:spPr>
          <a:xfrm>
            <a:off x="11082089" y="221358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58" name="Rounded Rectangle 57">
            <a:extLst>
              <a:ext uri="{FF2B5EF4-FFF2-40B4-BE49-F238E27FC236}">
                <a16:creationId xmlns:a16="http://schemas.microsoft.com/office/drawing/2014/main" id="{0906408A-3C3A-467E-8ABD-895BF6A36678}"/>
              </a:ext>
            </a:extLst>
          </p:cNvPr>
          <p:cNvSpPr/>
          <p:nvPr/>
        </p:nvSpPr>
        <p:spPr>
          <a:xfrm>
            <a:off x="7411952" y="221358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59" name="Rounded Rectangle 58">
            <a:extLst>
              <a:ext uri="{FF2B5EF4-FFF2-40B4-BE49-F238E27FC236}">
                <a16:creationId xmlns:a16="http://schemas.microsoft.com/office/drawing/2014/main" id="{9369390C-AA1B-8E65-7560-012F708901B7}"/>
              </a:ext>
            </a:extLst>
          </p:cNvPr>
          <p:cNvSpPr/>
          <p:nvPr/>
        </p:nvSpPr>
        <p:spPr>
          <a:xfrm>
            <a:off x="5558326" y="221358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60" name="Rounded Rectangle 59">
            <a:extLst>
              <a:ext uri="{FF2B5EF4-FFF2-40B4-BE49-F238E27FC236}">
                <a16:creationId xmlns:a16="http://schemas.microsoft.com/office/drawing/2014/main" id="{B3584B5D-B3B9-8A5E-EACE-3D83CFD1A34B}"/>
              </a:ext>
            </a:extLst>
          </p:cNvPr>
          <p:cNvSpPr/>
          <p:nvPr/>
        </p:nvSpPr>
        <p:spPr>
          <a:xfrm>
            <a:off x="3756063" y="221358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
        <p:nvSpPr>
          <p:cNvPr id="61" name="Rounded Rectangle 60">
            <a:extLst>
              <a:ext uri="{FF2B5EF4-FFF2-40B4-BE49-F238E27FC236}">
                <a16:creationId xmlns:a16="http://schemas.microsoft.com/office/drawing/2014/main" id="{FBD031CC-F359-282D-9DB1-FA910685F0EF}"/>
              </a:ext>
            </a:extLst>
          </p:cNvPr>
          <p:cNvSpPr/>
          <p:nvPr/>
        </p:nvSpPr>
        <p:spPr>
          <a:xfrm>
            <a:off x="1922981" y="2213585"/>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cxnSp>
        <p:nvCxnSpPr>
          <p:cNvPr id="62" name="Straight Arrow Connector 50">
            <a:extLst>
              <a:ext uri="{FF2B5EF4-FFF2-40B4-BE49-F238E27FC236}">
                <a16:creationId xmlns:a16="http://schemas.microsoft.com/office/drawing/2014/main" id="{F22DA428-3628-633D-8682-958D831322BF}"/>
              </a:ext>
            </a:extLst>
          </p:cNvPr>
          <p:cNvCxnSpPr>
            <a:cxnSpLocks/>
          </p:cNvCxnSpPr>
          <p:nvPr/>
        </p:nvCxnSpPr>
        <p:spPr>
          <a:xfrm rot="10800000">
            <a:off x="9569861" y="2340343"/>
            <a:ext cx="1423058" cy="845462"/>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3" name="Straight Arrow Connector 50">
            <a:extLst>
              <a:ext uri="{FF2B5EF4-FFF2-40B4-BE49-F238E27FC236}">
                <a16:creationId xmlns:a16="http://schemas.microsoft.com/office/drawing/2014/main" id="{EAFD7D53-52F7-2417-C249-F727402CCA1B}"/>
              </a:ext>
            </a:extLst>
          </p:cNvPr>
          <p:cNvCxnSpPr>
            <a:cxnSpLocks/>
          </p:cNvCxnSpPr>
          <p:nvPr/>
        </p:nvCxnSpPr>
        <p:spPr>
          <a:xfrm rot="10800000">
            <a:off x="7798414" y="2340350"/>
            <a:ext cx="1242159" cy="845591"/>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4" name="Straight Arrow Connector 50">
            <a:extLst>
              <a:ext uri="{FF2B5EF4-FFF2-40B4-BE49-F238E27FC236}">
                <a16:creationId xmlns:a16="http://schemas.microsoft.com/office/drawing/2014/main" id="{812F65D3-8BE0-E49E-752F-8509F513EF34}"/>
              </a:ext>
            </a:extLst>
          </p:cNvPr>
          <p:cNvCxnSpPr>
            <a:cxnSpLocks/>
          </p:cNvCxnSpPr>
          <p:nvPr/>
        </p:nvCxnSpPr>
        <p:spPr>
          <a:xfrm rot="10800000">
            <a:off x="5944789" y="2341463"/>
            <a:ext cx="1437101" cy="867856"/>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5" name="Straight Arrow Connector 50">
            <a:extLst>
              <a:ext uri="{FF2B5EF4-FFF2-40B4-BE49-F238E27FC236}">
                <a16:creationId xmlns:a16="http://schemas.microsoft.com/office/drawing/2014/main" id="{EC2EDB9C-4625-30E3-211F-A90C77AC6B4D}"/>
              </a:ext>
            </a:extLst>
          </p:cNvPr>
          <p:cNvCxnSpPr>
            <a:cxnSpLocks/>
            <a:stCxn id="57" idx="2"/>
            <a:endCxn id="26" idx="0"/>
          </p:cNvCxnSpPr>
          <p:nvPr/>
        </p:nvCxnSpPr>
        <p:spPr>
          <a:xfrm>
            <a:off x="11275320" y="2460933"/>
            <a:ext cx="5390" cy="260398"/>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6" name="Straight Arrow Connector 50">
            <a:extLst>
              <a:ext uri="{FF2B5EF4-FFF2-40B4-BE49-F238E27FC236}">
                <a16:creationId xmlns:a16="http://schemas.microsoft.com/office/drawing/2014/main" id="{F9B3E655-AF65-0A7B-5B7C-752D8E05F744}"/>
              </a:ext>
            </a:extLst>
          </p:cNvPr>
          <p:cNvCxnSpPr>
            <a:cxnSpLocks/>
            <a:stCxn id="50" idx="2"/>
            <a:endCxn id="24" idx="0"/>
          </p:cNvCxnSpPr>
          <p:nvPr/>
        </p:nvCxnSpPr>
        <p:spPr>
          <a:xfrm>
            <a:off x="9376630" y="2460933"/>
            <a:ext cx="129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7" name="Straight Arrow Connector 50">
            <a:extLst>
              <a:ext uri="{FF2B5EF4-FFF2-40B4-BE49-F238E27FC236}">
                <a16:creationId xmlns:a16="http://schemas.microsoft.com/office/drawing/2014/main" id="{4D82534A-89B4-8490-62D8-6CFCEC8D8541}"/>
              </a:ext>
            </a:extLst>
          </p:cNvPr>
          <p:cNvCxnSpPr>
            <a:cxnSpLocks/>
            <a:stCxn id="58" idx="2"/>
            <a:endCxn id="30" idx="0"/>
          </p:cNvCxnSpPr>
          <p:nvPr/>
        </p:nvCxnSpPr>
        <p:spPr>
          <a:xfrm>
            <a:off x="7605183" y="2460933"/>
            <a:ext cx="5473"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8" name="Straight Arrow Connector 50">
            <a:extLst>
              <a:ext uri="{FF2B5EF4-FFF2-40B4-BE49-F238E27FC236}">
                <a16:creationId xmlns:a16="http://schemas.microsoft.com/office/drawing/2014/main" id="{E00FCD04-1C9C-0787-16F9-981FB8B632B1}"/>
              </a:ext>
            </a:extLst>
          </p:cNvPr>
          <p:cNvCxnSpPr>
            <a:cxnSpLocks/>
            <a:stCxn id="59" idx="2"/>
            <a:endCxn id="25" idx="0"/>
          </p:cNvCxnSpPr>
          <p:nvPr/>
        </p:nvCxnSpPr>
        <p:spPr>
          <a:xfrm>
            <a:off x="5751557" y="2460933"/>
            <a:ext cx="1421"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9" name="Straight Arrow Connector 50">
            <a:extLst>
              <a:ext uri="{FF2B5EF4-FFF2-40B4-BE49-F238E27FC236}">
                <a16:creationId xmlns:a16="http://schemas.microsoft.com/office/drawing/2014/main" id="{9D6D1A28-574A-6C41-C454-990C3E86E1EF}"/>
              </a:ext>
            </a:extLst>
          </p:cNvPr>
          <p:cNvCxnSpPr>
            <a:cxnSpLocks/>
            <a:stCxn id="60" idx="2"/>
            <a:endCxn id="29" idx="0"/>
          </p:cNvCxnSpPr>
          <p:nvPr/>
        </p:nvCxnSpPr>
        <p:spPr>
          <a:xfrm>
            <a:off x="3949294" y="2460933"/>
            <a:ext cx="5380"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0" name="Straight Arrow Connector 50">
            <a:extLst>
              <a:ext uri="{FF2B5EF4-FFF2-40B4-BE49-F238E27FC236}">
                <a16:creationId xmlns:a16="http://schemas.microsoft.com/office/drawing/2014/main" id="{4F3D7979-B3C8-6D4C-9973-4CB07E91CEC9}"/>
              </a:ext>
            </a:extLst>
          </p:cNvPr>
          <p:cNvCxnSpPr>
            <a:cxnSpLocks/>
          </p:cNvCxnSpPr>
          <p:nvPr/>
        </p:nvCxnSpPr>
        <p:spPr>
          <a:xfrm flipH="1">
            <a:off x="2109629" y="2528159"/>
            <a:ext cx="6582" cy="24139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1" name="Straight Arrow Connector 50">
            <a:extLst>
              <a:ext uri="{FF2B5EF4-FFF2-40B4-BE49-F238E27FC236}">
                <a16:creationId xmlns:a16="http://schemas.microsoft.com/office/drawing/2014/main" id="{7BB87A2D-5FA5-97FF-9691-D8B61305DEC0}"/>
              </a:ext>
            </a:extLst>
          </p:cNvPr>
          <p:cNvCxnSpPr>
            <a:cxnSpLocks/>
          </p:cNvCxnSpPr>
          <p:nvPr/>
        </p:nvCxnSpPr>
        <p:spPr>
          <a:xfrm rot="10800000">
            <a:off x="4142525" y="2327471"/>
            <a:ext cx="1271050" cy="849259"/>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2" name="Straight Arrow Connector 50">
            <a:extLst>
              <a:ext uri="{FF2B5EF4-FFF2-40B4-BE49-F238E27FC236}">
                <a16:creationId xmlns:a16="http://schemas.microsoft.com/office/drawing/2014/main" id="{A4ED241F-C629-FDA7-19BF-ECBF40885DEB}"/>
              </a:ext>
            </a:extLst>
          </p:cNvPr>
          <p:cNvCxnSpPr>
            <a:cxnSpLocks/>
          </p:cNvCxnSpPr>
          <p:nvPr/>
        </p:nvCxnSpPr>
        <p:spPr>
          <a:xfrm rot="10800000">
            <a:off x="2309443" y="2353931"/>
            <a:ext cx="1392377" cy="855953"/>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3" name="Straight Arrow Connector 50">
            <a:extLst>
              <a:ext uri="{FF2B5EF4-FFF2-40B4-BE49-F238E27FC236}">
                <a16:creationId xmlns:a16="http://schemas.microsoft.com/office/drawing/2014/main" id="{57AF3FD3-16D5-CA23-CCD8-EA8919DB3995}"/>
              </a:ext>
            </a:extLst>
          </p:cNvPr>
          <p:cNvCxnSpPr>
            <a:cxnSpLocks/>
          </p:cNvCxnSpPr>
          <p:nvPr/>
        </p:nvCxnSpPr>
        <p:spPr>
          <a:xfrm rot="10800000" flipV="1">
            <a:off x="2306901" y="3345018"/>
            <a:ext cx="1394919" cy="801728"/>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4" name="Straight Arrow Connector 50">
            <a:extLst>
              <a:ext uri="{FF2B5EF4-FFF2-40B4-BE49-F238E27FC236}">
                <a16:creationId xmlns:a16="http://schemas.microsoft.com/office/drawing/2014/main" id="{DFD861F1-539E-6637-BB63-6C4E60EB1EBA}"/>
              </a:ext>
            </a:extLst>
          </p:cNvPr>
          <p:cNvCxnSpPr>
            <a:cxnSpLocks/>
          </p:cNvCxnSpPr>
          <p:nvPr/>
        </p:nvCxnSpPr>
        <p:spPr>
          <a:xfrm rot="10800000" flipV="1">
            <a:off x="4210164" y="3351842"/>
            <a:ext cx="1203411" cy="82417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5" name="Straight Arrow Connector 50">
            <a:extLst>
              <a:ext uri="{FF2B5EF4-FFF2-40B4-BE49-F238E27FC236}">
                <a16:creationId xmlns:a16="http://schemas.microsoft.com/office/drawing/2014/main" id="{DC6E7816-2775-7039-AF61-885DB6465F7B}"/>
              </a:ext>
            </a:extLst>
          </p:cNvPr>
          <p:cNvCxnSpPr>
            <a:cxnSpLocks/>
          </p:cNvCxnSpPr>
          <p:nvPr/>
        </p:nvCxnSpPr>
        <p:spPr>
          <a:xfrm rot="10800000" flipV="1">
            <a:off x="5995612" y="3385205"/>
            <a:ext cx="1386277" cy="821044"/>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6" name="Straight Arrow Connector 50">
            <a:extLst>
              <a:ext uri="{FF2B5EF4-FFF2-40B4-BE49-F238E27FC236}">
                <a16:creationId xmlns:a16="http://schemas.microsoft.com/office/drawing/2014/main" id="{046072AC-18EB-2739-1E43-20D634C6673D}"/>
              </a:ext>
            </a:extLst>
          </p:cNvPr>
          <p:cNvCxnSpPr>
            <a:cxnSpLocks/>
          </p:cNvCxnSpPr>
          <p:nvPr/>
        </p:nvCxnSpPr>
        <p:spPr>
          <a:xfrm rot="10800000" flipV="1">
            <a:off x="7933694" y="3361040"/>
            <a:ext cx="1106879" cy="827597"/>
          </a:xfrm>
          <a:prstGeom prst="bentConnector3">
            <a:avLst>
              <a:gd name="adj1" fmla="val 54917"/>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7" name="Straight Arrow Connector 50">
            <a:extLst>
              <a:ext uri="{FF2B5EF4-FFF2-40B4-BE49-F238E27FC236}">
                <a16:creationId xmlns:a16="http://schemas.microsoft.com/office/drawing/2014/main" id="{3BA0F5AE-8EE0-E710-4482-DD05479C8E1E}"/>
              </a:ext>
            </a:extLst>
          </p:cNvPr>
          <p:cNvCxnSpPr>
            <a:cxnSpLocks/>
          </p:cNvCxnSpPr>
          <p:nvPr/>
        </p:nvCxnSpPr>
        <p:spPr>
          <a:xfrm rot="10800000" flipV="1">
            <a:off x="9605021" y="3337104"/>
            <a:ext cx="1387898" cy="874215"/>
          </a:xfrm>
          <a:prstGeom prst="bentConnector3">
            <a:avLst>
              <a:gd name="adj1" fmla="val 50000"/>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78" name="Rounded Rectangle 77">
            <a:extLst>
              <a:ext uri="{FF2B5EF4-FFF2-40B4-BE49-F238E27FC236}">
                <a16:creationId xmlns:a16="http://schemas.microsoft.com/office/drawing/2014/main" id="{5FFD0E9B-B0BA-628D-72E6-F05462FF6F1F}"/>
              </a:ext>
            </a:extLst>
          </p:cNvPr>
          <p:cNvSpPr/>
          <p:nvPr/>
        </p:nvSpPr>
        <p:spPr>
          <a:xfrm>
            <a:off x="4139771" y="405823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79" name="Rounded Rectangle 78">
            <a:extLst>
              <a:ext uri="{FF2B5EF4-FFF2-40B4-BE49-F238E27FC236}">
                <a16:creationId xmlns:a16="http://schemas.microsoft.com/office/drawing/2014/main" id="{B932F49D-E35E-0D06-5429-B2D88EC1D8DE}"/>
              </a:ext>
            </a:extLst>
          </p:cNvPr>
          <p:cNvSpPr/>
          <p:nvPr/>
        </p:nvSpPr>
        <p:spPr>
          <a:xfrm>
            <a:off x="2379793" y="405823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80" name="Rounded Rectangle 79">
            <a:extLst>
              <a:ext uri="{FF2B5EF4-FFF2-40B4-BE49-F238E27FC236}">
                <a16:creationId xmlns:a16="http://schemas.microsoft.com/office/drawing/2014/main" id="{19885EC1-5537-C4A8-07F2-894BF8B5874D}"/>
              </a:ext>
            </a:extLst>
          </p:cNvPr>
          <p:cNvSpPr/>
          <p:nvPr/>
        </p:nvSpPr>
        <p:spPr>
          <a:xfrm>
            <a:off x="6063747" y="405823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81" name="Rounded Rectangle 80">
            <a:extLst>
              <a:ext uri="{FF2B5EF4-FFF2-40B4-BE49-F238E27FC236}">
                <a16:creationId xmlns:a16="http://schemas.microsoft.com/office/drawing/2014/main" id="{AB151318-752B-8E87-202F-43B7725844C8}"/>
              </a:ext>
            </a:extLst>
          </p:cNvPr>
          <p:cNvSpPr/>
          <p:nvPr/>
        </p:nvSpPr>
        <p:spPr>
          <a:xfrm>
            <a:off x="7980641" y="4092219"/>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82" name="Rounded Rectangle 81">
            <a:extLst>
              <a:ext uri="{FF2B5EF4-FFF2-40B4-BE49-F238E27FC236}">
                <a16:creationId xmlns:a16="http://schemas.microsoft.com/office/drawing/2014/main" id="{B8BC167D-BF8F-79EB-8F02-981A01FAE7C9}"/>
              </a:ext>
            </a:extLst>
          </p:cNvPr>
          <p:cNvSpPr/>
          <p:nvPr/>
        </p:nvSpPr>
        <p:spPr>
          <a:xfrm>
            <a:off x="9687987" y="4058234"/>
            <a:ext cx="411676" cy="25425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t>DPP</a:t>
            </a:r>
          </a:p>
        </p:txBody>
      </p:sp>
      <p:sp>
        <p:nvSpPr>
          <p:cNvPr id="83" name="TextBox 82">
            <a:extLst>
              <a:ext uri="{FF2B5EF4-FFF2-40B4-BE49-F238E27FC236}">
                <a16:creationId xmlns:a16="http://schemas.microsoft.com/office/drawing/2014/main" id="{8CE16E59-DEC1-0CD9-F0D8-C8DDD418A90A}"/>
              </a:ext>
            </a:extLst>
          </p:cNvPr>
          <p:cNvSpPr txBox="1"/>
          <p:nvPr/>
        </p:nvSpPr>
        <p:spPr>
          <a:xfrm>
            <a:off x="1982509" y="4965914"/>
            <a:ext cx="1684551" cy="278200"/>
          </a:xfrm>
          <a:prstGeom prst="rect">
            <a:avLst/>
          </a:prstGeom>
          <a:noFill/>
        </p:spPr>
        <p:txBody>
          <a:bodyPr wrap="none" rtlCol="0">
            <a:spAutoFit/>
          </a:bodyPr>
          <a:lstStyle/>
          <a:p>
            <a:pPr algn="ctr"/>
            <a:r>
              <a:rPr lang="en-AU" sz="1200" b="1" dirty="0">
                <a:solidFill>
                  <a:schemeClr val="bg1"/>
                </a:solidFill>
              </a:rPr>
              <a:t>Digital Traceability Event</a:t>
            </a:r>
          </a:p>
        </p:txBody>
      </p:sp>
      <p:sp>
        <p:nvSpPr>
          <p:cNvPr id="84" name="Rounded Rectangle 83">
            <a:extLst>
              <a:ext uri="{FF2B5EF4-FFF2-40B4-BE49-F238E27FC236}">
                <a16:creationId xmlns:a16="http://schemas.microsoft.com/office/drawing/2014/main" id="{BCB71EB7-9117-E916-557C-3348EFC6BB02}"/>
              </a:ext>
            </a:extLst>
          </p:cNvPr>
          <p:cNvSpPr/>
          <p:nvPr/>
        </p:nvSpPr>
        <p:spPr>
          <a:xfrm>
            <a:off x="6539169" y="2475989"/>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85" name="Rounded Rectangle 84">
            <a:extLst>
              <a:ext uri="{FF2B5EF4-FFF2-40B4-BE49-F238E27FC236}">
                <a16:creationId xmlns:a16="http://schemas.microsoft.com/office/drawing/2014/main" id="{FF30682B-14B0-997D-8210-285C350F078B}"/>
              </a:ext>
            </a:extLst>
          </p:cNvPr>
          <p:cNvSpPr/>
          <p:nvPr/>
        </p:nvSpPr>
        <p:spPr>
          <a:xfrm>
            <a:off x="6568410" y="3729563"/>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86" name="Rounded Rectangle 85">
            <a:extLst>
              <a:ext uri="{FF2B5EF4-FFF2-40B4-BE49-F238E27FC236}">
                <a16:creationId xmlns:a16="http://schemas.microsoft.com/office/drawing/2014/main" id="{EC996B75-C3C6-B145-CD50-A78ACC50C076}"/>
              </a:ext>
            </a:extLst>
          </p:cNvPr>
          <p:cNvSpPr/>
          <p:nvPr/>
        </p:nvSpPr>
        <p:spPr>
          <a:xfrm>
            <a:off x="10196599" y="2399418"/>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87" name="Rounded Rectangle 86">
            <a:extLst>
              <a:ext uri="{FF2B5EF4-FFF2-40B4-BE49-F238E27FC236}">
                <a16:creationId xmlns:a16="http://schemas.microsoft.com/office/drawing/2014/main" id="{30D6BB14-1F37-66D0-CDF2-C1495E28D647}"/>
              </a:ext>
            </a:extLst>
          </p:cNvPr>
          <p:cNvSpPr/>
          <p:nvPr/>
        </p:nvSpPr>
        <p:spPr>
          <a:xfrm>
            <a:off x="10247965" y="368000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88" name="Rounded Rectangle 87">
            <a:extLst>
              <a:ext uri="{FF2B5EF4-FFF2-40B4-BE49-F238E27FC236}">
                <a16:creationId xmlns:a16="http://schemas.microsoft.com/office/drawing/2014/main" id="{67CEF7E2-75F4-E3A0-92A8-8778F135B7FC}"/>
              </a:ext>
            </a:extLst>
          </p:cNvPr>
          <p:cNvSpPr/>
          <p:nvPr/>
        </p:nvSpPr>
        <p:spPr>
          <a:xfrm>
            <a:off x="2912086" y="244015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89" name="Rounded Rectangle 88">
            <a:extLst>
              <a:ext uri="{FF2B5EF4-FFF2-40B4-BE49-F238E27FC236}">
                <a16:creationId xmlns:a16="http://schemas.microsoft.com/office/drawing/2014/main" id="{EDFCBD04-549C-C162-EEB2-7C4054A4C7DF}"/>
              </a:ext>
            </a:extLst>
          </p:cNvPr>
          <p:cNvSpPr/>
          <p:nvPr/>
        </p:nvSpPr>
        <p:spPr>
          <a:xfrm>
            <a:off x="2865209" y="3690686"/>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cxnSp>
        <p:nvCxnSpPr>
          <p:cNvPr id="90" name="Straight Arrow Connector 50">
            <a:extLst>
              <a:ext uri="{FF2B5EF4-FFF2-40B4-BE49-F238E27FC236}">
                <a16:creationId xmlns:a16="http://schemas.microsoft.com/office/drawing/2014/main" id="{06D2CD9A-ACDB-4896-B28D-8C310BEEB509}"/>
              </a:ext>
            </a:extLst>
          </p:cNvPr>
          <p:cNvCxnSpPr>
            <a:cxnSpLocks/>
            <a:stCxn id="58" idx="0"/>
            <a:endCxn id="86" idx="0"/>
          </p:cNvCxnSpPr>
          <p:nvPr/>
        </p:nvCxnSpPr>
        <p:spPr>
          <a:xfrm rot="16200000" flipH="1">
            <a:off x="8904589" y="914178"/>
            <a:ext cx="185833" cy="2784647"/>
          </a:xfrm>
          <a:prstGeom prst="bentConnector3">
            <a:avLst>
              <a:gd name="adj1" fmla="val -123014"/>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1" name="Straight Arrow Connector 50">
            <a:extLst>
              <a:ext uri="{FF2B5EF4-FFF2-40B4-BE49-F238E27FC236}">
                <a16:creationId xmlns:a16="http://schemas.microsoft.com/office/drawing/2014/main" id="{5AB880B2-79EB-D607-8112-E77045C00078}"/>
              </a:ext>
            </a:extLst>
          </p:cNvPr>
          <p:cNvCxnSpPr>
            <a:cxnSpLocks/>
            <a:stCxn id="81" idx="2"/>
            <a:endCxn id="87" idx="2"/>
          </p:cNvCxnSpPr>
          <p:nvPr/>
        </p:nvCxnSpPr>
        <p:spPr>
          <a:xfrm rot="5400000" flipH="1" flipV="1">
            <a:off x="9104275" y="3009557"/>
            <a:ext cx="419123" cy="2254717"/>
          </a:xfrm>
          <a:prstGeom prst="bentConnector3">
            <a:avLst>
              <a:gd name="adj1" fmla="val -54542"/>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2" name="Straight Arrow Connector 50">
            <a:extLst>
              <a:ext uri="{FF2B5EF4-FFF2-40B4-BE49-F238E27FC236}">
                <a16:creationId xmlns:a16="http://schemas.microsoft.com/office/drawing/2014/main" id="{7A0B0212-2C11-D1AE-162D-F8F3E855B096}"/>
              </a:ext>
            </a:extLst>
          </p:cNvPr>
          <p:cNvCxnSpPr>
            <a:cxnSpLocks/>
            <a:stCxn id="60" idx="0"/>
            <a:endCxn id="84" idx="0"/>
          </p:cNvCxnSpPr>
          <p:nvPr/>
        </p:nvCxnSpPr>
        <p:spPr>
          <a:xfrm rot="16200000" flipH="1">
            <a:off x="5209645" y="953234"/>
            <a:ext cx="262404" cy="2783106"/>
          </a:xfrm>
          <a:prstGeom prst="bentConnector3">
            <a:avLst>
              <a:gd name="adj1" fmla="val -87118"/>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 name="Straight Arrow Connector 50">
            <a:extLst>
              <a:ext uri="{FF2B5EF4-FFF2-40B4-BE49-F238E27FC236}">
                <a16:creationId xmlns:a16="http://schemas.microsoft.com/office/drawing/2014/main" id="{DE99B2CD-B8BB-545C-C2D3-CC8783BBA1F8}"/>
              </a:ext>
            </a:extLst>
          </p:cNvPr>
          <p:cNvCxnSpPr>
            <a:cxnSpLocks/>
            <a:stCxn id="78" idx="2"/>
            <a:endCxn id="85" idx="2"/>
          </p:cNvCxnSpPr>
          <p:nvPr/>
        </p:nvCxnSpPr>
        <p:spPr>
          <a:xfrm rot="5400000" flipH="1" flipV="1">
            <a:off x="5385834" y="2936686"/>
            <a:ext cx="335581" cy="2416032"/>
          </a:xfrm>
          <a:prstGeom prst="bentConnector3">
            <a:avLst>
              <a:gd name="adj1" fmla="val -100560"/>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94" name="Picture 93">
            <a:extLst>
              <a:ext uri="{FF2B5EF4-FFF2-40B4-BE49-F238E27FC236}">
                <a16:creationId xmlns:a16="http://schemas.microsoft.com/office/drawing/2014/main" id="{9F034517-5195-CB33-75BD-E72F7BBC903F}"/>
              </a:ext>
            </a:extLst>
          </p:cNvPr>
          <p:cNvPicPr>
            <a:picLocks noChangeAspect="1"/>
          </p:cNvPicPr>
          <p:nvPr/>
        </p:nvPicPr>
        <p:blipFill>
          <a:blip r:embed="rId15"/>
          <a:stretch>
            <a:fillRect/>
          </a:stretch>
        </p:blipFill>
        <p:spPr>
          <a:xfrm>
            <a:off x="2200091" y="5655741"/>
            <a:ext cx="513749" cy="483589"/>
          </a:xfrm>
          <a:prstGeom prst="rect">
            <a:avLst/>
          </a:prstGeom>
        </p:spPr>
      </p:pic>
      <p:sp>
        <p:nvSpPr>
          <p:cNvPr id="95" name="TextBox 94">
            <a:extLst>
              <a:ext uri="{FF2B5EF4-FFF2-40B4-BE49-F238E27FC236}">
                <a16:creationId xmlns:a16="http://schemas.microsoft.com/office/drawing/2014/main" id="{B4FE6A24-1C52-576B-A329-AB5CF47D429D}"/>
              </a:ext>
            </a:extLst>
          </p:cNvPr>
          <p:cNvSpPr txBox="1"/>
          <p:nvPr/>
        </p:nvSpPr>
        <p:spPr>
          <a:xfrm>
            <a:off x="871805" y="5780101"/>
            <a:ext cx="144253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200" dirty="0">
                <a:solidFill>
                  <a:prstClr val="black"/>
                </a:solidFill>
                <a:latin typeface="Calibri" panose="020F0502020204030204"/>
              </a:rPr>
              <a:t>Accredited Auditor</a:t>
            </a:r>
            <a:endPar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6" name="Straight Arrow Connector 95">
            <a:extLst>
              <a:ext uri="{FF2B5EF4-FFF2-40B4-BE49-F238E27FC236}">
                <a16:creationId xmlns:a16="http://schemas.microsoft.com/office/drawing/2014/main" id="{89BEA073-021D-F88A-BF6F-89F91E22CF4C}"/>
              </a:ext>
            </a:extLst>
          </p:cNvPr>
          <p:cNvCxnSpPr>
            <a:cxnSpLocks/>
          </p:cNvCxnSpPr>
          <p:nvPr/>
        </p:nvCxnSpPr>
        <p:spPr>
          <a:xfrm flipH="1">
            <a:off x="3775034" y="4657461"/>
            <a:ext cx="7034" cy="932411"/>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C02A5D5C-266B-C210-61ED-4A47495FAC5B}"/>
              </a:ext>
            </a:extLst>
          </p:cNvPr>
          <p:cNvSpPr txBox="1"/>
          <p:nvPr/>
        </p:nvSpPr>
        <p:spPr>
          <a:xfrm>
            <a:off x="2116212" y="5025708"/>
            <a:ext cx="1684550" cy="461665"/>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rPr>
              <a:t>Upstream data incl. stocks &amp; flows</a:t>
            </a:r>
          </a:p>
        </p:txBody>
      </p:sp>
      <p:cxnSp>
        <p:nvCxnSpPr>
          <p:cNvPr id="98" name="Straight Arrow Connector 56">
            <a:extLst>
              <a:ext uri="{FF2B5EF4-FFF2-40B4-BE49-F238E27FC236}">
                <a16:creationId xmlns:a16="http://schemas.microsoft.com/office/drawing/2014/main" id="{760E96F2-230A-AFDB-972F-476AA4F63DB1}"/>
              </a:ext>
            </a:extLst>
          </p:cNvPr>
          <p:cNvCxnSpPr>
            <a:cxnSpLocks/>
          </p:cNvCxnSpPr>
          <p:nvPr/>
        </p:nvCxnSpPr>
        <p:spPr>
          <a:xfrm>
            <a:off x="4066187" y="4643097"/>
            <a:ext cx="0" cy="957407"/>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A0DAFD50-B731-1D12-D2D6-D67B7C52ECFA}"/>
              </a:ext>
            </a:extLst>
          </p:cNvPr>
          <p:cNvSpPr txBox="1"/>
          <p:nvPr/>
        </p:nvSpPr>
        <p:spPr>
          <a:xfrm>
            <a:off x="4083185" y="5018884"/>
            <a:ext cx="1861603" cy="46166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rPr>
              <a:t>Supply chain attestation incl. guarantee of origin</a:t>
            </a:r>
          </a:p>
        </p:txBody>
      </p:sp>
      <p:sp>
        <p:nvSpPr>
          <p:cNvPr id="100" name="Rounded Rectangle 99">
            <a:extLst>
              <a:ext uri="{FF2B5EF4-FFF2-40B4-BE49-F238E27FC236}">
                <a16:creationId xmlns:a16="http://schemas.microsoft.com/office/drawing/2014/main" id="{BB75C354-7481-920F-342E-F1CCA4FBD99F}"/>
              </a:ext>
            </a:extLst>
          </p:cNvPr>
          <p:cNvSpPr/>
          <p:nvPr/>
        </p:nvSpPr>
        <p:spPr>
          <a:xfrm>
            <a:off x="3454438" y="4782824"/>
            <a:ext cx="428930" cy="27699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dirty="0"/>
              <a:t>DTE</a:t>
            </a:r>
          </a:p>
        </p:txBody>
      </p:sp>
      <p:pic>
        <p:nvPicPr>
          <p:cNvPr id="101" name="Picture 100" descr="Database Icons - Free SVG &amp; PNG Database Images - Noun Project">
            <a:extLst>
              <a:ext uri="{FF2B5EF4-FFF2-40B4-BE49-F238E27FC236}">
                <a16:creationId xmlns:a16="http://schemas.microsoft.com/office/drawing/2014/main" id="{ED14449B-72CC-1822-A61F-249F98A91E8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87307" y="5567051"/>
            <a:ext cx="624773" cy="660969"/>
          </a:xfrm>
          <a:prstGeom prst="rect">
            <a:avLst/>
          </a:prstGeom>
          <a:noFill/>
          <a:extLst>
            <a:ext uri="{909E8E84-426E-40DD-AFC4-6F175D3DCCD1}">
              <a14:hiddenFill xmlns:a14="http://schemas.microsoft.com/office/drawing/2010/main">
                <a:solidFill>
                  <a:srgbClr val="FFFFFF"/>
                </a:solidFill>
              </a14:hiddenFill>
            </a:ext>
          </a:extLst>
        </p:spPr>
      </p:pic>
      <p:cxnSp>
        <p:nvCxnSpPr>
          <p:cNvPr id="102" name="Straight Arrow Connector 56">
            <a:extLst>
              <a:ext uri="{FF2B5EF4-FFF2-40B4-BE49-F238E27FC236}">
                <a16:creationId xmlns:a16="http://schemas.microsoft.com/office/drawing/2014/main" id="{A0F10C58-351E-D562-D26E-EC654FD7A0CD}"/>
              </a:ext>
            </a:extLst>
          </p:cNvPr>
          <p:cNvCxnSpPr>
            <a:cxnSpLocks/>
            <a:stCxn id="94" idx="3"/>
            <a:endCxn id="101" idx="1"/>
          </p:cNvCxnSpPr>
          <p:nvPr/>
        </p:nvCxnSpPr>
        <p:spPr>
          <a:xfrm>
            <a:off x="2713840" y="5897536"/>
            <a:ext cx="873467" cy="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3" name="TextBox 102">
            <a:extLst>
              <a:ext uri="{FF2B5EF4-FFF2-40B4-BE49-F238E27FC236}">
                <a16:creationId xmlns:a16="http://schemas.microsoft.com/office/drawing/2014/main" id="{B7D9ED5B-C693-8CC3-1FD1-CE1F91D4F24B}"/>
              </a:ext>
            </a:extLst>
          </p:cNvPr>
          <p:cNvSpPr txBox="1"/>
          <p:nvPr/>
        </p:nvSpPr>
        <p:spPr>
          <a:xfrm>
            <a:off x="2804866" y="5894343"/>
            <a:ext cx="102976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rPr>
              <a:t>Material accounting</a:t>
            </a:r>
          </a:p>
        </p:txBody>
      </p:sp>
      <p:sp>
        <p:nvSpPr>
          <p:cNvPr id="108" name="Rounded Rectangle 107">
            <a:extLst>
              <a:ext uri="{FF2B5EF4-FFF2-40B4-BE49-F238E27FC236}">
                <a16:creationId xmlns:a16="http://schemas.microsoft.com/office/drawing/2014/main" id="{F7926F25-C076-B723-712B-F2382EC0C969}"/>
              </a:ext>
            </a:extLst>
          </p:cNvPr>
          <p:cNvSpPr/>
          <p:nvPr/>
        </p:nvSpPr>
        <p:spPr>
          <a:xfrm>
            <a:off x="4620584" y="3421855"/>
            <a:ext cx="388433"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err="1"/>
              <a:t>GoO</a:t>
            </a:r>
            <a:endParaRPr lang="en-AU" sz="1100" dirty="0"/>
          </a:p>
        </p:txBody>
      </p:sp>
      <p:sp>
        <p:nvSpPr>
          <p:cNvPr id="109" name="Rounded Rectangle 108">
            <a:extLst>
              <a:ext uri="{FF2B5EF4-FFF2-40B4-BE49-F238E27FC236}">
                <a16:creationId xmlns:a16="http://schemas.microsoft.com/office/drawing/2014/main" id="{393AFE27-B7FB-C85D-1927-157BCC7FA0F7}"/>
              </a:ext>
            </a:extLst>
          </p:cNvPr>
          <p:cNvSpPr/>
          <p:nvPr/>
        </p:nvSpPr>
        <p:spPr>
          <a:xfrm>
            <a:off x="4524288" y="4771536"/>
            <a:ext cx="388433" cy="247348"/>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err="1"/>
              <a:t>GoO</a:t>
            </a:r>
            <a:endParaRPr lang="en-AU" sz="1100" dirty="0"/>
          </a:p>
        </p:txBody>
      </p:sp>
      <p:sp>
        <p:nvSpPr>
          <p:cNvPr id="110" name="Rounded Rectangle 109">
            <a:extLst>
              <a:ext uri="{FF2B5EF4-FFF2-40B4-BE49-F238E27FC236}">
                <a16:creationId xmlns:a16="http://schemas.microsoft.com/office/drawing/2014/main" id="{8A979677-519B-2C81-3136-B31B2D1DED86}"/>
              </a:ext>
            </a:extLst>
          </p:cNvPr>
          <p:cNvSpPr/>
          <p:nvPr/>
        </p:nvSpPr>
        <p:spPr>
          <a:xfrm>
            <a:off x="4100713" y="4759186"/>
            <a:ext cx="374905" cy="264602"/>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000" b="1" dirty="0">
                <a:solidFill>
                  <a:schemeClr val="tx1"/>
                </a:solidFill>
              </a:rPr>
              <a:t>DCC</a:t>
            </a:r>
          </a:p>
        </p:txBody>
      </p:sp>
      <p:sp>
        <p:nvSpPr>
          <p:cNvPr id="111" name="Rounded Rectangle 110">
            <a:extLst>
              <a:ext uri="{FF2B5EF4-FFF2-40B4-BE49-F238E27FC236}">
                <a16:creationId xmlns:a16="http://schemas.microsoft.com/office/drawing/2014/main" id="{7BD97524-D733-F58E-EB7E-13ED1C3B250D}"/>
              </a:ext>
            </a:extLst>
          </p:cNvPr>
          <p:cNvSpPr/>
          <p:nvPr/>
        </p:nvSpPr>
        <p:spPr>
          <a:xfrm>
            <a:off x="8298877" y="2431870"/>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sp>
        <p:nvSpPr>
          <p:cNvPr id="112" name="Rounded Rectangle 111">
            <a:extLst>
              <a:ext uri="{FF2B5EF4-FFF2-40B4-BE49-F238E27FC236}">
                <a16:creationId xmlns:a16="http://schemas.microsoft.com/office/drawing/2014/main" id="{2B46E6F2-D5B0-5EA9-37F9-A40C11546A11}"/>
              </a:ext>
            </a:extLst>
          </p:cNvPr>
          <p:cNvSpPr/>
          <p:nvPr/>
        </p:nvSpPr>
        <p:spPr>
          <a:xfrm>
            <a:off x="8350243" y="3712458"/>
            <a:ext cx="386462" cy="24734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DTE</a:t>
            </a:r>
          </a:p>
        </p:txBody>
      </p:sp>
      <p:cxnSp>
        <p:nvCxnSpPr>
          <p:cNvPr id="113" name="Straight Arrow Connector 50">
            <a:extLst>
              <a:ext uri="{FF2B5EF4-FFF2-40B4-BE49-F238E27FC236}">
                <a16:creationId xmlns:a16="http://schemas.microsoft.com/office/drawing/2014/main" id="{9884A7C9-930D-93EB-2ED6-0D4CDF89A3EE}"/>
              </a:ext>
            </a:extLst>
          </p:cNvPr>
          <p:cNvCxnSpPr>
            <a:cxnSpLocks/>
            <a:endCxn id="111" idx="0"/>
          </p:cNvCxnSpPr>
          <p:nvPr/>
        </p:nvCxnSpPr>
        <p:spPr>
          <a:xfrm rot="16200000" flipH="1">
            <a:off x="7021847" y="961609"/>
            <a:ext cx="218285" cy="2722236"/>
          </a:xfrm>
          <a:prstGeom prst="bentConnector3">
            <a:avLst>
              <a:gd name="adj1" fmla="val -179531"/>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4" name="Straight Arrow Connector 50">
            <a:extLst>
              <a:ext uri="{FF2B5EF4-FFF2-40B4-BE49-F238E27FC236}">
                <a16:creationId xmlns:a16="http://schemas.microsoft.com/office/drawing/2014/main" id="{89EEBF7A-B42E-0EFF-2BCB-F93F03F8949E}"/>
              </a:ext>
            </a:extLst>
          </p:cNvPr>
          <p:cNvCxnSpPr>
            <a:cxnSpLocks/>
            <a:endCxn id="112" idx="2"/>
          </p:cNvCxnSpPr>
          <p:nvPr/>
        </p:nvCxnSpPr>
        <p:spPr>
          <a:xfrm rot="5400000" flipH="1" flipV="1">
            <a:off x="7239344" y="3008362"/>
            <a:ext cx="352686" cy="2255574"/>
          </a:xfrm>
          <a:prstGeom prst="bentConnector3">
            <a:avLst>
              <a:gd name="adj1" fmla="val -132720"/>
            </a:avLst>
          </a:prstGeom>
          <a:ln>
            <a:solidFill>
              <a:schemeClr val="tx1"/>
            </a:solidFill>
            <a:prstDash val="dash"/>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15" name="Picture 10" descr="Database Icons - Free SVG &amp; PNG Database Images - Noun Project">
            <a:extLst>
              <a:ext uri="{FF2B5EF4-FFF2-40B4-BE49-F238E27FC236}">
                <a16:creationId xmlns:a16="http://schemas.microsoft.com/office/drawing/2014/main" id="{AE957B36-800E-AA56-AEBF-A3CC0BDC40E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87733" y="1064983"/>
            <a:ext cx="627095" cy="66096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15">
            <a:extLst>
              <a:ext uri="{FF2B5EF4-FFF2-40B4-BE49-F238E27FC236}">
                <a16:creationId xmlns:a16="http://schemas.microsoft.com/office/drawing/2014/main" id="{8606A1F9-3196-201D-A95E-3B8F6788C2F0}"/>
              </a:ext>
            </a:extLst>
          </p:cNvPr>
          <p:cNvPicPr>
            <a:picLocks noChangeAspect="1"/>
          </p:cNvPicPr>
          <p:nvPr/>
        </p:nvPicPr>
        <p:blipFill>
          <a:blip r:embed="rId15"/>
          <a:stretch>
            <a:fillRect/>
          </a:stretch>
        </p:blipFill>
        <p:spPr>
          <a:xfrm>
            <a:off x="1888636" y="234872"/>
            <a:ext cx="515659" cy="483589"/>
          </a:xfrm>
          <a:prstGeom prst="rect">
            <a:avLst/>
          </a:prstGeom>
        </p:spPr>
      </p:pic>
      <p:cxnSp>
        <p:nvCxnSpPr>
          <p:cNvPr id="117" name="Straight Arrow Connector 56">
            <a:extLst>
              <a:ext uri="{FF2B5EF4-FFF2-40B4-BE49-F238E27FC236}">
                <a16:creationId xmlns:a16="http://schemas.microsoft.com/office/drawing/2014/main" id="{3BC70DF1-07BC-61D4-7292-2BE249EDBC43}"/>
              </a:ext>
            </a:extLst>
          </p:cNvPr>
          <p:cNvCxnSpPr>
            <a:cxnSpLocks/>
            <a:endCxn id="115" idx="2"/>
          </p:cNvCxnSpPr>
          <p:nvPr/>
        </p:nvCxnSpPr>
        <p:spPr>
          <a:xfrm flipV="1">
            <a:off x="2101281" y="1725952"/>
            <a:ext cx="0" cy="355480"/>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0FD49C98-1C6F-F7F9-11F2-0B7B474469C1}"/>
              </a:ext>
            </a:extLst>
          </p:cNvPr>
          <p:cNvSpPr txBox="1"/>
          <p:nvPr/>
        </p:nvSpPr>
        <p:spPr>
          <a:xfrm rot="16200000">
            <a:off x="1260561" y="1488851"/>
            <a:ext cx="660970" cy="293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Audit</a:t>
            </a:r>
          </a:p>
        </p:txBody>
      </p:sp>
      <p:cxnSp>
        <p:nvCxnSpPr>
          <p:cNvPr id="119" name="Straight Arrow Connector 56">
            <a:extLst>
              <a:ext uri="{FF2B5EF4-FFF2-40B4-BE49-F238E27FC236}">
                <a16:creationId xmlns:a16="http://schemas.microsoft.com/office/drawing/2014/main" id="{92797EAB-9CD5-0767-EE75-3D72730E601D}"/>
              </a:ext>
            </a:extLst>
          </p:cNvPr>
          <p:cNvCxnSpPr>
            <a:cxnSpLocks/>
            <a:stCxn id="116" idx="1"/>
          </p:cNvCxnSpPr>
          <p:nvPr/>
        </p:nvCxnSpPr>
        <p:spPr>
          <a:xfrm rot="10800000" flipV="1">
            <a:off x="1656692" y="476667"/>
            <a:ext cx="231944" cy="2808490"/>
          </a:xfrm>
          <a:prstGeom prst="bentConnector3">
            <a:avLst>
              <a:gd name="adj1" fmla="val 193826"/>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0" name="TextBox 119">
            <a:extLst>
              <a:ext uri="{FF2B5EF4-FFF2-40B4-BE49-F238E27FC236}">
                <a16:creationId xmlns:a16="http://schemas.microsoft.com/office/drawing/2014/main" id="{D1AE8EBA-38D3-7BFD-1D95-AF2CDB295118}"/>
              </a:ext>
            </a:extLst>
          </p:cNvPr>
          <p:cNvSpPr txBox="1"/>
          <p:nvPr/>
        </p:nvSpPr>
        <p:spPr>
          <a:xfrm>
            <a:off x="2477260" y="260253"/>
            <a:ext cx="1112804" cy="45731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Regional Supply Shed</a:t>
            </a:r>
          </a:p>
        </p:txBody>
      </p:sp>
      <p:cxnSp>
        <p:nvCxnSpPr>
          <p:cNvPr id="121" name="Straight Arrow Connector 56">
            <a:extLst>
              <a:ext uri="{FF2B5EF4-FFF2-40B4-BE49-F238E27FC236}">
                <a16:creationId xmlns:a16="http://schemas.microsoft.com/office/drawing/2014/main" id="{A195AD93-5555-74DD-80BA-F7F54F6481ED}"/>
              </a:ext>
            </a:extLst>
          </p:cNvPr>
          <p:cNvCxnSpPr>
            <a:cxnSpLocks/>
          </p:cNvCxnSpPr>
          <p:nvPr/>
        </p:nvCxnSpPr>
        <p:spPr>
          <a:xfrm flipH="1">
            <a:off x="2106751" y="761766"/>
            <a:ext cx="1" cy="334739"/>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5A6DE0DC-2B0E-10C9-DDF7-12C632F266C2}"/>
              </a:ext>
            </a:extLst>
          </p:cNvPr>
          <p:cNvSpPr txBox="1"/>
          <p:nvPr/>
        </p:nvSpPr>
        <p:spPr>
          <a:xfrm>
            <a:off x="2232626" y="795595"/>
            <a:ext cx="111280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Quota Mgt</a:t>
            </a:r>
          </a:p>
        </p:txBody>
      </p:sp>
      <p:sp>
        <p:nvSpPr>
          <p:cNvPr id="123" name="TextBox 122">
            <a:extLst>
              <a:ext uri="{FF2B5EF4-FFF2-40B4-BE49-F238E27FC236}">
                <a16:creationId xmlns:a16="http://schemas.microsoft.com/office/drawing/2014/main" id="{EB933CF9-0406-13F8-14F3-61ECBB7956D6}"/>
              </a:ext>
            </a:extLst>
          </p:cNvPr>
          <p:cNvSpPr txBox="1"/>
          <p:nvPr/>
        </p:nvSpPr>
        <p:spPr>
          <a:xfrm>
            <a:off x="2164987" y="1709011"/>
            <a:ext cx="629236"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Book</a:t>
            </a:r>
          </a:p>
        </p:txBody>
      </p:sp>
      <p:cxnSp>
        <p:nvCxnSpPr>
          <p:cNvPr id="124" name="Straight Arrow Connector 56">
            <a:extLst>
              <a:ext uri="{FF2B5EF4-FFF2-40B4-BE49-F238E27FC236}">
                <a16:creationId xmlns:a16="http://schemas.microsoft.com/office/drawing/2014/main" id="{6BB89FF1-025A-FC21-7561-17FE10344A92}"/>
              </a:ext>
            </a:extLst>
          </p:cNvPr>
          <p:cNvCxnSpPr>
            <a:cxnSpLocks/>
          </p:cNvCxnSpPr>
          <p:nvPr/>
        </p:nvCxnSpPr>
        <p:spPr>
          <a:xfrm rot="16200000" flipV="1">
            <a:off x="5517754" y="-1670465"/>
            <a:ext cx="792944" cy="6987855"/>
          </a:xfrm>
          <a:prstGeom prst="bentConnector2">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25" name="TextBox 124">
            <a:extLst>
              <a:ext uri="{FF2B5EF4-FFF2-40B4-BE49-F238E27FC236}">
                <a16:creationId xmlns:a16="http://schemas.microsoft.com/office/drawing/2014/main" id="{F5EEC745-1688-BF6E-55A5-0AFEB0C7200F}"/>
              </a:ext>
            </a:extLst>
          </p:cNvPr>
          <p:cNvSpPr txBox="1"/>
          <p:nvPr/>
        </p:nvSpPr>
        <p:spPr>
          <a:xfrm>
            <a:off x="5154854" y="1097204"/>
            <a:ext cx="629236"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Claim</a:t>
            </a:r>
          </a:p>
        </p:txBody>
      </p:sp>
      <p:sp>
        <p:nvSpPr>
          <p:cNvPr id="126" name="Rounded Rectangle 125">
            <a:extLst>
              <a:ext uri="{FF2B5EF4-FFF2-40B4-BE49-F238E27FC236}">
                <a16:creationId xmlns:a16="http://schemas.microsoft.com/office/drawing/2014/main" id="{83F52111-51C8-20BE-3A8B-F40D415CADC9}"/>
              </a:ext>
            </a:extLst>
          </p:cNvPr>
          <p:cNvSpPr/>
          <p:nvPr/>
        </p:nvSpPr>
        <p:spPr>
          <a:xfrm>
            <a:off x="5719526" y="1140243"/>
            <a:ext cx="487889" cy="247348"/>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Token</a:t>
            </a:r>
          </a:p>
        </p:txBody>
      </p:sp>
      <p:sp>
        <p:nvSpPr>
          <p:cNvPr id="127" name="Rounded Rectangular Callout 126">
            <a:extLst>
              <a:ext uri="{FF2B5EF4-FFF2-40B4-BE49-F238E27FC236}">
                <a16:creationId xmlns:a16="http://schemas.microsoft.com/office/drawing/2014/main" id="{47609D00-A0BE-99D7-FE3A-379E81A76030}"/>
              </a:ext>
            </a:extLst>
          </p:cNvPr>
          <p:cNvSpPr/>
          <p:nvPr/>
        </p:nvSpPr>
        <p:spPr>
          <a:xfrm>
            <a:off x="9698703" y="800252"/>
            <a:ext cx="1535034" cy="612648"/>
          </a:xfrm>
          <a:prstGeom prst="wedgeRoundRectCallout">
            <a:avLst>
              <a:gd name="adj1" fmla="val -40205"/>
              <a:gd name="adj2" fmla="val 473559"/>
              <a:gd name="adj3" fmla="val 16667"/>
            </a:avLst>
          </a:prstGeom>
          <a:solidFill>
            <a:schemeClr val="bg1">
              <a:lumMod val="8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dirty="0">
                <a:solidFill>
                  <a:schemeClr val="tx1"/>
                </a:solidFill>
              </a:rPr>
              <a:t>This DPP can incorporate a share of claimed offsets</a:t>
            </a:r>
          </a:p>
        </p:txBody>
      </p:sp>
      <p:sp>
        <p:nvSpPr>
          <p:cNvPr id="130" name="Rounded Rectangle 129">
            <a:extLst>
              <a:ext uri="{FF2B5EF4-FFF2-40B4-BE49-F238E27FC236}">
                <a16:creationId xmlns:a16="http://schemas.microsoft.com/office/drawing/2014/main" id="{720561B2-3886-62D5-F6B2-8704D6697043}"/>
              </a:ext>
            </a:extLst>
          </p:cNvPr>
          <p:cNvSpPr/>
          <p:nvPr/>
        </p:nvSpPr>
        <p:spPr>
          <a:xfrm>
            <a:off x="3044226" y="4791133"/>
            <a:ext cx="386462" cy="24734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AU" sz="1100" dirty="0"/>
              <a:t>DFR</a:t>
            </a:r>
          </a:p>
        </p:txBody>
      </p:sp>
    </p:spTree>
    <p:extLst>
      <p:ext uri="{BB962C8B-B14F-4D97-AF65-F5344CB8AC3E}">
        <p14:creationId xmlns:p14="http://schemas.microsoft.com/office/powerpoint/2010/main" val="29601771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126911</TotalTime>
  <Words>2569</Words>
  <Application>Microsoft Macintosh PowerPoint</Application>
  <PresentationFormat>Widescreen</PresentationFormat>
  <Paragraphs>1202</Paragraphs>
  <Slides>17</Slides>
  <Notes>17</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Aptos</vt:lpstr>
      <vt:lpstr>Aptos Display</vt:lpstr>
      <vt:lpstr>Arial</vt:lpstr>
      <vt:lpstr>Arial Black</vt:lpstr>
      <vt:lpstr>Calibri</vt:lpstr>
      <vt:lpstr>Calibri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CAREC meeting</dc:title>
  <dc:creator>Ian Watt</dc:creator>
  <cp:lastModifiedBy>Steve Capell</cp:lastModifiedBy>
  <cp:revision>323</cp:revision>
  <cp:lastPrinted>2024-02-01T04:18:00Z</cp:lastPrinted>
  <dcterms:created xsi:type="dcterms:W3CDTF">2019-08-14T01:25:40Z</dcterms:created>
  <dcterms:modified xsi:type="dcterms:W3CDTF">2026-01-14T03:48:11Z</dcterms:modified>
</cp:coreProperties>
</file>